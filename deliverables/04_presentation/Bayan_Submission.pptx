
<file path=[Content_Types].xml><?xml version="1.0" encoding="utf-8"?>
<Types xmlns="http://schemas.openxmlformats.org/package/2006/content-types">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83" r:id="rId1"/>
  </p:sldMasterIdLst>
  <p:notesMasterIdLst>
    <p:notesMasterId r:id="rId6"/>
  </p:notesMasterIdLst>
  <p:sldIdLst>
    <p:sldId id="256" r:id="rId5"/>
    <p:sldId id="257" r:id="rId4"/>
    <p:sldId id="258" r:id="rId3"/>
    <p:sldId id="259" r:id="rId2"/>
    <p:sldId id="260" r:id="rId24"/>
    <p:sldId id="261" r:id="rId25"/>
    <p:sldId id="262" r:id="rId26"/>
    <p:sldId id="263" r:id="rId27"/>
    <p:sldId id="264" r:id="rId28"/>
    <p:sldId id="265" r:id="rId29"/>
    <p:sldId id="266" r:id="rId30"/>
    <p:sldId id="267" r:id="rId31"/>
    <p:sldId id="268" r:id="rId32"/>
    <p:sldId id="269" r:id="rId33"/>
    <p:sldId id="270" r:id="rId34"/>
    <p:sldId id="271" r:id="rId35"/>
    <p:sldId id="272" r:id="rId36"/>
    <p:sldId id="273" r:id="rId37"/>
    <p:sldId id="274" r:id="rId38"/>
    <p:sldId id="275" r:id="rId39"/>
    <p:sldId id="276" r:id="rId40"/>
  </p:sldIdLst>
  <p:sldSz cx="9902825" cy="6858000"/>
  <p:notesSz cx="6858000" cy="9144000"/>
  <p:embeddedFontLst>
    <p:embeddedFont>
      <p:font typeface="Samsung Sharp Sans" pitchFamily="2" charset="0"/>
      <p:regular r:id="rId7"/>
      <p:bold r:id="rId8"/>
    </p:embeddedFont>
    <p:embeddedFont>
      <p:font typeface="Samsung Sharp Sans Bold" pitchFamily="2" charset="0"/>
      <p:bold r:id="rId9"/>
    </p:embeddedFont>
    <p:embeddedFont>
      <p:font typeface="Samsung Sharp Sans Medium" pitchFamily="2" charset="0"/>
      <p:bold r:id="rId10"/>
    </p:embeddedFont>
    <p:embeddedFont>
      <p:font typeface="SamsungOne 400" panose="020B0503030303020204" pitchFamily="34" charset="0"/>
      <p:regular r:id="rId11"/>
    </p:embeddedFont>
    <p:embeddedFont>
      <p:font typeface="SamsungOne 400C" panose="020B0506030303020204" charset="0"/>
      <p:regular r:id="rId12"/>
    </p:embeddedFont>
    <p:embeddedFont>
      <p:font typeface="SamsungOne 700" panose="020B0803030303020204" pitchFamily="34" charset="0"/>
      <p:bold r:id="rId13"/>
    </p:embeddedFont>
    <p:embeddedFont>
      <p:font typeface="맑은 고딕" panose="020B0503020000020004" pitchFamily="50" charset="-127"/>
      <p:regular r:id="rId14"/>
      <p:bold r:id="rId15"/>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119" userDrawn="1">
          <p15:clr>
            <a:srgbClr val="A4A3A4"/>
          </p15:clr>
        </p15:guide>
        <p15:guide id="2" orient="horz"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93EB0"/>
    <a:srgbClr val="FFB546"/>
    <a:srgbClr val="FF4337"/>
    <a:srgbClr val="00B3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83" autoAdjust="0"/>
    <p:restoredTop sz="72205" autoAdjust="0"/>
  </p:normalViewPr>
  <p:slideViewPr>
    <p:cSldViewPr snapToGrid="0">
      <p:cViewPr varScale="1">
        <p:scale>
          <a:sx n="110" d="100"/>
          <a:sy n="110" d="100"/>
        </p:scale>
        <p:origin x="1386" y="114"/>
      </p:cViewPr>
      <p:guideLst>
        <p:guide pos="3119"/>
        <p:guide orient="horz" pos="2160"/>
      </p:guideLst>
    </p:cSldViewPr>
  </p:slideViewPr>
  <p:notesTextViewPr>
    <p:cViewPr>
      <p:scale>
        <a:sx n="125" d="100"/>
        <a:sy n="125" d="100"/>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4.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slide" Target="slides/slide1.xml"/><Relationship Id="rId6" Type="http://schemas.openxmlformats.org/officeDocument/2006/relationships/notesMaster" Target="notesMasters/notesMaster1.xml"/><Relationship Id="rId7" Type="http://schemas.openxmlformats.org/officeDocument/2006/relationships/font" Target="fonts/font1.fntdata"/><Relationship Id="rId8" Type="http://schemas.openxmlformats.org/officeDocument/2006/relationships/font" Target="fonts/font2.fntdata"/><Relationship Id="rId9" Type="http://schemas.openxmlformats.org/officeDocument/2006/relationships/font" Target="fonts/font3.fntdata"/><Relationship Id="rId10" Type="http://schemas.openxmlformats.org/officeDocument/2006/relationships/font" Target="fonts/font4.fntdata"/><Relationship Id="rId11" Type="http://schemas.openxmlformats.org/officeDocument/2006/relationships/font" Target="fonts/font5.fntdata"/><Relationship Id="rId12" Type="http://schemas.openxmlformats.org/officeDocument/2006/relationships/font" Target="fonts/font6.fntdata"/><Relationship Id="rId13" Type="http://schemas.openxmlformats.org/officeDocument/2006/relationships/font" Target="fonts/font7.fntdata"/><Relationship Id="rId14" Type="http://schemas.openxmlformats.org/officeDocument/2006/relationships/font" Target="fonts/font8.fntdata"/><Relationship Id="rId15" Type="http://schemas.openxmlformats.org/officeDocument/2006/relationships/font" Target="fonts/font9.fntdata"/><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microsoft.com/office/2016/11/relationships/changesInfo" Target="changesInfos/changesInfo1.xml"/><Relationship Id="rId21" Type="http://schemas.openxmlformats.org/officeDocument/2006/relationships/customXml" Target="../customXml/item1.xml"/><Relationship Id="rId22" Type="http://schemas.openxmlformats.org/officeDocument/2006/relationships/customXml" Target="../customXml/item2.xml"/><Relationship Id="rId23" Type="http://schemas.openxmlformats.org/officeDocument/2006/relationships/customXml" Target="../customXml/item3.xml"/><Relationship Id="rId24" Type="http://schemas.openxmlformats.org/officeDocument/2006/relationships/slide" Target="slides/slide5.xml"/><Relationship Id="rId25" Type="http://schemas.openxmlformats.org/officeDocument/2006/relationships/slide" Target="slides/slide6.xml"/><Relationship Id="rId26" Type="http://schemas.openxmlformats.org/officeDocument/2006/relationships/slide" Target="slides/slide7.xml"/><Relationship Id="rId27" Type="http://schemas.openxmlformats.org/officeDocument/2006/relationships/slide" Target="slides/slide8.xml"/><Relationship Id="rId28" Type="http://schemas.openxmlformats.org/officeDocument/2006/relationships/slide" Target="slides/slide9.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2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이 선우" userId="0fe69268-fa1a-4efe-9dc5-d4012ab1114b" providerId="ADAL" clId="{C52B7E7F-94C4-473C-B7E9-B27EED8C6190}"/>
    <pc:docChg chg="modMainMaster">
      <pc:chgData name="이 선우" userId="0fe69268-fa1a-4efe-9dc5-d4012ab1114b" providerId="ADAL" clId="{C52B7E7F-94C4-473C-B7E9-B27EED8C6190}" dt="2025-12-26T06:30:10.164" v="2" actId="20577"/>
      <pc:docMkLst>
        <pc:docMk/>
      </pc:docMkLst>
      <pc:sldMasterChg chg="modSldLayout">
        <pc:chgData name="이 선우" userId="0fe69268-fa1a-4efe-9dc5-d4012ab1114b" providerId="ADAL" clId="{C52B7E7F-94C4-473C-B7E9-B27EED8C6190}" dt="2025-12-26T06:30:10.164" v="2" actId="20577"/>
        <pc:sldMasterMkLst>
          <pc:docMk/>
          <pc:sldMasterMk cId="3477928821" sldId="2147483683"/>
        </pc:sldMasterMkLst>
        <pc:sldLayoutChg chg="modSp mod">
          <pc:chgData name="이 선우" userId="0fe69268-fa1a-4efe-9dc5-d4012ab1114b" providerId="ADAL" clId="{C52B7E7F-94C4-473C-B7E9-B27EED8C6190}" dt="2025-12-26T06:30:10.164" v="2" actId="20577"/>
          <pc:sldLayoutMkLst>
            <pc:docMk/>
            <pc:sldMasterMk cId="3477928821" sldId="2147483683"/>
            <pc:sldLayoutMk cId="1227834196" sldId="2147483689"/>
          </pc:sldLayoutMkLst>
          <pc:spChg chg="mod">
            <ac:chgData name="이 선우" userId="0fe69268-fa1a-4efe-9dc5-d4012ab1114b" providerId="ADAL" clId="{C52B7E7F-94C4-473C-B7E9-B27EED8C6190}" dt="2025-12-26T06:30:10.164" v="2" actId="20577"/>
            <ac:spMkLst>
              <pc:docMk/>
              <pc:sldMasterMk cId="3477928821" sldId="2147483683"/>
              <pc:sldLayoutMk cId="1227834196" sldId="2147483689"/>
              <ac:spMk id="7" creationId="{782B242C-8600-47F0-98D5-6EA512C41BF2}"/>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dirty="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B57C17-E6FD-4AF5-A787-31E9CCE99A85}" type="datetimeFigureOut">
              <a:rPr lang="ko-KR" altLang="en-US" smtClean="0"/>
              <a:t>2025-12-26</a:t>
            </a:fld>
            <a:endParaRPr lang="ko-KR" altLang="en-US" dirty="0"/>
          </a:p>
        </p:txBody>
      </p:sp>
      <p:sp>
        <p:nvSpPr>
          <p:cNvPr id="4" name="슬라이드 이미지 개체 틀 3"/>
          <p:cNvSpPr>
            <a:spLocks noGrp="1" noRot="1" noChangeAspect="1"/>
          </p:cNvSpPr>
          <p:nvPr>
            <p:ph type="sldImg" idx="2"/>
          </p:nvPr>
        </p:nvSpPr>
        <p:spPr>
          <a:xfrm>
            <a:off x="1200150" y="1143000"/>
            <a:ext cx="4457700" cy="3086100"/>
          </a:xfrm>
          <a:prstGeom prst="rect">
            <a:avLst/>
          </a:prstGeom>
          <a:noFill/>
          <a:ln w="12700">
            <a:solidFill>
              <a:prstClr val="black"/>
            </a:solidFill>
          </a:ln>
        </p:spPr>
        <p:txBody>
          <a:bodyPr vert="horz" lIns="91440" tIns="45720" rIns="91440" bIns="45720" rtlCol="0" anchor="ctr"/>
          <a:lstStyle/>
          <a:p>
            <a:endParaRPr lang="ko-KR" altLang="en-US" dirty="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dirty="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59C55F-00F1-4985-9065-F2D92AE05D03}" type="slidenum">
              <a:rPr lang="ko-KR" altLang="en-US" smtClean="0"/>
              <a:t>‹#›</a:t>
            </a:fld>
            <a:endParaRPr lang="ko-KR" altLang="en-US" dirty="0"/>
          </a:p>
        </p:txBody>
      </p:sp>
    </p:spTree>
    <p:extLst>
      <p:ext uri="{BB962C8B-B14F-4D97-AF65-F5344CB8AC3E}">
        <p14:creationId xmlns:p14="http://schemas.microsoft.com/office/powerpoint/2010/main" val="99125344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The logo draws itself, then the title and team appear)</a:t>
            </a:r>
          </a:p>
          <a:p>
            <a:r>
              <a:t>This is Bayan: an Android tool that simplifies hard Arabic where you read, on your phone. Building it was fine. Checking it was the hard part.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11% counts up; كتب splits into kataba, kutiba, kutub)</a:t>
            </a:r>
          </a:p>
          <a:p>
            <a:r>
              <a:t>About eleven percent of Arab primary-school children have dyslexia, and Arabic doesn't help: these letters can be kataba, kutiba or kutub, because short vowels aren't written.</a:t>
            </a:r>
          </a:p>
          <a:p/>
          <a:p>
            <a:r>
              <a:t>▶ Step 2 (step 2 (auto); Left: shorter clauses help the weakest readers most. Right: our scope)</a:t>
            </a:r>
          </a:p>
          <a:p>
            <a:r>
              <a:t>Shorter clauses help the weakest readers most. So Bayan reduces reading load: long clauses, hard words. Tashkeel is a setting in the app, and we don't yet claim it helps readers with dyslexia.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11% counts up; كتب splits into kataba, kutiba, kutub)</a:t>
            </a:r>
          </a:p>
          <a:p>
            <a:r>
              <a:t>About eleven percent of Arab primary-school children have dyslexia, and Arabic doesn't help: these letters can be kataba, kutiba or kutub, because short vowels aren't written.</a:t>
            </a:r>
          </a:p>
          <a:p/>
          <a:p>
            <a:r>
              <a:t>▶ Step 2 (step 2 (auto); Left: shorter clauses help the weakest readers most. Right: our scope)</a:t>
            </a:r>
          </a:p>
          <a:p>
            <a:r>
              <a:t>Shorter clauses help the weakest readers most. So Bayan reduces reading load: long clauses, hard words. Tashkeel is a setting in the app, and we don't yet claim it helps readers with dyslexia.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Two cards: SAMER (novels, half unchanged, word swaps) and other LLM-written sources (summaries))</a:t>
            </a:r>
          </a:p>
          <a:p>
            <a:r>
              <a:t>We started with what existed. SAMER is novels: half its pairs are unchanged, and it swaps words but never splits sentences. The other sources mostly summarised.</a:t>
            </a:r>
          </a:p>
          <a:p/>
          <a:p>
            <a:r>
              <a:t>▶ Step 2 (step 2 (auto); Corpus v0: DeepSeek -&gt; validator -&gt; readability gate; three red chips; validator accepted 34% of planted additions)</a:t>
            </a:r>
          </a:p>
          <a:p>
            <a:r>
              <a:t>So we wrote our own with DeepSeek. The audit was humbling: tashkeel in fifty-seven percent of rows, cut-off sentences helpfully completed, a validator that waved through a third of our planted errors. We trained nothing on it.</a:t>
            </a:r>
          </a:p>
          <a:p/>
          <a:p>
            <a:r>
              <a:t>▶ Step 3 (step 3 (auto); Pipeline v1: BAREC -&gt; strip tashkeel -&gt; route -&gt; Gemma 4 31B -&gt; code, readability and meaning gates)</a:t>
            </a:r>
          </a:p>
          <a:p>
            <a:r>
              <a:t>Corpus v1 starts from BAREC, strips tashkeel, sets protected and short text aside, and has Gemma 4 31B rewrite the hard sentences behind three gates.</a:t>
            </a:r>
          </a:p>
          <a:p/>
          <a:p>
            <a:r>
              <a:t>▶ Step 4 (step 4 (auto); 14,975 rows lock in; audit badge: 1.7% meaning changed)</a:t>
            </a:r>
          </a:p>
          <a:p>
            <a:r>
              <a:t>Fourteen thousand nine hundred seventy-five pairs survived. A blind audit found one point seven percent with changed meaning. We'll take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Lane v0.1: AraT5v2 on SAMER. Found: returned 65% of rows unchanged, swapped single words)</a:t>
            </a:r>
          </a:p>
          <a:p>
            <a:r>
              <a:t>BayanSimplify v0.1 trained on SAMER. It returned sixty-five percent of sentences untouched, where editors leave forty-nine. Bold strategy: change nothing.</a:t>
            </a:r>
          </a:p>
          <a:p/>
          <a:p>
            <a:r>
              <a:t>▶ Step 2 (step 2 (auto); Lane v0.2: two models, AraT5v2 (v0.2) and AraBART (v0.2-Fast); meaning kept 60% / 40%; the tag costs meaning)</a:t>
            </a:r>
          </a:p>
          <a:p>
            <a:r>
              <a:t>v0.2 is two models, AraT5v2 and AraBART, trained with everyday text and strength tags. They kept the meaning in sixty and forty percent of outputs. The tag costs meaning, so the app sends none.</a:t>
            </a:r>
          </a:p>
          <a:p/>
          <a:p>
            <a:r>
              <a:t>▶ Step 3 (step 3 (auto); Lane v0.3: AraT5v2 on corpus v1, our best: cuts 9.5 words vs 4.5, about the same meaning (vs v0.2, no tag))</a:t>
            </a:r>
          </a:p>
          <a:p>
            <a:r>
              <a:t>v0.3 is AraT5v2 on corpus v1, no tag. As trained, it cuts twice the words of v0.2 and keeps about the same meaning.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Copy baseline table: copy 100% / 0; v0.1 76% / 0; v0.2 68% / 4.5 and v0.2-Fast 51% / 4.9; v0.3 69% / 9.5)</a:t>
            </a:r>
          </a:p>
          <a:p>
            <a:r>
              <a:t>How do we know a rewrite is good? Copying keeps all the meaning and simplifies nothing, which is how a lazy model would win. v0.1 nearly managed it: seventy-six percent kept, no words cut from the longest clause. So we built BayanBench.</a:t>
            </a:r>
          </a:p>
          <a:p/>
          <a:p>
            <a:r>
              <a:t>▶ Step 2 (step 2 (auto); Gemma 4 31B reads original + rewrite and answers 7 yes/no questions: 4 on meaning, 3 on quality)</a:t>
            </a:r>
          </a:p>
          <a:p>
            <a:r>
              <a:t>Meaning comes from Gemma 4 31B, an open model. It reads the original and the rewrite and answers seven yes-or-no questions: four about meaning, three about quality.</a:t>
            </a:r>
          </a:p>
          <a:p/>
          <a:p>
            <a:r>
              <a:t>▶ Step 3 (step 3 (auto); Four measures in a square: meaning, simpler, restraint, copying rate)</a:t>
            </a:r>
          </a:p>
          <a:p>
            <a:r>
              <a:t>Four measures, scored separately. Kept means the same meaning and every number intact.</a:t>
            </a:r>
          </a:p>
          <a:p/>
          <a:p>
            <a:r>
              <a:t>▶ Step 4 (step 4 (auto); People check: one reader with dyslexia rated 30 outputs (17 easier, 9 same, 4 harder); scorer AUC 0.85)</a:t>
            </a:r>
          </a:p>
          <a:p>
            <a:r>
              <a:t>Do people agree with the scorer? Six raters, two hundred ninety tasks: zero point eight five. One reader with dyslexia rated thirty outputs too: seventeen easier, four harder.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Scatter: v0.3 in the app keeps the most meaning (82%) and cuts 5.2 words)</a:t>
            </a:r>
          </a:p>
          <a:p>
            <a:r>
              <a:t>More simplification usually means less meaning. v0.3 breaks the pattern: in the app it keeps the most meaning, eighty-two percent, and still cuts five words off the longest clause.</a:t>
            </a:r>
          </a:p>
          <a:p/>
          <a:p>
            <a:r>
              <a:t>▶ Step 2 (step 2 (auto); In the app: v0.3 minus v0.2 behind the same checks: +3.4 words, harder words out, meaning kept as well (not significant))</a:t>
            </a:r>
          </a:p>
          <a:p>
            <a:r>
              <a:t>Against v0.2 behind the same checks, it cuts three and a half more words off the longest clause, removes more hard words, and keeps the meaning as well. Not significantly different.</a:t>
            </a:r>
          </a:p>
          <a:p/>
          <a:p>
            <a:r>
              <a:t>▶ Step 3 (step 3 (auto); Blind rating, 18 sentences: v0.3 easier on 86% of changed outputs vs 60%; 8 of 8 votes)</a:t>
            </a:r>
          </a:p>
          <a:p>
            <a:r>
              <a:t>People agree. In a blind rating, the team found v0.3's changed outputs easier eighty-six percent of the time, against sixty for v0.2, and the reader with dyslexia chose v0.3 in every comparison it was 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Heading 'What the app does' and the video recording under it)</a:t>
            </a:r>
          </a:p>
          <a:p>
            <a:r>
              <a:t>On a phone: select, tap tabseet, and it reads aloud. Scripture never reaches the model, and code checks that numbers survive.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Logo and 'Simplify where you read.')</a:t>
            </a:r>
          </a:p>
          <a:p>
            <a:r>
              <a:t>Bayan: simplify where you read.</a:t>
            </a:r>
          </a:p>
          <a:p/>
          <a:p>
            <a:r>
              <a:t>▶ Step 2 (step 2 (auto); Three limit chips and the next step)</a:t>
            </a:r>
          </a:p>
          <a:p>
            <a:r>
              <a:t>What we can't claim: no reader has used it, our scorer is stricter than people, and our human comparison is eighteen sentences. Next, a reading study. Thank you!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[Sanad]</a:t>
            </a:r>
          </a:p>
          <a:p/>
          <a:p>
            <a:r>
              <a:t>▶ Step 1 (on arrival; Logo and 'Simplify where you read.')</a:t>
            </a:r>
          </a:p>
          <a:p>
            <a:r>
              <a:t>Bayan: simplify where you read.</a:t>
            </a:r>
          </a:p>
          <a:p/>
          <a:p>
            <a:r>
              <a:t>▶ Step 2 (step 2 (auto); Three limit chips and the next step)</a:t>
            </a:r>
          </a:p>
          <a:p>
            <a:r>
              <a:t>What we can't claim: no reader has used it, our scorer is stricter than people, and our human comparison is eighteen sentences. Next, a reading study.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10.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15" name="슬라이드 번호 개체 틀 15">
            <a:extLst>
              <a:ext uri="{FF2B5EF4-FFF2-40B4-BE49-F238E27FC236}">
                <a16:creationId xmlns:a16="http://schemas.microsoft.com/office/drawing/2014/main" id="{CCEC8F59-794B-4743-A6D7-1BC9720006CB}"/>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956667998"/>
      </p:ext>
    </p:extLst>
  </p:cSld>
  <p:clrMapOvr>
    <a:masterClrMapping/>
  </p:clrMapOvr>
  <p:extLst>
    <p:ext uri="{DCECCB84-F9BA-43D5-87BE-67443E8EF086}">
      <p15:sldGuideLst xmlns:p15="http://schemas.microsoft.com/office/powerpoint/2012/main">
        <p15:guide id="2" pos="285">
          <p15:clr>
            <a:srgbClr val="FBAE40"/>
          </p15:clr>
        </p15:guide>
        <p15:guide id="3" pos="5955">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ront Cover">
    <p:bg>
      <p:bgPr>
        <a:solidFill>
          <a:schemeClr val="bg1">
            <a:lumMod val="95000"/>
          </a:schemeClr>
        </a:solidFill>
        <a:effectLst/>
      </p:bgPr>
    </p:bg>
    <p:spTree>
      <p:nvGrpSpPr>
        <p:cNvPr id="1" name=""/>
        <p:cNvGrpSpPr/>
        <p:nvPr/>
      </p:nvGrpSpPr>
      <p:grpSpPr>
        <a:xfrm>
          <a:off x="0" y="0"/>
          <a:ext cx="0" cy="0"/>
          <a:chOff x="0" y="0"/>
          <a:chExt cx="0" cy="0"/>
        </a:xfrm>
      </p:grpSpPr>
      <p:pic>
        <p:nvPicPr>
          <p:cNvPr id="9" name="그림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sp>
        <p:nvSpPr>
          <p:cNvPr id="6"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82022"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rgbClr val="0924A5"/>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pic>
        <p:nvPicPr>
          <p:cNvPr id="10" name="그림 9"/>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265631" y="6141164"/>
            <a:ext cx="1371564" cy="450000"/>
          </a:xfrm>
          <a:prstGeom prst="rect">
            <a:avLst/>
          </a:prstGeom>
        </p:spPr>
      </p:pic>
      <p:sp>
        <p:nvSpPr>
          <p:cNvPr id="7" name="직사각형 133">
            <a:extLst>
              <a:ext uri="{FF2B5EF4-FFF2-40B4-BE49-F238E27FC236}">
                <a16:creationId xmlns:a16="http://schemas.microsoft.com/office/drawing/2014/main" id="{DE8CAD59-3F29-4FBB-AE0A-697DDFD5E69E}"/>
              </a:ext>
            </a:extLst>
          </p:cNvPr>
          <p:cNvSpPr/>
          <p:nvPr userDrawn="1"/>
        </p:nvSpPr>
        <p:spPr>
          <a:xfrm>
            <a:off x="990000" y="4320000"/>
            <a:ext cx="5832526" cy="36933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p>
            <a:pPr defTabSz="914400" latinLnBrk="1">
              <a:defRPr/>
            </a:pPr>
            <a:r>
              <a:rPr lang="en-US" altLang="ko-KR" sz="2400" baseline="0" dirty="0">
                <a:solidFill>
                  <a:srgbClr val="1428A0"/>
                </a:solidFill>
                <a:latin typeface="Samsung Sharp Sans" pitchFamily="2" charset="0"/>
                <a:ea typeface="Samsung Sharp Sans" pitchFamily="2" charset="0"/>
                <a:cs typeface="Samsung Sharp Sans" pitchFamily="2" charset="0"/>
              </a:rPr>
              <a:t>Artificial Intelligence Course</a:t>
            </a:r>
            <a:endParaRPr lang="ko-KR" altLang="en-US" sz="2400" dirty="0">
              <a:solidFill>
                <a:srgbClr val="1428A0"/>
              </a:solidFill>
              <a:latin typeface="Samsung Sharp Sans" pitchFamily="2" charset="0"/>
              <a:ea typeface="Samsung Sharp Sans" pitchFamily="2" charset="0"/>
              <a:cs typeface="Samsung Sharp Sans" pitchFamily="2" charset="0"/>
            </a:endParaRPr>
          </a:p>
        </p:txBody>
      </p:sp>
      <p:sp>
        <p:nvSpPr>
          <p:cNvPr id="8" name="직사각형 7">
            <a:extLst>
              <a:ext uri="{FF2B5EF4-FFF2-40B4-BE49-F238E27FC236}">
                <a16:creationId xmlns:a16="http://schemas.microsoft.com/office/drawing/2014/main" id="{86149771-D78D-40D7-8B97-564358008D8D}"/>
              </a:ext>
            </a:extLst>
          </p:cNvPr>
          <p:cNvSpPr/>
          <p:nvPr userDrawn="1"/>
        </p:nvSpPr>
        <p:spPr>
          <a:xfrm>
            <a:off x="724689" y="4320000"/>
            <a:ext cx="54000" cy="360000"/>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11" name="텍스트 개체 틀 18">
            <a:extLst>
              <a:ext uri="{FF2B5EF4-FFF2-40B4-BE49-F238E27FC236}">
                <a16:creationId xmlns:a16="http://schemas.microsoft.com/office/drawing/2014/main" id="{02AC410D-7805-4DA9-915F-991D726861C7}"/>
              </a:ext>
            </a:extLst>
          </p:cNvPr>
          <p:cNvSpPr>
            <a:spLocks noGrp="1"/>
          </p:cNvSpPr>
          <p:nvPr>
            <p:ph type="body" sz="quarter" idx="11" hasCustomPrompt="1"/>
          </p:nvPr>
        </p:nvSpPr>
        <p:spPr>
          <a:xfrm>
            <a:off x="720000" y="3551768"/>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800" dirty="0">
                <a:solidFill>
                  <a:schemeClr val="bg1">
                    <a:lumMod val="50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Team Name</a:t>
            </a:r>
            <a:endParaRPr lang="ko-KR" altLang="en-US" dirty="0"/>
          </a:p>
        </p:txBody>
      </p:sp>
      <p:sp>
        <p:nvSpPr>
          <p:cNvPr id="12" name="제목 2">
            <a:extLst>
              <a:ext uri="{FF2B5EF4-FFF2-40B4-BE49-F238E27FC236}">
                <a16:creationId xmlns:a16="http://schemas.microsoft.com/office/drawing/2014/main" id="{44AF0917-EEBC-44C5-8BA6-F1CA2AFA4B1E}"/>
              </a:ext>
            </a:extLst>
          </p:cNvPr>
          <p:cNvSpPr>
            <a:spLocks noGrp="1"/>
          </p:cNvSpPr>
          <p:nvPr>
            <p:ph type="title" hasCustomPrompt="1"/>
          </p:nvPr>
        </p:nvSpPr>
        <p:spPr>
          <a:xfrm>
            <a:off x="720000" y="1710000"/>
            <a:ext cx="5221019" cy="14773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defRPr lang="ko-KR" altLang="en-US" sz="4800">
                <a:solidFill>
                  <a:schemeClr val="tx1"/>
                </a:solidFill>
                <a:latin typeface="Samsung Sharp Sans" pitchFamily="2" charset="0"/>
                <a:ea typeface="Samsung Sharp Sans" pitchFamily="2" charset="0"/>
                <a:cs typeface="Samsung Sharp Sans" pitchFamily="2" charset="0"/>
              </a:defRPr>
            </a:lvl1pPr>
          </a:lstStyle>
          <a:p>
            <a:pPr marL="0" lvl="0" defTabSz="457200" latinLnBrk="0"/>
            <a:r>
              <a:rPr lang="en-US" altLang="ko-KR" dirty="0"/>
              <a:t>Project</a:t>
            </a:r>
            <a:r>
              <a:rPr lang="ko-KR" altLang="en-US" dirty="0"/>
              <a:t> </a:t>
            </a:r>
            <a:br>
              <a:rPr lang="en-US" altLang="ko-KR" dirty="0"/>
            </a:br>
            <a:r>
              <a:rPr lang="en-US" altLang="ko-KR" dirty="0"/>
              <a:t>Name</a:t>
            </a:r>
            <a:endParaRPr lang="ko-KR" altLang="en-US" dirty="0"/>
          </a:p>
        </p:txBody>
      </p:sp>
    </p:spTree>
    <p:extLst>
      <p:ext uri="{BB962C8B-B14F-4D97-AF65-F5344CB8AC3E}">
        <p14:creationId xmlns:p14="http://schemas.microsoft.com/office/powerpoint/2010/main" val="30322917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able of Contents2">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8"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7" name="직사각형 133">
            <a:extLst>
              <a:ext uri="{FF2B5EF4-FFF2-40B4-BE49-F238E27FC236}">
                <a16:creationId xmlns:a16="http://schemas.microsoft.com/office/drawing/2014/main" id="{7A4BCBFF-5289-45FE-BA09-DFF42AF8A347}"/>
              </a:ext>
            </a:extLst>
          </p:cNvPr>
          <p:cNvSpPr/>
          <p:nvPr userDrawn="1"/>
        </p:nvSpPr>
        <p:spPr>
          <a:xfrm>
            <a:off x="990000" y="4157757"/>
            <a:ext cx="3563339" cy="3231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p>
            <a:pPr defTabSz="457200">
              <a:defRPr/>
            </a:pPr>
            <a:r>
              <a:rPr lang="en-US" altLang="ko-KR" sz="2100" dirty="0">
                <a:solidFill>
                  <a:srgbClr val="1428A0"/>
                </a:solidFill>
                <a:latin typeface="Samsung Sharp Sans" pitchFamily="2" charset="0"/>
                <a:ea typeface="Samsung Sharp Sans" pitchFamily="2" charset="0"/>
                <a:cs typeface="Samsung Sharp Sans" pitchFamily="2" charset="0"/>
              </a:rPr>
              <a:t>AI Course</a:t>
            </a:r>
            <a:endParaRPr lang="ko-KR" altLang="en-US" sz="2100" dirty="0">
              <a:solidFill>
                <a:srgbClr val="1428A0"/>
              </a:solidFill>
              <a:latin typeface="Samsung Sharp Sans" pitchFamily="2" charset="0"/>
              <a:ea typeface="Samsung Sharp Sans" pitchFamily="2" charset="0"/>
              <a:cs typeface="Samsung Sharp Sans" pitchFamily="2" charset="0"/>
            </a:endParaRPr>
          </a:p>
        </p:txBody>
      </p:sp>
      <p:sp>
        <p:nvSpPr>
          <p:cNvPr id="9" name="직사각형 8">
            <a:extLst>
              <a:ext uri="{FF2B5EF4-FFF2-40B4-BE49-F238E27FC236}">
                <a16:creationId xmlns:a16="http://schemas.microsoft.com/office/drawing/2014/main" id="{4AA6CFBD-D9B3-4245-A68B-1D7EC1CB6F07}"/>
              </a:ext>
            </a:extLst>
          </p:cNvPr>
          <p:cNvSpPr/>
          <p:nvPr userDrawn="1"/>
        </p:nvSpPr>
        <p:spPr>
          <a:xfrm>
            <a:off x="720000" y="2095275"/>
            <a:ext cx="60008" cy="1759369"/>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10" name="직사각형 9">
            <a:extLst>
              <a:ext uri="{FF2B5EF4-FFF2-40B4-BE49-F238E27FC236}">
                <a16:creationId xmlns:a16="http://schemas.microsoft.com/office/drawing/2014/main" id="{1B2EB59A-603F-4715-ABA1-D9DF69D44512}"/>
              </a:ext>
            </a:extLst>
          </p:cNvPr>
          <p:cNvSpPr/>
          <p:nvPr userDrawn="1"/>
        </p:nvSpPr>
        <p:spPr>
          <a:xfrm>
            <a:off x="720000" y="4157757"/>
            <a:ext cx="60008" cy="323165"/>
          </a:xfrm>
          <a:prstGeom prst="rect">
            <a:avLst/>
          </a:prstGeom>
          <a:solidFill>
            <a:srgbClr val="1428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457200">
              <a:defRPr/>
            </a:pPr>
            <a:endParaRPr lang="ko-KR" altLang="en-US" dirty="0">
              <a:solidFill>
                <a:prstClr val="white"/>
              </a:solidFill>
              <a:latin typeface="Calibri" panose="020F0502020204030204"/>
              <a:ea typeface="맑은 고딕" panose="020B0503020000020004" pitchFamily="50" charset="-127"/>
            </a:endParaRPr>
          </a:p>
        </p:txBody>
      </p:sp>
      <p:sp>
        <p:nvSpPr>
          <p:cNvPr id="3" name="제목 2">
            <a:extLst>
              <a:ext uri="{FF2B5EF4-FFF2-40B4-BE49-F238E27FC236}">
                <a16:creationId xmlns:a16="http://schemas.microsoft.com/office/drawing/2014/main" id="{CF6BC111-C555-4B09-8375-33C4F4C2FBB5}"/>
              </a:ext>
            </a:extLst>
          </p:cNvPr>
          <p:cNvSpPr>
            <a:spLocks noGrp="1"/>
          </p:cNvSpPr>
          <p:nvPr>
            <p:ph type="title" hasCustomPrompt="1"/>
          </p:nvPr>
        </p:nvSpPr>
        <p:spPr>
          <a:xfrm>
            <a:off x="990000" y="2095275"/>
            <a:ext cx="5221019" cy="135421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defRPr lang="ko-KR" altLang="en-US" sz="4400">
                <a:solidFill>
                  <a:schemeClr val="tx1"/>
                </a:solidFill>
                <a:latin typeface="Samsung Sharp Sans" pitchFamily="2" charset="0"/>
                <a:ea typeface="Samsung Sharp Sans" pitchFamily="2" charset="0"/>
                <a:cs typeface="Samsung Sharp Sans" pitchFamily="2" charset="0"/>
              </a:defRPr>
            </a:lvl1pPr>
          </a:lstStyle>
          <a:p>
            <a:pPr marL="0" lvl="0" defTabSz="457200" latinLnBrk="0"/>
            <a:r>
              <a:rPr lang="en-US" altLang="ko-KR" dirty="0"/>
              <a:t>Project</a:t>
            </a:r>
            <a:r>
              <a:rPr lang="ko-KR" altLang="en-US" dirty="0"/>
              <a:t> </a:t>
            </a:r>
            <a:br>
              <a:rPr lang="en-US" altLang="ko-KR" dirty="0"/>
            </a:br>
            <a:r>
              <a:rPr lang="en-US" altLang="ko-KR" dirty="0"/>
              <a:t>Name</a:t>
            </a:r>
            <a:endParaRPr lang="ko-KR" altLang="en-US" dirty="0"/>
          </a:p>
        </p:txBody>
      </p:sp>
      <p:sp>
        <p:nvSpPr>
          <p:cNvPr id="17" name="텍스트 개체 틀 18">
            <a:extLst>
              <a:ext uri="{FF2B5EF4-FFF2-40B4-BE49-F238E27FC236}">
                <a16:creationId xmlns:a16="http://schemas.microsoft.com/office/drawing/2014/main" id="{CBEAE583-0BAA-455B-9555-B00A4FE8B1C9}"/>
              </a:ext>
            </a:extLst>
          </p:cNvPr>
          <p:cNvSpPr>
            <a:spLocks noGrp="1"/>
          </p:cNvSpPr>
          <p:nvPr>
            <p:ph type="body" sz="quarter" idx="11" hasCustomPrompt="1"/>
          </p:nvPr>
        </p:nvSpPr>
        <p:spPr>
          <a:xfrm>
            <a:off x="990000" y="3577645"/>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800" dirty="0">
                <a:solidFill>
                  <a:schemeClr val="bg1">
                    <a:lumMod val="50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Team Name</a:t>
            </a:r>
            <a:endParaRPr lang="ko-KR" altLang="en-US" dirty="0"/>
          </a:p>
        </p:txBody>
      </p:sp>
    </p:spTree>
    <p:extLst>
      <p:ext uri="{BB962C8B-B14F-4D97-AF65-F5344CB8AC3E}">
        <p14:creationId xmlns:p14="http://schemas.microsoft.com/office/powerpoint/2010/main" val="690312953"/>
      </p:ext>
    </p:extLst>
  </p:cSld>
  <p:clrMapOvr>
    <a:masterClrMapping/>
  </p:clrMapOvr>
  <p:extLst>
    <p:ext uri="{DCECCB84-F9BA-43D5-87BE-67443E8EF086}">
      <p15:sldGuideLst xmlns:p15="http://schemas.microsoft.com/office/powerpoint/2012/main">
        <p15:guide id="1" orient="horz" pos="2614" userDrawn="1">
          <p15:clr>
            <a:srgbClr val="FBAE40"/>
          </p15:clr>
        </p15:guide>
        <p15:guide id="2" pos="443" userDrawn="1">
          <p15:clr>
            <a:srgbClr val="FBAE40"/>
          </p15:clr>
        </p15:guide>
        <p15:guide id="3" pos="5955">
          <p15:clr>
            <a:srgbClr val="FBAE40"/>
          </p15:clr>
        </p15:guide>
        <p15:guide id="4" pos="609"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able of Contents">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3" name="제목 2">
            <a:extLst>
              <a:ext uri="{FF2B5EF4-FFF2-40B4-BE49-F238E27FC236}">
                <a16:creationId xmlns:a16="http://schemas.microsoft.com/office/drawing/2014/main" id="{4625E1FE-2B04-4D8E-A51A-6B9CEC7B3790}"/>
              </a:ext>
            </a:extLst>
          </p:cNvPr>
          <p:cNvSpPr>
            <a:spLocks noGrp="1"/>
          </p:cNvSpPr>
          <p:nvPr>
            <p:ph type="title" hasCustomPrompt="1"/>
          </p:nvPr>
        </p:nvSpPr>
        <p:spPr>
          <a:xfrm>
            <a:off x="449468" y="1440000"/>
            <a:ext cx="8541187" cy="49244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a:lnSpc>
                <a:spcPct val="100000"/>
              </a:lnSpc>
              <a:spcBef>
                <a:spcPts val="0"/>
              </a:spcBef>
              <a:defRPr lang="ko-KR" altLang="en-US" sz="3200">
                <a:solidFill>
                  <a:schemeClr val="tx1">
                    <a:lumMod val="95000"/>
                    <a:lumOff val="5000"/>
                  </a:schemeClr>
                </a:solidFill>
                <a:latin typeface="Samsung Sharp Sans" pitchFamily="2" charset="0"/>
                <a:ea typeface="Samsung Sharp Sans" pitchFamily="2" charset="0"/>
                <a:cs typeface="Samsung Sharp Sans" pitchFamily="2" charset="0"/>
              </a:defRPr>
            </a:lvl1pPr>
          </a:lstStyle>
          <a:p>
            <a:pPr marL="0" lvl="0" defTabSz="457050" latinLnBrk="0"/>
            <a:r>
              <a:rPr lang="en-US" altLang="ko-KR" dirty="0"/>
              <a:t>Slide Title</a:t>
            </a:r>
            <a:endParaRPr lang="ko-KR" altLang="en-US" dirty="0"/>
          </a:p>
        </p:txBody>
      </p:sp>
      <p:sp>
        <p:nvSpPr>
          <p:cNvPr id="19" name="텍스트 개체 틀 18">
            <a:extLst>
              <a:ext uri="{FF2B5EF4-FFF2-40B4-BE49-F238E27FC236}">
                <a16:creationId xmlns:a16="http://schemas.microsoft.com/office/drawing/2014/main" id="{DFEC8C6A-D95C-4B3C-9803-6F9071BF0C29}"/>
              </a:ext>
            </a:extLst>
          </p:cNvPr>
          <p:cNvSpPr>
            <a:spLocks noGrp="1"/>
          </p:cNvSpPr>
          <p:nvPr>
            <p:ph type="body" sz="quarter" idx="10" hasCustomPrompt="1"/>
          </p:nvPr>
        </p:nvSpPr>
        <p:spPr>
          <a:xfrm>
            <a:off x="449468" y="450000"/>
            <a:ext cx="323896" cy="2772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799" dirty="0">
                <a:solidFill>
                  <a:schemeClr val="bg1"/>
                </a:solidFill>
                <a:latin typeface="Samsung Sharp Sans Medium" pitchFamily="2" charset="0"/>
                <a:ea typeface="Samsung Sharp Sans Medium" pitchFamily="2" charset="0"/>
                <a:cs typeface="Samsung Sharp Sans Medium" pitchFamily="2" charset="0"/>
              </a:defRPr>
            </a:lvl1pPr>
          </a:lstStyle>
          <a:p>
            <a:pPr marL="0" lvl="0" defTabSz="457050" latinLnBrk="0"/>
            <a:r>
              <a:rPr lang="en-US" altLang="ko-KR" dirty="0"/>
              <a:t>No</a:t>
            </a:r>
            <a:endParaRPr lang="ko-KR" altLang="en-US" dirty="0"/>
          </a:p>
        </p:txBody>
      </p:sp>
      <p:sp>
        <p:nvSpPr>
          <p:cNvPr id="20" name="텍스트 개체 틀 18">
            <a:extLst>
              <a:ext uri="{FF2B5EF4-FFF2-40B4-BE49-F238E27FC236}">
                <a16:creationId xmlns:a16="http://schemas.microsoft.com/office/drawing/2014/main" id="{6DA22BCA-E7E2-4377-AD8E-AC1336C3DB31}"/>
              </a:ext>
            </a:extLst>
          </p:cNvPr>
          <p:cNvSpPr>
            <a:spLocks noGrp="1"/>
          </p:cNvSpPr>
          <p:nvPr>
            <p:ph type="body" sz="quarter" idx="11" hasCustomPrompt="1"/>
          </p:nvPr>
        </p:nvSpPr>
        <p:spPr>
          <a:xfrm>
            <a:off x="790000" y="450001"/>
            <a:ext cx="6837808"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799" dirty="0">
                <a:solidFill>
                  <a:schemeClr val="bg1"/>
                </a:solidFill>
                <a:latin typeface="Samsung Sharp Sans Bold" pitchFamily="2" charset="0"/>
                <a:ea typeface="Samsung Sharp Sans Bold" pitchFamily="2" charset="0"/>
                <a:cs typeface="Samsung Sharp Sans Bold" pitchFamily="2" charset="0"/>
              </a:defRPr>
            </a:lvl1pPr>
          </a:lstStyle>
          <a:p>
            <a:pPr marL="0" lvl="0" defTabSz="457050" latinLnBrk="0"/>
            <a:r>
              <a:rPr lang="en-US" altLang="ko-KR" dirty="0"/>
              <a:t>Subtitle</a:t>
            </a:r>
            <a:endParaRPr lang="ko-KR" altLang="en-US" dirty="0"/>
          </a:p>
        </p:txBody>
      </p:sp>
      <p:sp>
        <p:nvSpPr>
          <p:cNvPr id="21" name="텍스트 개체 틀 18">
            <a:extLst>
              <a:ext uri="{FF2B5EF4-FFF2-40B4-BE49-F238E27FC236}">
                <a16:creationId xmlns:a16="http://schemas.microsoft.com/office/drawing/2014/main" id="{7647BD6A-5F13-45AE-859C-AF2BA0A739E6}"/>
              </a:ext>
            </a:extLst>
          </p:cNvPr>
          <p:cNvSpPr>
            <a:spLocks noGrp="1"/>
          </p:cNvSpPr>
          <p:nvPr>
            <p:ph type="body" sz="quarter" idx="12" hasCustomPrompt="1"/>
          </p:nvPr>
        </p:nvSpPr>
        <p:spPr>
          <a:xfrm>
            <a:off x="9112825" y="480779"/>
            <a:ext cx="340625" cy="246221"/>
          </a:xfrm>
          <a:prstGeom prst="rect">
            <a:avLst/>
          </a:prstGeom>
        </p:spPr>
        <p:txBody>
          <a:bodyPr wrap="square" lIns="0" tIns="0" rIns="0" bIns="0">
            <a:spAutoFit/>
          </a:bodyPr>
          <a:lstStyle>
            <a:lvl1pPr marL="0" indent="0" algn="r">
              <a:lnSpc>
                <a:spcPct val="100000"/>
              </a:lnSpc>
              <a:spcBef>
                <a:spcPts val="0"/>
              </a:spcBef>
              <a:buNone/>
              <a:defRPr lang="ko-KR" altLang="en-US" sz="1600" dirty="0">
                <a:solidFill>
                  <a:schemeClr val="bg1">
                    <a:lumMod val="85000"/>
                  </a:schemeClr>
                </a:solidFill>
                <a:latin typeface="Samsung Sharp Sans Bold" pitchFamily="2" charset="0"/>
                <a:ea typeface="Samsung Sharp Sans Bold" pitchFamily="2" charset="0"/>
                <a:cs typeface="Samsung Sharp Sans Bold" pitchFamily="2" charset="0"/>
              </a:defRPr>
            </a:lvl1pPr>
          </a:lstStyle>
          <a:p>
            <a:pPr marL="0" lvl="0" algn="r" defTabSz="457063" latinLnBrk="0"/>
            <a:r>
              <a:rPr lang="en-US" altLang="ko-KR" dirty="0"/>
              <a:t>00</a:t>
            </a:r>
            <a:endParaRPr lang="ko-KR" altLang="en-US" dirty="0"/>
          </a:p>
        </p:txBody>
      </p:sp>
      <p:sp>
        <p:nvSpPr>
          <p:cNvPr id="23" name="텍스트 개체 틀 18">
            <a:extLst>
              <a:ext uri="{FF2B5EF4-FFF2-40B4-BE49-F238E27FC236}">
                <a16:creationId xmlns:a16="http://schemas.microsoft.com/office/drawing/2014/main" id="{3A9667F7-80AD-4A7A-8543-285975B06BE3}"/>
              </a:ext>
            </a:extLst>
          </p:cNvPr>
          <p:cNvSpPr>
            <a:spLocks noGrp="1"/>
          </p:cNvSpPr>
          <p:nvPr>
            <p:ph type="body" sz="quarter" idx="13" hasCustomPrompt="1"/>
          </p:nvPr>
        </p:nvSpPr>
        <p:spPr>
          <a:xfrm>
            <a:off x="8740667" y="480779"/>
            <a:ext cx="467850" cy="24622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lvl1pPr marL="0" indent="0">
              <a:lnSpc>
                <a:spcPct val="100000"/>
              </a:lnSpc>
              <a:spcBef>
                <a:spcPts val="0"/>
              </a:spcBef>
              <a:buNone/>
              <a:defRPr lang="ko-KR" altLang="en-US" sz="1600" dirty="0">
                <a:solidFill>
                  <a:schemeClr val="bg1">
                    <a:lumMod val="85000"/>
                  </a:schemeClr>
                </a:solidFill>
                <a:latin typeface="Samsung Sharp Sans Medium" pitchFamily="2" charset="0"/>
                <a:ea typeface="Samsung Sharp Sans Medium" pitchFamily="2" charset="0"/>
                <a:cs typeface="Samsung Sharp Sans Medium" pitchFamily="2" charset="0"/>
              </a:defRPr>
            </a:lvl1pPr>
          </a:lstStyle>
          <a:p>
            <a:pPr marL="0" lvl="0" defTabSz="457050" latinLnBrk="0"/>
            <a:r>
              <a:rPr lang="en-US" altLang="ko-KR" dirty="0"/>
              <a:t>UNIT</a:t>
            </a:r>
            <a:endParaRPr lang="ko-KR" altLang="en-US" dirty="0"/>
          </a:p>
        </p:txBody>
      </p:sp>
      <p:sp>
        <p:nvSpPr>
          <p:cNvPr id="16" name="텍스트 개체 틀 7">
            <a:extLst>
              <a:ext uri="{FF2B5EF4-FFF2-40B4-BE49-F238E27FC236}">
                <a16:creationId xmlns:a16="http://schemas.microsoft.com/office/drawing/2014/main" id="{B6D584F0-F100-4FB4-B935-0E81DB1D3B51}"/>
              </a:ext>
            </a:extLst>
          </p:cNvPr>
          <p:cNvSpPr>
            <a:spLocks noGrp="1"/>
          </p:cNvSpPr>
          <p:nvPr>
            <p:ph type="body" sz="quarter" idx="15" hasCustomPrompt="1"/>
          </p:nvPr>
        </p:nvSpPr>
        <p:spPr>
          <a:xfrm>
            <a:off x="522288" y="2221661"/>
            <a:ext cx="8055439" cy="914400"/>
          </a:xfrm>
          <a:prstGeom prst="rect">
            <a:avLst/>
          </a:prstGeom>
        </p:spPr>
        <p:txBody>
          <a:bodyPr lIns="0" tIns="0" rIns="0" bIns="0"/>
          <a:lstStyle>
            <a:lvl1pPr marL="177747" indent="-177747">
              <a:lnSpc>
                <a:spcPts val="1800"/>
              </a:lnSpc>
              <a:buSzPct val="105000"/>
              <a:buFontTx/>
              <a:buBlip>
                <a:blip r:embed="rId3"/>
              </a:buBlip>
              <a:defRPr kumimoji="1" lang="en-US" altLang="ko-KR" sz="1400" kern="1200" smtClean="0">
                <a:solidFill>
                  <a:prstClr val="black">
                    <a:lumMod val="85000"/>
                    <a:lumOff val="15000"/>
                  </a:prstClr>
                </a:solidFill>
                <a:latin typeface="SamsungOne 400" panose="020B0503030303020204" pitchFamily="34" charset="0"/>
                <a:ea typeface="SamsungOne 400" panose="020B0503030303020204" pitchFamily="34" charset="0"/>
                <a:cs typeface="+mn-cs"/>
              </a:defRPr>
            </a:lvl1pPr>
            <a:lvl2pPr marL="360255" indent="-182508">
              <a:lnSpc>
                <a:spcPts val="1800"/>
              </a:lnSpc>
              <a:buSzPct val="80000"/>
              <a:buFontTx/>
              <a:buBlip>
                <a:blip r:embed="rId4"/>
              </a:buBlip>
              <a:tabLst>
                <a:tab pos="447541" algn="l"/>
              </a:tabLst>
              <a:defRPr lang="en-US" altLang="ko-KR" sz="1300" kern="1200" dirty="0" smtClean="0">
                <a:solidFill>
                  <a:prstClr val="black">
                    <a:lumMod val="85000"/>
                    <a:lumOff val="15000"/>
                  </a:prstClr>
                </a:solidFill>
                <a:latin typeface="SamsungOne 400" panose="020B0503030303020204" pitchFamily="34" charset="0"/>
                <a:ea typeface="SamsungOne 400" panose="020B0503030303020204" pitchFamily="34" charset="0"/>
                <a:cs typeface="+mn-cs"/>
              </a:defRPr>
            </a:lvl2pPr>
          </a:lstStyle>
          <a:p>
            <a:pPr lvl="0"/>
            <a:r>
              <a:rPr lang="en-US" altLang="ko-KR" dirty="0"/>
              <a:t>Level1</a:t>
            </a:r>
          </a:p>
          <a:p>
            <a:pPr lvl="1"/>
            <a:r>
              <a:rPr lang="en-US" altLang="ko-KR" dirty="0"/>
              <a:t>Level2</a:t>
            </a:r>
          </a:p>
          <a:p>
            <a:pPr lvl="1"/>
            <a:endParaRPr lang="en-US" altLang="ko-KR" dirty="0"/>
          </a:p>
          <a:p>
            <a:pPr marL="628461" lvl="1" indent="-207901" algn="l" defTabSz="843830" rtl="0" eaLnBrk="1" latinLnBrk="1" hangingPunct="1">
              <a:lnSpc>
                <a:spcPct val="90000"/>
              </a:lnSpc>
              <a:spcBef>
                <a:spcPts val="462"/>
              </a:spcBef>
              <a:buSzPct val="90000"/>
              <a:buFontTx/>
              <a:buBlip>
                <a:blip r:embed="rId5"/>
              </a:buBlip>
            </a:pPr>
            <a:endParaRPr lang="en-US" altLang="ko-KR" dirty="0"/>
          </a:p>
          <a:p>
            <a:pPr lvl="1"/>
            <a:endParaRPr lang="ko-KR" altLang="en-US" dirty="0"/>
          </a:p>
        </p:txBody>
      </p:sp>
      <p:sp>
        <p:nvSpPr>
          <p:cNvPr id="17" name="슬라이드 번호 개체 틀 15">
            <a:extLst>
              <a:ext uri="{FF2B5EF4-FFF2-40B4-BE49-F238E27FC236}">
                <a16:creationId xmlns:a16="http://schemas.microsoft.com/office/drawing/2014/main" id="{D63EAE99-E447-4D3D-BFEE-6F01BCEB93C6}"/>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102046736"/>
      </p:ext>
    </p:extLst>
  </p:cSld>
  <p:clrMapOvr>
    <a:masterClrMapping/>
  </p:clrMapOvr>
  <p:extLst>
    <p:ext uri="{DCECCB84-F9BA-43D5-87BE-67443E8EF086}">
      <p15:sldGuideLst xmlns:p15="http://schemas.microsoft.com/office/powerpoint/2012/main">
        <p15:guide id="1" orient="horz" pos="902" userDrawn="1">
          <p15:clr>
            <a:srgbClr val="FBAE40"/>
          </p15:clr>
        </p15:guide>
        <p15:guide id="2" pos="285">
          <p15:clr>
            <a:srgbClr val="FBAE40"/>
          </p15:clr>
        </p15:guide>
        <p15:guide id="3" pos="5955">
          <p15:clr>
            <a:srgbClr val="FBAE40"/>
          </p15:clr>
        </p15:guide>
        <p15:guide id="4" pos="329"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able of Contents">
    <p:spTree>
      <p:nvGrpSpPr>
        <p:cNvPr id="1" name=""/>
        <p:cNvGrpSpPr/>
        <p:nvPr/>
      </p:nvGrpSpPr>
      <p:grpSpPr>
        <a:xfrm>
          <a:off x="0" y="0"/>
          <a:ext cx="0" cy="0"/>
          <a:chOff x="0" y="0"/>
          <a:chExt cx="0" cy="0"/>
        </a:xfrm>
      </p:grpSpPr>
      <p:pic>
        <p:nvPicPr>
          <p:cNvPr id="5" name="그림 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17" name="슬라이드 번호 개체 틀 15">
            <a:extLst>
              <a:ext uri="{FF2B5EF4-FFF2-40B4-BE49-F238E27FC236}">
                <a16:creationId xmlns:a16="http://schemas.microsoft.com/office/drawing/2014/main" id="{D63EAE99-E447-4D3D-BFEE-6F01BCEB93C6}"/>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434159522"/>
      </p:ext>
    </p:extLst>
  </p:cSld>
  <p:clrMapOvr>
    <a:masterClrMapping/>
  </p:clrMapOvr>
  <p:extLst>
    <p:ext uri="{DCECCB84-F9BA-43D5-87BE-67443E8EF086}">
      <p15:sldGuideLst xmlns:p15="http://schemas.microsoft.com/office/powerpoint/2012/main">
        <p15:guide id="1" orient="horz" pos="902">
          <p15:clr>
            <a:srgbClr val="FBAE40"/>
          </p15:clr>
        </p15:guide>
        <p15:guide id="2" pos="285">
          <p15:clr>
            <a:srgbClr val="FBAE40"/>
          </p15:clr>
        </p15:guide>
        <p15:guide id="3" pos="5955">
          <p15:clr>
            <a:srgbClr val="FBAE40"/>
          </p15:clr>
        </p15:guide>
        <p15:guide id="4" pos="329">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Table of Contents2">
    <p:spTree>
      <p:nvGrpSpPr>
        <p:cNvPr id="1" name=""/>
        <p:cNvGrpSpPr/>
        <p:nvPr/>
      </p:nvGrpSpPr>
      <p:grpSpPr>
        <a:xfrm>
          <a:off x="0" y="0"/>
          <a:ext cx="0" cy="0"/>
          <a:chOff x="0" y="0"/>
          <a:chExt cx="0" cy="0"/>
        </a:xfrm>
      </p:grpSpPr>
      <p:pic>
        <p:nvPicPr>
          <p:cNvPr id="2" name="그림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8"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Tree>
    <p:extLst>
      <p:ext uri="{BB962C8B-B14F-4D97-AF65-F5344CB8AC3E}">
        <p14:creationId xmlns:p14="http://schemas.microsoft.com/office/powerpoint/2010/main" val="1779621428"/>
      </p:ext>
    </p:extLst>
  </p:cSld>
  <p:clrMapOvr>
    <a:masterClrMapping/>
  </p:clrMapOvr>
  <p:extLst>
    <p:ext uri="{DCECCB84-F9BA-43D5-87BE-67443E8EF086}">
      <p15:sldGuideLst xmlns:p15="http://schemas.microsoft.com/office/powerpoint/2012/main">
        <p15:guide id="1" orient="horz" pos="2614">
          <p15:clr>
            <a:srgbClr val="FBAE40"/>
          </p15:clr>
        </p15:guide>
        <p15:guide id="2" pos="443">
          <p15:clr>
            <a:srgbClr val="FBAE40"/>
          </p15:clr>
        </p15:guide>
        <p15:guide id="3" pos="5955">
          <p15:clr>
            <a:srgbClr val="FBAE40"/>
          </p15:clr>
        </p15:guide>
        <p15:guide id="4" pos="609">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Table of Contents">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cxnSp>
        <p:nvCxnSpPr>
          <p:cNvPr id="12" name="직선 연결선 11">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4"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sp>
        <p:nvSpPr>
          <p:cNvPr id="7" name="슬라이드 번호 개체 틀 15">
            <a:extLst>
              <a:ext uri="{FF2B5EF4-FFF2-40B4-BE49-F238E27FC236}">
                <a16:creationId xmlns:a16="http://schemas.microsoft.com/office/drawing/2014/main" id="{E75758B0-2429-4331-898E-5EEED60D4280}"/>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3942502544"/>
      </p:ext>
    </p:extLst>
  </p:cSld>
  <p:clrMapOvr>
    <a:masterClrMapping/>
  </p:clrMapOvr>
  <p:extLst>
    <p:ext uri="{DCECCB84-F9BA-43D5-87BE-67443E8EF086}">
      <p15:sldGuideLst xmlns:p15="http://schemas.microsoft.com/office/powerpoint/2012/main">
        <p15:guide id="1" orient="horz" pos="2160">
          <p15:clr>
            <a:srgbClr val="FBAE40"/>
          </p15:clr>
        </p15:guide>
        <p15:guide id="2" pos="5955">
          <p15:clr>
            <a:srgbClr val="FBAE40"/>
          </p15:clr>
        </p15:guide>
        <p15:guide id="3" pos="285">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ody">
    <p:spTree>
      <p:nvGrpSpPr>
        <p:cNvPr id="1" name=""/>
        <p:cNvGrpSpPr/>
        <p:nvPr/>
      </p:nvGrpSpPr>
      <p:grpSpPr>
        <a:xfrm>
          <a:off x="0" y="0"/>
          <a:ext cx="0" cy="0"/>
          <a:chOff x="0" y="0"/>
          <a:chExt cx="0" cy="0"/>
        </a:xfrm>
      </p:grpSpPr>
      <p:cxnSp>
        <p:nvCxnSpPr>
          <p:cNvPr id="10" name="직선 연결선 9">
            <a:extLst>
              <a:ext uri="{FF2B5EF4-FFF2-40B4-BE49-F238E27FC236}">
                <a16:creationId xmlns:a16="http://schemas.microsoft.com/office/drawing/2014/main" id="{107951CE-0A5B-4EC7-B663-290867B6A3B2}"/>
              </a:ext>
            </a:extLst>
          </p:cNvPr>
          <p:cNvCxnSpPr/>
          <p:nvPr userDrawn="1"/>
        </p:nvCxnSpPr>
        <p:spPr>
          <a:xfrm>
            <a:off x="449468" y="6424935"/>
            <a:ext cx="9000714"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6" name="슬라이드 번호 개체 틀 15">
            <a:extLst>
              <a:ext uri="{FF2B5EF4-FFF2-40B4-BE49-F238E27FC236}">
                <a16:creationId xmlns:a16="http://schemas.microsoft.com/office/drawing/2014/main" id="{DB8B1220-1660-457F-B990-656A8230EA54}"/>
              </a:ext>
            </a:extLst>
          </p:cNvPr>
          <p:cNvSpPr txBox="1">
            <a:spLocks/>
          </p:cNvSpPr>
          <p:nvPr userDrawn="1"/>
        </p:nvSpPr>
        <p:spPr>
          <a:xfrm>
            <a:off x="8836343" y="6498001"/>
            <a:ext cx="613839"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r" defTabSz="914094" rtl="0" eaLnBrk="1" fontAlgn="auto" latinLnBrk="1" hangingPunct="1">
              <a:lnSpc>
                <a:spcPct val="100000"/>
              </a:lnSpc>
              <a:spcBef>
                <a:spcPts val="0"/>
              </a:spcBef>
              <a:spcAft>
                <a:spcPts val="0"/>
              </a:spcAft>
              <a:buClrTx/>
              <a:buSzTx/>
              <a:buFontTx/>
              <a:buNone/>
              <a:tabLst/>
              <a:defRPr/>
            </a:pPr>
            <a:fld id="{43977B04-C971-4466-AB79-612C9E649B30}" type="slidenum">
              <a:rPr lang="en-US" altLang="ko-KR" sz="900" smtClean="0">
                <a:solidFill>
                  <a:schemeClr val="bg1">
                    <a:lumMod val="50000"/>
                  </a:schemeClr>
                </a:solidFill>
                <a:latin typeface="SamsungOne 400" panose="020B0503030303020204" pitchFamily="34" charset="0"/>
                <a:ea typeface="SamsungOne 400" panose="020B0503030303020204" pitchFamily="34" charset="0"/>
              </a:rPr>
              <a:pPr marL="0" marR="0" lvl="0" indent="0" algn="r" defTabSz="914094" rtl="0" eaLnBrk="1" fontAlgn="auto" latinLnBrk="1" hangingPunct="1">
                <a:lnSpc>
                  <a:spcPct val="100000"/>
                </a:lnSpc>
                <a:spcBef>
                  <a:spcPts val="0"/>
                </a:spcBef>
                <a:spcAft>
                  <a:spcPts val="0"/>
                </a:spcAft>
                <a:buClrTx/>
                <a:buSzTx/>
                <a:buFontTx/>
                <a:buNone/>
                <a:tabLst/>
                <a:defRPr/>
              </a:pPr>
              <a:t>‹#›</a:t>
            </a:fld>
            <a:endParaRPr lang="en-US" altLang="ko-KR" sz="900" dirty="0">
              <a:solidFill>
                <a:schemeClr val="bg1">
                  <a:lumMod val="50000"/>
                </a:schemeClr>
              </a:solidFill>
              <a:latin typeface="SamsungOne 400" panose="020B0503030303020204" pitchFamily="34" charset="0"/>
              <a:ea typeface="SamsungOne 400" panose="020B0503030303020204" pitchFamily="34" charset="0"/>
              <a:cs typeface="Arial Unicode MS" panose="020B0604020202020204" pitchFamily="50" charset="-127"/>
            </a:endParaRPr>
          </a:p>
        </p:txBody>
      </p:sp>
      <p:sp>
        <p:nvSpPr>
          <p:cNvPr id="18" name="직사각형 7">
            <a:extLst>
              <a:ext uri="{FF2B5EF4-FFF2-40B4-BE49-F238E27FC236}">
                <a16:creationId xmlns:a16="http://schemas.microsoft.com/office/drawing/2014/main" id="{AA07D337-B9C3-4E5E-811E-AEFBB17ADEF5}"/>
              </a:ext>
            </a:extLst>
          </p:cNvPr>
          <p:cNvSpPr/>
          <p:nvPr userDrawn="1"/>
        </p:nvSpPr>
        <p:spPr>
          <a:xfrm>
            <a:off x="449468" y="6498001"/>
            <a:ext cx="2888788" cy="16927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algn="l"/>
            <a:r>
              <a:rPr lang="en-US" altLang="ko-KR" sz="1100" b="0" dirty="0">
                <a:solidFill>
                  <a:schemeClr val="bg1">
                    <a:lumMod val="50000"/>
                  </a:schemeClr>
                </a:solidFill>
                <a:latin typeface="Samsung Sharp Sans Bold" pitchFamily="2" charset="0"/>
                <a:ea typeface="Samsung Sharp Sans Bold" pitchFamily="2" charset="0"/>
                <a:cs typeface="Samsung Sharp Sans Bold" pitchFamily="2" charset="0"/>
              </a:rPr>
              <a:t>Samsung Innovation Campus</a:t>
            </a:r>
          </a:p>
        </p:txBody>
      </p:sp>
      <p:cxnSp>
        <p:nvCxnSpPr>
          <p:cNvPr id="7" name="직선 연결선 6"/>
          <p:cNvCxnSpPr/>
          <p:nvPr userDrawn="1"/>
        </p:nvCxnSpPr>
        <p:spPr>
          <a:xfrm>
            <a:off x="449468" y="900000"/>
            <a:ext cx="9000714" cy="0"/>
          </a:xfrm>
          <a:prstGeom prst="line">
            <a:avLst/>
          </a:prstGeom>
          <a:ln w="15875">
            <a:solidFill>
              <a:srgbClr val="0924A5"/>
            </a:solidFill>
          </a:ln>
        </p:spPr>
        <p:style>
          <a:lnRef idx="1">
            <a:schemeClr val="accent1"/>
          </a:lnRef>
          <a:fillRef idx="0">
            <a:schemeClr val="accent1"/>
          </a:fillRef>
          <a:effectRef idx="0">
            <a:schemeClr val="accent1"/>
          </a:effectRef>
          <a:fontRef idx="minor">
            <a:schemeClr val="tx1"/>
          </a:fontRef>
        </p:style>
      </p:cxnSp>
      <p:sp>
        <p:nvSpPr>
          <p:cNvPr id="9" name="슬라이드 번호 개체 틀 15">
            <a:extLst>
              <a:ext uri="{FF2B5EF4-FFF2-40B4-BE49-F238E27FC236}">
                <a16:creationId xmlns:a16="http://schemas.microsoft.com/office/drawing/2014/main" id="{C5960DC7-D671-485D-92B0-FEED6CE658A3}"/>
              </a:ext>
            </a:extLst>
          </p:cNvPr>
          <p:cNvSpPr txBox="1">
            <a:spLocks/>
          </p:cNvSpPr>
          <p:nvPr userDrawn="1"/>
        </p:nvSpPr>
        <p:spPr>
          <a:xfrm>
            <a:off x="6846858" y="6498001"/>
            <a:ext cx="2349501" cy="1384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ctr">
            <a:spAutoFit/>
            <a:scene3d>
              <a:camera prst="orthographicFront"/>
              <a:lightRig rig="threePt" dir="t"/>
            </a:scene3d>
            <a:sp3d>
              <a:bevelT w="0" h="6350"/>
            </a:sp3d>
          </a:bodyPr>
          <a:lstStyle>
            <a:defPPr>
              <a:defRPr lang="ko-KR"/>
            </a:defPPr>
            <a:lvl1pPr algn="r">
              <a:defRPr sz="900">
                <a:solidFill>
                  <a:schemeClr val="tx1">
                    <a:lumMod val="50000"/>
                    <a:lumOff val="50000"/>
                  </a:schemeClr>
                </a:solidFill>
                <a:latin typeface="SamsungOne 300" panose="020B0303030303020204" pitchFamily="34" charset="0"/>
                <a:ea typeface="SamsungOne 300" panose="020B0303030303020204"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lvl="0" defTabSz="914094" latinLnBrk="1">
              <a:defRPr/>
            </a:pPr>
            <a:r>
              <a:rPr lang="en-US" altLang="ko-KR" sz="900" dirty="0">
                <a:solidFill>
                  <a:schemeClr val="bg1">
                    <a:lumMod val="50000"/>
                  </a:schemeClr>
                </a:solidFill>
                <a:latin typeface="Samsung Sharp Sans Medium" pitchFamily="2" charset="0"/>
                <a:ea typeface="Samsung Sharp Sans Medium" pitchFamily="2" charset="0"/>
                <a:cs typeface="Samsung Sharp Sans Medium" pitchFamily="2" charset="0"/>
              </a:rPr>
              <a:t>Project Name</a:t>
            </a:r>
          </a:p>
        </p:txBody>
      </p:sp>
    </p:spTree>
    <p:extLst>
      <p:ext uri="{BB962C8B-B14F-4D97-AF65-F5344CB8AC3E}">
        <p14:creationId xmlns:p14="http://schemas.microsoft.com/office/powerpoint/2010/main" val="1343950608"/>
      </p:ext>
    </p:extLst>
  </p:cSld>
  <p:clrMapOvr>
    <a:masterClrMapping/>
  </p:clrMapOvr>
  <p:extLst>
    <p:ext uri="{DCECCB84-F9BA-43D5-87BE-67443E8EF086}">
      <p15:sldGuideLst xmlns:p15="http://schemas.microsoft.com/office/powerpoint/2012/main">
        <p15:guide id="1" orient="horz" pos="2160">
          <p15:clr>
            <a:srgbClr val="FBAE40"/>
          </p15:clr>
        </p15:guide>
        <p15:guide id="2" pos="285">
          <p15:clr>
            <a:srgbClr val="FBAE40"/>
          </p15:clr>
        </p15:guide>
        <p15:guide id="3" pos="595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last">
    <p:spTree>
      <p:nvGrpSpPr>
        <p:cNvPr id="1" name=""/>
        <p:cNvGrpSpPr/>
        <p:nvPr/>
      </p:nvGrpSpPr>
      <p:grpSpPr>
        <a:xfrm>
          <a:off x="0" y="0"/>
          <a:ext cx="0" cy="0"/>
          <a:chOff x="0" y="0"/>
          <a:chExt cx="0" cy="0"/>
        </a:xfrm>
      </p:grpSpPr>
      <p:pic>
        <p:nvPicPr>
          <p:cNvPr id="6" name="그림 2">
            <a:extLst>
              <a:ext uri="{FF2B5EF4-FFF2-40B4-BE49-F238E27FC236}">
                <a16:creationId xmlns:a16="http://schemas.microsoft.com/office/drawing/2014/main" id="{C441AFAB-5BBF-465C-B7A8-FED86E62617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4395"/>
            <a:ext cx="9899651" cy="6853605"/>
          </a:xfrm>
          <a:prstGeom prst="rect">
            <a:avLst/>
          </a:prstGeom>
        </p:spPr>
      </p:pic>
      <p:sp>
        <p:nvSpPr>
          <p:cNvPr id="2" name="직사각형 1"/>
          <p:cNvSpPr/>
          <p:nvPr userDrawn="1"/>
        </p:nvSpPr>
        <p:spPr>
          <a:xfrm>
            <a:off x="2" y="0"/>
            <a:ext cx="9899651" cy="6858000"/>
          </a:xfrm>
          <a:prstGeom prst="rect">
            <a:avLst/>
          </a:prstGeom>
          <a:solidFill>
            <a:srgbClr val="1428A0">
              <a:alpha val="8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959" dirty="0"/>
          </a:p>
        </p:txBody>
      </p:sp>
      <p:sp>
        <p:nvSpPr>
          <p:cNvPr id="7" name="직사각형 6">
            <a:extLst>
              <a:ext uri="{FF2B5EF4-FFF2-40B4-BE49-F238E27FC236}">
                <a16:creationId xmlns:a16="http://schemas.microsoft.com/office/drawing/2014/main" id="{782B242C-8600-47F0-98D5-6EA512C41BF2}"/>
              </a:ext>
            </a:extLst>
          </p:cNvPr>
          <p:cNvSpPr/>
          <p:nvPr userDrawn="1"/>
        </p:nvSpPr>
        <p:spPr>
          <a:xfrm>
            <a:off x="449468" y="5677032"/>
            <a:ext cx="9000714" cy="73096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0" rIns="0" bIns="0" rtlCol="0" anchor="t">
            <a:spAutoFit/>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r>
              <a:rPr kumimoji="0" lang="ko-KR" altLang="en-US"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 panose="020B0503030303020204" pitchFamily="34" charset="0"/>
                <a:cs typeface="+mn-cs"/>
              </a:rPr>
              <a:t>ⓒ</a:t>
            </a: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2025 SAMSUNG. All rights reserved.</a:t>
            </a:r>
          </a:p>
          <a:p>
            <a:pPr marL="0" marR="0" lvl="0" indent="0" algn="l" defTabSz="914126" rtl="0" eaLnBrk="1" fontAlgn="auto" latinLnBrk="1" hangingPunct="1">
              <a:lnSpc>
                <a:spcPct val="100000"/>
              </a:lnSpc>
              <a:spcBef>
                <a:spcPts val="60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Samsung Electronics Corporate Citizenship Office holds the copyright of book.</a:t>
            </a:r>
          </a:p>
          <a:p>
            <a:pPr marL="0" marR="0" lvl="0" indent="0" algn="l" defTabSz="914126" rtl="0" eaLnBrk="1" fontAlgn="auto" latinLnBrk="1" hangingPunct="1">
              <a:lnSpc>
                <a:spcPct val="100000"/>
              </a:lnSpc>
              <a:spcBef>
                <a:spcPts val="30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This book is a literary property protected by copyright law so reprint and reproduction without permission are prohibited. </a:t>
            </a:r>
          </a:p>
          <a:p>
            <a:pPr marL="0" marR="0" lvl="0" indent="0" algn="l" defTabSz="914126" rtl="0" eaLnBrk="1" fontAlgn="auto" latinLnBrk="1" hangingPunct="1">
              <a:lnSpc>
                <a:spcPct val="100000"/>
              </a:lnSpc>
              <a:spcBef>
                <a:spcPts val="0"/>
              </a:spcBef>
              <a:spcAft>
                <a:spcPts val="0"/>
              </a:spcAft>
              <a:buClrTx/>
              <a:buSzTx/>
              <a:buFontTx/>
              <a:buNone/>
              <a:tabLst/>
              <a:defRPr/>
            </a:pPr>
            <a:r>
              <a:rPr kumimoji="0" lang="en-US" altLang="ko-KR" sz="1000" b="0" i="0" u="none" strike="noStrike" kern="1200" cap="none" spc="0" normalizeH="0" baseline="0" noProof="0" dirty="0">
                <a:ln>
                  <a:noFill/>
                </a:ln>
                <a:solidFill>
                  <a:prstClr val="white"/>
                </a:solidFill>
                <a:effectLst/>
                <a:uLnTx/>
                <a:uFillTx/>
                <a:latin typeface="SamsungOne 400C" panose="020B0506030303020204" pitchFamily="34" charset="0"/>
                <a:ea typeface="SamsungOne 400C" panose="020B0506030303020204" pitchFamily="34" charset="0"/>
                <a:cs typeface="+mn-cs"/>
              </a:rPr>
              <a:t>To use this book other than the curriculum of Samsung Innovation Campus or to use the entire or part of this book, you must receive written consent from copyright holder.</a:t>
            </a:r>
          </a:p>
        </p:txBody>
      </p:sp>
      <p:pic>
        <p:nvPicPr>
          <p:cNvPr id="10" name="그림 3">
            <a:extLst>
              <a:ext uri="{FF2B5EF4-FFF2-40B4-BE49-F238E27FC236}">
                <a16:creationId xmlns:a16="http://schemas.microsoft.com/office/drawing/2014/main" id="{A977D3D7-ABF1-4BDD-B1E5-CCA79CC8184C}"/>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711822" y="3022951"/>
            <a:ext cx="2476006" cy="812098"/>
          </a:xfrm>
          <a:prstGeom prst="rect">
            <a:avLst/>
          </a:prstGeom>
        </p:spPr>
      </p:pic>
      <p:sp>
        <p:nvSpPr>
          <p:cNvPr id="9"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90568"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chemeClr val="bg1"/>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spTree>
    <p:extLst>
      <p:ext uri="{BB962C8B-B14F-4D97-AF65-F5344CB8AC3E}">
        <p14:creationId xmlns:p14="http://schemas.microsoft.com/office/powerpoint/2010/main" val="122783419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119"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1_Body">
    <p:bg>
      <p:bgPr>
        <a:solidFill>
          <a:schemeClr val="bg1">
            <a:lumMod val="95000"/>
          </a:schemeClr>
        </a:solidFill>
        <a:effectLst/>
      </p:bgPr>
    </p:bg>
    <p:spTree>
      <p:nvGrpSpPr>
        <p:cNvPr id="1" name=""/>
        <p:cNvGrpSpPr/>
        <p:nvPr/>
      </p:nvGrpSpPr>
      <p:grpSpPr>
        <a:xfrm>
          <a:off x="0" y="0"/>
          <a:ext cx="0" cy="0"/>
          <a:chOff x="0" y="0"/>
          <a:chExt cx="0" cy="0"/>
        </a:xfrm>
      </p:grpSpPr>
      <p:pic>
        <p:nvPicPr>
          <p:cNvPr id="3" name="그림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6858000"/>
          </a:xfrm>
          <a:prstGeom prst="rect">
            <a:avLst/>
          </a:prstGeom>
        </p:spPr>
      </p:pic>
      <p:sp>
        <p:nvSpPr>
          <p:cNvPr id="5" name="Freeform 5">
            <a:extLst>
              <a:ext uri="{FF2B5EF4-FFF2-40B4-BE49-F238E27FC236}">
                <a16:creationId xmlns:a16="http://schemas.microsoft.com/office/drawing/2014/main" id="{0D8AEED9-5E8F-4A4F-8427-AE314BEC60F8}"/>
              </a:ext>
            </a:extLst>
          </p:cNvPr>
          <p:cNvSpPr>
            <a:spLocks noChangeAspect="1" noEditPoints="1"/>
          </p:cNvSpPr>
          <p:nvPr userDrawn="1"/>
        </p:nvSpPr>
        <p:spPr bwMode="auto">
          <a:xfrm>
            <a:off x="449468" y="450000"/>
            <a:ext cx="1282022" cy="198000"/>
          </a:xfrm>
          <a:custGeom>
            <a:avLst/>
            <a:gdLst>
              <a:gd name="T0" fmla="*/ 82 w 2179"/>
              <a:gd name="T1" fmla="*/ 74 h 334"/>
              <a:gd name="T2" fmla="*/ 140 w 2179"/>
              <a:gd name="T3" fmla="*/ 82 h 334"/>
              <a:gd name="T4" fmla="*/ 218 w 2179"/>
              <a:gd name="T5" fmla="*/ 101 h 334"/>
              <a:gd name="T6" fmla="*/ 112 w 2179"/>
              <a:gd name="T7" fmla="*/ 0 h 334"/>
              <a:gd name="T8" fmla="*/ 4 w 2179"/>
              <a:gd name="T9" fmla="*/ 112 h 334"/>
              <a:gd name="T10" fmla="*/ 145 w 2179"/>
              <a:gd name="T11" fmla="*/ 257 h 334"/>
              <a:gd name="T12" fmla="*/ 84 w 2179"/>
              <a:gd name="T13" fmla="*/ 250 h 334"/>
              <a:gd name="T14" fmla="*/ 0 w 2179"/>
              <a:gd name="T15" fmla="*/ 220 h 334"/>
              <a:gd name="T16" fmla="*/ 113 w 2179"/>
              <a:gd name="T17" fmla="*/ 334 h 334"/>
              <a:gd name="T18" fmla="*/ 223 w 2179"/>
              <a:gd name="T19" fmla="*/ 212 h 334"/>
              <a:gd name="T20" fmla="*/ 1096 w 2179"/>
              <a:gd name="T21" fmla="*/ 91 h 334"/>
              <a:gd name="T22" fmla="*/ 1124 w 2179"/>
              <a:gd name="T23" fmla="*/ 54 h 334"/>
              <a:gd name="T24" fmla="*/ 1152 w 2179"/>
              <a:gd name="T25" fmla="*/ 102 h 334"/>
              <a:gd name="T26" fmla="*/ 1229 w 2179"/>
              <a:gd name="T27" fmla="*/ 80 h 334"/>
              <a:gd name="T28" fmla="*/ 1017 w 2179"/>
              <a:gd name="T29" fmla="*/ 71 h 334"/>
              <a:gd name="T30" fmla="*/ 1157 w 2179"/>
              <a:gd name="T31" fmla="*/ 233 h 334"/>
              <a:gd name="T32" fmla="*/ 1128 w 2179"/>
              <a:gd name="T33" fmla="*/ 277 h 334"/>
              <a:gd name="T34" fmla="*/ 1097 w 2179"/>
              <a:gd name="T35" fmla="*/ 219 h 334"/>
              <a:gd name="T36" fmla="*/ 1014 w 2179"/>
              <a:gd name="T37" fmla="*/ 243 h 334"/>
              <a:gd name="T38" fmla="*/ 1235 w 2179"/>
              <a:gd name="T39" fmla="*/ 262 h 334"/>
              <a:gd name="T40" fmla="*/ 1096 w 2179"/>
              <a:gd name="T41" fmla="*/ 91 h 334"/>
              <a:gd name="T42" fmla="*/ 1730 w 2179"/>
              <a:gd name="T43" fmla="*/ 10 h 334"/>
              <a:gd name="T44" fmla="*/ 1614 w 2179"/>
              <a:gd name="T45" fmla="*/ 319 h 334"/>
              <a:gd name="T46" fmla="*/ 1686 w 2179"/>
              <a:gd name="T47" fmla="*/ 60 h 334"/>
              <a:gd name="T48" fmla="*/ 1876 w 2179"/>
              <a:gd name="T49" fmla="*/ 319 h 334"/>
              <a:gd name="T50" fmla="*/ 1799 w 2179"/>
              <a:gd name="T51" fmla="*/ 10 h 334"/>
              <a:gd name="T52" fmla="*/ 333 w 2179"/>
              <a:gd name="T53" fmla="*/ 10 h 334"/>
              <a:gd name="T54" fmla="*/ 360 w 2179"/>
              <a:gd name="T55" fmla="*/ 322 h 334"/>
              <a:gd name="T56" fmla="*/ 446 w 2179"/>
              <a:gd name="T57" fmla="*/ 322 h 334"/>
              <a:gd name="T58" fmla="*/ 472 w 2179"/>
              <a:gd name="T59" fmla="*/ 10 h 334"/>
              <a:gd name="T60" fmla="*/ 804 w 2179"/>
              <a:gd name="T61" fmla="*/ 10 h 334"/>
              <a:gd name="T62" fmla="*/ 725 w 2179"/>
              <a:gd name="T63" fmla="*/ 10 h 334"/>
              <a:gd name="T64" fmla="*/ 592 w 2179"/>
              <a:gd name="T65" fmla="*/ 322 h 334"/>
              <a:gd name="T66" fmla="*/ 671 w 2179"/>
              <a:gd name="T67" fmla="*/ 33 h 334"/>
              <a:gd name="T68" fmla="*/ 804 w 2179"/>
              <a:gd name="T69" fmla="*/ 322 h 334"/>
              <a:gd name="T70" fmla="*/ 860 w 2179"/>
              <a:gd name="T71" fmla="*/ 322 h 334"/>
              <a:gd name="T72" fmla="*/ 931 w 2179"/>
              <a:gd name="T73" fmla="*/ 10 h 334"/>
              <a:gd name="T74" fmla="*/ 1528 w 2179"/>
              <a:gd name="T75" fmla="*/ 10 h 334"/>
              <a:gd name="T76" fmla="*/ 1449 w 2179"/>
              <a:gd name="T77" fmla="*/ 241 h 334"/>
              <a:gd name="T78" fmla="*/ 1418 w 2179"/>
              <a:gd name="T79" fmla="*/ 275 h 334"/>
              <a:gd name="T80" fmla="*/ 1388 w 2179"/>
              <a:gd name="T81" fmla="*/ 241 h 334"/>
              <a:gd name="T82" fmla="*/ 1309 w 2179"/>
              <a:gd name="T83" fmla="*/ 10 h 334"/>
              <a:gd name="T84" fmla="*/ 1310 w 2179"/>
              <a:gd name="T85" fmla="*/ 254 h 334"/>
              <a:gd name="T86" fmla="*/ 1527 w 2179"/>
              <a:gd name="T87" fmla="*/ 254 h 334"/>
              <a:gd name="T88" fmla="*/ 1528 w 2179"/>
              <a:gd name="T89" fmla="*/ 10 h 334"/>
              <a:gd name="T90" fmla="*/ 2069 w 2179"/>
              <a:gd name="T91" fmla="*/ 192 h 334"/>
              <a:gd name="T92" fmla="*/ 2101 w 2179"/>
              <a:gd name="T93" fmla="*/ 237 h 334"/>
              <a:gd name="T94" fmla="*/ 2068 w 2179"/>
              <a:gd name="T95" fmla="*/ 272 h 334"/>
              <a:gd name="T96" fmla="*/ 2035 w 2179"/>
              <a:gd name="T97" fmla="*/ 237 h 334"/>
              <a:gd name="T98" fmla="*/ 2037 w 2179"/>
              <a:gd name="T99" fmla="*/ 80 h 334"/>
              <a:gd name="T100" fmla="*/ 2099 w 2179"/>
              <a:gd name="T101" fmla="*/ 80 h 334"/>
              <a:gd name="T102" fmla="*/ 2100 w 2179"/>
              <a:gd name="T103" fmla="*/ 110 h 334"/>
              <a:gd name="T104" fmla="*/ 2178 w 2179"/>
              <a:gd name="T105" fmla="*/ 99 h 334"/>
              <a:gd name="T106" fmla="*/ 2068 w 2179"/>
              <a:gd name="T107" fmla="*/ 2 h 334"/>
              <a:gd name="T108" fmla="*/ 1958 w 2179"/>
              <a:gd name="T109" fmla="*/ 99 h 334"/>
              <a:gd name="T110" fmla="*/ 1959 w 2179"/>
              <a:gd name="T111" fmla="*/ 251 h 334"/>
              <a:gd name="T112" fmla="*/ 2178 w 2179"/>
              <a:gd name="T113" fmla="*/ 251 h 334"/>
              <a:gd name="T114" fmla="*/ 2179 w 2179"/>
              <a:gd name="T115" fmla="*/ 147 h 3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79" h="334">
                <a:moveTo>
                  <a:pt x="83" y="91"/>
                </a:moveTo>
                <a:cubicBezTo>
                  <a:pt x="81" y="84"/>
                  <a:pt x="82" y="78"/>
                  <a:pt x="82" y="74"/>
                </a:cubicBezTo>
                <a:cubicBezTo>
                  <a:pt x="84" y="64"/>
                  <a:pt x="91" y="53"/>
                  <a:pt x="111" y="53"/>
                </a:cubicBezTo>
                <a:cubicBezTo>
                  <a:pt x="129" y="53"/>
                  <a:pt x="140" y="65"/>
                  <a:pt x="140" y="82"/>
                </a:cubicBezTo>
                <a:cubicBezTo>
                  <a:pt x="140" y="101"/>
                  <a:pt x="140" y="101"/>
                  <a:pt x="140" y="101"/>
                </a:cubicBezTo>
                <a:cubicBezTo>
                  <a:pt x="218" y="101"/>
                  <a:pt x="218" y="101"/>
                  <a:pt x="218" y="101"/>
                </a:cubicBezTo>
                <a:cubicBezTo>
                  <a:pt x="218" y="79"/>
                  <a:pt x="218" y="79"/>
                  <a:pt x="218" y="79"/>
                </a:cubicBezTo>
                <a:cubicBezTo>
                  <a:pt x="218" y="11"/>
                  <a:pt x="156" y="0"/>
                  <a:pt x="112" y="0"/>
                </a:cubicBezTo>
                <a:cubicBezTo>
                  <a:pt x="57" y="0"/>
                  <a:pt x="12" y="19"/>
                  <a:pt x="4" y="70"/>
                </a:cubicBezTo>
                <a:cubicBezTo>
                  <a:pt x="1" y="84"/>
                  <a:pt x="1" y="96"/>
                  <a:pt x="4" y="112"/>
                </a:cubicBezTo>
                <a:cubicBezTo>
                  <a:pt x="18" y="175"/>
                  <a:pt x="128" y="194"/>
                  <a:pt x="145" y="234"/>
                </a:cubicBezTo>
                <a:cubicBezTo>
                  <a:pt x="148" y="241"/>
                  <a:pt x="147" y="251"/>
                  <a:pt x="145" y="257"/>
                </a:cubicBezTo>
                <a:cubicBezTo>
                  <a:pt x="143" y="267"/>
                  <a:pt x="136" y="278"/>
                  <a:pt x="115" y="278"/>
                </a:cubicBezTo>
                <a:cubicBezTo>
                  <a:pt x="95" y="278"/>
                  <a:pt x="84" y="267"/>
                  <a:pt x="84" y="250"/>
                </a:cubicBezTo>
                <a:cubicBezTo>
                  <a:pt x="83" y="220"/>
                  <a:pt x="83" y="220"/>
                  <a:pt x="83" y="220"/>
                </a:cubicBezTo>
                <a:cubicBezTo>
                  <a:pt x="0" y="220"/>
                  <a:pt x="0" y="220"/>
                  <a:pt x="0" y="220"/>
                </a:cubicBezTo>
                <a:cubicBezTo>
                  <a:pt x="0" y="244"/>
                  <a:pt x="0" y="244"/>
                  <a:pt x="0" y="244"/>
                </a:cubicBezTo>
                <a:cubicBezTo>
                  <a:pt x="0" y="313"/>
                  <a:pt x="55" y="334"/>
                  <a:pt x="113" y="334"/>
                </a:cubicBezTo>
                <a:cubicBezTo>
                  <a:pt x="169" y="334"/>
                  <a:pt x="216" y="315"/>
                  <a:pt x="223" y="263"/>
                </a:cubicBezTo>
                <a:cubicBezTo>
                  <a:pt x="227" y="236"/>
                  <a:pt x="224" y="218"/>
                  <a:pt x="223" y="212"/>
                </a:cubicBezTo>
                <a:cubicBezTo>
                  <a:pt x="210" y="146"/>
                  <a:pt x="92" y="127"/>
                  <a:pt x="83" y="91"/>
                </a:cubicBezTo>
                <a:moveTo>
                  <a:pt x="1096" y="91"/>
                </a:moveTo>
                <a:cubicBezTo>
                  <a:pt x="1094" y="85"/>
                  <a:pt x="1095" y="79"/>
                  <a:pt x="1096" y="75"/>
                </a:cubicBezTo>
                <a:cubicBezTo>
                  <a:pt x="1098" y="65"/>
                  <a:pt x="1104" y="54"/>
                  <a:pt x="1124" y="54"/>
                </a:cubicBezTo>
                <a:cubicBezTo>
                  <a:pt x="1142" y="54"/>
                  <a:pt x="1152" y="66"/>
                  <a:pt x="1152" y="82"/>
                </a:cubicBezTo>
                <a:cubicBezTo>
                  <a:pt x="1152" y="102"/>
                  <a:pt x="1152" y="102"/>
                  <a:pt x="1152" y="102"/>
                </a:cubicBezTo>
                <a:cubicBezTo>
                  <a:pt x="1229" y="102"/>
                  <a:pt x="1229" y="102"/>
                  <a:pt x="1229" y="102"/>
                </a:cubicBezTo>
                <a:cubicBezTo>
                  <a:pt x="1229" y="80"/>
                  <a:pt x="1229" y="80"/>
                  <a:pt x="1229" y="80"/>
                </a:cubicBezTo>
                <a:cubicBezTo>
                  <a:pt x="1229" y="13"/>
                  <a:pt x="1169" y="2"/>
                  <a:pt x="1125" y="2"/>
                </a:cubicBezTo>
                <a:cubicBezTo>
                  <a:pt x="1070" y="2"/>
                  <a:pt x="1026" y="20"/>
                  <a:pt x="1017" y="71"/>
                </a:cubicBezTo>
                <a:cubicBezTo>
                  <a:pt x="1015" y="84"/>
                  <a:pt x="1015" y="97"/>
                  <a:pt x="1018" y="112"/>
                </a:cubicBezTo>
                <a:cubicBezTo>
                  <a:pt x="1032" y="175"/>
                  <a:pt x="1141" y="193"/>
                  <a:pt x="1157" y="233"/>
                </a:cubicBezTo>
                <a:cubicBezTo>
                  <a:pt x="1160" y="241"/>
                  <a:pt x="1159" y="250"/>
                  <a:pt x="1158" y="256"/>
                </a:cubicBezTo>
                <a:cubicBezTo>
                  <a:pt x="1155" y="267"/>
                  <a:pt x="1148" y="277"/>
                  <a:pt x="1128" y="277"/>
                </a:cubicBezTo>
                <a:cubicBezTo>
                  <a:pt x="1108" y="277"/>
                  <a:pt x="1097" y="266"/>
                  <a:pt x="1097" y="249"/>
                </a:cubicBezTo>
                <a:cubicBezTo>
                  <a:pt x="1097" y="219"/>
                  <a:pt x="1097" y="219"/>
                  <a:pt x="1097" y="219"/>
                </a:cubicBezTo>
                <a:cubicBezTo>
                  <a:pt x="1014" y="219"/>
                  <a:pt x="1014" y="219"/>
                  <a:pt x="1014" y="219"/>
                </a:cubicBezTo>
                <a:cubicBezTo>
                  <a:pt x="1014" y="243"/>
                  <a:pt x="1014" y="243"/>
                  <a:pt x="1014" y="243"/>
                </a:cubicBezTo>
                <a:cubicBezTo>
                  <a:pt x="1014" y="312"/>
                  <a:pt x="1068" y="332"/>
                  <a:pt x="1126" y="332"/>
                </a:cubicBezTo>
                <a:cubicBezTo>
                  <a:pt x="1182" y="332"/>
                  <a:pt x="1228" y="313"/>
                  <a:pt x="1235" y="262"/>
                </a:cubicBezTo>
                <a:cubicBezTo>
                  <a:pt x="1238" y="235"/>
                  <a:pt x="1236" y="218"/>
                  <a:pt x="1234" y="211"/>
                </a:cubicBezTo>
                <a:cubicBezTo>
                  <a:pt x="1221" y="147"/>
                  <a:pt x="1105" y="127"/>
                  <a:pt x="1096" y="91"/>
                </a:cubicBezTo>
                <a:moveTo>
                  <a:pt x="1803" y="261"/>
                </a:moveTo>
                <a:cubicBezTo>
                  <a:pt x="1730" y="10"/>
                  <a:pt x="1730" y="10"/>
                  <a:pt x="1730" y="10"/>
                </a:cubicBezTo>
                <a:cubicBezTo>
                  <a:pt x="1614" y="10"/>
                  <a:pt x="1614" y="10"/>
                  <a:pt x="1614" y="10"/>
                </a:cubicBezTo>
                <a:cubicBezTo>
                  <a:pt x="1614" y="319"/>
                  <a:pt x="1614" y="319"/>
                  <a:pt x="1614" y="319"/>
                </a:cubicBezTo>
                <a:cubicBezTo>
                  <a:pt x="1691" y="319"/>
                  <a:pt x="1691" y="319"/>
                  <a:pt x="1691" y="319"/>
                </a:cubicBezTo>
                <a:cubicBezTo>
                  <a:pt x="1686" y="60"/>
                  <a:pt x="1686" y="60"/>
                  <a:pt x="1686" y="60"/>
                </a:cubicBezTo>
                <a:cubicBezTo>
                  <a:pt x="1765" y="319"/>
                  <a:pt x="1765" y="319"/>
                  <a:pt x="1765" y="319"/>
                </a:cubicBezTo>
                <a:cubicBezTo>
                  <a:pt x="1876" y="319"/>
                  <a:pt x="1876" y="319"/>
                  <a:pt x="1876" y="319"/>
                </a:cubicBezTo>
                <a:cubicBezTo>
                  <a:pt x="1876" y="10"/>
                  <a:pt x="1876" y="10"/>
                  <a:pt x="1876" y="10"/>
                </a:cubicBezTo>
                <a:cubicBezTo>
                  <a:pt x="1799" y="10"/>
                  <a:pt x="1799" y="10"/>
                  <a:pt x="1799" y="10"/>
                </a:cubicBezTo>
                <a:lnTo>
                  <a:pt x="1803" y="261"/>
                </a:lnTo>
                <a:close/>
                <a:moveTo>
                  <a:pt x="333" y="10"/>
                </a:moveTo>
                <a:cubicBezTo>
                  <a:pt x="276" y="322"/>
                  <a:pt x="276" y="322"/>
                  <a:pt x="276" y="322"/>
                </a:cubicBezTo>
                <a:cubicBezTo>
                  <a:pt x="360" y="322"/>
                  <a:pt x="360" y="322"/>
                  <a:pt x="360" y="322"/>
                </a:cubicBezTo>
                <a:cubicBezTo>
                  <a:pt x="403" y="33"/>
                  <a:pt x="403" y="33"/>
                  <a:pt x="403" y="33"/>
                </a:cubicBezTo>
                <a:cubicBezTo>
                  <a:pt x="446" y="322"/>
                  <a:pt x="446" y="322"/>
                  <a:pt x="446" y="322"/>
                </a:cubicBezTo>
                <a:cubicBezTo>
                  <a:pt x="529" y="322"/>
                  <a:pt x="529" y="322"/>
                  <a:pt x="529" y="322"/>
                </a:cubicBezTo>
                <a:cubicBezTo>
                  <a:pt x="472" y="10"/>
                  <a:pt x="472" y="10"/>
                  <a:pt x="472" y="10"/>
                </a:cubicBezTo>
                <a:lnTo>
                  <a:pt x="333" y="10"/>
                </a:lnTo>
                <a:close/>
                <a:moveTo>
                  <a:pt x="804" y="10"/>
                </a:moveTo>
                <a:cubicBezTo>
                  <a:pt x="765" y="254"/>
                  <a:pt x="765" y="254"/>
                  <a:pt x="765" y="254"/>
                </a:cubicBezTo>
                <a:cubicBezTo>
                  <a:pt x="725" y="10"/>
                  <a:pt x="725" y="10"/>
                  <a:pt x="725" y="10"/>
                </a:cubicBezTo>
                <a:cubicBezTo>
                  <a:pt x="598" y="10"/>
                  <a:pt x="598" y="10"/>
                  <a:pt x="598" y="10"/>
                </a:cubicBezTo>
                <a:cubicBezTo>
                  <a:pt x="592" y="322"/>
                  <a:pt x="592" y="322"/>
                  <a:pt x="592" y="322"/>
                </a:cubicBezTo>
                <a:cubicBezTo>
                  <a:pt x="669" y="322"/>
                  <a:pt x="669" y="322"/>
                  <a:pt x="669" y="322"/>
                </a:cubicBezTo>
                <a:cubicBezTo>
                  <a:pt x="671" y="33"/>
                  <a:pt x="671" y="33"/>
                  <a:pt x="671" y="33"/>
                </a:cubicBezTo>
                <a:cubicBezTo>
                  <a:pt x="725" y="322"/>
                  <a:pt x="725" y="322"/>
                  <a:pt x="725" y="322"/>
                </a:cubicBezTo>
                <a:cubicBezTo>
                  <a:pt x="804" y="322"/>
                  <a:pt x="804" y="322"/>
                  <a:pt x="804" y="322"/>
                </a:cubicBezTo>
                <a:cubicBezTo>
                  <a:pt x="858" y="33"/>
                  <a:pt x="858" y="33"/>
                  <a:pt x="858" y="33"/>
                </a:cubicBezTo>
                <a:cubicBezTo>
                  <a:pt x="860" y="322"/>
                  <a:pt x="860" y="322"/>
                  <a:pt x="860" y="322"/>
                </a:cubicBezTo>
                <a:cubicBezTo>
                  <a:pt x="938" y="322"/>
                  <a:pt x="938" y="322"/>
                  <a:pt x="938" y="322"/>
                </a:cubicBezTo>
                <a:cubicBezTo>
                  <a:pt x="931" y="10"/>
                  <a:pt x="931" y="10"/>
                  <a:pt x="931" y="10"/>
                </a:cubicBezTo>
                <a:lnTo>
                  <a:pt x="804" y="10"/>
                </a:lnTo>
                <a:close/>
                <a:moveTo>
                  <a:pt x="1528" y="10"/>
                </a:moveTo>
                <a:cubicBezTo>
                  <a:pt x="1449" y="10"/>
                  <a:pt x="1449" y="10"/>
                  <a:pt x="1449" y="10"/>
                </a:cubicBezTo>
                <a:cubicBezTo>
                  <a:pt x="1449" y="241"/>
                  <a:pt x="1449" y="241"/>
                  <a:pt x="1449" y="241"/>
                </a:cubicBezTo>
                <a:cubicBezTo>
                  <a:pt x="1449" y="245"/>
                  <a:pt x="1449" y="249"/>
                  <a:pt x="1448" y="253"/>
                </a:cubicBezTo>
                <a:cubicBezTo>
                  <a:pt x="1447" y="260"/>
                  <a:pt x="1440" y="275"/>
                  <a:pt x="1418" y="275"/>
                </a:cubicBezTo>
                <a:cubicBezTo>
                  <a:pt x="1397" y="275"/>
                  <a:pt x="1390" y="260"/>
                  <a:pt x="1389" y="253"/>
                </a:cubicBezTo>
                <a:cubicBezTo>
                  <a:pt x="1388" y="249"/>
                  <a:pt x="1388" y="245"/>
                  <a:pt x="1388" y="241"/>
                </a:cubicBezTo>
                <a:cubicBezTo>
                  <a:pt x="1388" y="10"/>
                  <a:pt x="1388" y="10"/>
                  <a:pt x="1388" y="10"/>
                </a:cubicBezTo>
                <a:cubicBezTo>
                  <a:pt x="1309" y="10"/>
                  <a:pt x="1309" y="10"/>
                  <a:pt x="1309" y="10"/>
                </a:cubicBezTo>
                <a:cubicBezTo>
                  <a:pt x="1309" y="234"/>
                  <a:pt x="1309" y="234"/>
                  <a:pt x="1309" y="234"/>
                </a:cubicBezTo>
                <a:cubicBezTo>
                  <a:pt x="1309" y="239"/>
                  <a:pt x="1309" y="251"/>
                  <a:pt x="1310" y="254"/>
                </a:cubicBezTo>
                <a:cubicBezTo>
                  <a:pt x="1315" y="312"/>
                  <a:pt x="1361" y="331"/>
                  <a:pt x="1418" y="331"/>
                </a:cubicBezTo>
                <a:cubicBezTo>
                  <a:pt x="1476" y="331"/>
                  <a:pt x="1522" y="312"/>
                  <a:pt x="1527" y="254"/>
                </a:cubicBezTo>
                <a:cubicBezTo>
                  <a:pt x="1528" y="251"/>
                  <a:pt x="1528" y="239"/>
                  <a:pt x="1528" y="234"/>
                </a:cubicBezTo>
                <a:lnTo>
                  <a:pt x="1528" y="10"/>
                </a:lnTo>
                <a:close/>
                <a:moveTo>
                  <a:pt x="2069" y="147"/>
                </a:moveTo>
                <a:cubicBezTo>
                  <a:pt x="2069" y="192"/>
                  <a:pt x="2069" y="192"/>
                  <a:pt x="2069" y="192"/>
                </a:cubicBezTo>
                <a:cubicBezTo>
                  <a:pt x="2101" y="192"/>
                  <a:pt x="2101" y="192"/>
                  <a:pt x="2101" y="192"/>
                </a:cubicBezTo>
                <a:cubicBezTo>
                  <a:pt x="2101" y="237"/>
                  <a:pt x="2101" y="237"/>
                  <a:pt x="2101" y="237"/>
                </a:cubicBezTo>
                <a:cubicBezTo>
                  <a:pt x="2101" y="241"/>
                  <a:pt x="2101" y="246"/>
                  <a:pt x="2100" y="249"/>
                </a:cubicBezTo>
                <a:cubicBezTo>
                  <a:pt x="2099" y="258"/>
                  <a:pt x="2091" y="272"/>
                  <a:pt x="2068" y="272"/>
                </a:cubicBezTo>
                <a:cubicBezTo>
                  <a:pt x="2045" y="272"/>
                  <a:pt x="2038" y="258"/>
                  <a:pt x="2036" y="249"/>
                </a:cubicBezTo>
                <a:cubicBezTo>
                  <a:pt x="2036" y="246"/>
                  <a:pt x="2035" y="241"/>
                  <a:pt x="2035" y="237"/>
                </a:cubicBezTo>
                <a:cubicBezTo>
                  <a:pt x="2035" y="95"/>
                  <a:pt x="2035" y="95"/>
                  <a:pt x="2035" y="95"/>
                </a:cubicBezTo>
                <a:cubicBezTo>
                  <a:pt x="2035" y="90"/>
                  <a:pt x="2036" y="85"/>
                  <a:pt x="2037" y="80"/>
                </a:cubicBezTo>
                <a:cubicBezTo>
                  <a:pt x="2038" y="73"/>
                  <a:pt x="2045" y="58"/>
                  <a:pt x="2068" y="58"/>
                </a:cubicBezTo>
                <a:cubicBezTo>
                  <a:pt x="2092" y="58"/>
                  <a:pt x="2098" y="74"/>
                  <a:pt x="2099" y="80"/>
                </a:cubicBezTo>
                <a:cubicBezTo>
                  <a:pt x="2100" y="85"/>
                  <a:pt x="2100" y="92"/>
                  <a:pt x="2100" y="92"/>
                </a:cubicBezTo>
                <a:cubicBezTo>
                  <a:pt x="2100" y="110"/>
                  <a:pt x="2100" y="110"/>
                  <a:pt x="2100" y="110"/>
                </a:cubicBezTo>
                <a:cubicBezTo>
                  <a:pt x="2178" y="110"/>
                  <a:pt x="2178" y="110"/>
                  <a:pt x="2178" y="110"/>
                </a:cubicBezTo>
                <a:cubicBezTo>
                  <a:pt x="2178" y="99"/>
                  <a:pt x="2178" y="99"/>
                  <a:pt x="2178" y="99"/>
                </a:cubicBezTo>
                <a:cubicBezTo>
                  <a:pt x="2178" y="99"/>
                  <a:pt x="2179" y="89"/>
                  <a:pt x="2178" y="79"/>
                </a:cubicBezTo>
                <a:cubicBezTo>
                  <a:pt x="2172" y="20"/>
                  <a:pt x="2124" y="2"/>
                  <a:pt x="2068" y="2"/>
                </a:cubicBezTo>
                <a:cubicBezTo>
                  <a:pt x="2013" y="2"/>
                  <a:pt x="1966" y="21"/>
                  <a:pt x="1959" y="79"/>
                </a:cubicBezTo>
                <a:cubicBezTo>
                  <a:pt x="1958" y="84"/>
                  <a:pt x="1958" y="94"/>
                  <a:pt x="1958" y="99"/>
                </a:cubicBezTo>
                <a:cubicBezTo>
                  <a:pt x="1958" y="230"/>
                  <a:pt x="1958" y="230"/>
                  <a:pt x="1958" y="230"/>
                </a:cubicBezTo>
                <a:cubicBezTo>
                  <a:pt x="1958" y="236"/>
                  <a:pt x="1958" y="241"/>
                  <a:pt x="1959" y="251"/>
                </a:cubicBezTo>
                <a:cubicBezTo>
                  <a:pt x="1964" y="308"/>
                  <a:pt x="2013" y="328"/>
                  <a:pt x="2068" y="328"/>
                </a:cubicBezTo>
                <a:cubicBezTo>
                  <a:pt x="2124" y="328"/>
                  <a:pt x="2173" y="308"/>
                  <a:pt x="2178" y="251"/>
                </a:cubicBezTo>
                <a:cubicBezTo>
                  <a:pt x="2179" y="241"/>
                  <a:pt x="2179" y="236"/>
                  <a:pt x="2179" y="230"/>
                </a:cubicBezTo>
                <a:cubicBezTo>
                  <a:pt x="2179" y="147"/>
                  <a:pt x="2179" y="147"/>
                  <a:pt x="2179" y="147"/>
                </a:cubicBezTo>
                <a:lnTo>
                  <a:pt x="2069" y="147"/>
                </a:lnTo>
                <a:close/>
              </a:path>
            </a:pathLst>
          </a:custGeom>
          <a:solidFill>
            <a:srgbClr val="0924A5"/>
          </a:solidFill>
          <a:ln>
            <a:noFill/>
          </a:ln>
        </p:spPr>
        <p:txBody>
          <a:bodyPr vert="horz" wrap="square" lIns="91411" tIns="45705" rIns="91411" bIns="45705" numCol="1" anchor="t" anchorCtr="0" compatLnSpc="1">
            <a:prstTxWarp prst="textNoShape">
              <a:avLst/>
            </a:prstTxWarp>
            <a:scene3d>
              <a:camera prst="orthographicFront"/>
              <a:lightRig rig="threePt" dir="t"/>
            </a:scene3d>
            <a:sp3d>
              <a:bevelT w="0" h="6350"/>
            </a:sp3d>
          </a:bodyPr>
          <a:lstStyle/>
          <a:p>
            <a:pPr marL="0" marR="0" lvl="0" indent="0" algn="l" defTabSz="914126" rtl="0" eaLnBrk="1" fontAlgn="auto" latinLnBrk="1" hangingPunct="1">
              <a:lnSpc>
                <a:spcPct val="100000"/>
              </a:lnSpc>
              <a:spcBef>
                <a:spcPts val="0"/>
              </a:spcBef>
              <a:spcAft>
                <a:spcPts val="0"/>
              </a:spcAft>
              <a:buClrTx/>
              <a:buSzTx/>
              <a:buFontTx/>
              <a:buNone/>
              <a:tabLst/>
              <a:defRPr/>
            </a:pPr>
            <a:endParaRPr lang="ko-KR" altLang="en-US" sz="1959" noProof="0" dirty="0"/>
          </a:p>
        </p:txBody>
      </p:sp>
      <p:pic>
        <p:nvPicPr>
          <p:cNvPr id="8" name="그림 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265631" y="6141164"/>
            <a:ext cx="1371564" cy="450000"/>
          </a:xfrm>
          <a:prstGeom prst="rect">
            <a:avLst/>
          </a:prstGeom>
        </p:spPr>
      </p:pic>
    </p:spTree>
    <p:extLst>
      <p:ext uri="{BB962C8B-B14F-4D97-AF65-F5344CB8AC3E}">
        <p14:creationId xmlns:p14="http://schemas.microsoft.com/office/powerpoint/2010/main" val="181444263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7928821"/>
      </p:ext>
    </p:extLst>
  </p:cSld>
  <p:clrMap bg1="lt1" tx1="dk1" bg2="lt2" tx2="dk2" accent1="accent1" accent2="accent2" accent3="accent3" accent4="accent4" accent5="accent5" accent6="accent6" hlink="hlink" folHlink="folHlink"/>
  <p:sldLayoutIdLst>
    <p:sldLayoutId id="2147483684" r:id="rId1"/>
    <p:sldLayoutId id="2147483691" r:id="rId2"/>
    <p:sldLayoutId id="2147483685" r:id="rId3"/>
    <p:sldLayoutId id="2147483687" r:id="rId4"/>
    <p:sldLayoutId id="2147483694" r:id="rId5"/>
    <p:sldLayoutId id="2147483693" r:id="rId6"/>
    <p:sldLayoutId id="2147483686" r:id="rId7"/>
    <p:sldLayoutId id="2147483688" r:id="rId8"/>
    <p:sldLayoutId id="2147483689" r:id="rId9"/>
    <p:sldLayoutId id="2147483690" r:id="rId10"/>
  </p:sldLayoutIdLst>
  <p:txStyles>
    <p:titleStyle>
      <a:lvl1pPr algn="l" defTabSz="914126" rtl="0" eaLnBrk="1" latinLnBrk="1" hangingPunct="1">
        <a:lnSpc>
          <a:spcPct val="90000"/>
        </a:lnSpc>
        <a:spcBef>
          <a:spcPct val="0"/>
        </a:spcBef>
        <a:buNone/>
        <a:defRPr sz="4399" kern="1200">
          <a:solidFill>
            <a:schemeClr val="tx1"/>
          </a:solidFill>
          <a:latin typeface="+mj-lt"/>
          <a:ea typeface="+mj-ea"/>
          <a:cs typeface="+mj-cs"/>
        </a:defRPr>
      </a:lvl1pPr>
    </p:titleStyle>
    <p:bodyStyle>
      <a:lvl1pPr marL="228531" indent="-228531" algn="l" defTabSz="914126" rtl="0" eaLnBrk="1" latinLnBrk="1" hangingPunct="1">
        <a:lnSpc>
          <a:spcPct val="90000"/>
        </a:lnSpc>
        <a:spcBef>
          <a:spcPts val="1000"/>
        </a:spcBef>
        <a:buFont typeface="Arial" panose="020B0604020202020204" pitchFamily="34" charset="0"/>
        <a:buChar char="•"/>
        <a:defRPr sz="2799" kern="1200">
          <a:solidFill>
            <a:schemeClr val="tx1"/>
          </a:solidFill>
          <a:latin typeface="+mn-lt"/>
          <a:ea typeface="+mn-ea"/>
          <a:cs typeface="+mn-cs"/>
        </a:defRPr>
      </a:lvl1pPr>
      <a:lvl2pPr marL="685594" indent="-228531" algn="l" defTabSz="914126" rtl="0" eaLnBrk="1" latinLnBrk="1" hangingPunct="1">
        <a:lnSpc>
          <a:spcPct val="90000"/>
        </a:lnSpc>
        <a:spcBef>
          <a:spcPts val="500"/>
        </a:spcBef>
        <a:buFont typeface="Arial" panose="020B0604020202020204" pitchFamily="34" charset="0"/>
        <a:buChar char="•"/>
        <a:defRPr sz="2399" kern="1200">
          <a:solidFill>
            <a:schemeClr val="tx1"/>
          </a:solidFill>
          <a:latin typeface="+mn-lt"/>
          <a:ea typeface="+mn-ea"/>
          <a:cs typeface="+mn-cs"/>
        </a:defRPr>
      </a:lvl2pPr>
      <a:lvl3pPr marL="1142657" indent="-228531" algn="l" defTabSz="914126" rtl="0" eaLnBrk="1" latinLnBrk="1" hangingPunct="1">
        <a:lnSpc>
          <a:spcPct val="90000"/>
        </a:lnSpc>
        <a:spcBef>
          <a:spcPts val="500"/>
        </a:spcBef>
        <a:buFont typeface="Arial" panose="020B0604020202020204" pitchFamily="34" charset="0"/>
        <a:buChar char="•"/>
        <a:defRPr sz="1999" kern="1200">
          <a:solidFill>
            <a:schemeClr val="tx1"/>
          </a:solidFill>
          <a:latin typeface="+mn-lt"/>
          <a:ea typeface="+mn-ea"/>
          <a:cs typeface="+mn-cs"/>
        </a:defRPr>
      </a:lvl3pPr>
      <a:lvl4pPr marL="1599720"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4pPr>
      <a:lvl5pPr marL="2056783"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5pPr>
      <a:lvl6pPr marL="2513846"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1"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126" rtl="0" eaLnBrk="1" latinLnBrk="1" hangingPunct="1">
        <a:defRPr sz="1799" kern="1200">
          <a:solidFill>
            <a:schemeClr val="tx1"/>
          </a:solidFill>
          <a:latin typeface="+mn-lt"/>
          <a:ea typeface="+mn-ea"/>
          <a:cs typeface="+mn-cs"/>
        </a:defRPr>
      </a:lvl1pPr>
      <a:lvl2pPr marL="457063" algn="l" defTabSz="914126" rtl="0" eaLnBrk="1" latinLnBrk="1" hangingPunct="1">
        <a:defRPr sz="1799" kern="1200">
          <a:solidFill>
            <a:schemeClr val="tx1"/>
          </a:solidFill>
          <a:latin typeface="+mn-lt"/>
          <a:ea typeface="+mn-ea"/>
          <a:cs typeface="+mn-cs"/>
        </a:defRPr>
      </a:lvl2pPr>
      <a:lvl3pPr marL="914126" algn="l" defTabSz="914126" rtl="0" eaLnBrk="1" latinLnBrk="1" hangingPunct="1">
        <a:defRPr sz="1799" kern="1200">
          <a:solidFill>
            <a:schemeClr val="tx1"/>
          </a:solidFill>
          <a:latin typeface="+mn-lt"/>
          <a:ea typeface="+mn-ea"/>
          <a:cs typeface="+mn-cs"/>
        </a:defRPr>
      </a:lvl3pPr>
      <a:lvl4pPr marL="1371189" algn="l" defTabSz="914126" rtl="0" eaLnBrk="1" latinLnBrk="1" hangingPunct="1">
        <a:defRPr sz="1799" kern="1200">
          <a:solidFill>
            <a:schemeClr val="tx1"/>
          </a:solidFill>
          <a:latin typeface="+mn-lt"/>
          <a:ea typeface="+mn-ea"/>
          <a:cs typeface="+mn-cs"/>
        </a:defRPr>
      </a:lvl4pPr>
      <a:lvl5pPr marL="1828251" algn="l" defTabSz="914126" rtl="0" eaLnBrk="1" latinLnBrk="1" hangingPunct="1">
        <a:defRPr sz="1799" kern="1200">
          <a:solidFill>
            <a:schemeClr val="tx1"/>
          </a:solidFill>
          <a:latin typeface="+mn-lt"/>
          <a:ea typeface="+mn-ea"/>
          <a:cs typeface="+mn-cs"/>
        </a:defRPr>
      </a:lvl5pPr>
      <a:lvl6pPr marL="2285314" algn="l" defTabSz="914126" rtl="0" eaLnBrk="1" latinLnBrk="1" hangingPunct="1">
        <a:defRPr sz="1799" kern="1200">
          <a:solidFill>
            <a:schemeClr val="tx1"/>
          </a:solidFill>
          <a:latin typeface="+mn-lt"/>
          <a:ea typeface="+mn-ea"/>
          <a:cs typeface="+mn-cs"/>
        </a:defRPr>
      </a:lvl6pPr>
      <a:lvl7pPr marL="2742377" algn="l" defTabSz="914126" rtl="0" eaLnBrk="1" latinLnBrk="1" hangingPunct="1">
        <a:defRPr sz="1799" kern="1200">
          <a:solidFill>
            <a:schemeClr val="tx1"/>
          </a:solidFill>
          <a:latin typeface="+mn-lt"/>
          <a:ea typeface="+mn-ea"/>
          <a:cs typeface="+mn-cs"/>
        </a:defRPr>
      </a:lvl7pPr>
      <a:lvl8pPr marL="3199440" algn="l" defTabSz="914126" rtl="0" eaLnBrk="1" latinLnBrk="1" hangingPunct="1">
        <a:defRPr sz="1799" kern="1200">
          <a:solidFill>
            <a:schemeClr val="tx1"/>
          </a:solidFill>
          <a:latin typeface="+mn-lt"/>
          <a:ea typeface="+mn-ea"/>
          <a:cs typeface="+mn-cs"/>
        </a:defRPr>
      </a:lvl8pPr>
      <a:lvl9pPr marL="3656503" algn="l" defTabSz="914126" rtl="0" eaLnBrk="1" latinLnBrk="1"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15.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4" name="TextBox 3"/>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1 / 8</a:t>
            </a:r>
          </a:p>
        </p:txBody>
      </p:sp>
      <p:pic>
        <p:nvPicPr>
          <p:cNvPr id="6" name="Bayan logo" descr="Bayan logo"/>
          <p:cNvPicPr>
            <a:picLocks noChangeAspect="1"/>
          </p:cNvPicPr>
          <p:nvPr/>
        </p:nvPicPr>
        <p:blipFill>
          <a:blip r:embed="rId3"/>
          <a:stretch>
            <a:fillRect/>
          </a:stretch>
        </p:blipFill>
        <p:spPr>
          <a:xfrm>
            <a:off x="3534156" y="804672"/>
            <a:ext cx="2834640" cy="1592713"/>
          </a:xfrm>
          <a:prstGeom prst="rect">
            <a:avLst/>
          </a:prstGeom>
        </p:spPr>
      </p:pic>
      <p:sp>
        <p:nvSpPr>
          <p:cNvPr id="7" name="TextBox 6"/>
          <p:cNvSpPr txBox="1"/>
          <p:nvPr/>
        </p:nvSpPr>
        <p:spPr>
          <a:xfrm>
            <a:off x="0" y="3794760"/>
            <a:ext cx="9902952" cy="777240"/>
          </a:xfrm>
          <a:prstGeom prst="rect">
            <a:avLst/>
          </a:prstGeom>
          <a:noFill/>
        </p:spPr>
        <p:txBody>
          <a:bodyPr wrap="square" lIns="0" rIns="0" tIns="0" bIns="0" anchor="ctr">
            <a:spAutoFit/>
          </a:bodyPr>
          <a:lstStyle/>
          <a:p>
            <a:pPr algn="ctr"/>
            <a:r>
              <a:rPr sz="5600" b="1">
                <a:solidFill>
                  <a:srgbClr val="F2EFE2"/>
                </a:solidFill>
                <a:latin typeface="Readex Pro"/>
                <a:cs typeface="Readex Pro"/>
                <a:ea typeface="Readex Pro"/>
              </a:rPr>
              <a:t>Bayan</a:t>
            </a:r>
          </a:p>
        </p:txBody>
      </p:sp>
      <p:sp>
        <p:nvSpPr>
          <p:cNvPr id="8" name="TextBox 7"/>
          <p:cNvSpPr txBox="1"/>
          <p:nvPr/>
        </p:nvSpPr>
        <p:spPr>
          <a:xfrm>
            <a:off x="0" y="4617720"/>
            <a:ext cx="9902952" cy="384048"/>
          </a:xfrm>
          <a:prstGeom prst="rect">
            <a:avLst/>
          </a:prstGeom>
          <a:noFill/>
        </p:spPr>
        <p:txBody>
          <a:bodyPr wrap="square" lIns="0" rIns="0" tIns="0" bIns="0" anchor="ctr">
            <a:spAutoFit/>
          </a:bodyPr>
          <a:lstStyle/>
          <a:p>
            <a:pPr algn="ctr"/>
            <a:r>
              <a:rPr sz="2000" b="0">
                <a:solidFill>
                  <a:srgbClr val="F2EFE2"/>
                </a:solidFill>
                <a:latin typeface="Readex Pro"/>
                <a:cs typeface="Readex Pro"/>
                <a:ea typeface="Readex Pro"/>
              </a:rPr>
              <a:t>Simplify Arabic where you read</a:t>
            </a:r>
          </a:p>
        </p:txBody>
      </p:sp>
      <p:sp>
        <p:nvSpPr>
          <p:cNvPr id="9" name="TextBox 8"/>
          <p:cNvSpPr txBox="1"/>
          <p:nvPr/>
        </p:nvSpPr>
        <p:spPr>
          <a:xfrm>
            <a:off x="0" y="5047488"/>
            <a:ext cx="9902952" cy="292608"/>
          </a:xfrm>
          <a:prstGeom prst="rect">
            <a:avLst/>
          </a:prstGeom>
          <a:noFill/>
        </p:spPr>
        <p:txBody>
          <a:bodyPr wrap="square" lIns="0" rIns="0" tIns="0" bIns="0" anchor="ctr">
            <a:spAutoFit/>
          </a:bodyPr>
          <a:lstStyle/>
          <a:p>
            <a:pPr algn="ctr"/>
            <a:r>
              <a:rPr sz="1400" b="0">
                <a:solidFill>
                  <a:srgbClr val="C6986B"/>
                </a:solidFill>
                <a:latin typeface="Readex Pro"/>
                <a:cs typeface="Readex Pro"/>
                <a:ea typeface="Readex Pro"/>
              </a:rPr>
              <a:t>on the phone, offline</a:t>
            </a:r>
          </a:p>
        </p:txBody>
      </p:sp>
      <p:sp>
        <p:nvSpPr>
          <p:cNvPr id="10" name="TextBox 9"/>
          <p:cNvSpPr txBox="1"/>
          <p:nvPr/>
        </p:nvSpPr>
        <p:spPr>
          <a:xfrm>
            <a:off x="0" y="5486400"/>
            <a:ext cx="9902952" cy="310896"/>
          </a:xfrm>
          <a:prstGeom prst="rect">
            <a:avLst/>
          </a:prstGeom>
          <a:noFill/>
        </p:spPr>
        <p:txBody>
          <a:bodyPr wrap="square" lIns="0" rIns="0" tIns="0" bIns="0" anchor="ctr">
            <a:spAutoFit/>
          </a:bodyPr>
          <a:lstStyle/>
          <a:p>
            <a:pPr algn="ctr"/>
            <a:r>
              <a:rPr sz="1500" b="1">
                <a:solidFill>
                  <a:srgbClr val="C6986B"/>
                </a:solidFill>
                <a:latin typeface="Readex Pro"/>
                <a:cs typeface="Readex Pro"/>
                <a:ea typeface="Readex Pro"/>
              </a:rPr>
              <a:t>Team Cogni</a:t>
            </a:r>
          </a:p>
        </p:txBody>
      </p:sp>
      <p:sp>
        <p:nvSpPr>
          <p:cNvPr id="11" name="TextBox 10"/>
          <p:cNvSpPr txBox="1"/>
          <p:nvPr/>
        </p:nvSpPr>
        <p:spPr>
          <a:xfrm>
            <a:off x="566928" y="5833872"/>
            <a:ext cx="8769096" cy="256032"/>
          </a:xfrm>
          <a:prstGeom prst="rect">
            <a:avLst/>
          </a:prstGeom>
          <a:noFill/>
        </p:spPr>
        <p:txBody>
          <a:bodyPr wrap="square" lIns="0" rIns="0" tIns="0" bIns="0" anchor="ctr">
            <a:spAutoFit/>
          </a:bodyPr>
          <a:lstStyle/>
          <a:p>
            <a:pPr algn="ctr"/>
            <a:r>
              <a:rPr sz="1000" b="0">
                <a:solidFill>
                  <a:srgbClr val="A29D8C"/>
                </a:solidFill>
                <a:latin typeface="Readex Pro"/>
                <a:cs typeface="Readex Pro"/>
                <a:ea typeface="Readex Pro"/>
              </a:rPr>
              <a:t>Marwan Elamami · Abdulrahman Khengari · Ahmed Alaeb · Sanad Ali · Mohammed Thabet · Abdul Majid Mraied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01 · THE PROBLEM</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Reading in Arabic adds load</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2 / 8</a:t>
            </a:r>
          </a:p>
        </p:txBody>
      </p:sp>
      <p:sp>
        <p:nvSpPr>
          <p:cNvPr id="9" name="TextBox 8"/>
          <p:cNvSpPr txBox="1"/>
          <p:nvPr/>
        </p:nvSpPr>
        <p:spPr>
          <a:xfrm>
            <a:off x="566928" y="1691640"/>
            <a:ext cx="3200400" cy="1051560"/>
          </a:xfrm>
          <a:prstGeom prst="rect">
            <a:avLst/>
          </a:prstGeom>
          <a:noFill/>
        </p:spPr>
        <p:txBody>
          <a:bodyPr wrap="square" lIns="0" rIns="0" tIns="0" bIns="0" anchor="ctr">
            <a:spAutoFit/>
          </a:bodyPr>
          <a:lstStyle/>
          <a:p>
            <a:pPr algn="ctr"/>
            <a:r>
              <a:rPr sz="8400" b="0">
                <a:solidFill>
                  <a:srgbClr val="C6986B"/>
                </a:solidFill>
                <a:latin typeface="Readex Pro"/>
                <a:cs typeface="Readex Pro"/>
                <a:ea typeface="Readex Pro"/>
              </a:rPr>
              <a:t>11%</a:t>
            </a:r>
          </a:p>
        </p:txBody>
      </p:sp>
      <p:sp>
        <p:nvSpPr>
          <p:cNvPr id="10" name="TextBox 9"/>
          <p:cNvSpPr txBox="1"/>
          <p:nvPr/>
        </p:nvSpPr>
        <p:spPr>
          <a:xfrm>
            <a:off x="566928" y="2788920"/>
            <a:ext cx="3200400" cy="685800"/>
          </a:xfrm>
          <a:prstGeom prst="rect">
            <a:avLst/>
          </a:prstGeom>
          <a:noFill/>
        </p:spPr>
        <p:txBody>
          <a:bodyPr wrap="square" lIns="0" rIns="0" tIns="0" bIns="0" anchor="ctr">
            <a:spAutoFit/>
          </a:bodyPr>
          <a:lstStyle/>
          <a:p>
            <a:pPr algn="ctr">
              <a:lnSpc>
                <a:spcPct val="105000"/>
              </a:lnSpc>
            </a:pPr>
            <a:r>
              <a:rPr sz="1500" b="0">
                <a:solidFill>
                  <a:srgbClr val="4A4842"/>
                </a:solidFill>
                <a:latin typeface="Readex Pro"/>
                <a:cs typeface="Readex Pro"/>
                <a:ea typeface="Readex Pro"/>
              </a:rPr>
              <a:t>of Arab primary-school children</a:t>
            </a:r>
          </a:p>
          <a:p>
            <a:pPr algn="ctr">
              <a:lnSpc>
                <a:spcPct val="105000"/>
              </a:lnSpc>
            </a:pPr>
            <a:r>
              <a:rPr sz="1500" b="0">
                <a:solidFill>
                  <a:srgbClr val="4A4842"/>
                </a:solidFill>
                <a:latin typeface="Readex Pro"/>
                <a:cs typeface="Readex Pro"/>
                <a:ea typeface="Readex Pro"/>
              </a:rPr>
              <a:t>have developmental dyslexia</a:t>
            </a:r>
          </a:p>
        </p:txBody>
      </p:sp>
      <p:sp>
        <p:nvSpPr>
          <p:cNvPr id="11" name="Rectangle 10"/>
          <p:cNvSpPr/>
          <p:nvPr/>
        </p:nvSpPr>
        <p:spPr>
          <a:xfrm>
            <a:off x="1069848" y="3639312"/>
            <a:ext cx="45720" cy="146304"/>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79576" y="3611880"/>
            <a:ext cx="5943600" cy="201168"/>
          </a:xfrm>
          <a:prstGeom prst="rect">
            <a:avLst/>
          </a:prstGeom>
          <a:noFill/>
        </p:spPr>
        <p:txBody>
          <a:bodyPr wrap="square" lIns="0" rIns="0" tIns="0" bIns="0" anchor="ctr">
            <a:spAutoFit/>
          </a:bodyPr>
          <a:lstStyle/>
          <a:p>
            <a:pPr algn="ctr"/>
            <a:r>
              <a:rPr sz="1050" b="0">
                <a:solidFill>
                  <a:srgbClr val="6F6B5E"/>
                </a:solidFill>
                <a:latin typeface="Readex Pro"/>
                <a:cs typeface="Readex Pro"/>
                <a:ea typeface="Readex Pro"/>
              </a:rPr>
              <a:t>Al-Dakhil 2024 · 18 studies, N = 30,243</a:t>
            </a:r>
          </a:p>
        </p:txBody>
      </p:sp>
      <p:sp>
        <p:nvSpPr>
          <p:cNvPr id="13" name="Rounded Rectangle 12"/>
          <p:cNvSpPr/>
          <p:nvPr/>
        </p:nvSpPr>
        <p:spPr>
          <a:xfrm>
            <a:off x="4069080" y="1572768"/>
            <a:ext cx="5257800" cy="3246120"/>
          </a:xfrm>
          <a:prstGeom prst="roundRect">
            <a:avLst>
              <a:gd name="adj" fmla="val 4507"/>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69080" y="1737360"/>
            <a:ext cx="5257800" cy="868680"/>
          </a:xfrm>
          <a:prstGeom prst="rect">
            <a:avLst/>
          </a:prstGeom>
          <a:noFill/>
        </p:spPr>
        <p:txBody>
          <a:bodyPr wrap="square" lIns="0" rIns="0" tIns="0" bIns="0" anchor="ctr">
            <a:spAutoFit/>
          </a:bodyPr>
          <a:lstStyle/>
          <a:p>
            <a:pPr algn="ctr" rtl="1"/>
            <a:r>
              <a:rPr sz="6800" b="0" lang="ar-SA">
                <a:solidFill>
                  <a:srgbClr val="282824"/>
                </a:solidFill>
                <a:latin typeface="Amiri"/>
                <a:cs typeface="Amiri"/>
                <a:ea typeface="Amiri"/>
              </a:rPr>
              <a:t>كتب</a:t>
            </a:r>
          </a:p>
        </p:txBody>
      </p:sp>
      <p:sp>
        <p:nvSpPr>
          <p:cNvPr id="15" name="TextBox 14"/>
          <p:cNvSpPr txBox="1"/>
          <p:nvPr/>
        </p:nvSpPr>
        <p:spPr>
          <a:xfrm>
            <a:off x="4069080" y="2651760"/>
            <a:ext cx="5257800"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one written form</a:t>
            </a:r>
          </a:p>
        </p:txBody>
      </p:sp>
      <p:cxnSp>
        <p:nvCxnSpPr>
          <p:cNvPr id="16" name="Connector 15"/>
          <p:cNvCxnSpPr/>
          <p:nvPr/>
        </p:nvCxnSpPr>
        <p:spPr>
          <a:xfrm flipH="1">
            <a:off x="5143500" y="2990088"/>
            <a:ext cx="1554480" cy="27432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66260" y="3310128"/>
            <a:ext cx="1554480" cy="502920"/>
          </a:xfrm>
          <a:prstGeom prst="rect">
            <a:avLst/>
          </a:prstGeom>
          <a:noFill/>
        </p:spPr>
        <p:txBody>
          <a:bodyPr wrap="square" lIns="0" rIns="0" tIns="0" bIns="0" anchor="ctr">
            <a:spAutoFit/>
          </a:bodyPr>
          <a:lstStyle/>
          <a:p>
            <a:pPr algn="ctr" rtl="1"/>
            <a:r>
              <a:rPr sz="3000" b="0" lang="ar-SA">
                <a:solidFill>
                  <a:srgbClr val="282824"/>
                </a:solidFill>
                <a:latin typeface="Amiri"/>
                <a:cs typeface="Amiri"/>
                <a:ea typeface="Amiri"/>
              </a:rPr>
              <a:t>كَتَبَ</a:t>
            </a:r>
          </a:p>
        </p:txBody>
      </p:sp>
      <p:sp>
        <p:nvSpPr>
          <p:cNvPr id="18" name="TextBox 17"/>
          <p:cNvSpPr txBox="1"/>
          <p:nvPr/>
        </p:nvSpPr>
        <p:spPr>
          <a:xfrm>
            <a:off x="4366260" y="3904487"/>
            <a:ext cx="155448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kataba</a:t>
            </a:r>
          </a:p>
          <a:p>
            <a:pPr algn="ctr"/>
            <a:r>
              <a:rPr sz="1100" b="0">
                <a:solidFill>
                  <a:srgbClr val="8A5E35"/>
                </a:solidFill>
                <a:latin typeface="Readex Pro"/>
                <a:cs typeface="Readex Pro"/>
                <a:ea typeface="Readex Pro"/>
              </a:rPr>
              <a:t>he wrote</a:t>
            </a:r>
          </a:p>
        </p:txBody>
      </p:sp>
      <p:cxnSp>
        <p:nvCxnSpPr>
          <p:cNvPr id="19" name="Connector 18"/>
          <p:cNvCxnSpPr/>
          <p:nvPr/>
        </p:nvCxnSpPr>
        <p:spPr>
          <a:xfrm>
            <a:off x="6697980" y="2990088"/>
            <a:ext cx="0" cy="27432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920740" y="3310128"/>
            <a:ext cx="1554480" cy="502920"/>
          </a:xfrm>
          <a:prstGeom prst="rect">
            <a:avLst/>
          </a:prstGeom>
          <a:noFill/>
        </p:spPr>
        <p:txBody>
          <a:bodyPr wrap="square" lIns="0" rIns="0" tIns="0" bIns="0" anchor="ctr">
            <a:spAutoFit/>
          </a:bodyPr>
          <a:lstStyle/>
          <a:p>
            <a:pPr algn="ctr" rtl="1"/>
            <a:r>
              <a:rPr sz="3000" b="0" lang="ar-SA">
                <a:solidFill>
                  <a:srgbClr val="282824"/>
                </a:solidFill>
                <a:latin typeface="Amiri"/>
                <a:cs typeface="Amiri"/>
                <a:ea typeface="Amiri"/>
              </a:rPr>
              <a:t>كُتِبَ</a:t>
            </a:r>
          </a:p>
        </p:txBody>
      </p:sp>
      <p:sp>
        <p:nvSpPr>
          <p:cNvPr id="21" name="TextBox 20"/>
          <p:cNvSpPr txBox="1"/>
          <p:nvPr/>
        </p:nvSpPr>
        <p:spPr>
          <a:xfrm>
            <a:off x="5920740" y="3904487"/>
            <a:ext cx="155448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kutiba</a:t>
            </a:r>
          </a:p>
          <a:p>
            <a:pPr algn="ctr"/>
            <a:r>
              <a:rPr sz="1100" b="0">
                <a:solidFill>
                  <a:srgbClr val="8A5E35"/>
                </a:solidFill>
                <a:latin typeface="Readex Pro"/>
                <a:cs typeface="Readex Pro"/>
                <a:ea typeface="Readex Pro"/>
              </a:rPr>
              <a:t>it was written</a:t>
            </a:r>
          </a:p>
        </p:txBody>
      </p:sp>
      <p:cxnSp>
        <p:nvCxnSpPr>
          <p:cNvPr id="22" name="Connector 21"/>
          <p:cNvCxnSpPr/>
          <p:nvPr/>
        </p:nvCxnSpPr>
        <p:spPr>
          <a:xfrm>
            <a:off x="6697980" y="2990088"/>
            <a:ext cx="1554480" cy="27432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475220" y="3310128"/>
            <a:ext cx="1554480" cy="502920"/>
          </a:xfrm>
          <a:prstGeom prst="rect">
            <a:avLst/>
          </a:prstGeom>
          <a:noFill/>
        </p:spPr>
        <p:txBody>
          <a:bodyPr wrap="square" lIns="0" rIns="0" tIns="0" bIns="0" anchor="ctr">
            <a:spAutoFit/>
          </a:bodyPr>
          <a:lstStyle/>
          <a:p>
            <a:pPr algn="ctr" rtl="1"/>
            <a:r>
              <a:rPr sz="3000" b="0" lang="ar-SA">
                <a:solidFill>
                  <a:srgbClr val="282824"/>
                </a:solidFill>
                <a:latin typeface="Amiri"/>
                <a:cs typeface="Amiri"/>
                <a:ea typeface="Amiri"/>
              </a:rPr>
              <a:t>كُتُب</a:t>
            </a:r>
          </a:p>
        </p:txBody>
      </p:sp>
      <p:sp>
        <p:nvSpPr>
          <p:cNvPr id="24" name="TextBox 23"/>
          <p:cNvSpPr txBox="1"/>
          <p:nvPr/>
        </p:nvSpPr>
        <p:spPr>
          <a:xfrm>
            <a:off x="7475220" y="3904487"/>
            <a:ext cx="1554480" cy="502920"/>
          </a:xfrm>
          <a:prstGeom prst="rect">
            <a:avLst/>
          </a:prstGeom>
          <a:noFill/>
        </p:spPr>
        <p:txBody>
          <a:bodyPr wrap="square" lIns="0" rIns="0" tIns="0" bIns="0" anchor="ctr">
            <a:spAutoFit/>
          </a:bodyPr>
          <a:lstStyle/>
          <a:p>
            <a:pPr algn="ctr"/>
            <a:r>
              <a:rPr sz="1200" b="1">
                <a:solidFill>
                  <a:srgbClr val="8A5E35"/>
                </a:solidFill>
                <a:latin typeface="Readex Pro"/>
                <a:cs typeface="Readex Pro"/>
                <a:ea typeface="Readex Pro"/>
              </a:rPr>
              <a:t>kutub</a:t>
            </a:r>
          </a:p>
          <a:p>
            <a:pPr algn="ctr"/>
            <a:r>
              <a:rPr sz="1100" b="0">
                <a:solidFill>
                  <a:srgbClr val="8A5E35"/>
                </a:solidFill>
                <a:latin typeface="Readex Pro"/>
                <a:cs typeface="Readex Pro"/>
                <a:ea typeface="Readex Pro"/>
              </a:rPr>
              <a:t>books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01 · THE PROBLEM</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Reading in Arabic adds load</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2 / 8</a:t>
            </a:r>
          </a:p>
        </p:txBody>
      </p:sp>
      <p:sp>
        <p:nvSpPr>
          <p:cNvPr id="9" name="Rounded Rectangle 8"/>
          <p:cNvSpPr/>
          <p:nvPr/>
        </p:nvSpPr>
        <p:spPr>
          <a:xfrm>
            <a:off x="566928" y="1737360"/>
            <a:ext cx="4343400" cy="3977639"/>
          </a:xfrm>
          <a:prstGeom prst="roundRect">
            <a:avLst>
              <a:gd name="adj" fmla="val 367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938528"/>
            <a:ext cx="4343400" cy="347472"/>
          </a:xfrm>
          <a:prstGeom prst="rect">
            <a:avLst/>
          </a:prstGeom>
          <a:noFill/>
        </p:spPr>
        <p:txBody>
          <a:bodyPr wrap="square" lIns="0" rIns="0" tIns="0" bIns="0" anchor="ctr">
            <a:spAutoFit/>
          </a:bodyPr>
          <a:lstStyle/>
          <a:p>
            <a:pPr algn="ctr"/>
            <a:r>
              <a:rPr sz="1800" b="1">
                <a:solidFill>
                  <a:srgbClr val="282824"/>
                </a:solidFill>
                <a:latin typeface="Readex Pro"/>
                <a:cs typeface="Readex Pro"/>
                <a:ea typeface="Readex Pro"/>
              </a:rPr>
              <a:t>What helps</a:t>
            </a:r>
          </a:p>
        </p:txBody>
      </p:sp>
      <p:sp>
        <p:nvSpPr>
          <p:cNvPr id="11" name="TextBox 10"/>
          <p:cNvSpPr txBox="1"/>
          <p:nvPr/>
        </p:nvSpPr>
        <p:spPr>
          <a:xfrm>
            <a:off x="886968" y="2606039"/>
            <a:ext cx="3703320" cy="2103120"/>
          </a:xfrm>
          <a:prstGeom prst="rect">
            <a:avLst/>
          </a:prstGeom>
          <a:noFill/>
        </p:spPr>
        <p:txBody>
          <a:bodyPr wrap="square" lIns="0" rIns="0" tIns="0" bIns="0" anchor="ctr">
            <a:spAutoFit/>
          </a:bodyPr>
          <a:lstStyle/>
          <a:p>
            <a:pPr algn="ctr">
              <a:lnSpc>
                <a:spcPct val="115000"/>
              </a:lnSpc>
            </a:pPr>
            <a:r>
              <a:rPr sz="1500" b="0">
                <a:solidFill>
                  <a:srgbClr val="4A4842"/>
                </a:solidFill>
                <a:latin typeface="Readex Pro"/>
                <a:cs typeface="Readex Pro"/>
                <a:ea typeface="Readex Pro"/>
              </a:rPr>
              <a:t>Splitting long clauses into</a:t>
            </a:r>
          </a:p>
          <a:p>
            <a:pPr algn="ctr">
              <a:lnSpc>
                <a:spcPct val="115000"/>
              </a:lnSpc>
            </a:pPr>
            <a:r>
              <a:rPr sz="1500" b="0">
                <a:solidFill>
                  <a:srgbClr val="4A4842"/>
                </a:solidFill>
                <a:latin typeface="Readex Pro"/>
                <a:cs typeface="Readex Pro"/>
                <a:ea typeface="Readex Pro"/>
              </a:rPr>
              <a:t>short sentences: read faster,</a:t>
            </a:r>
          </a:p>
          <a:p>
            <a:pPr algn="ctr">
              <a:lnSpc>
                <a:spcPct val="115000"/>
              </a:lnSpc>
            </a:pPr>
            <a:r>
              <a:rPr sz="1500" b="0">
                <a:solidFill>
                  <a:srgbClr val="4A4842"/>
                </a:solidFill>
                <a:latin typeface="Readex Pro"/>
                <a:cs typeface="Readex Pro"/>
                <a:ea typeface="Readex Pro"/>
              </a:rPr>
              <a:t>understood better, most by</a:t>
            </a:r>
          </a:p>
          <a:p>
            <a:pPr algn="ctr">
              <a:lnSpc>
                <a:spcPct val="115000"/>
              </a:lnSpc>
            </a:pPr>
            <a:r>
              <a:rPr sz="1500" b="0">
                <a:solidFill>
                  <a:srgbClr val="4A4842"/>
                </a:solidFill>
                <a:latin typeface="Readex Pro"/>
                <a:cs typeface="Readex Pro"/>
                <a:ea typeface="Readex Pro"/>
              </a:rPr>
              <a:t>the weakest readers.</a:t>
            </a:r>
          </a:p>
        </p:txBody>
      </p:sp>
      <p:sp>
        <p:nvSpPr>
          <p:cNvPr id="12" name="Rectangle 11"/>
          <p:cNvSpPr/>
          <p:nvPr/>
        </p:nvSpPr>
        <p:spPr>
          <a:xfrm>
            <a:off x="1069848" y="5239512"/>
            <a:ext cx="45720" cy="146304"/>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79576" y="5212080"/>
            <a:ext cx="5943600" cy="201168"/>
          </a:xfrm>
          <a:prstGeom prst="rect">
            <a:avLst/>
          </a:prstGeom>
          <a:noFill/>
        </p:spPr>
        <p:txBody>
          <a:bodyPr wrap="square" lIns="0" rIns="0" tIns="0" bIns="0" anchor="ctr">
            <a:spAutoFit/>
          </a:bodyPr>
          <a:lstStyle/>
          <a:p>
            <a:pPr algn="l"/>
            <a:r>
              <a:rPr sz="1050" b="0">
                <a:solidFill>
                  <a:srgbClr val="6F6B5E"/>
                </a:solidFill>
                <a:latin typeface="Readex Pro"/>
                <a:cs typeface="Readex Pro"/>
                <a:ea typeface="Readex Pro"/>
              </a:rPr>
              <a:t>Javourey-Bonnet 2022</a:t>
            </a:r>
          </a:p>
        </p:txBody>
      </p:sp>
      <p:sp>
        <p:nvSpPr>
          <p:cNvPr id="14" name="Rounded Rectangle 13"/>
          <p:cNvSpPr/>
          <p:nvPr/>
        </p:nvSpPr>
        <p:spPr>
          <a:xfrm>
            <a:off x="5230368" y="1737360"/>
            <a:ext cx="4343400" cy="3977639"/>
          </a:xfrm>
          <a:prstGeom prst="roundRect">
            <a:avLst>
              <a:gd name="adj" fmla="val 3218"/>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0368" y="1938528"/>
            <a:ext cx="4343400" cy="347472"/>
          </a:xfrm>
          <a:prstGeom prst="rect">
            <a:avLst/>
          </a:prstGeom>
          <a:noFill/>
        </p:spPr>
        <p:txBody>
          <a:bodyPr wrap="square" lIns="0" rIns="0" tIns="0" bIns="0" anchor="ctr">
            <a:spAutoFit/>
          </a:bodyPr>
          <a:lstStyle/>
          <a:p>
            <a:pPr algn="ctr"/>
            <a:r>
              <a:rPr sz="1800" b="1">
                <a:solidFill>
                  <a:srgbClr val="8A5E35"/>
                </a:solidFill>
                <a:latin typeface="Readex Pro"/>
                <a:cs typeface="Readex Pro"/>
                <a:ea typeface="Readex Pro"/>
              </a:rPr>
              <a:t>Bayan's scope</a:t>
            </a:r>
          </a:p>
        </p:txBody>
      </p:sp>
      <p:sp>
        <p:nvSpPr>
          <p:cNvPr id="16" name="Rounded Rectangle 15"/>
          <p:cNvSpPr/>
          <p:nvPr/>
        </p:nvSpPr>
        <p:spPr>
          <a:xfrm>
            <a:off x="6034658" y="2788920"/>
            <a:ext cx="2734818" cy="397764"/>
          </a:xfrm>
          <a:prstGeom prst="roundRect">
            <a:avLst>
              <a:gd name="adj" fmla="val 20689"/>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1">
                <a:solidFill>
                  <a:srgbClr val="8A5E35"/>
                </a:solidFill>
                <a:latin typeface="Readex Pro"/>
                <a:cs typeface="Readex Pro"/>
                <a:ea typeface="Readex Pro"/>
              </a:rPr>
              <a:t>we reduce reading load</a:t>
            </a:r>
          </a:p>
        </p:txBody>
      </p:sp>
      <p:sp>
        <p:nvSpPr>
          <p:cNvPr id="17" name="Rounded Rectangle 16"/>
          <p:cNvSpPr/>
          <p:nvPr/>
        </p:nvSpPr>
        <p:spPr>
          <a:xfrm>
            <a:off x="5963284" y="3429000"/>
            <a:ext cx="2877566" cy="381000"/>
          </a:xfrm>
          <a:prstGeom prst="roundRect">
            <a:avLst>
              <a:gd name="adj" fmla="val 21599"/>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long clauses · hard words</a:t>
            </a:r>
          </a:p>
        </p:txBody>
      </p:sp>
      <p:sp>
        <p:nvSpPr>
          <p:cNvPr id="18" name="Rounded Rectangle 17"/>
          <p:cNvSpPr/>
          <p:nvPr/>
        </p:nvSpPr>
        <p:spPr>
          <a:xfrm>
            <a:off x="5513958" y="4069079"/>
            <a:ext cx="3776218" cy="339090"/>
          </a:xfrm>
          <a:prstGeom prst="roundRect">
            <a:avLst>
              <a:gd name="adj" fmla="val 24269"/>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B5533C"/>
                </a:solidFill>
                <a:latin typeface="Readex Pro"/>
                <a:cs typeface="Readex Pro"/>
                <a:ea typeface="Readex Pro"/>
              </a:rPr>
              <a:t>tashkeel is a setting · no reader claim yet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Rounded Rectangle 8"/>
          <p:cNvSpPr/>
          <p:nvPr/>
        </p:nvSpPr>
        <p:spPr>
          <a:xfrm>
            <a:off x="566928" y="1691640"/>
            <a:ext cx="4343400" cy="4069080"/>
          </a:xfrm>
          <a:prstGeom prst="roundRect">
            <a:avLst>
              <a:gd name="adj" fmla="val 35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892808"/>
            <a:ext cx="4343400" cy="347472"/>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SAMER · human-written</a:t>
            </a:r>
          </a:p>
        </p:txBody>
      </p:sp>
      <p:sp>
        <p:nvSpPr>
          <p:cNvPr id="11" name="Rounded Rectangle 10"/>
          <p:cNvSpPr/>
          <p:nvPr/>
        </p:nvSpPr>
        <p:spPr>
          <a:xfrm>
            <a:off x="1501203" y="2743200"/>
            <a:ext cx="2474849"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novels, short sentences</a:t>
            </a:r>
          </a:p>
        </p:txBody>
      </p:sp>
      <p:sp>
        <p:nvSpPr>
          <p:cNvPr id="12" name="Rounded Rectangle 11"/>
          <p:cNvSpPr/>
          <p:nvPr/>
        </p:nvSpPr>
        <p:spPr>
          <a:xfrm>
            <a:off x="1388109" y="3520440"/>
            <a:ext cx="2701036"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42–49% of pairs unchanged</a:t>
            </a:r>
          </a:p>
        </p:txBody>
      </p:sp>
      <p:sp>
        <p:nvSpPr>
          <p:cNvPr id="13" name="Rounded Rectangle 12"/>
          <p:cNvSpPr/>
          <p:nvPr/>
        </p:nvSpPr>
        <p:spPr>
          <a:xfrm>
            <a:off x="827881" y="4297680"/>
            <a:ext cx="3821493" cy="339090"/>
          </a:xfrm>
          <a:prstGeom prst="roundRect">
            <a:avLst>
              <a:gd name="adj" fmla="val 24269"/>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length ratio 1.00: swaps words, never splits</a:t>
            </a:r>
          </a:p>
        </p:txBody>
      </p:sp>
      <p:sp>
        <p:nvSpPr>
          <p:cNvPr id="14" name="Rounded Rectangle 13"/>
          <p:cNvSpPr/>
          <p:nvPr/>
        </p:nvSpPr>
        <p:spPr>
          <a:xfrm>
            <a:off x="5230368" y="1691640"/>
            <a:ext cx="4343400" cy="4069080"/>
          </a:xfrm>
          <a:prstGeom prst="roundRect">
            <a:avLst>
              <a:gd name="adj" fmla="val 35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0368" y="1892808"/>
            <a:ext cx="4343400" cy="347472"/>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Other sources · LLM-written</a:t>
            </a:r>
          </a:p>
        </p:txBody>
      </p:sp>
      <p:sp>
        <p:nvSpPr>
          <p:cNvPr id="16" name="Rounded Rectangle 15"/>
          <p:cNvSpPr/>
          <p:nvPr/>
        </p:nvSpPr>
        <p:spPr>
          <a:xfrm>
            <a:off x="5931852" y="2743200"/>
            <a:ext cx="2940431"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many targets are summaries</a:t>
            </a:r>
          </a:p>
        </p:txBody>
      </p:sp>
      <p:sp>
        <p:nvSpPr>
          <p:cNvPr id="17" name="Rounded Rectangle 16"/>
          <p:cNvSpPr/>
          <p:nvPr/>
        </p:nvSpPr>
        <p:spPr>
          <a:xfrm>
            <a:off x="5823711" y="3520440"/>
            <a:ext cx="3156712"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they drop facts, delete options</a:t>
            </a:r>
          </a:p>
        </p:txBody>
      </p:sp>
      <p:sp>
        <p:nvSpPr>
          <p:cNvPr id="18" name="Rounded Rectangle 17"/>
          <p:cNvSpPr/>
          <p:nvPr/>
        </p:nvSpPr>
        <p:spPr>
          <a:xfrm>
            <a:off x="5684202" y="4297680"/>
            <a:ext cx="3435731" cy="364236"/>
          </a:xfrm>
          <a:prstGeom prst="roundRect">
            <a:avLst>
              <a:gd name="adj" fmla="val 22594"/>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4A4842"/>
                </a:solidFill>
                <a:latin typeface="Readex Pro"/>
                <a:cs typeface="Readex Pro"/>
                <a:ea typeface="Readex Pro"/>
              </a:rPr>
              <a:t>after a meaning filter: 6,888 pairs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TextBox 8"/>
          <p:cNvSpPr txBox="1"/>
          <p:nvPr/>
        </p:nvSpPr>
        <p:spPr>
          <a:xfrm>
            <a:off x="566928" y="1481328"/>
            <a:ext cx="8769096"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corpus v0, our first synthetic data</a:t>
            </a:r>
          </a:p>
        </p:txBody>
      </p:sp>
      <p:sp>
        <p:nvSpPr>
          <p:cNvPr id="10" name="Rounded Rectangle 9"/>
          <p:cNvSpPr/>
          <p:nvPr/>
        </p:nvSpPr>
        <p:spPr>
          <a:xfrm>
            <a:off x="745236" y="1874519"/>
            <a:ext cx="246888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DeepSeek: 5 candidates</a:t>
            </a:r>
          </a:p>
          <a:p>
            <a:pPr algn="ctr"/>
            <a:r>
              <a:rPr sz="1200" b="0">
                <a:solidFill>
                  <a:srgbClr val="4A4842"/>
                </a:solidFill>
                <a:latin typeface="Readex Pro"/>
                <a:cs typeface="Readex Pro"/>
                <a:ea typeface="Readex Pro"/>
              </a:rPr>
              <a:t>per source</a:t>
            </a:r>
          </a:p>
        </p:txBody>
      </p:sp>
      <p:sp>
        <p:nvSpPr>
          <p:cNvPr id="11" name="Rounded Rectangle 10"/>
          <p:cNvSpPr/>
          <p:nvPr/>
        </p:nvSpPr>
        <p:spPr>
          <a:xfrm>
            <a:off x="3717036" y="1874519"/>
            <a:ext cx="246888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LLM equivalence</a:t>
            </a:r>
          </a:p>
          <a:p>
            <a:pPr algn="ctr"/>
            <a:r>
              <a:rPr sz="1200" b="0">
                <a:solidFill>
                  <a:srgbClr val="4A4842"/>
                </a:solidFill>
                <a:latin typeface="Readex Pro"/>
                <a:cs typeface="Readex Pro"/>
                <a:ea typeface="Readex Pro"/>
              </a:rPr>
              <a:t>validator</a:t>
            </a:r>
          </a:p>
        </p:txBody>
      </p:sp>
      <p:cxnSp>
        <p:nvCxnSpPr>
          <p:cNvPr id="12" name="Connector 11"/>
          <p:cNvCxnSpPr/>
          <p:nvPr/>
        </p:nvCxnSpPr>
        <p:spPr>
          <a:xfrm>
            <a:off x="3214116" y="2258568"/>
            <a:ext cx="502920"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688836" y="1874519"/>
            <a:ext cx="2468880" cy="777240"/>
          </a:xfrm>
          <a:prstGeom prst="roundRect">
            <a:avLst>
              <a:gd name="adj" fmla="val 11764"/>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CAMeL readability</a:t>
            </a:r>
          </a:p>
          <a:p>
            <a:pPr algn="ctr"/>
            <a:r>
              <a:rPr sz="1200" b="0">
                <a:solidFill>
                  <a:srgbClr val="4A4842"/>
                </a:solidFill>
                <a:latin typeface="Readex Pro"/>
                <a:cs typeface="Readex Pro"/>
                <a:ea typeface="Readex Pro"/>
              </a:rPr>
              <a:t>gate</a:t>
            </a:r>
          </a:p>
        </p:txBody>
      </p:sp>
      <p:cxnSp>
        <p:nvCxnSpPr>
          <p:cNvPr id="14" name="Connector 13"/>
          <p:cNvCxnSpPr/>
          <p:nvPr/>
        </p:nvCxnSpPr>
        <p:spPr>
          <a:xfrm>
            <a:off x="6185916" y="2258568"/>
            <a:ext cx="502920"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66928" y="2971800"/>
            <a:ext cx="8769096" cy="347472"/>
          </a:xfrm>
          <a:prstGeom prst="rect">
            <a:avLst/>
          </a:prstGeom>
          <a:noFill/>
        </p:spPr>
        <p:txBody>
          <a:bodyPr wrap="square" lIns="0" rIns="0" tIns="0" bIns="0" anchor="ctr">
            <a:spAutoFit/>
          </a:bodyPr>
          <a:lstStyle/>
          <a:p>
            <a:pPr algn="l"/>
            <a:r>
              <a:rPr sz="1700" b="1">
                <a:solidFill>
                  <a:srgbClr val="282824"/>
                </a:solidFill>
                <a:latin typeface="Readex Pro"/>
                <a:cs typeface="Readex Pro"/>
                <a:ea typeface="Readex Pro"/>
              </a:rPr>
              <a:t>What the audit found</a:t>
            </a:r>
          </a:p>
        </p:txBody>
      </p:sp>
      <p:sp>
        <p:nvSpPr>
          <p:cNvPr id="16" name="Rounded Rectangle 15"/>
          <p:cNvSpPr/>
          <p:nvPr/>
        </p:nvSpPr>
        <p:spPr>
          <a:xfrm>
            <a:off x="566928" y="3401568"/>
            <a:ext cx="2659761" cy="364236"/>
          </a:xfrm>
          <a:prstGeom prst="roundRect">
            <a:avLst>
              <a:gd name="adj" fmla="val 2259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B5533C"/>
                </a:solidFill>
                <a:latin typeface="Readex Pro"/>
                <a:cs typeface="Readex Pro"/>
                <a:ea typeface="Readex Pro"/>
              </a:rPr>
              <a:t>57% of rows had tashkeel</a:t>
            </a:r>
          </a:p>
        </p:txBody>
      </p:sp>
      <p:sp>
        <p:nvSpPr>
          <p:cNvPr id="17" name="Rounded Rectangle 16"/>
          <p:cNvSpPr/>
          <p:nvPr/>
        </p:nvSpPr>
        <p:spPr>
          <a:xfrm>
            <a:off x="566928" y="3877056"/>
            <a:ext cx="4485767" cy="364236"/>
          </a:xfrm>
          <a:prstGeom prst="roundRect">
            <a:avLst>
              <a:gd name="adj" fmla="val 2259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B5533C"/>
                </a:solidFill>
                <a:latin typeface="Readex Pro"/>
                <a:cs typeface="Readex Pro"/>
                <a:ea typeface="Readex Pro"/>
              </a:rPr>
              <a:t>63% of cut-off sources were simply completed</a:t>
            </a:r>
          </a:p>
        </p:txBody>
      </p:sp>
      <p:sp>
        <p:nvSpPr>
          <p:cNvPr id="18" name="Rounded Rectangle 17"/>
          <p:cNvSpPr/>
          <p:nvPr/>
        </p:nvSpPr>
        <p:spPr>
          <a:xfrm>
            <a:off x="566928" y="4352544"/>
            <a:ext cx="3843528" cy="364236"/>
          </a:xfrm>
          <a:prstGeom prst="roundRect">
            <a:avLst>
              <a:gd name="adj" fmla="val 22594"/>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B5533C"/>
                </a:solidFill>
                <a:latin typeface="Readex Pro"/>
                <a:cs typeface="Readex Pro"/>
                <a:ea typeface="Readex Pro"/>
              </a:rPr>
              <a:t>only 43% of pairs were 2+ levels easier</a:t>
            </a:r>
          </a:p>
        </p:txBody>
      </p:sp>
      <p:sp>
        <p:nvSpPr>
          <p:cNvPr id="19" name="Rounded Rectangle 18"/>
          <p:cNvSpPr/>
          <p:nvPr/>
        </p:nvSpPr>
        <p:spPr>
          <a:xfrm>
            <a:off x="566928" y="5029200"/>
            <a:ext cx="7021067" cy="347472"/>
          </a:xfrm>
          <a:prstGeom prst="roundRect">
            <a:avLst>
              <a:gd name="adj" fmla="val 236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the validator accepted 34% of planted added sentences · we trained nothing on v0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TextBox 8"/>
          <p:cNvSpPr txBox="1"/>
          <p:nvPr/>
        </p:nvSpPr>
        <p:spPr>
          <a:xfrm>
            <a:off x="566928" y="1481328"/>
            <a:ext cx="4343400" cy="256032"/>
          </a:xfrm>
          <a:prstGeom prst="rect">
            <a:avLst/>
          </a:prstGeom>
          <a:noFill/>
        </p:spPr>
        <p:txBody>
          <a:bodyPr wrap="square" lIns="0" rIns="0" tIns="0" bIns="0" anchor="ctr">
            <a:spAutoFit/>
          </a:bodyPr>
          <a:lstStyle/>
          <a:p>
            <a:pPr algn="ctr"/>
            <a:r>
              <a:rPr sz="1100" b="1">
                <a:solidFill>
                  <a:srgbClr val="C6986B"/>
                </a:solidFill>
                <a:latin typeface="Readex Pro"/>
                <a:cs typeface="Readex Pro"/>
                <a:ea typeface="Readex Pro"/>
              </a:rPr>
              <a:t>V1 · FROM THE SOURCE</a:t>
            </a:r>
          </a:p>
        </p:txBody>
      </p:sp>
      <p:sp>
        <p:nvSpPr>
          <p:cNvPr id="10" name="Rounded Rectangle 9"/>
          <p:cNvSpPr/>
          <p:nvPr/>
        </p:nvSpPr>
        <p:spPr>
          <a:xfrm>
            <a:off x="566928" y="1874519"/>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2039112"/>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BAREC train + dev</a:t>
            </a:r>
          </a:p>
        </p:txBody>
      </p:sp>
      <p:sp>
        <p:nvSpPr>
          <p:cNvPr id="12" name="TextBox 11"/>
          <p:cNvSpPr txBox="1"/>
          <p:nvPr/>
        </p:nvSpPr>
        <p:spPr>
          <a:xfrm>
            <a:off x="676656" y="2404872"/>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test never enters</a:t>
            </a:r>
          </a:p>
        </p:txBody>
      </p:sp>
      <p:sp>
        <p:nvSpPr>
          <p:cNvPr id="13" name="Rounded Rectangle 12"/>
          <p:cNvSpPr/>
          <p:nvPr/>
        </p:nvSpPr>
        <p:spPr>
          <a:xfrm>
            <a:off x="566928" y="3044952"/>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 y="3209544"/>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strip tashkeel and tatweel</a:t>
            </a:r>
          </a:p>
        </p:txBody>
      </p:sp>
      <p:sp>
        <p:nvSpPr>
          <p:cNvPr id="15" name="TextBox 14"/>
          <p:cNvSpPr txBox="1"/>
          <p:nvPr/>
        </p:nvSpPr>
        <p:spPr>
          <a:xfrm>
            <a:off x="676656" y="3575304"/>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every text</a:t>
            </a:r>
          </a:p>
        </p:txBody>
      </p:sp>
      <p:cxnSp>
        <p:nvCxnSpPr>
          <p:cNvPr id="16" name="Connector 15"/>
          <p:cNvCxnSpPr/>
          <p:nvPr/>
        </p:nvCxnSpPr>
        <p:spPr>
          <a:xfrm>
            <a:off x="2738628" y="2862072"/>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66928" y="4215383"/>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 y="4379975"/>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route each source</a:t>
            </a:r>
          </a:p>
        </p:txBody>
      </p:sp>
      <p:sp>
        <p:nvSpPr>
          <p:cNvPr id="19" name="TextBox 18"/>
          <p:cNvSpPr txBox="1"/>
          <p:nvPr/>
        </p:nvSpPr>
        <p:spPr>
          <a:xfrm>
            <a:off x="676656" y="4745736"/>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protected · short · hard  →  23,221 hard</a:t>
            </a:r>
          </a:p>
        </p:txBody>
      </p:sp>
      <p:cxnSp>
        <p:nvCxnSpPr>
          <p:cNvPr id="20" name="Connector 19"/>
          <p:cNvCxnSpPr/>
          <p:nvPr/>
        </p:nvCxnSpPr>
        <p:spPr>
          <a:xfrm>
            <a:off x="2738628" y="4032503"/>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230368" y="1481328"/>
            <a:ext cx="4343400" cy="256032"/>
          </a:xfrm>
          <a:prstGeom prst="rect">
            <a:avLst/>
          </a:prstGeom>
          <a:noFill/>
        </p:spPr>
        <p:txBody>
          <a:bodyPr wrap="square" lIns="0" rIns="0" tIns="0" bIns="0" anchor="ctr">
            <a:spAutoFit/>
          </a:bodyPr>
          <a:lstStyle/>
          <a:p>
            <a:pPr algn="ctr"/>
            <a:r>
              <a:rPr sz="1100" b="1">
                <a:solidFill>
                  <a:srgbClr val="C6986B"/>
                </a:solidFill>
                <a:latin typeface="Readex Pro"/>
                <a:cs typeface="Readex Pro"/>
                <a:ea typeface="Readex Pro"/>
              </a:rPr>
              <a:t>V1 · INTO THE CORPUS</a:t>
            </a:r>
          </a:p>
        </p:txBody>
      </p:sp>
      <p:sp>
        <p:nvSpPr>
          <p:cNvPr id="22" name="Rounded Rectangle 21"/>
          <p:cNvSpPr/>
          <p:nvPr/>
        </p:nvSpPr>
        <p:spPr>
          <a:xfrm>
            <a:off x="5230368" y="1874519"/>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40096" y="2039112"/>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Gemma 4 31B writes candidates</a:t>
            </a:r>
          </a:p>
        </p:txBody>
      </p:sp>
      <p:sp>
        <p:nvSpPr>
          <p:cNvPr id="24" name="TextBox 23"/>
          <p:cNvSpPr txBox="1"/>
          <p:nvPr/>
        </p:nvSpPr>
        <p:spPr>
          <a:xfrm>
            <a:off x="5340096" y="2404872"/>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hard band only  →  23,205 responses</a:t>
            </a:r>
          </a:p>
        </p:txBody>
      </p:sp>
      <p:sp>
        <p:nvSpPr>
          <p:cNvPr id="25" name="Rounded Rectangle 24"/>
          <p:cNvSpPr/>
          <p:nvPr/>
        </p:nvSpPr>
        <p:spPr>
          <a:xfrm>
            <a:off x="5230368" y="3044952"/>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40096" y="3209544"/>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code gates</a:t>
            </a:r>
          </a:p>
        </p:txBody>
      </p:sp>
      <p:sp>
        <p:nvSpPr>
          <p:cNvPr id="27" name="TextBox 26"/>
          <p:cNvSpPr txBox="1"/>
          <p:nvPr/>
        </p:nvSpPr>
        <p:spPr>
          <a:xfrm>
            <a:off x="5340096" y="3575304"/>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numbers · quotes · options</a:t>
            </a:r>
          </a:p>
        </p:txBody>
      </p:sp>
      <p:cxnSp>
        <p:nvCxnSpPr>
          <p:cNvPr id="28" name="Connector 27"/>
          <p:cNvCxnSpPr/>
          <p:nvPr/>
        </p:nvCxnSpPr>
        <p:spPr>
          <a:xfrm>
            <a:off x="7402067" y="2862072"/>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230368" y="4215383"/>
            <a:ext cx="4343400" cy="960120"/>
          </a:xfrm>
          <a:prstGeom prst="roundRect">
            <a:avLst>
              <a:gd name="adj" fmla="val 11428"/>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40096" y="4379975"/>
            <a:ext cx="4123944" cy="292608"/>
          </a:xfrm>
          <a:prstGeom prst="rect">
            <a:avLst/>
          </a:prstGeom>
          <a:noFill/>
        </p:spPr>
        <p:txBody>
          <a:bodyPr wrap="square" lIns="0" rIns="0" tIns="0" bIns="0" anchor="ctr">
            <a:spAutoFit/>
          </a:bodyPr>
          <a:lstStyle/>
          <a:p>
            <a:pPr algn="ctr"/>
            <a:r>
              <a:rPr sz="1400" b="1">
                <a:solidFill>
                  <a:srgbClr val="282824"/>
                </a:solidFill>
                <a:latin typeface="Readex Pro"/>
                <a:cs typeface="Readex Pro"/>
                <a:ea typeface="Readex Pro"/>
              </a:rPr>
              <a:t>readability + meaning gates</a:t>
            </a:r>
          </a:p>
        </p:txBody>
      </p:sp>
      <p:sp>
        <p:nvSpPr>
          <p:cNvPr id="31" name="TextBox 30"/>
          <p:cNvSpPr txBox="1"/>
          <p:nvPr/>
        </p:nvSpPr>
        <p:spPr>
          <a:xfrm>
            <a:off x="5340096" y="4745736"/>
            <a:ext cx="4123944"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 2 levels · meaning gate  →  10,693 accepted</a:t>
            </a:r>
          </a:p>
        </p:txBody>
      </p:sp>
      <p:cxnSp>
        <p:nvCxnSpPr>
          <p:cNvPr id="32" name="Connector 31"/>
          <p:cNvCxnSpPr/>
          <p:nvPr/>
        </p:nvCxnSpPr>
        <p:spPr>
          <a:xfrm>
            <a:off x="7402067" y="4032503"/>
            <a:ext cx="0" cy="18288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02 · DATA</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How we got to corpus v1</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3 / 8</a:t>
            </a:r>
          </a:p>
        </p:txBody>
      </p:sp>
      <p:sp>
        <p:nvSpPr>
          <p:cNvPr id="9" name="TextBox 8"/>
          <p:cNvSpPr txBox="1"/>
          <p:nvPr/>
        </p:nvSpPr>
        <p:spPr>
          <a:xfrm>
            <a:off x="566928" y="1554480"/>
            <a:ext cx="8769096" cy="274320"/>
          </a:xfrm>
          <a:prstGeom prst="rect">
            <a:avLst/>
          </a:prstGeom>
          <a:noFill/>
        </p:spPr>
        <p:txBody>
          <a:bodyPr wrap="square" lIns="0" rIns="0" tIns="0" bIns="0" anchor="ctr">
            <a:spAutoFit/>
          </a:bodyPr>
          <a:lstStyle/>
          <a:p>
            <a:pPr algn="ctr"/>
            <a:r>
              <a:rPr sz="1300" b="0">
                <a:solidFill>
                  <a:srgbClr val="6F6B5E"/>
                </a:solidFill>
                <a:latin typeface="Readex Pro"/>
                <a:cs typeface="Readex Pro"/>
                <a:ea typeface="Readex Pro"/>
              </a:rPr>
              <a:t>from the source  →  into the corpus</a:t>
            </a:r>
          </a:p>
        </p:txBody>
      </p:sp>
      <p:sp>
        <p:nvSpPr>
          <p:cNvPr id="10" name="Rounded Rectangle 9"/>
          <p:cNvSpPr/>
          <p:nvPr/>
        </p:nvSpPr>
        <p:spPr>
          <a:xfrm>
            <a:off x="566928" y="2148840"/>
            <a:ext cx="4663440" cy="1143000"/>
          </a:xfrm>
          <a:prstGeom prst="roundRect">
            <a:avLst>
              <a:gd name="adj" fmla="val 9600"/>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313432"/>
            <a:ext cx="4663440" cy="502920"/>
          </a:xfrm>
          <a:prstGeom prst="rect">
            <a:avLst/>
          </a:prstGeom>
          <a:noFill/>
        </p:spPr>
        <p:txBody>
          <a:bodyPr wrap="square" lIns="0" rIns="0" tIns="0" bIns="0" anchor="ctr">
            <a:spAutoFit/>
          </a:bodyPr>
          <a:lstStyle/>
          <a:p>
            <a:pPr algn="ctr"/>
            <a:r>
              <a:rPr sz="3000" b="1">
                <a:solidFill>
                  <a:srgbClr val="8A5E35"/>
                </a:solidFill>
                <a:latin typeface="Readex Pro"/>
                <a:cs typeface="Readex Pro"/>
                <a:ea typeface="Readex Pro"/>
              </a:rPr>
              <a:t>14,975 rows</a:t>
            </a:r>
          </a:p>
        </p:txBody>
      </p:sp>
      <p:sp>
        <p:nvSpPr>
          <p:cNvPr id="12" name="TextBox 11"/>
          <p:cNvSpPr txBox="1"/>
          <p:nvPr/>
        </p:nvSpPr>
        <p:spPr>
          <a:xfrm>
            <a:off x="566928" y="2862072"/>
            <a:ext cx="4663440" cy="274320"/>
          </a:xfrm>
          <a:prstGeom prst="rect">
            <a:avLst/>
          </a:prstGeom>
          <a:noFill/>
        </p:spPr>
        <p:txBody>
          <a:bodyPr wrap="square" lIns="0" rIns="0" tIns="0" bIns="0" anchor="ctr">
            <a:spAutoFit/>
          </a:bodyPr>
          <a:lstStyle/>
          <a:p>
            <a:pPr algn="ctr"/>
            <a:r>
              <a:rPr sz="1200" b="0">
                <a:solidFill>
                  <a:srgbClr val="4A4842"/>
                </a:solidFill>
                <a:latin typeface="Readex Pro"/>
                <a:cs typeface="Readex Pro"/>
                <a:ea typeface="Readex Pro"/>
              </a:rPr>
              <a:t>0 rule violations · 0 leakage vs BAREC test</a:t>
            </a:r>
          </a:p>
        </p:txBody>
      </p:sp>
      <p:sp>
        <p:nvSpPr>
          <p:cNvPr id="13" name="Rounded Rectangle 12"/>
          <p:cNvSpPr/>
          <p:nvPr/>
        </p:nvSpPr>
        <p:spPr>
          <a:xfrm>
            <a:off x="5596128" y="2331720"/>
            <a:ext cx="2827782" cy="615696"/>
          </a:xfrm>
          <a:prstGeom prst="roundRect">
            <a:avLst>
              <a:gd name="adj" fmla="val 13366"/>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0">
                <a:solidFill>
                  <a:srgbClr val="4A4842"/>
                </a:solidFill>
                <a:latin typeface="Readex Pro"/>
                <a:cs typeface="Readex Pro"/>
                <a:ea typeface="Readex Pro"/>
              </a:rPr>
              <a:t>blind audit of 1,039 pairs:</a:t>
            </a:r>
          </a:p>
          <a:p>
            <a:pPr algn="ctr"/>
            <a:r>
              <a:rPr sz="1400" b="0">
                <a:solidFill>
                  <a:srgbClr val="4A4842"/>
                </a:solidFill>
                <a:latin typeface="Readex Pro"/>
                <a:cs typeface="Readex Pro"/>
                <a:ea typeface="Readex Pro"/>
              </a:rPr>
              <a:t>1.7% meaning changed</a:t>
            </a:r>
          </a:p>
        </p:txBody>
      </p:sp>
      <p:sp>
        <p:nvSpPr>
          <p:cNvPr id="14" name="Rounded Rectangle 13"/>
          <p:cNvSpPr/>
          <p:nvPr/>
        </p:nvSpPr>
        <p:spPr>
          <a:xfrm>
            <a:off x="1920493" y="3977639"/>
            <a:ext cx="6061964" cy="381000"/>
          </a:xfrm>
          <a:prstGeom prst="roundRect">
            <a:avLst>
              <a:gd name="adj" fmla="val 21599"/>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400" b="1">
                <a:solidFill>
                  <a:srgbClr val="8A5E35"/>
                </a:solidFill>
                <a:latin typeface="Readex Pro"/>
                <a:cs typeface="Readex Pro"/>
                <a:ea typeface="Readex Pro"/>
              </a:rPr>
              <a:t>every gate in corpus v1 exists because of a failure we saw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03 · BAYANSIMPLIFY MODELS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Each version answered the last failure</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4 / 8</a:t>
            </a:r>
          </a:p>
        </p:txBody>
      </p:sp>
      <p:sp>
        <p:nvSpPr>
          <p:cNvPr id="9" name="TextBox 8"/>
          <p:cNvSpPr txBox="1"/>
          <p:nvPr/>
        </p:nvSpPr>
        <p:spPr>
          <a:xfrm>
            <a:off x="26517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SAMER</a:t>
            </a:r>
          </a:p>
        </p:txBody>
      </p:sp>
      <p:sp>
        <p:nvSpPr>
          <p:cNvPr id="10" name="Rounded Rectangle 9"/>
          <p:cNvSpPr/>
          <p:nvPr/>
        </p:nvSpPr>
        <p:spPr>
          <a:xfrm>
            <a:off x="26517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v0.1</a:t>
            </a:r>
          </a:p>
        </p:txBody>
      </p:sp>
      <p:sp>
        <p:nvSpPr>
          <p:cNvPr id="11" name="Rounded Rectangle 10"/>
          <p:cNvSpPr/>
          <p:nvPr/>
        </p:nvSpPr>
        <p:spPr>
          <a:xfrm>
            <a:off x="26517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level 5 → 3,</a:t>
            </a:r>
          </a:p>
          <a:p>
            <a:pPr algn="ctr"/>
            <a:r>
              <a:rPr sz="1200" b="0">
                <a:solidFill>
                  <a:srgbClr val="4A4842"/>
                </a:solidFill>
                <a:latin typeface="Readex Pro"/>
                <a:cs typeface="Readex Pro"/>
                <a:ea typeface="Readex Pro"/>
              </a:rPr>
              <a:t>14,343 pairs</a:t>
            </a:r>
          </a:p>
        </p:txBody>
      </p:sp>
      <p:sp>
        <p:nvSpPr>
          <p:cNvPr id="12" name="Rounded Rectangle 11"/>
          <p:cNvSpPr/>
          <p:nvPr/>
        </p:nvSpPr>
        <p:spPr>
          <a:xfrm>
            <a:off x="26517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Returned 65% of rows unchanged</a:t>
            </a:r>
          </a:p>
          <a:p>
            <a:pPr algn="ctr">
              <a:lnSpc>
                <a:spcPct val="108000"/>
              </a:lnSpc>
            </a:pPr>
            <a:r>
              <a:rPr sz="1150" b="0">
                <a:solidFill>
                  <a:srgbClr val="B5533C"/>
                </a:solidFill>
                <a:latin typeface="Readex Pro"/>
                <a:cs typeface="Readex Pro"/>
                <a:ea typeface="Readex Pro"/>
              </a:rPr>
              <a:t>(editors: 49%).</a:t>
            </a:r>
          </a:p>
          <a:p>
            <a:pPr algn="ctr">
              <a:lnSpc>
                <a:spcPct val="108000"/>
              </a:lnSpc>
            </a:pPr>
            <a:r>
              <a:rPr sz="1150" b="0">
                <a:solidFill>
                  <a:srgbClr val="B5533C"/>
                </a:solidFill>
                <a:latin typeface="Readex Pro"/>
                <a:cs typeface="Readex Pro"/>
                <a:ea typeface="Readex Pro"/>
              </a:rPr>
              <a:t>Swapped words, never restructured.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03 · BAYANSIMPLIFY MODELS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Each version answered the last failure</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4 / 8</a:t>
            </a:r>
          </a:p>
        </p:txBody>
      </p:sp>
      <p:sp>
        <p:nvSpPr>
          <p:cNvPr id="9" name="TextBox 8"/>
          <p:cNvSpPr txBox="1"/>
          <p:nvPr/>
        </p:nvSpPr>
        <p:spPr>
          <a:xfrm>
            <a:off x="26517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SAMER</a:t>
            </a:r>
          </a:p>
        </p:txBody>
      </p:sp>
      <p:sp>
        <p:nvSpPr>
          <p:cNvPr id="10" name="Rounded Rectangle 9"/>
          <p:cNvSpPr/>
          <p:nvPr/>
        </p:nvSpPr>
        <p:spPr>
          <a:xfrm>
            <a:off x="26517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v0.1</a:t>
            </a:r>
          </a:p>
        </p:txBody>
      </p:sp>
      <p:sp>
        <p:nvSpPr>
          <p:cNvPr id="11" name="Rounded Rectangle 10"/>
          <p:cNvSpPr/>
          <p:nvPr/>
        </p:nvSpPr>
        <p:spPr>
          <a:xfrm>
            <a:off x="26517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level 5 → 3,</a:t>
            </a:r>
          </a:p>
          <a:p>
            <a:pPr algn="ctr"/>
            <a:r>
              <a:rPr sz="1200" b="0">
                <a:solidFill>
                  <a:srgbClr val="4A4842"/>
                </a:solidFill>
                <a:latin typeface="Readex Pro"/>
                <a:cs typeface="Readex Pro"/>
                <a:ea typeface="Readex Pro"/>
              </a:rPr>
              <a:t>14,343 pairs</a:t>
            </a:r>
          </a:p>
        </p:txBody>
      </p:sp>
      <p:sp>
        <p:nvSpPr>
          <p:cNvPr id="12" name="Rounded Rectangle 11"/>
          <p:cNvSpPr/>
          <p:nvPr/>
        </p:nvSpPr>
        <p:spPr>
          <a:xfrm>
            <a:off x="26517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Returned 65% of rows unchanged</a:t>
            </a:r>
          </a:p>
          <a:p>
            <a:pPr algn="ctr">
              <a:lnSpc>
                <a:spcPct val="108000"/>
              </a:lnSpc>
            </a:pPr>
            <a:r>
              <a:rPr sz="1150" b="0">
                <a:solidFill>
                  <a:srgbClr val="B5533C"/>
                </a:solidFill>
                <a:latin typeface="Readex Pro"/>
                <a:cs typeface="Readex Pro"/>
                <a:ea typeface="Readex Pro"/>
              </a:rPr>
              <a:t>(editors: 49%).</a:t>
            </a:r>
          </a:p>
          <a:p>
            <a:pPr algn="ctr">
              <a:lnSpc>
                <a:spcPct val="108000"/>
              </a:lnSpc>
            </a:pPr>
            <a:r>
              <a:rPr sz="1150" b="0">
                <a:solidFill>
                  <a:srgbClr val="B5533C"/>
                </a:solidFill>
                <a:latin typeface="Readex Pro"/>
                <a:cs typeface="Readex Pro"/>
                <a:ea typeface="Readex Pro"/>
              </a:rPr>
              <a:t>Swapped words, never restructured.</a:t>
            </a:r>
          </a:p>
        </p:txBody>
      </p:sp>
      <p:cxnSp>
        <p:nvCxnSpPr>
          <p:cNvPr id="14" name="Connector 13"/>
          <p:cNvCxnSpPr/>
          <p:nvPr/>
        </p:nvCxnSpPr>
        <p:spPr>
          <a:xfrm>
            <a:off x="3108960" y="2880360"/>
            <a:ext cx="393192"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3557016" y="1874519"/>
            <a:ext cx="2788920" cy="292608"/>
          </a:xfrm>
          <a:prstGeom prst="rect">
            <a:avLst/>
          </a:prstGeom>
          <a:noFill/>
        </p:spPr>
        <p:txBody>
          <a:bodyPr wrap="square" lIns="0" rIns="0" tIns="0" bIns="0" anchor="ctr">
            <a:spAutoFit/>
          </a:bodyPr>
          <a:lstStyle/>
          <a:p>
            <a:pPr algn="ctr"/>
            <a:r>
              <a:rPr sz="1150" b="1">
                <a:solidFill>
                  <a:srgbClr val="8A5E35"/>
                </a:solidFill>
                <a:latin typeface="Readex Pro"/>
                <a:cs typeface="Readex Pro"/>
                <a:ea typeface="Readex Pro"/>
              </a:rPr>
              <a:t>AraT5v2 + AraBART</a:t>
            </a:r>
          </a:p>
        </p:txBody>
      </p:sp>
      <p:sp>
        <p:nvSpPr>
          <p:cNvPr id="16" name="Rounded Rectangle 15"/>
          <p:cNvSpPr/>
          <p:nvPr/>
        </p:nvSpPr>
        <p:spPr>
          <a:xfrm>
            <a:off x="355701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v0.2</a:t>
            </a:r>
          </a:p>
        </p:txBody>
      </p:sp>
      <p:sp>
        <p:nvSpPr>
          <p:cNvPr id="17" name="Rounded Rectangle 16"/>
          <p:cNvSpPr/>
          <p:nvPr/>
        </p:nvSpPr>
        <p:spPr>
          <a:xfrm>
            <a:off x="355701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 everyday text +</a:t>
            </a:r>
          </a:p>
          <a:p>
            <a:pPr algn="ctr"/>
            <a:r>
              <a:rPr sz="1200" b="0">
                <a:solidFill>
                  <a:srgbClr val="4A4842"/>
                </a:solidFill>
                <a:latin typeface="Readex Pro"/>
                <a:cs typeface="Readex Pro"/>
                <a:ea typeface="Readex Pro"/>
              </a:rPr>
              <a:t>meaning-filtered pairs + tags</a:t>
            </a:r>
          </a:p>
        </p:txBody>
      </p:sp>
      <p:sp>
        <p:nvSpPr>
          <p:cNvPr id="18" name="Rounded Rectangle 17"/>
          <p:cNvSpPr/>
          <p:nvPr/>
        </p:nvSpPr>
        <p:spPr>
          <a:xfrm>
            <a:off x="355701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6674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v0.2 keeps the meaning in 60%</a:t>
            </a:r>
          </a:p>
          <a:p>
            <a:pPr algn="ctr">
              <a:lnSpc>
                <a:spcPct val="108000"/>
              </a:lnSpc>
            </a:pPr>
            <a:r>
              <a:rPr sz="1150" b="0">
                <a:solidFill>
                  <a:srgbClr val="B5533C"/>
                </a:solidFill>
                <a:latin typeface="Readex Pro"/>
                <a:cs typeface="Readex Pro"/>
                <a:ea typeface="Readex Pro"/>
              </a:rPr>
              <a:t>of outputs, v0.2-Fast in 40%.</a:t>
            </a:r>
          </a:p>
          <a:p>
            <a:pPr algn="ctr">
              <a:lnSpc>
                <a:spcPct val="108000"/>
              </a:lnSpc>
            </a:pPr>
            <a:r>
              <a:rPr sz="1150" b="0">
                <a:solidFill>
                  <a:srgbClr val="B5533C"/>
                </a:solidFill>
                <a:latin typeface="Readex Pro"/>
                <a:cs typeface="Readex Pro"/>
                <a:ea typeface="Readex Pro"/>
              </a:rPr>
              <a:t>The tag costs meaning.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03 · BAYANSIMPLIFY MODELS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Each version answered the last failure</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4 / 8</a:t>
            </a:r>
          </a:p>
        </p:txBody>
      </p:sp>
      <p:sp>
        <p:nvSpPr>
          <p:cNvPr id="9" name="TextBox 8"/>
          <p:cNvSpPr txBox="1"/>
          <p:nvPr/>
        </p:nvSpPr>
        <p:spPr>
          <a:xfrm>
            <a:off x="26517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SAMER</a:t>
            </a:r>
          </a:p>
        </p:txBody>
      </p:sp>
      <p:sp>
        <p:nvSpPr>
          <p:cNvPr id="10" name="Rounded Rectangle 9"/>
          <p:cNvSpPr/>
          <p:nvPr/>
        </p:nvSpPr>
        <p:spPr>
          <a:xfrm>
            <a:off x="26517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v0.1</a:t>
            </a:r>
          </a:p>
        </p:txBody>
      </p:sp>
      <p:sp>
        <p:nvSpPr>
          <p:cNvPr id="11" name="Rounded Rectangle 10"/>
          <p:cNvSpPr/>
          <p:nvPr/>
        </p:nvSpPr>
        <p:spPr>
          <a:xfrm>
            <a:off x="26517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level 5 → 3,</a:t>
            </a:r>
          </a:p>
          <a:p>
            <a:pPr algn="ctr"/>
            <a:r>
              <a:rPr sz="1200" b="0">
                <a:solidFill>
                  <a:srgbClr val="4A4842"/>
                </a:solidFill>
                <a:latin typeface="Readex Pro"/>
                <a:cs typeface="Readex Pro"/>
                <a:ea typeface="Readex Pro"/>
              </a:rPr>
              <a:t>14,343 pairs</a:t>
            </a:r>
          </a:p>
        </p:txBody>
      </p:sp>
      <p:sp>
        <p:nvSpPr>
          <p:cNvPr id="12" name="Rounded Rectangle 11"/>
          <p:cNvSpPr/>
          <p:nvPr/>
        </p:nvSpPr>
        <p:spPr>
          <a:xfrm>
            <a:off x="26517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490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Returned 65% of rows unchanged</a:t>
            </a:r>
          </a:p>
          <a:p>
            <a:pPr algn="ctr">
              <a:lnSpc>
                <a:spcPct val="108000"/>
              </a:lnSpc>
            </a:pPr>
            <a:r>
              <a:rPr sz="1150" b="0">
                <a:solidFill>
                  <a:srgbClr val="B5533C"/>
                </a:solidFill>
                <a:latin typeface="Readex Pro"/>
                <a:cs typeface="Readex Pro"/>
                <a:ea typeface="Readex Pro"/>
              </a:rPr>
              <a:t>(editors: 49%).</a:t>
            </a:r>
          </a:p>
          <a:p>
            <a:pPr algn="ctr">
              <a:lnSpc>
                <a:spcPct val="108000"/>
              </a:lnSpc>
            </a:pPr>
            <a:r>
              <a:rPr sz="1150" b="0">
                <a:solidFill>
                  <a:srgbClr val="B5533C"/>
                </a:solidFill>
                <a:latin typeface="Readex Pro"/>
                <a:cs typeface="Readex Pro"/>
                <a:ea typeface="Readex Pro"/>
              </a:rPr>
              <a:t>Swapped words, never restructured.</a:t>
            </a:r>
          </a:p>
        </p:txBody>
      </p:sp>
      <p:sp>
        <p:nvSpPr>
          <p:cNvPr id="14" name="TextBox 13"/>
          <p:cNvSpPr txBox="1"/>
          <p:nvPr/>
        </p:nvSpPr>
        <p:spPr>
          <a:xfrm>
            <a:off x="3557016" y="1874519"/>
            <a:ext cx="2788920" cy="292608"/>
          </a:xfrm>
          <a:prstGeom prst="rect">
            <a:avLst/>
          </a:prstGeom>
          <a:noFill/>
        </p:spPr>
        <p:txBody>
          <a:bodyPr wrap="square" lIns="0" rIns="0" tIns="0" bIns="0" anchor="ctr">
            <a:spAutoFit/>
          </a:bodyPr>
          <a:lstStyle/>
          <a:p>
            <a:pPr algn="ctr"/>
            <a:r>
              <a:rPr sz="1150" b="1">
                <a:solidFill>
                  <a:srgbClr val="8A5E35"/>
                </a:solidFill>
                <a:latin typeface="Readex Pro"/>
                <a:cs typeface="Readex Pro"/>
                <a:ea typeface="Readex Pro"/>
              </a:rPr>
              <a:t>AraT5v2 + AraBART</a:t>
            </a:r>
          </a:p>
        </p:txBody>
      </p:sp>
      <p:sp>
        <p:nvSpPr>
          <p:cNvPr id="15" name="Rounded Rectangle 14"/>
          <p:cNvSpPr/>
          <p:nvPr/>
        </p:nvSpPr>
        <p:spPr>
          <a:xfrm>
            <a:off x="3557016" y="2221991"/>
            <a:ext cx="2788920" cy="475488"/>
          </a:xfrm>
          <a:prstGeom prst="roundRect">
            <a:avLst>
              <a:gd name="adj" fmla="val 19230"/>
            </a:avLst>
          </a:prstGeom>
          <a:solidFill>
            <a:srgbClr val="E6DFCC"/>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282824"/>
                </a:solidFill>
                <a:latin typeface="Readex Pro"/>
                <a:cs typeface="Readex Pro"/>
                <a:ea typeface="Readex Pro"/>
              </a:rPr>
              <a:t>v0.2</a:t>
            </a:r>
          </a:p>
        </p:txBody>
      </p:sp>
      <p:sp>
        <p:nvSpPr>
          <p:cNvPr id="16" name="Rounded Rectangle 15"/>
          <p:cNvSpPr/>
          <p:nvPr/>
        </p:nvSpPr>
        <p:spPr>
          <a:xfrm>
            <a:off x="355701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SAMER + everyday text +</a:t>
            </a:r>
          </a:p>
          <a:p>
            <a:pPr algn="ctr"/>
            <a:r>
              <a:rPr sz="1200" b="0">
                <a:solidFill>
                  <a:srgbClr val="4A4842"/>
                </a:solidFill>
                <a:latin typeface="Readex Pro"/>
                <a:cs typeface="Readex Pro"/>
                <a:ea typeface="Readex Pro"/>
              </a:rPr>
              <a:t>meaning-filtered pairs + tags</a:t>
            </a:r>
          </a:p>
        </p:txBody>
      </p:sp>
      <p:sp>
        <p:nvSpPr>
          <p:cNvPr id="17" name="Rounded Rectangle 16"/>
          <p:cNvSpPr/>
          <p:nvPr/>
        </p:nvSpPr>
        <p:spPr>
          <a:xfrm>
            <a:off x="355701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6674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v0.2 keeps the meaning in 60%</a:t>
            </a:r>
          </a:p>
          <a:p>
            <a:pPr algn="ctr">
              <a:lnSpc>
                <a:spcPct val="108000"/>
              </a:lnSpc>
            </a:pPr>
            <a:r>
              <a:rPr sz="1150" b="0">
                <a:solidFill>
                  <a:srgbClr val="B5533C"/>
                </a:solidFill>
                <a:latin typeface="Readex Pro"/>
                <a:cs typeface="Readex Pro"/>
                <a:ea typeface="Readex Pro"/>
              </a:rPr>
              <a:t>of outputs, v0.2-Fast in 40%.</a:t>
            </a:r>
          </a:p>
          <a:p>
            <a:pPr algn="ctr">
              <a:lnSpc>
                <a:spcPct val="108000"/>
              </a:lnSpc>
            </a:pPr>
            <a:r>
              <a:rPr sz="1150" b="0">
                <a:solidFill>
                  <a:srgbClr val="B5533C"/>
                </a:solidFill>
                <a:latin typeface="Readex Pro"/>
                <a:cs typeface="Readex Pro"/>
                <a:ea typeface="Readex Pro"/>
              </a:rPr>
              <a:t>The tag costs meaning.</a:t>
            </a:r>
          </a:p>
        </p:txBody>
      </p:sp>
      <p:cxnSp>
        <p:nvCxnSpPr>
          <p:cNvPr id="19" name="Connector 18"/>
          <p:cNvCxnSpPr/>
          <p:nvPr/>
        </p:nvCxnSpPr>
        <p:spPr>
          <a:xfrm>
            <a:off x="3108960" y="2880360"/>
            <a:ext cx="393192"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48856" y="1874519"/>
            <a:ext cx="2788920" cy="292608"/>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AraT5v2 on corpus v1</a:t>
            </a:r>
          </a:p>
        </p:txBody>
      </p:sp>
      <p:sp>
        <p:nvSpPr>
          <p:cNvPr id="21" name="Rounded Rectangle 20"/>
          <p:cNvSpPr/>
          <p:nvPr/>
        </p:nvSpPr>
        <p:spPr>
          <a:xfrm>
            <a:off x="6848856" y="2221991"/>
            <a:ext cx="2788920" cy="475488"/>
          </a:xfrm>
          <a:prstGeom prst="roundRect">
            <a:avLst>
              <a:gd name="adj" fmla="val 19230"/>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700" b="1">
                <a:solidFill>
                  <a:srgbClr val="1A1A14"/>
                </a:solidFill>
                <a:latin typeface="Readex Pro"/>
                <a:cs typeface="Readex Pro"/>
                <a:ea typeface="Readex Pro"/>
              </a:rPr>
              <a:t>v0.3</a:t>
            </a:r>
          </a:p>
        </p:txBody>
      </p:sp>
      <p:sp>
        <p:nvSpPr>
          <p:cNvPr id="22" name="Rounded Rectangle 21"/>
          <p:cNvSpPr/>
          <p:nvPr/>
        </p:nvSpPr>
        <p:spPr>
          <a:xfrm>
            <a:off x="6848856" y="2807208"/>
            <a:ext cx="2788920" cy="1051560"/>
          </a:xfrm>
          <a:prstGeom prst="roundRect">
            <a:avLst>
              <a:gd name="adj" fmla="val 8695"/>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corpus v1, 14,975 rows,</a:t>
            </a:r>
          </a:p>
          <a:p>
            <a:pPr algn="ctr"/>
            <a:r>
              <a:rPr sz="1200" b="0">
                <a:solidFill>
                  <a:srgbClr val="4A4842"/>
                </a:solidFill>
                <a:latin typeface="Readex Pro"/>
                <a:cs typeface="Readex Pro"/>
                <a:ea typeface="Readex Pro"/>
              </a:rPr>
              <a:t>no tag</a:t>
            </a:r>
          </a:p>
        </p:txBody>
      </p:sp>
      <p:sp>
        <p:nvSpPr>
          <p:cNvPr id="23" name="Rounded Rectangle 22"/>
          <p:cNvSpPr/>
          <p:nvPr/>
        </p:nvSpPr>
        <p:spPr>
          <a:xfrm>
            <a:off x="6848856" y="3959352"/>
            <a:ext cx="2788920" cy="1417320"/>
          </a:xfrm>
          <a:prstGeom prst="roundRect">
            <a:avLst>
              <a:gd name="adj" fmla="val 6451"/>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58584" y="4087368"/>
            <a:ext cx="2569463" cy="1188720"/>
          </a:xfrm>
          <a:prstGeom prst="rect">
            <a:avLst/>
          </a:prstGeom>
          <a:noFill/>
        </p:spPr>
        <p:txBody>
          <a:bodyPr wrap="square" lIns="0" rIns="0" tIns="0" bIns="0" anchor="ctr">
            <a:spAutoFit/>
          </a:bodyPr>
          <a:lstStyle/>
          <a:p>
            <a:pPr algn="ctr">
              <a:lnSpc>
                <a:spcPct val="108000"/>
              </a:lnSpc>
            </a:pPr>
            <a:r>
              <a:rPr sz="1150" b="0">
                <a:solidFill>
                  <a:srgbClr val="B5533C"/>
                </a:solidFill>
                <a:latin typeface="Readex Pro"/>
                <a:cs typeface="Readex Pro"/>
                <a:ea typeface="Readex Pro"/>
              </a:rPr>
              <a:t>Our best: cuts 9.5 words from the</a:t>
            </a:r>
          </a:p>
          <a:p>
            <a:pPr algn="ctr">
              <a:lnSpc>
                <a:spcPct val="108000"/>
              </a:lnSpc>
            </a:pPr>
            <a:r>
              <a:rPr sz="1150" b="0">
                <a:solidFill>
                  <a:srgbClr val="B5533C"/>
                </a:solidFill>
                <a:latin typeface="Readex Pro"/>
                <a:cs typeface="Readex Pro"/>
                <a:ea typeface="Readex Pro"/>
              </a:rPr>
              <a:t>longest clause vs 4.5, with about</a:t>
            </a:r>
          </a:p>
          <a:p>
            <a:pPr algn="ctr">
              <a:lnSpc>
                <a:spcPct val="108000"/>
              </a:lnSpc>
            </a:pPr>
            <a:r>
              <a:rPr sz="1150" b="0">
                <a:solidFill>
                  <a:srgbClr val="B5533C"/>
                </a:solidFill>
                <a:latin typeface="Readex Pro"/>
                <a:cs typeface="Readex Pro"/>
                <a:ea typeface="Readex Pro"/>
              </a:rPr>
              <a:t>the same meaning (vs v0.2, no tag).</a:t>
            </a:r>
          </a:p>
        </p:txBody>
      </p:sp>
      <p:cxnSp>
        <p:nvCxnSpPr>
          <p:cNvPr id="25" name="Connector 24"/>
          <p:cNvCxnSpPr/>
          <p:nvPr/>
        </p:nvCxnSpPr>
        <p:spPr>
          <a:xfrm>
            <a:off x="6400800" y="2880360"/>
            <a:ext cx="393192" cy="0"/>
          </a:xfrm>
          <a:prstGeom prst="line">
            <a:avLst/>
          </a:prstGeom>
          <a:ln w="3175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66928" y="5532120"/>
            <a:ext cx="1463040" cy="256032"/>
          </a:xfrm>
          <a:prstGeom prst="rect">
            <a:avLst/>
          </a:prstGeom>
          <a:noFill/>
        </p:spPr>
        <p:txBody>
          <a:bodyPr wrap="square" lIns="0" rIns="0" tIns="0" bIns="0" anchor="ctr">
            <a:spAutoFit/>
          </a:bodyPr>
          <a:lstStyle/>
          <a:p>
            <a:pPr algn="l"/>
            <a:r>
              <a:rPr sz="1100" b="0">
                <a:solidFill>
                  <a:srgbClr val="6F6B5E"/>
                </a:solidFill>
                <a:latin typeface="Readex Pro"/>
                <a:cs typeface="Readex Pro"/>
                <a:ea typeface="Readex Pro"/>
              </a:rPr>
              <a:t>Tried and dropped:</a:t>
            </a:r>
          </a:p>
        </p:txBody>
      </p:sp>
      <p:sp>
        <p:nvSpPr>
          <p:cNvPr id="27" name="Rounded Rectangle 26"/>
          <p:cNvSpPr/>
          <p:nvPr/>
        </p:nvSpPr>
        <p:spPr>
          <a:xfrm>
            <a:off x="2075688" y="5513832"/>
            <a:ext cx="1375155" cy="330708"/>
          </a:xfrm>
          <a:prstGeom prst="roundRect">
            <a:avLst>
              <a:gd name="adj" fmla="val 248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0">
                <a:solidFill>
                  <a:srgbClr val="6F6B5E"/>
                </a:solidFill>
                <a:latin typeface="Readex Pro"/>
                <a:cs typeface="Readex Pro"/>
                <a:ea typeface="Readex Pro"/>
              </a:rPr>
              <a:t>student DPO</a:t>
            </a:r>
          </a:p>
        </p:txBody>
      </p:sp>
      <p:sp>
        <p:nvSpPr>
          <p:cNvPr id="28" name="Rounded Rectangle 27"/>
          <p:cNvSpPr/>
          <p:nvPr/>
        </p:nvSpPr>
        <p:spPr>
          <a:xfrm>
            <a:off x="3661155" y="5513832"/>
            <a:ext cx="2026158" cy="330708"/>
          </a:xfrm>
          <a:prstGeom prst="roundRect">
            <a:avLst>
              <a:gd name="adj" fmla="val 248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0">
                <a:solidFill>
                  <a:srgbClr val="6F6B5E"/>
                </a:solidFill>
                <a:latin typeface="Readex Pro"/>
                <a:cs typeface="Readex Pro"/>
                <a:ea typeface="Readex Pro"/>
              </a:rPr>
              <a:t>minimum-risk training</a:t>
            </a:r>
          </a:p>
        </p:txBody>
      </p:sp>
      <p:sp>
        <p:nvSpPr>
          <p:cNvPr id="29" name="Rounded Rectangle 28"/>
          <p:cNvSpPr/>
          <p:nvPr/>
        </p:nvSpPr>
        <p:spPr>
          <a:xfrm>
            <a:off x="5897626" y="5513832"/>
            <a:ext cx="1552574" cy="330708"/>
          </a:xfrm>
          <a:prstGeom prst="roundRect">
            <a:avLst>
              <a:gd name="adj" fmla="val 248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00" b="0">
                <a:solidFill>
                  <a:srgbClr val="6F6B5E"/>
                </a:solidFill>
                <a:latin typeface="Readex Pro"/>
                <a:cs typeface="Readex Pro"/>
                <a:ea typeface="Readex Pro"/>
              </a:rPr>
              <a:t>fluency retrain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8</a:t>
            </a:r>
          </a:p>
        </p:txBody>
      </p:sp>
      <p:sp>
        <p:nvSpPr>
          <p:cNvPr id="9" name="TextBox 8"/>
          <p:cNvSpPr txBox="1"/>
          <p:nvPr/>
        </p:nvSpPr>
        <p:spPr>
          <a:xfrm>
            <a:off x="566928" y="1481328"/>
            <a:ext cx="6035040" cy="384048"/>
          </a:xfrm>
          <a:prstGeom prst="rect">
            <a:avLst/>
          </a:prstGeom>
          <a:noFill/>
        </p:spPr>
        <p:txBody>
          <a:bodyPr wrap="square" lIns="0" rIns="0" tIns="0" bIns="0" anchor="ctr">
            <a:spAutoFit/>
          </a:bodyPr>
          <a:lstStyle/>
          <a:p>
            <a:pPr algn="l"/>
            <a:r>
              <a:rPr sz="2000" b="1">
                <a:solidFill>
                  <a:srgbClr val="282824"/>
                </a:solidFill>
                <a:latin typeface="Readex Pro"/>
                <a:cs typeface="Readex Pro"/>
                <a:ea typeface="Readex Pro"/>
              </a:rPr>
              <a:t>Copying is the baseline to beat</a:t>
            </a:r>
          </a:p>
        </p:txBody>
      </p:sp>
      <p:sp>
        <p:nvSpPr>
          <p:cNvPr id="10" name="TextBox 9"/>
          <p:cNvSpPr txBox="1"/>
          <p:nvPr/>
        </p:nvSpPr>
        <p:spPr>
          <a:xfrm>
            <a:off x="3675887" y="1938528"/>
            <a:ext cx="1188720" cy="256032"/>
          </a:xfrm>
          <a:prstGeom prst="rect">
            <a:avLst/>
          </a:prstGeom>
          <a:noFill/>
        </p:spPr>
        <p:txBody>
          <a:bodyPr wrap="square" lIns="0" rIns="0" tIns="0" bIns="0" anchor="ctr">
            <a:spAutoFit/>
          </a:bodyPr>
          <a:lstStyle/>
          <a:p>
            <a:pPr algn="ctr"/>
            <a:r>
              <a:rPr sz="1050" b="0">
                <a:solidFill>
                  <a:srgbClr val="6F6B5E"/>
                </a:solidFill>
                <a:latin typeface="Readex Pro"/>
                <a:cs typeface="Readex Pro"/>
                <a:ea typeface="Readex Pro"/>
              </a:rPr>
              <a:t>meaning kept</a:t>
            </a:r>
          </a:p>
        </p:txBody>
      </p:sp>
      <p:sp>
        <p:nvSpPr>
          <p:cNvPr id="11" name="TextBox 10"/>
          <p:cNvSpPr txBox="1"/>
          <p:nvPr/>
        </p:nvSpPr>
        <p:spPr>
          <a:xfrm>
            <a:off x="5001768" y="1938528"/>
            <a:ext cx="1554480" cy="256032"/>
          </a:xfrm>
          <a:prstGeom prst="rect">
            <a:avLst/>
          </a:prstGeom>
          <a:noFill/>
        </p:spPr>
        <p:txBody>
          <a:bodyPr wrap="square" lIns="0" rIns="0" tIns="0" bIns="0" anchor="ctr">
            <a:spAutoFit/>
          </a:bodyPr>
          <a:lstStyle/>
          <a:p>
            <a:pPr algn="ctr">
              <a:lnSpc>
                <a:spcPct val="95000"/>
              </a:lnSpc>
            </a:pPr>
            <a:r>
              <a:rPr sz="1050" b="0">
                <a:solidFill>
                  <a:srgbClr val="6F6B5E"/>
                </a:solidFill>
                <a:latin typeface="Readex Pro"/>
                <a:cs typeface="Readex Pro"/>
                <a:ea typeface="Readex Pro"/>
              </a:rPr>
              <a:t>words cut from</a:t>
            </a:r>
          </a:p>
          <a:p>
            <a:pPr algn="ctr">
              <a:lnSpc>
                <a:spcPct val="95000"/>
              </a:lnSpc>
            </a:pPr>
            <a:r>
              <a:rPr sz="1050" b="0">
                <a:solidFill>
                  <a:srgbClr val="6F6B5E"/>
                </a:solidFill>
                <a:latin typeface="Readex Pro"/>
                <a:cs typeface="Readex Pro"/>
                <a:ea typeface="Readex Pro"/>
              </a:rPr>
              <a:t>the longest clause</a:t>
            </a:r>
          </a:p>
        </p:txBody>
      </p:sp>
      <p:sp>
        <p:nvSpPr>
          <p:cNvPr id="12" name="Rounded Rectangle 11"/>
          <p:cNvSpPr/>
          <p:nvPr/>
        </p:nvSpPr>
        <p:spPr>
          <a:xfrm>
            <a:off x="566928" y="2286000"/>
            <a:ext cx="6126480" cy="402336"/>
          </a:xfrm>
          <a:prstGeom prst="roundRect">
            <a:avLst>
              <a:gd name="adj" fmla="val 18181"/>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340864"/>
            <a:ext cx="2834640" cy="292608"/>
          </a:xfrm>
          <a:prstGeom prst="rect">
            <a:avLst/>
          </a:prstGeom>
          <a:noFill/>
        </p:spPr>
        <p:txBody>
          <a:bodyPr wrap="square" lIns="0" rIns="0" tIns="0" bIns="0" anchor="ctr">
            <a:spAutoFit/>
          </a:bodyPr>
          <a:lstStyle/>
          <a:p>
            <a:pPr algn="l"/>
            <a:r>
              <a:rPr sz="1300" b="1">
                <a:solidFill>
                  <a:srgbClr val="282824"/>
                </a:solidFill>
                <a:latin typeface="Readex Pro"/>
                <a:cs typeface="Readex Pro"/>
                <a:ea typeface="Readex Pro"/>
              </a:rPr>
              <a:t>Copy the input</a:t>
            </a:r>
          </a:p>
        </p:txBody>
      </p:sp>
      <p:sp>
        <p:nvSpPr>
          <p:cNvPr id="14" name="TextBox 13"/>
          <p:cNvSpPr txBox="1"/>
          <p:nvPr/>
        </p:nvSpPr>
        <p:spPr>
          <a:xfrm>
            <a:off x="3675887" y="2340864"/>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100%</a:t>
            </a:r>
          </a:p>
        </p:txBody>
      </p:sp>
      <p:sp>
        <p:nvSpPr>
          <p:cNvPr id="15" name="TextBox 14"/>
          <p:cNvSpPr txBox="1"/>
          <p:nvPr/>
        </p:nvSpPr>
        <p:spPr>
          <a:xfrm>
            <a:off x="5001768" y="2340864"/>
            <a:ext cx="1554480" cy="292608"/>
          </a:xfrm>
          <a:prstGeom prst="rect">
            <a:avLst/>
          </a:prstGeom>
          <a:noFill/>
        </p:spPr>
        <p:txBody>
          <a:bodyPr wrap="square" lIns="0" rIns="0" tIns="0" bIns="0" anchor="ctr">
            <a:spAutoFit/>
          </a:bodyPr>
          <a:lstStyle/>
          <a:p>
            <a:pPr algn="ctr"/>
            <a:r>
              <a:rPr sz="1300" b="1">
                <a:solidFill>
                  <a:srgbClr val="B5533C"/>
                </a:solidFill>
                <a:latin typeface="Readex Pro"/>
                <a:cs typeface="Readex Pro"/>
                <a:ea typeface="Readex Pro"/>
              </a:rPr>
              <a:t>0</a:t>
            </a:r>
          </a:p>
        </p:txBody>
      </p:sp>
      <p:sp>
        <p:nvSpPr>
          <p:cNvPr id="16" name="Rounded Rectangle 15"/>
          <p:cNvSpPr/>
          <p:nvPr/>
        </p:nvSpPr>
        <p:spPr>
          <a:xfrm>
            <a:off x="566928" y="2761488"/>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16352"/>
            <a:ext cx="283464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v0.1</a:t>
            </a:r>
          </a:p>
        </p:txBody>
      </p:sp>
      <p:sp>
        <p:nvSpPr>
          <p:cNvPr id="18" name="TextBox 17"/>
          <p:cNvSpPr txBox="1"/>
          <p:nvPr/>
        </p:nvSpPr>
        <p:spPr>
          <a:xfrm>
            <a:off x="3675887" y="2816352"/>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76%</a:t>
            </a:r>
          </a:p>
        </p:txBody>
      </p:sp>
      <p:sp>
        <p:nvSpPr>
          <p:cNvPr id="19" name="TextBox 18"/>
          <p:cNvSpPr txBox="1"/>
          <p:nvPr/>
        </p:nvSpPr>
        <p:spPr>
          <a:xfrm>
            <a:off x="5001768" y="2816352"/>
            <a:ext cx="1554480" cy="292608"/>
          </a:xfrm>
          <a:prstGeom prst="rect">
            <a:avLst/>
          </a:prstGeom>
          <a:noFill/>
        </p:spPr>
        <p:txBody>
          <a:bodyPr wrap="square" lIns="0" rIns="0" tIns="0" bIns="0" anchor="ctr">
            <a:spAutoFit/>
          </a:bodyPr>
          <a:lstStyle/>
          <a:p>
            <a:pPr algn="ctr"/>
            <a:r>
              <a:rPr sz="1300" b="1">
                <a:solidFill>
                  <a:srgbClr val="B5533C"/>
                </a:solidFill>
                <a:latin typeface="Readex Pro"/>
                <a:cs typeface="Readex Pro"/>
                <a:ea typeface="Readex Pro"/>
              </a:rPr>
              <a:t>0</a:t>
            </a:r>
          </a:p>
        </p:txBody>
      </p:sp>
      <p:sp>
        <p:nvSpPr>
          <p:cNvPr id="20" name="Rounded Rectangle 19"/>
          <p:cNvSpPr/>
          <p:nvPr/>
        </p:nvSpPr>
        <p:spPr>
          <a:xfrm>
            <a:off x="566928" y="3236976"/>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3291840"/>
            <a:ext cx="283464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 (AraT5v2)</a:t>
            </a:r>
          </a:p>
        </p:txBody>
      </p:sp>
      <p:sp>
        <p:nvSpPr>
          <p:cNvPr id="22" name="TextBox 21"/>
          <p:cNvSpPr txBox="1"/>
          <p:nvPr/>
        </p:nvSpPr>
        <p:spPr>
          <a:xfrm>
            <a:off x="3675887" y="3291840"/>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68%</a:t>
            </a:r>
          </a:p>
        </p:txBody>
      </p:sp>
      <p:sp>
        <p:nvSpPr>
          <p:cNvPr id="23" name="TextBox 22"/>
          <p:cNvSpPr txBox="1"/>
          <p:nvPr/>
        </p:nvSpPr>
        <p:spPr>
          <a:xfrm>
            <a:off x="5001768" y="3291840"/>
            <a:ext cx="155448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4.5</a:t>
            </a:r>
          </a:p>
        </p:txBody>
      </p:sp>
      <p:sp>
        <p:nvSpPr>
          <p:cNvPr id="24" name="Rounded Rectangle 23"/>
          <p:cNvSpPr/>
          <p:nvPr/>
        </p:nvSpPr>
        <p:spPr>
          <a:xfrm>
            <a:off x="566928" y="3712464"/>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3767328"/>
            <a:ext cx="283464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v0.2-Fast (AraBART)</a:t>
            </a:r>
          </a:p>
        </p:txBody>
      </p:sp>
      <p:sp>
        <p:nvSpPr>
          <p:cNvPr id="26" name="TextBox 25"/>
          <p:cNvSpPr txBox="1"/>
          <p:nvPr/>
        </p:nvSpPr>
        <p:spPr>
          <a:xfrm>
            <a:off x="3675887" y="3767328"/>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51%</a:t>
            </a:r>
          </a:p>
        </p:txBody>
      </p:sp>
      <p:sp>
        <p:nvSpPr>
          <p:cNvPr id="27" name="TextBox 26"/>
          <p:cNvSpPr txBox="1"/>
          <p:nvPr/>
        </p:nvSpPr>
        <p:spPr>
          <a:xfrm>
            <a:off x="5001768" y="3767328"/>
            <a:ext cx="155448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4.9</a:t>
            </a:r>
          </a:p>
        </p:txBody>
      </p:sp>
      <p:sp>
        <p:nvSpPr>
          <p:cNvPr id="28" name="Rounded Rectangle 27"/>
          <p:cNvSpPr/>
          <p:nvPr/>
        </p:nvSpPr>
        <p:spPr>
          <a:xfrm>
            <a:off x="566928" y="4187952"/>
            <a:ext cx="6126480" cy="402336"/>
          </a:xfrm>
          <a:prstGeom prst="roundRect">
            <a:avLst>
              <a:gd name="adj" fmla="val 1818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242816"/>
            <a:ext cx="2834640" cy="292608"/>
          </a:xfrm>
          <a:prstGeom prst="rect">
            <a:avLst/>
          </a:prstGeom>
          <a:noFill/>
        </p:spPr>
        <p:txBody>
          <a:bodyPr wrap="square" lIns="0" rIns="0" tIns="0" bIns="0" anchor="ctr">
            <a:spAutoFit/>
          </a:bodyPr>
          <a:lstStyle/>
          <a:p>
            <a:pPr algn="l"/>
            <a:r>
              <a:rPr sz="1300" b="1">
                <a:solidFill>
                  <a:srgbClr val="282824"/>
                </a:solidFill>
                <a:latin typeface="Readex Pro"/>
                <a:cs typeface="Readex Pro"/>
                <a:ea typeface="Readex Pro"/>
              </a:rPr>
              <a:t>v0.3</a:t>
            </a:r>
          </a:p>
        </p:txBody>
      </p:sp>
      <p:sp>
        <p:nvSpPr>
          <p:cNvPr id="30" name="TextBox 29"/>
          <p:cNvSpPr txBox="1"/>
          <p:nvPr/>
        </p:nvSpPr>
        <p:spPr>
          <a:xfrm>
            <a:off x="3675887" y="4242816"/>
            <a:ext cx="1188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69%</a:t>
            </a:r>
          </a:p>
        </p:txBody>
      </p:sp>
      <p:sp>
        <p:nvSpPr>
          <p:cNvPr id="31" name="TextBox 30"/>
          <p:cNvSpPr txBox="1"/>
          <p:nvPr/>
        </p:nvSpPr>
        <p:spPr>
          <a:xfrm>
            <a:off x="5001768" y="4242816"/>
            <a:ext cx="155448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9.5</a:t>
            </a:r>
          </a:p>
        </p:txBody>
      </p:sp>
      <p:sp>
        <p:nvSpPr>
          <p:cNvPr id="32" name="TextBox 31"/>
          <p:cNvSpPr txBox="1"/>
          <p:nvPr/>
        </p:nvSpPr>
        <p:spPr>
          <a:xfrm>
            <a:off x="566928" y="4892040"/>
            <a:ext cx="6126480" cy="384048"/>
          </a:xfrm>
          <a:prstGeom prst="rect">
            <a:avLst/>
          </a:prstGeom>
          <a:noFill/>
        </p:spPr>
        <p:txBody>
          <a:bodyPr wrap="square" lIns="0" rIns="0" tIns="0" bIns="0" anchor="ctr">
            <a:spAutoFit/>
          </a:bodyPr>
          <a:lstStyle/>
          <a:p>
            <a:pPr algn="ctr"/>
            <a:r>
              <a:rPr sz="1000" b="0">
                <a:solidFill>
                  <a:srgbClr val="6F6B5E"/>
                </a:solidFill>
                <a:latin typeface="Readex Pro"/>
                <a:cs typeface="Readex Pro"/>
                <a:ea typeface="Readex Pro"/>
              </a:rPr>
              <a:t>test core items, as trained (float, greedy) · the shipped app model with four beams is on the results slide</a:t>
            </a:r>
          </a:p>
        </p:txBody>
      </p:sp>
      <p:sp>
        <p:nvSpPr>
          <p:cNvPr id="33" name="Rounded Rectangle 32"/>
          <p:cNvSpPr/>
          <p:nvPr/>
        </p:nvSpPr>
        <p:spPr>
          <a:xfrm>
            <a:off x="7013448" y="2286000"/>
            <a:ext cx="2331720" cy="2606040"/>
          </a:xfrm>
          <a:prstGeom prst="roundRect">
            <a:avLst>
              <a:gd name="adj" fmla="val 4705"/>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13448" y="2606040"/>
            <a:ext cx="2331720" cy="548640"/>
          </a:xfrm>
          <a:prstGeom prst="rect">
            <a:avLst/>
          </a:prstGeom>
          <a:noFill/>
        </p:spPr>
        <p:txBody>
          <a:bodyPr wrap="square" lIns="0" rIns="0" tIns="0" bIns="0" anchor="ctr">
            <a:spAutoFit/>
          </a:bodyPr>
          <a:lstStyle/>
          <a:p>
            <a:pPr algn="ctr"/>
            <a:r>
              <a:rPr sz="3200" b="1">
                <a:solidFill>
                  <a:srgbClr val="8A5E35"/>
                </a:solidFill>
                <a:latin typeface="Readex Pro"/>
                <a:cs typeface="Readex Pro"/>
                <a:ea typeface="Readex Pro"/>
              </a:rPr>
              <a:t>1,981</a:t>
            </a:r>
          </a:p>
        </p:txBody>
      </p:sp>
      <p:sp>
        <p:nvSpPr>
          <p:cNvPr id="35" name="TextBox 34"/>
          <p:cNvSpPr txBox="1"/>
          <p:nvPr/>
        </p:nvSpPr>
        <p:spPr>
          <a:xfrm>
            <a:off x="7013448" y="3246120"/>
            <a:ext cx="2331720" cy="256032"/>
          </a:xfrm>
          <a:prstGeom prst="rect">
            <a:avLst/>
          </a:prstGeom>
          <a:noFill/>
        </p:spPr>
        <p:txBody>
          <a:bodyPr wrap="square" lIns="0" rIns="0" tIns="0" bIns="0" anchor="ctr">
            <a:spAutoFit/>
          </a:bodyPr>
          <a:lstStyle/>
          <a:p>
            <a:pPr algn="ctr"/>
            <a:r>
              <a:rPr sz="1200" b="0">
                <a:solidFill>
                  <a:srgbClr val="4A4842"/>
                </a:solidFill>
                <a:latin typeface="Readex Pro"/>
                <a:cs typeface="Readex Pro"/>
                <a:ea typeface="Readex Pro"/>
              </a:rPr>
              <a:t>items, split by document</a:t>
            </a:r>
          </a:p>
        </p:txBody>
      </p:sp>
      <p:sp>
        <p:nvSpPr>
          <p:cNvPr id="36" name="TextBox 35"/>
          <p:cNvSpPr txBox="1"/>
          <p:nvPr/>
        </p:nvSpPr>
        <p:spPr>
          <a:xfrm>
            <a:off x="7013448" y="3611880"/>
            <a:ext cx="233172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731 dev · 1,250 test</a:t>
            </a:r>
          </a:p>
        </p:txBody>
      </p:sp>
      <p:sp>
        <p:nvSpPr>
          <p:cNvPr id="37" name="TextBox 36"/>
          <p:cNvSpPr txBox="1"/>
          <p:nvPr/>
        </p:nvSpPr>
        <p:spPr>
          <a:xfrm>
            <a:off x="7013448" y="4434840"/>
            <a:ext cx="2331720" cy="292608"/>
          </a:xfrm>
          <a:prstGeom prst="rect">
            <a:avLst/>
          </a:prstGeom>
          <a:noFill/>
        </p:spPr>
        <p:txBody>
          <a:bodyPr wrap="square" lIns="0" rIns="0" tIns="0" bIns="0" anchor="ctr">
            <a:spAutoFit/>
          </a:bodyPr>
          <a:lstStyle/>
          <a:p>
            <a:pPr algn="ctr"/>
            <a:r>
              <a:rPr sz="1300" b="1">
                <a:solidFill>
                  <a:srgbClr val="8A5E35"/>
                </a:solidFill>
                <a:latin typeface="Readex Pro"/>
                <a:cs typeface="Readex Pro"/>
                <a:ea typeface="Readex Pro"/>
              </a:rPr>
              <a:t>BayanBench v2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8</a:t>
            </a:r>
          </a:p>
        </p:txBody>
      </p:sp>
      <p:sp>
        <p:nvSpPr>
          <p:cNvPr id="9" name="Rounded Rectangle 8"/>
          <p:cNvSpPr/>
          <p:nvPr/>
        </p:nvSpPr>
        <p:spPr>
          <a:xfrm>
            <a:off x="301752" y="1659636"/>
            <a:ext cx="2212848" cy="397764"/>
          </a:xfrm>
          <a:prstGeom prst="roundRect">
            <a:avLst>
              <a:gd name="adj" fmla="val 2068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0">
                <a:solidFill>
                  <a:srgbClr val="4A4842"/>
                </a:solidFill>
                <a:latin typeface="Readex Pro"/>
                <a:cs typeface="Readex Pro"/>
                <a:ea typeface="Readex Pro"/>
              </a:rPr>
              <a:t>original + rewrite</a:t>
            </a:r>
          </a:p>
        </p:txBody>
      </p:sp>
      <p:sp>
        <p:nvSpPr>
          <p:cNvPr id="10" name="Rounded Rectangle 9"/>
          <p:cNvSpPr/>
          <p:nvPr/>
        </p:nvSpPr>
        <p:spPr>
          <a:xfrm>
            <a:off x="3265322" y="1440180"/>
            <a:ext cx="2651760" cy="868680"/>
          </a:xfrm>
          <a:prstGeom prst="roundRect">
            <a:avLst>
              <a:gd name="adj" fmla="val 12631"/>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65322" y="1568195"/>
            <a:ext cx="2651760" cy="310896"/>
          </a:xfrm>
          <a:prstGeom prst="rect">
            <a:avLst/>
          </a:prstGeom>
          <a:noFill/>
        </p:spPr>
        <p:txBody>
          <a:bodyPr wrap="square" lIns="0" rIns="0" tIns="0" bIns="0" anchor="ctr">
            <a:spAutoFit/>
          </a:bodyPr>
          <a:lstStyle/>
          <a:p>
            <a:pPr algn="ctr"/>
            <a:r>
              <a:rPr sz="1800" b="1">
                <a:solidFill>
                  <a:srgbClr val="8A5E35"/>
                </a:solidFill>
                <a:latin typeface="Readex Pro"/>
                <a:cs typeface="Readex Pro"/>
                <a:ea typeface="Readex Pro"/>
              </a:rPr>
              <a:t>Gemma 4 31B</a:t>
            </a:r>
          </a:p>
        </p:txBody>
      </p:sp>
      <p:sp>
        <p:nvSpPr>
          <p:cNvPr id="12" name="TextBox 11"/>
          <p:cNvSpPr txBox="1"/>
          <p:nvPr/>
        </p:nvSpPr>
        <p:spPr>
          <a:xfrm>
            <a:off x="3265322" y="1915667"/>
            <a:ext cx="265176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open model · reruns anywhere</a:t>
            </a:r>
          </a:p>
        </p:txBody>
      </p:sp>
      <p:sp>
        <p:nvSpPr>
          <p:cNvPr id="13" name="Rounded Rectangle 12"/>
          <p:cNvSpPr/>
          <p:nvPr/>
        </p:nvSpPr>
        <p:spPr>
          <a:xfrm>
            <a:off x="6492240" y="1676095"/>
            <a:ext cx="3277209" cy="397764"/>
          </a:xfrm>
          <a:prstGeom prst="roundRect">
            <a:avLst>
              <a:gd name="adj" fmla="val 2068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500" b="0">
                <a:solidFill>
                  <a:srgbClr val="4A4842"/>
                </a:solidFill>
                <a:latin typeface="Readex Pro"/>
                <a:cs typeface="Readex Pro"/>
                <a:ea typeface="Readex Pro"/>
              </a:rPr>
              <a:t>7 yes/no questions → P(yes)</a:t>
            </a:r>
          </a:p>
        </p:txBody>
      </p:sp>
      <p:cxnSp>
        <p:nvCxnSpPr>
          <p:cNvPr id="14" name="Connector 13"/>
          <p:cNvCxnSpPr/>
          <p:nvPr/>
        </p:nvCxnSpPr>
        <p:spPr>
          <a:xfrm>
            <a:off x="2587752" y="1874519"/>
            <a:ext cx="604418"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990234" y="1874519"/>
            <a:ext cx="428854" cy="0"/>
          </a:xfrm>
          <a:prstGeom prst="line">
            <a:avLst/>
          </a:prstGeom>
          <a:ln w="25400">
            <a:solidFill>
              <a:srgbClr val="C6986B"/>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6928" y="2651760"/>
            <a:ext cx="4434840" cy="3611880"/>
          </a:xfrm>
          <a:prstGeom prst="roundRect">
            <a:avLst>
              <a:gd name="adj" fmla="val 405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798064"/>
            <a:ext cx="4434840" cy="329184"/>
          </a:xfrm>
          <a:prstGeom prst="rect">
            <a:avLst/>
          </a:prstGeom>
          <a:noFill/>
        </p:spPr>
        <p:txBody>
          <a:bodyPr wrap="square" lIns="0" rIns="0" tIns="0" bIns="0" anchor="ctr">
            <a:spAutoFit/>
          </a:bodyPr>
          <a:lstStyle/>
          <a:p>
            <a:pPr algn="ctr"/>
            <a:r>
              <a:rPr sz="1500" b="1">
                <a:solidFill>
                  <a:srgbClr val="8A5E35"/>
                </a:solidFill>
                <a:latin typeface="Readex Pro"/>
                <a:cs typeface="Readex Pro"/>
                <a:ea typeface="Readex Pro"/>
              </a:rPr>
              <a:t>Meaning · 4 questions</a:t>
            </a:r>
          </a:p>
        </p:txBody>
      </p:sp>
      <p:sp>
        <p:nvSpPr>
          <p:cNvPr id="18" name="Rounded Rectangle 17"/>
          <p:cNvSpPr/>
          <p:nvPr/>
        </p:nvSpPr>
        <p:spPr>
          <a:xfrm>
            <a:off x="694944" y="3218688"/>
            <a:ext cx="4178807" cy="530352"/>
          </a:xfrm>
          <a:prstGeom prst="roundRect">
            <a:avLst>
              <a:gd name="adj" fmla="val 15517"/>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1">
                <a:solidFill>
                  <a:srgbClr val="1A1A14"/>
                </a:solidFill>
                <a:latin typeface="Readex Pro"/>
                <a:cs typeface="Readex Pro"/>
                <a:ea typeface="Readex Pro"/>
              </a:rPr>
              <a:t>same meaning?  kept = yes ≥ 0.5 and every number kept</a:t>
            </a:r>
          </a:p>
        </p:txBody>
      </p:sp>
      <p:sp>
        <p:nvSpPr>
          <p:cNvPr id="19" name="Rounded Rectangle 18"/>
          <p:cNvSpPr/>
          <p:nvPr/>
        </p:nvSpPr>
        <p:spPr>
          <a:xfrm>
            <a:off x="694944" y="385876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adds a fact?</a:t>
            </a:r>
          </a:p>
        </p:txBody>
      </p:sp>
      <p:sp>
        <p:nvSpPr>
          <p:cNvPr id="20" name="Rounded Rectangle 19"/>
          <p:cNvSpPr/>
          <p:nvPr/>
        </p:nvSpPr>
        <p:spPr>
          <a:xfrm>
            <a:off x="694944" y="449884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drops a fact?</a:t>
            </a:r>
          </a:p>
        </p:txBody>
      </p:sp>
      <p:sp>
        <p:nvSpPr>
          <p:cNvPr id="21" name="Rounded Rectangle 20"/>
          <p:cNvSpPr/>
          <p:nvPr/>
        </p:nvSpPr>
        <p:spPr>
          <a:xfrm>
            <a:off x="694944" y="513892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contradicts?</a:t>
            </a:r>
          </a:p>
        </p:txBody>
      </p:sp>
      <p:sp>
        <p:nvSpPr>
          <p:cNvPr id="22" name="Rounded Rectangle 21"/>
          <p:cNvSpPr/>
          <p:nvPr/>
        </p:nvSpPr>
        <p:spPr>
          <a:xfrm>
            <a:off x="5321807" y="2651760"/>
            <a:ext cx="4434840" cy="3611880"/>
          </a:xfrm>
          <a:prstGeom prst="roundRect">
            <a:avLst>
              <a:gd name="adj" fmla="val 4050"/>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21807" y="2798064"/>
            <a:ext cx="4434840" cy="329184"/>
          </a:xfrm>
          <a:prstGeom prst="rect">
            <a:avLst/>
          </a:prstGeom>
          <a:noFill/>
        </p:spPr>
        <p:txBody>
          <a:bodyPr wrap="square" lIns="0" rIns="0" tIns="0" bIns="0" anchor="ctr">
            <a:spAutoFit/>
          </a:bodyPr>
          <a:lstStyle/>
          <a:p>
            <a:pPr algn="ctr"/>
            <a:r>
              <a:rPr sz="1500" b="1">
                <a:solidFill>
                  <a:srgbClr val="8A5E35"/>
                </a:solidFill>
                <a:latin typeface="Readex Pro"/>
                <a:cs typeface="Readex Pro"/>
                <a:ea typeface="Readex Pro"/>
              </a:rPr>
              <a:t>Quality · 3 questions, diagnostic</a:t>
            </a:r>
          </a:p>
        </p:txBody>
      </p:sp>
      <p:sp>
        <p:nvSpPr>
          <p:cNvPr id="24" name="Rounded Rectangle 23"/>
          <p:cNvSpPr/>
          <p:nvPr/>
        </p:nvSpPr>
        <p:spPr>
          <a:xfrm>
            <a:off x="5449823" y="321868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Arabic correct?</a:t>
            </a:r>
          </a:p>
        </p:txBody>
      </p:sp>
      <p:sp>
        <p:nvSpPr>
          <p:cNvPr id="25" name="Rounded Rectangle 24"/>
          <p:cNvSpPr/>
          <p:nvPr/>
        </p:nvSpPr>
        <p:spPr>
          <a:xfrm>
            <a:off x="5449823" y="385876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coherent?</a:t>
            </a:r>
          </a:p>
        </p:txBody>
      </p:sp>
      <p:sp>
        <p:nvSpPr>
          <p:cNvPr id="26" name="Rounded Rectangle 25"/>
          <p:cNvSpPr/>
          <p:nvPr/>
        </p:nvSpPr>
        <p:spPr>
          <a:xfrm>
            <a:off x="5449823" y="4498848"/>
            <a:ext cx="4178807" cy="530352"/>
          </a:xfrm>
          <a:prstGeom prst="roundRect">
            <a:avLst>
              <a:gd name="adj" fmla="val 15517"/>
            </a:avLst>
          </a:prstGeom>
          <a:solidFill>
            <a:srgbClr val="F6F2E6"/>
          </a:solidFill>
          <a:ln w="15875">
            <a:solidFill>
              <a:srgbClr val="F6F2E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050" b="0">
                <a:solidFill>
                  <a:srgbClr val="4A4842"/>
                </a:solidFill>
                <a:latin typeface="Readex Pro"/>
                <a:cs typeface="Readex Pro"/>
                <a:ea typeface="Readex Pro"/>
              </a:rPr>
              <a:t>easier to read?</a:t>
            </a:r>
          </a:p>
        </p:txBody>
      </p:sp>
      <p:sp>
        <p:nvSpPr>
          <p:cNvPr id="27" name="TextBox 26"/>
          <p:cNvSpPr txBox="1"/>
          <p:nvPr/>
        </p:nvSpPr>
        <p:spPr>
          <a:xfrm>
            <a:off x="5504688" y="5934455"/>
            <a:ext cx="4069079" cy="256032"/>
          </a:xfrm>
          <a:prstGeom prst="rect">
            <a:avLst/>
          </a:prstGeom>
          <a:noFill/>
        </p:spPr>
        <p:txBody>
          <a:bodyPr wrap="square" lIns="0" rIns="0" tIns="0" bIns="0" anchor="ctr">
            <a:spAutoFit/>
          </a:bodyPr>
          <a:lstStyle/>
          <a:p>
            <a:pPr algn="ctr"/>
            <a:r>
              <a:rPr sz="950" b="0">
                <a:solidFill>
                  <a:srgbClr val="6F6B5E"/>
                </a:solidFill>
                <a:latin typeface="Readex Pro"/>
                <a:cs typeface="Readex Pro"/>
                <a:ea typeface="Readex Pro"/>
              </a:rPr>
              <a:t>people barely agree on these: never used to decide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8</a:t>
            </a:r>
          </a:p>
        </p:txBody>
      </p:sp>
      <p:sp>
        <p:nvSpPr>
          <p:cNvPr id="9" name="Rounded Rectangle 8"/>
          <p:cNvSpPr/>
          <p:nvPr/>
        </p:nvSpPr>
        <p:spPr>
          <a:xfrm>
            <a:off x="356616" y="1783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984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Meaning</a:t>
            </a:r>
          </a:p>
        </p:txBody>
      </p:sp>
      <p:sp>
        <p:nvSpPr>
          <p:cNvPr id="11" name="TextBox 10"/>
          <p:cNvSpPr txBox="1"/>
          <p:nvPr/>
        </p:nvSpPr>
        <p:spPr>
          <a:xfrm>
            <a:off x="585216" y="2560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Does it still say the same thing?</a:t>
            </a:r>
          </a:p>
          <a:p>
            <a:pPr algn="ctr">
              <a:lnSpc>
                <a:spcPct val="110000"/>
              </a:lnSpc>
            </a:pPr>
            <a:r>
              <a:rPr sz="1300" b="0">
                <a:solidFill>
                  <a:srgbClr val="4A4842"/>
                </a:solidFill>
                <a:latin typeface="Readex Pro"/>
                <a:cs typeface="Readex Pro"/>
                <a:ea typeface="Readex Pro"/>
              </a:rPr>
              <a:t>Same meaning, every number intact.</a:t>
            </a:r>
          </a:p>
        </p:txBody>
      </p:sp>
      <p:sp>
        <p:nvSpPr>
          <p:cNvPr id="12" name="Rounded Rectangle 11"/>
          <p:cNvSpPr/>
          <p:nvPr/>
        </p:nvSpPr>
        <p:spPr>
          <a:xfrm>
            <a:off x="5111496" y="1783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11496" y="1984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Simpler</a:t>
            </a:r>
          </a:p>
        </p:txBody>
      </p:sp>
      <p:sp>
        <p:nvSpPr>
          <p:cNvPr id="14" name="TextBox 13"/>
          <p:cNvSpPr txBox="1"/>
          <p:nvPr/>
        </p:nvSpPr>
        <p:spPr>
          <a:xfrm>
            <a:off x="5340096" y="2560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Are long clauses shorter?</a:t>
            </a:r>
          </a:p>
          <a:p>
            <a:pPr algn="ctr">
              <a:lnSpc>
                <a:spcPct val="110000"/>
              </a:lnSpc>
            </a:pPr>
            <a:r>
              <a:rPr sz="1300" b="0">
                <a:solidFill>
                  <a:srgbClr val="4A4842"/>
                </a:solidFill>
                <a:latin typeface="Readex Pro"/>
                <a:cs typeface="Readex Pro"/>
                <a:ea typeface="Readex Pro"/>
              </a:rPr>
              <a:t>Words cut from the longest clause.</a:t>
            </a:r>
          </a:p>
        </p:txBody>
      </p:sp>
      <p:sp>
        <p:nvSpPr>
          <p:cNvPr id="15" name="Rounded Rectangle 14"/>
          <p:cNvSpPr/>
          <p:nvPr/>
        </p:nvSpPr>
        <p:spPr>
          <a:xfrm>
            <a:off x="356616" y="4069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6616" y="4270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Restraint</a:t>
            </a:r>
          </a:p>
        </p:txBody>
      </p:sp>
      <p:sp>
        <p:nvSpPr>
          <p:cNvPr id="17" name="TextBox 16"/>
          <p:cNvSpPr txBox="1"/>
          <p:nvPr/>
        </p:nvSpPr>
        <p:spPr>
          <a:xfrm>
            <a:off x="585216" y="4846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Does it leave alone what should</a:t>
            </a:r>
          </a:p>
          <a:p>
            <a:pPr algn="ctr">
              <a:lnSpc>
                <a:spcPct val="110000"/>
              </a:lnSpc>
            </a:pPr>
            <a:r>
              <a:rPr sz="1300" b="0">
                <a:solidFill>
                  <a:srgbClr val="4A4842"/>
                </a:solidFill>
                <a:latin typeface="Readex Pro"/>
                <a:cs typeface="Readex Pro"/>
                <a:ea typeface="Readex Pro"/>
              </a:rPr>
              <a:t>stay? Easy text, scripture.</a:t>
            </a:r>
          </a:p>
        </p:txBody>
      </p:sp>
      <p:sp>
        <p:nvSpPr>
          <p:cNvPr id="18" name="Rounded Rectangle 17"/>
          <p:cNvSpPr/>
          <p:nvPr/>
        </p:nvSpPr>
        <p:spPr>
          <a:xfrm>
            <a:off x="5111496" y="4069080"/>
            <a:ext cx="4434840" cy="1965960"/>
          </a:xfrm>
          <a:prstGeom prst="roundRect">
            <a:avLst>
              <a:gd name="adj" fmla="val 7441"/>
            </a:avLst>
          </a:prstGeom>
          <a:solidFill>
            <a:srgbClr val="EFE9D9"/>
          </a:solidFill>
          <a:ln w="15875">
            <a:solidFill>
              <a:srgbClr val="E6DF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11496" y="4270248"/>
            <a:ext cx="4434840" cy="384048"/>
          </a:xfrm>
          <a:prstGeom prst="rect">
            <a:avLst/>
          </a:prstGeom>
          <a:noFill/>
        </p:spPr>
        <p:txBody>
          <a:bodyPr wrap="square" lIns="0" rIns="0" tIns="0" bIns="0" anchor="ctr">
            <a:spAutoFit/>
          </a:bodyPr>
          <a:lstStyle/>
          <a:p>
            <a:pPr algn="ctr"/>
            <a:r>
              <a:rPr sz="2000" b="1">
                <a:solidFill>
                  <a:srgbClr val="8A5E35"/>
                </a:solidFill>
                <a:latin typeface="Readex Pro"/>
                <a:cs typeface="Readex Pro"/>
                <a:ea typeface="Readex Pro"/>
              </a:rPr>
              <a:t>Copying rate</a:t>
            </a:r>
          </a:p>
        </p:txBody>
      </p:sp>
      <p:sp>
        <p:nvSpPr>
          <p:cNvPr id="20" name="TextBox 19"/>
          <p:cNvSpPr txBox="1"/>
          <p:nvPr/>
        </p:nvSpPr>
        <p:spPr>
          <a:xfrm>
            <a:off x="5340096" y="4846320"/>
            <a:ext cx="3977639" cy="1005839"/>
          </a:xfrm>
          <a:prstGeom prst="rect">
            <a:avLst/>
          </a:prstGeom>
          <a:noFill/>
        </p:spPr>
        <p:txBody>
          <a:bodyPr wrap="square" lIns="0" rIns="0" tIns="0" bIns="0" anchor="ctr">
            <a:spAutoFit/>
          </a:bodyPr>
          <a:lstStyle/>
          <a:p>
            <a:pPr algn="ctr">
              <a:lnSpc>
                <a:spcPct val="110000"/>
              </a:lnSpc>
            </a:pPr>
            <a:r>
              <a:rPr sz="1300" b="0">
                <a:solidFill>
                  <a:srgbClr val="4A4842"/>
                </a:solidFill>
                <a:latin typeface="Readex Pro"/>
                <a:cs typeface="Readex Pro"/>
                <a:ea typeface="Readex Pro"/>
              </a:rPr>
              <a:t>How often is the text returned unchanged?</a:t>
            </a:r>
          </a:p>
          <a:p>
            <a:pPr algn="ctr">
              <a:lnSpc>
                <a:spcPct val="110000"/>
              </a:lnSpc>
            </a:pPr>
            <a:r>
              <a:rPr sz="1300" b="0">
                <a:solidFill>
                  <a:srgbClr val="4A4842"/>
                </a:solidFill>
                <a:latin typeface="Readex Pro"/>
                <a:cs typeface="Readex Pro"/>
                <a:ea typeface="Readex Pro"/>
              </a:rPr>
              <a:t>A copy counts as perfect meaning,</a:t>
            </a:r>
          </a:p>
          <a:p>
            <a:pPr algn="ctr">
              <a:lnSpc>
                <a:spcPct val="110000"/>
              </a:lnSpc>
            </a:pPr>
            <a:r>
              <a:rPr sz="1300" b="0">
                <a:solidFill>
                  <a:srgbClr val="4A4842"/>
                </a:solidFill>
                <a:latin typeface="Readex Pro"/>
                <a:cs typeface="Readex Pro"/>
                <a:ea typeface="Readex Pro"/>
              </a:rPr>
              <a:t>so we report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04 · BAYANBENCH</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We checked our own yardstick</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5 / 8</a:t>
            </a:r>
          </a:p>
        </p:txBody>
      </p:sp>
      <p:sp>
        <p:nvSpPr>
          <p:cNvPr id="9" name="TextBox 8"/>
          <p:cNvSpPr txBox="1"/>
          <p:nvPr/>
        </p:nvSpPr>
        <p:spPr>
          <a:xfrm>
            <a:off x="566928" y="1828800"/>
            <a:ext cx="2926080" cy="868680"/>
          </a:xfrm>
          <a:prstGeom prst="rect">
            <a:avLst/>
          </a:prstGeom>
          <a:noFill/>
        </p:spPr>
        <p:txBody>
          <a:bodyPr wrap="square" lIns="0" rIns="0" tIns="0" bIns="0" anchor="ctr">
            <a:spAutoFit/>
          </a:bodyPr>
          <a:lstStyle/>
          <a:p>
            <a:pPr algn="ctr"/>
            <a:r>
              <a:rPr sz="6000" b="0">
                <a:solidFill>
                  <a:srgbClr val="C6986B"/>
                </a:solidFill>
                <a:latin typeface="Readex Pro"/>
                <a:cs typeface="Readex Pro"/>
                <a:ea typeface="Readex Pro"/>
              </a:rPr>
              <a:t>0.85</a:t>
            </a:r>
          </a:p>
        </p:txBody>
      </p:sp>
      <p:sp>
        <p:nvSpPr>
          <p:cNvPr id="10" name="TextBox 9"/>
          <p:cNvSpPr txBox="1"/>
          <p:nvPr/>
        </p:nvSpPr>
        <p:spPr>
          <a:xfrm>
            <a:off x="566928" y="2788920"/>
            <a:ext cx="2926080"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scorer vs human raters (AUC)</a:t>
            </a:r>
          </a:p>
        </p:txBody>
      </p:sp>
      <p:sp>
        <p:nvSpPr>
          <p:cNvPr id="11" name="TextBox 10"/>
          <p:cNvSpPr txBox="1"/>
          <p:nvPr/>
        </p:nvSpPr>
        <p:spPr>
          <a:xfrm>
            <a:off x="566928" y="3108960"/>
            <a:ext cx="292608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6 raters · 290 tasks</a:t>
            </a:r>
          </a:p>
        </p:txBody>
      </p:sp>
      <p:sp>
        <p:nvSpPr>
          <p:cNvPr id="12" name="Rounded Rectangle 11"/>
          <p:cNvSpPr/>
          <p:nvPr/>
        </p:nvSpPr>
        <p:spPr>
          <a:xfrm>
            <a:off x="566928" y="3657600"/>
            <a:ext cx="3045968" cy="339090"/>
          </a:xfrm>
          <a:prstGeom prst="roundRect">
            <a:avLst>
              <a:gd name="adj" fmla="val 2426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catches 42 of 51 changed outputs</a:t>
            </a:r>
          </a:p>
        </p:txBody>
      </p:sp>
      <p:sp>
        <p:nvSpPr>
          <p:cNvPr id="13" name="Rounded Rectangle 12"/>
          <p:cNvSpPr/>
          <p:nvPr/>
        </p:nvSpPr>
        <p:spPr>
          <a:xfrm>
            <a:off x="566928" y="4160520"/>
            <a:ext cx="3250438" cy="339090"/>
          </a:xfrm>
          <a:prstGeom prst="roundRect">
            <a:avLst>
              <a:gd name="adj" fmla="val 2426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fails 53 of 194 people kept: stricter</a:t>
            </a:r>
          </a:p>
        </p:txBody>
      </p:sp>
      <p:sp>
        <p:nvSpPr>
          <p:cNvPr id="14" name="Rounded Rectangle 13"/>
          <p:cNvSpPr/>
          <p:nvPr/>
        </p:nvSpPr>
        <p:spPr>
          <a:xfrm>
            <a:off x="566928" y="4663440"/>
            <a:ext cx="2604897" cy="339090"/>
          </a:xfrm>
          <a:prstGeom prst="roundRect">
            <a:avLst>
              <a:gd name="adj" fmla="val 24269"/>
            </a:avLst>
          </a:prstGeom>
          <a:solidFill>
            <a:srgbClr val="F3E2DA"/>
          </a:solidFill>
          <a:ln w="15875">
            <a:solidFill>
              <a:srgbClr val="F3E2D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B5533C"/>
                </a:solidFill>
                <a:latin typeface="Readex Pro"/>
                <a:cs typeface="Readex Pro"/>
                <a:ea typeface="Readex Pro"/>
              </a:rPr>
              <a:t>raters barely agree on ease</a:t>
            </a:r>
          </a:p>
        </p:txBody>
      </p:sp>
      <p:sp>
        <p:nvSpPr>
          <p:cNvPr id="15" name="Rounded Rectangle 14"/>
          <p:cNvSpPr/>
          <p:nvPr/>
        </p:nvSpPr>
        <p:spPr>
          <a:xfrm>
            <a:off x="4087368" y="1691640"/>
            <a:ext cx="5248656" cy="3977639"/>
          </a:xfrm>
          <a:prstGeom prst="roundRect">
            <a:avLst>
              <a:gd name="adj" fmla="val 2758"/>
            </a:avLst>
          </a:prstGeom>
          <a:solidFill>
            <a:srgbClr val="EEDDC7"/>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70248" y="2011680"/>
            <a:ext cx="4882896" cy="777240"/>
          </a:xfrm>
          <a:prstGeom prst="rect">
            <a:avLst/>
          </a:prstGeom>
          <a:noFill/>
        </p:spPr>
        <p:txBody>
          <a:bodyPr wrap="square" lIns="0" rIns="0" tIns="0" bIns="0" anchor="ctr">
            <a:spAutoFit/>
          </a:bodyPr>
          <a:lstStyle/>
          <a:p>
            <a:pPr algn="ctr">
              <a:lnSpc>
                <a:spcPct val="105000"/>
              </a:lnSpc>
            </a:pPr>
            <a:r>
              <a:rPr sz="2000" b="1">
                <a:solidFill>
                  <a:srgbClr val="8A5E35"/>
                </a:solidFill>
                <a:latin typeface="Readex Pro"/>
                <a:cs typeface="Readex Pro"/>
                <a:ea typeface="Readex Pro"/>
              </a:rPr>
              <a:t>A reader with dyslexia</a:t>
            </a:r>
          </a:p>
          <a:p>
            <a:pPr algn="ctr">
              <a:lnSpc>
                <a:spcPct val="105000"/>
              </a:lnSpc>
            </a:pPr>
            <a:r>
              <a:rPr sz="2000" b="1">
                <a:solidFill>
                  <a:srgbClr val="8A5E35"/>
                </a:solidFill>
                <a:latin typeface="Readex Pro"/>
                <a:cs typeface="Readex Pro"/>
                <a:ea typeface="Readex Pro"/>
              </a:rPr>
              <a:t>rated 30 outputs</a:t>
            </a:r>
          </a:p>
        </p:txBody>
      </p:sp>
      <p:sp>
        <p:nvSpPr>
          <p:cNvPr id="17" name="Rectangle 16"/>
          <p:cNvSpPr/>
          <p:nvPr/>
        </p:nvSpPr>
        <p:spPr>
          <a:xfrm>
            <a:off x="4544568" y="3291840"/>
            <a:ext cx="2456078" cy="5029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44568" y="3931920"/>
            <a:ext cx="2456078"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17 easier</a:t>
            </a:r>
          </a:p>
        </p:txBody>
      </p:sp>
      <p:sp>
        <p:nvSpPr>
          <p:cNvPr id="19" name="Rectangle 18"/>
          <p:cNvSpPr/>
          <p:nvPr/>
        </p:nvSpPr>
        <p:spPr>
          <a:xfrm>
            <a:off x="7000646" y="3291840"/>
            <a:ext cx="1300276" cy="502920"/>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00646" y="3931920"/>
            <a:ext cx="1300276"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9 same</a:t>
            </a:r>
          </a:p>
        </p:txBody>
      </p:sp>
      <p:sp>
        <p:nvSpPr>
          <p:cNvPr id="21" name="Rectangle 20"/>
          <p:cNvSpPr/>
          <p:nvPr/>
        </p:nvSpPr>
        <p:spPr>
          <a:xfrm>
            <a:off x="8300923" y="3291840"/>
            <a:ext cx="577900" cy="502920"/>
          </a:xfrm>
          <a:prstGeom prst="rect">
            <a:avLst/>
          </a:prstGeom>
          <a:solidFill>
            <a:srgbClr val="B55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00923" y="3931920"/>
            <a:ext cx="577900" cy="274320"/>
          </a:xfrm>
          <a:prstGeom prst="rect">
            <a:avLst/>
          </a:prstGeom>
          <a:noFill/>
        </p:spPr>
        <p:txBody>
          <a:bodyPr wrap="square" lIns="0" rIns="0" tIns="0" bIns="0" anchor="ctr">
            <a:spAutoFit/>
          </a:bodyPr>
          <a:lstStyle/>
          <a:p>
            <a:pPr algn="ctr"/>
            <a:r>
              <a:rPr sz="1300" b="0">
                <a:solidFill>
                  <a:srgbClr val="4A4842"/>
                </a:solidFill>
                <a:latin typeface="Readex Pro"/>
                <a:cs typeface="Readex Pro"/>
                <a:ea typeface="Readex Pro"/>
              </a:rPr>
              <a:t>4 harder</a:t>
            </a:r>
          </a:p>
        </p:txBody>
      </p:sp>
      <p:sp>
        <p:nvSpPr>
          <p:cNvPr id="23" name="TextBox 22"/>
          <p:cNvSpPr txBox="1"/>
          <p:nvPr/>
        </p:nvSpPr>
        <p:spPr>
          <a:xfrm>
            <a:off x="4087368" y="5166359"/>
            <a:ext cx="5248656" cy="274320"/>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a sample of one, not a study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RESULTS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v0.3 is our best model</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8</a:t>
            </a:r>
          </a:p>
        </p:txBody>
      </p:sp>
      <p:cxnSp>
        <p:nvCxnSpPr>
          <p:cNvPr id="9" name="Connector 8"/>
          <p:cNvCxnSpPr/>
          <p:nvPr/>
        </p:nvCxnSpPr>
        <p:spPr>
          <a:xfrm>
            <a:off x="2331720" y="5029200"/>
            <a:ext cx="4434839" cy="0"/>
          </a:xfrm>
          <a:prstGeom prst="line">
            <a:avLst/>
          </a:prstGeom>
          <a:ln w="22225">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31720" y="1783080"/>
            <a:ext cx="0" cy="3246120"/>
          </a:xfrm>
          <a:prstGeom prst="line">
            <a:avLst/>
          </a:prstGeom>
          <a:ln w="22225">
            <a:solidFill>
              <a:srgbClr val="A29D8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331720" y="5138928"/>
            <a:ext cx="4434840" cy="256032"/>
          </a:xfrm>
          <a:prstGeom prst="rect">
            <a:avLst/>
          </a:prstGeom>
          <a:noFill/>
        </p:spPr>
        <p:txBody>
          <a:bodyPr wrap="square" lIns="0" rIns="0" tIns="0" bIns="0" anchor="ctr">
            <a:spAutoFit/>
          </a:bodyPr>
          <a:lstStyle/>
          <a:p>
            <a:pPr algn="ctr"/>
            <a:r>
              <a:rPr sz="1150" b="0">
                <a:solidFill>
                  <a:srgbClr val="6F6B5E"/>
                </a:solidFill>
                <a:latin typeface="Readex Pro"/>
                <a:cs typeface="Readex Pro"/>
                <a:ea typeface="Readex Pro"/>
              </a:rPr>
              <a:t>meaning kept (%)  →</a:t>
            </a:r>
          </a:p>
        </p:txBody>
      </p:sp>
      <p:sp>
        <p:nvSpPr>
          <p:cNvPr id="12" name="TextBox 11"/>
          <p:cNvSpPr txBox="1"/>
          <p:nvPr/>
        </p:nvSpPr>
        <p:spPr>
          <a:xfrm rot="16200000">
            <a:off x="393191" y="3278123"/>
            <a:ext cx="3108960" cy="256032"/>
          </a:xfrm>
          <a:prstGeom prst="rect">
            <a:avLst/>
          </a:prstGeom>
          <a:noFill/>
        </p:spPr>
        <p:txBody>
          <a:bodyPr wrap="square" lIns="0" rIns="0" tIns="0" bIns="0" anchor="ctr">
            <a:spAutoFit/>
          </a:bodyPr>
          <a:lstStyle/>
          <a:p>
            <a:pPr algn="ctr"/>
            <a:r>
              <a:rPr sz="1100" b="0">
                <a:solidFill>
                  <a:srgbClr val="6F6B5E"/>
                </a:solidFill>
                <a:latin typeface="Readex Pro"/>
                <a:cs typeface="Readex Pro"/>
                <a:ea typeface="Readex Pro"/>
              </a:rPr>
              <a:t>simplification: words cut from the longest clause  →</a:t>
            </a:r>
          </a:p>
        </p:txBody>
      </p:sp>
      <p:sp>
        <p:nvSpPr>
          <p:cNvPr id="13" name="Oval 12"/>
          <p:cNvSpPr/>
          <p:nvPr/>
        </p:nvSpPr>
        <p:spPr>
          <a:xfrm>
            <a:off x="6365747" y="4686523"/>
            <a:ext cx="210312" cy="210312"/>
          </a:xfrm>
          <a:prstGeom prst="ellipse">
            <a:avLst/>
          </a:prstGeom>
          <a:solidFill>
            <a:srgbClr val="A29D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9112" y="4375627"/>
            <a:ext cx="1243584" cy="237744"/>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Copy the input</a:t>
            </a:r>
          </a:p>
        </p:txBody>
      </p:sp>
      <p:sp>
        <p:nvSpPr>
          <p:cNvPr id="15" name="Oval 14"/>
          <p:cNvSpPr/>
          <p:nvPr/>
        </p:nvSpPr>
        <p:spPr>
          <a:xfrm>
            <a:off x="4946599" y="4686523"/>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58969" y="4969987"/>
            <a:ext cx="385572" cy="237744"/>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v0.1</a:t>
            </a:r>
          </a:p>
        </p:txBody>
      </p:sp>
      <p:sp>
        <p:nvSpPr>
          <p:cNvPr id="17" name="Oval 16"/>
          <p:cNvSpPr/>
          <p:nvPr/>
        </p:nvSpPr>
        <p:spPr>
          <a:xfrm>
            <a:off x="5100340" y="3934373"/>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274" y="4217837"/>
            <a:ext cx="1266443" cy="237744"/>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v0.2 in the app</a:t>
            </a:r>
          </a:p>
        </p:txBody>
      </p:sp>
      <p:sp>
        <p:nvSpPr>
          <p:cNvPr id="19" name="Oval 18"/>
          <p:cNvSpPr/>
          <p:nvPr/>
        </p:nvSpPr>
        <p:spPr>
          <a:xfrm>
            <a:off x="4491288" y="2905115"/>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47272" y="2891399"/>
            <a:ext cx="1052576"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 (no tag)</a:t>
            </a:r>
          </a:p>
        </p:txBody>
      </p:sp>
      <p:sp>
        <p:nvSpPr>
          <p:cNvPr id="21" name="Oval 20"/>
          <p:cNvSpPr/>
          <p:nvPr/>
        </p:nvSpPr>
        <p:spPr>
          <a:xfrm>
            <a:off x="3970934" y="2192552"/>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90974" y="2178836"/>
            <a:ext cx="822070"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 + tag</a:t>
            </a:r>
          </a:p>
        </p:txBody>
      </p:sp>
      <p:sp>
        <p:nvSpPr>
          <p:cNvPr id="23" name="Oval 22"/>
          <p:cNvSpPr/>
          <p:nvPr/>
        </p:nvSpPr>
        <p:spPr>
          <a:xfrm>
            <a:off x="3491971" y="2746768"/>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869671" y="2435872"/>
            <a:ext cx="1454912"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v0.2-Fast (no tag)</a:t>
            </a:r>
          </a:p>
        </p:txBody>
      </p:sp>
      <p:sp>
        <p:nvSpPr>
          <p:cNvPr id="25" name="Oval 24"/>
          <p:cNvSpPr/>
          <p:nvPr/>
        </p:nvSpPr>
        <p:spPr>
          <a:xfrm>
            <a:off x="2823789" y="2034205"/>
            <a:ext cx="210312" cy="210312"/>
          </a:xfrm>
          <a:prstGeom prst="ellipse">
            <a:avLst/>
          </a:prstGeom>
          <a:solidFill>
            <a:srgbClr val="6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316741" y="1723309"/>
            <a:ext cx="1224407" cy="237744"/>
          </a:xfrm>
          <a:prstGeom prst="rect">
            <a:avLst/>
          </a:prstGeom>
          <a:noFill/>
        </p:spPr>
        <p:txBody>
          <a:bodyPr wrap="square" lIns="0" rIns="0" tIns="0" bIns="0" anchor="ctr">
            <a:spAutoFit/>
          </a:bodyPr>
          <a:lstStyle/>
          <a:p>
            <a:pPr algn="l"/>
            <a:r>
              <a:rPr sz="1100" b="0">
                <a:solidFill>
                  <a:srgbClr val="4A4842"/>
                </a:solidFill>
                <a:latin typeface="Readex Pro"/>
                <a:cs typeface="Readex Pro"/>
                <a:ea typeface="Readex Pro"/>
              </a:rPr>
              <a:t>v0.2-Fast + tag</a:t>
            </a:r>
          </a:p>
        </p:txBody>
      </p:sp>
      <p:sp>
        <p:nvSpPr>
          <p:cNvPr id="27" name="Oval 26"/>
          <p:cNvSpPr/>
          <p:nvPr/>
        </p:nvSpPr>
        <p:spPr>
          <a:xfrm>
            <a:off x="5150510" y="2477131"/>
            <a:ext cx="512064" cy="512064"/>
          </a:xfrm>
          <a:prstGeom prst="ellipse">
            <a:avLst/>
          </a:prstGeom>
          <a:noFill/>
          <a:ln w="2222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260238" y="2586859"/>
            <a:ext cx="292608" cy="292608"/>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2574" y="2614291"/>
            <a:ext cx="1364361" cy="237744"/>
          </a:xfrm>
          <a:prstGeom prst="rect">
            <a:avLst/>
          </a:prstGeom>
          <a:noFill/>
        </p:spPr>
        <p:txBody>
          <a:bodyPr wrap="square" lIns="0" rIns="0" tIns="0" bIns="0" anchor="ctr">
            <a:spAutoFit/>
          </a:bodyPr>
          <a:lstStyle/>
          <a:p>
            <a:pPr algn="l"/>
            <a:r>
              <a:rPr sz="1300" b="1">
                <a:solidFill>
                  <a:srgbClr val="B5533C"/>
                </a:solidFill>
                <a:latin typeface="Readex Pro"/>
                <a:cs typeface="Readex Pro"/>
                <a:ea typeface="Readex Pro"/>
              </a:rPr>
              <a:t>v0.3 in the app</a:t>
            </a:r>
          </a:p>
        </p:txBody>
      </p:sp>
      <p:sp>
        <p:nvSpPr>
          <p:cNvPr id="30" name="Rectangle 29"/>
          <p:cNvSpPr/>
          <p:nvPr/>
        </p:nvSpPr>
        <p:spPr>
          <a:xfrm>
            <a:off x="2423160" y="5513832"/>
            <a:ext cx="45720" cy="146304"/>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32888" y="5486400"/>
            <a:ext cx="5943600" cy="201168"/>
          </a:xfrm>
          <a:prstGeom prst="rect">
            <a:avLst/>
          </a:prstGeom>
          <a:noFill/>
        </p:spPr>
        <p:txBody>
          <a:bodyPr wrap="square" lIns="0" rIns="0" tIns="0" bIns="0" anchor="ctr">
            <a:spAutoFit/>
          </a:bodyPr>
          <a:lstStyle/>
          <a:p>
            <a:pPr algn="l"/>
            <a:r>
              <a:rPr sz="1050" b="0">
                <a:solidFill>
                  <a:srgbClr val="6F6B5E"/>
                </a:solidFill>
                <a:latin typeface="Readex Pro"/>
                <a:cs typeface="Readex Pro"/>
                <a:ea typeface="Readex Pro"/>
              </a:rPr>
              <a:t>BayanBench v2, test core items</a:t>
            </a:r>
          </a:p>
        </p:txBody>
      </p:sp>
      <p:sp>
        <p:nvSpPr>
          <p:cNvPr id="32" name="Rounded Rectangle 31"/>
          <p:cNvSpPr/>
          <p:nvPr/>
        </p:nvSpPr>
        <p:spPr>
          <a:xfrm>
            <a:off x="7178040" y="1874519"/>
            <a:ext cx="2157984" cy="635508"/>
          </a:xfrm>
          <a:prstGeom prst="roundRect">
            <a:avLst>
              <a:gd name="adj" fmla="val 14388"/>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50" b="1">
                <a:solidFill>
                  <a:srgbClr val="8A5E35"/>
                </a:solidFill>
                <a:latin typeface="Readex Pro"/>
                <a:cs typeface="Readex Pro"/>
                <a:ea typeface="Readex Pro"/>
              </a:rPr>
              <a:t>the more it simplifies,</a:t>
            </a:r>
          </a:p>
          <a:p>
            <a:pPr algn="ctr"/>
            <a:r>
              <a:rPr sz="1350" b="1">
                <a:solidFill>
                  <a:srgbClr val="8A5E35"/>
                </a:solidFill>
                <a:latin typeface="Readex Pro"/>
                <a:cs typeface="Readex Pro"/>
                <a:ea typeface="Readex Pro"/>
              </a:rPr>
              <a:t>the less meaning it keeps, obviously</a:t>
            </a:r>
          </a:p>
        </p:txBody>
      </p:sp>
      <p:sp>
        <p:nvSpPr>
          <p:cNvPr id="33" name="Rounded Rectangle 32"/>
          <p:cNvSpPr/>
          <p:nvPr/>
        </p:nvSpPr>
        <p:spPr>
          <a:xfrm>
            <a:off x="7178040" y="2711196"/>
            <a:ext cx="2157984" cy="861822"/>
          </a:xfrm>
          <a:prstGeom prst="roundRect">
            <a:avLst>
              <a:gd name="adj" fmla="val 10610"/>
            </a:avLst>
          </a:prstGeom>
          <a:solidFill>
            <a:srgbClr val="C6986B"/>
          </a:solidFill>
          <a:ln w="15875">
            <a:solidFill>
              <a:srgbClr val="C6986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50" b="1">
                <a:solidFill>
                  <a:srgbClr val="1A1A14"/>
                </a:solidFill>
                <a:latin typeface="Readex Pro"/>
                <a:cs typeface="Readex Pro"/>
                <a:ea typeface="Readex Pro"/>
              </a:rPr>
              <a:t>v0.3 keeps the most meaning (82%)</a:t>
            </a:r>
          </a:p>
          <a:p>
            <a:pPr algn="ctr"/>
            <a:r>
              <a:rPr sz="1350" b="1">
                <a:solidFill>
                  <a:srgbClr val="1A1A14"/>
                </a:solidFill>
                <a:latin typeface="Readex Pro"/>
                <a:cs typeface="Readex Pro"/>
                <a:ea typeface="Readex Pro"/>
              </a:rPr>
              <a:t>and still cuts 5.2 words off</a:t>
            </a:r>
          </a:p>
          <a:p>
            <a:pPr algn="ctr"/>
            <a:r>
              <a:rPr sz="1350" b="1">
                <a:solidFill>
                  <a:srgbClr val="1A1A14"/>
                </a:solidFill>
                <a:latin typeface="Readex Pro"/>
                <a:cs typeface="Readex Pro"/>
                <a:ea typeface="Readex Pro"/>
              </a:rPr>
              <a:t>the longest clause</a:t>
            </a:r>
          </a:p>
        </p:txBody>
      </p:sp>
      <p:sp>
        <p:nvSpPr>
          <p:cNvPr id="34" name="Rounded Rectangle 33"/>
          <p:cNvSpPr/>
          <p:nvPr/>
        </p:nvSpPr>
        <p:spPr>
          <a:xfrm>
            <a:off x="7178040" y="3774185"/>
            <a:ext cx="2157984" cy="601980"/>
          </a:xfrm>
          <a:prstGeom prst="roundRect">
            <a:avLst>
              <a:gd name="adj" fmla="val 1518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50" b="0">
                <a:solidFill>
                  <a:srgbClr val="4A4842"/>
                </a:solidFill>
                <a:latin typeface="Readex Pro"/>
                <a:cs typeface="Readex Pro"/>
                <a:ea typeface="Readex Pro"/>
              </a:rPr>
              <a:t>v0.3 is the app's large model,</a:t>
            </a:r>
          </a:p>
          <a:p>
            <a:pPr algn="ctr"/>
            <a:r>
              <a:rPr sz="1250" b="0">
                <a:solidFill>
                  <a:srgbClr val="4A4842"/>
                </a:solidFill>
                <a:latin typeface="Readex Pro"/>
                <a:cs typeface="Readex Pro"/>
                <a:ea typeface="Readex Pro"/>
              </a:rPr>
              <a:t>decoded with four beams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RESULTS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v0.3 is our best model</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8</a:t>
            </a:r>
          </a:p>
        </p:txBody>
      </p:sp>
      <p:sp>
        <p:nvSpPr>
          <p:cNvPr id="9" name="TextBox 8"/>
          <p:cNvSpPr txBox="1"/>
          <p:nvPr/>
        </p:nvSpPr>
        <p:spPr>
          <a:xfrm>
            <a:off x="566928" y="1481328"/>
            <a:ext cx="8769096"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In the app: v0.3 minus v0.2, same text step · 95% intervals</a:t>
            </a:r>
          </a:p>
        </p:txBody>
      </p:sp>
      <p:sp>
        <p:nvSpPr>
          <p:cNvPr id="10" name="TextBox 9"/>
          <p:cNvSpPr txBox="1"/>
          <p:nvPr/>
        </p:nvSpPr>
        <p:spPr>
          <a:xfrm>
            <a:off x="566928" y="2057400"/>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words cut from the longest clause</a:t>
            </a:r>
          </a:p>
        </p:txBody>
      </p:sp>
      <p:cxnSp>
        <p:nvCxnSpPr>
          <p:cNvPr id="11" name="Connector 10"/>
          <p:cNvCxnSpPr/>
          <p:nvPr/>
        </p:nvCxnSpPr>
        <p:spPr>
          <a:xfrm>
            <a:off x="3520440" y="2203704"/>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212080" y="2084831"/>
            <a:ext cx="0" cy="237745"/>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5888736" y="2203704"/>
            <a:ext cx="563880"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6097524" y="2130552"/>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13448" y="2075688"/>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+3.4</a:t>
            </a:r>
          </a:p>
        </p:txBody>
      </p:sp>
      <p:sp>
        <p:nvSpPr>
          <p:cNvPr id="16" name="TextBox 15"/>
          <p:cNvSpPr txBox="1"/>
          <p:nvPr/>
        </p:nvSpPr>
        <p:spPr>
          <a:xfrm>
            <a:off x="566928" y="2715768"/>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hard words removed</a:t>
            </a:r>
          </a:p>
        </p:txBody>
      </p:sp>
      <p:cxnSp>
        <p:nvCxnSpPr>
          <p:cNvPr id="17" name="Connector 16"/>
          <p:cNvCxnSpPr/>
          <p:nvPr/>
        </p:nvCxnSpPr>
        <p:spPr>
          <a:xfrm>
            <a:off x="3520440" y="2862072"/>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212080" y="2743199"/>
            <a:ext cx="0" cy="237745"/>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804154" y="2862072"/>
            <a:ext cx="888111"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6153912" y="2788920"/>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13448" y="2734056"/>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+0.24</a:t>
            </a:r>
          </a:p>
        </p:txBody>
      </p:sp>
      <p:sp>
        <p:nvSpPr>
          <p:cNvPr id="22" name="TextBox 21"/>
          <p:cNvSpPr txBox="1"/>
          <p:nvPr/>
        </p:nvSpPr>
        <p:spPr>
          <a:xfrm>
            <a:off x="566928" y="3374136"/>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reading levels lowered</a:t>
            </a:r>
          </a:p>
        </p:txBody>
      </p:sp>
      <p:cxnSp>
        <p:nvCxnSpPr>
          <p:cNvPr id="23" name="Connector 22"/>
          <p:cNvCxnSpPr/>
          <p:nvPr/>
        </p:nvCxnSpPr>
        <p:spPr>
          <a:xfrm>
            <a:off x="3520440" y="3520440"/>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212080" y="3401568"/>
            <a:ext cx="0" cy="237744"/>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212080" y="3520440"/>
            <a:ext cx="902208"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5590032" y="3447288"/>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13448" y="3392424"/>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+0.08</a:t>
            </a:r>
          </a:p>
        </p:txBody>
      </p:sp>
      <p:sp>
        <p:nvSpPr>
          <p:cNvPr id="28" name="TextBox 27"/>
          <p:cNvSpPr txBox="1"/>
          <p:nvPr/>
        </p:nvSpPr>
        <p:spPr>
          <a:xfrm>
            <a:off x="566928" y="4032504"/>
            <a:ext cx="3566160" cy="256032"/>
          </a:xfrm>
          <a:prstGeom prst="rect">
            <a:avLst/>
          </a:prstGeom>
          <a:noFill/>
        </p:spPr>
        <p:txBody>
          <a:bodyPr wrap="square" lIns="0" rIns="0" tIns="0" bIns="0" anchor="ctr">
            <a:spAutoFit/>
          </a:bodyPr>
          <a:lstStyle/>
          <a:p>
            <a:pPr algn="l"/>
            <a:r>
              <a:rPr sz="1200" b="0">
                <a:solidFill>
                  <a:srgbClr val="4A4842"/>
                </a:solidFill>
                <a:latin typeface="Readex Pro"/>
                <a:cs typeface="Readex Pro"/>
                <a:ea typeface="Readex Pro"/>
              </a:rPr>
              <a:t>meaning kept (points): not significant</a:t>
            </a:r>
          </a:p>
        </p:txBody>
      </p:sp>
      <p:cxnSp>
        <p:nvCxnSpPr>
          <p:cNvPr id="29" name="Connector 28"/>
          <p:cNvCxnSpPr/>
          <p:nvPr/>
        </p:nvCxnSpPr>
        <p:spPr>
          <a:xfrm>
            <a:off x="3520440" y="4178808"/>
            <a:ext cx="3383280" cy="0"/>
          </a:xfrm>
          <a:prstGeom prst="line">
            <a:avLst/>
          </a:prstGeom>
          <a:ln w="38100">
            <a:solidFill>
              <a:srgbClr val="E6DFC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212080" y="4059936"/>
            <a:ext cx="0" cy="237744"/>
          </a:xfrm>
          <a:prstGeom prst="line">
            <a:avLst/>
          </a:prstGeom>
          <a:ln w="19050">
            <a:solidFill>
              <a:srgbClr val="A29D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422648" y="4178808"/>
            <a:ext cx="902208" cy="0"/>
          </a:xfrm>
          <a:prstGeom prst="line">
            <a:avLst/>
          </a:prstGeom>
          <a:ln w="63500">
            <a:solidFill>
              <a:srgbClr val="8A5E35"/>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4800600" y="4105656"/>
            <a:ext cx="146304" cy="146304"/>
          </a:xfrm>
          <a:prstGeom prst="ellipse">
            <a:avLst/>
          </a:prstGeom>
          <a:solidFill>
            <a:srgbClr val="8A5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13448" y="4050791"/>
            <a:ext cx="1005840" cy="256032"/>
          </a:xfrm>
          <a:prstGeom prst="rect">
            <a:avLst/>
          </a:prstGeom>
          <a:noFill/>
        </p:spPr>
        <p:txBody>
          <a:bodyPr wrap="square" lIns="0" rIns="0" tIns="0" bIns="0" anchor="ctr">
            <a:spAutoFit/>
          </a:bodyPr>
          <a:lstStyle/>
          <a:p>
            <a:pPr algn="l"/>
            <a:r>
              <a:rPr sz="1200" b="1">
                <a:solidFill>
                  <a:srgbClr val="8A5E35"/>
                </a:solidFill>
                <a:latin typeface="Readex Pro"/>
                <a:cs typeface="Readex Pro"/>
                <a:ea typeface="Readex Pro"/>
              </a:rPr>
              <a:t>−3</a:t>
            </a:r>
          </a:p>
        </p:txBody>
      </p:sp>
      <p:sp>
        <p:nvSpPr>
          <p:cNvPr id="34" name="Rounded Rectangle 33"/>
          <p:cNvSpPr/>
          <p:nvPr/>
        </p:nvSpPr>
        <p:spPr>
          <a:xfrm>
            <a:off x="1871535" y="5029200"/>
            <a:ext cx="6159881" cy="364236"/>
          </a:xfrm>
          <a:prstGeom prst="roundRect">
            <a:avLst>
              <a:gd name="adj" fmla="val 22594"/>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8A5E35"/>
                </a:solidFill>
                <a:latin typeface="Readex Pro"/>
                <a:cs typeface="Readex Pro"/>
                <a:ea typeface="Readex Pro"/>
              </a:rPr>
              <a:t>+18 points more easy text unchanged · every number kept (100%)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05 · RESULTS</a:t>
            </a:r>
          </a:p>
        </p:txBody>
      </p:sp>
      <p:sp>
        <p:nvSpPr>
          <p:cNvPr id="5" name="TextBox 4"/>
          <p:cNvSpPr txBox="1"/>
          <p:nvPr/>
        </p:nvSpPr>
        <p:spPr>
          <a:xfrm>
            <a:off x="566928" y="804672"/>
            <a:ext cx="8769096" cy="502920"/>
          </a:xfrm>
          <a:prstGeom prst="rect">
            <a:avLst/>
          </a:prstGeom>
          <a:noFill/>
        </p:spPr>
        <p:txBody>
          <a:bodyPr wrap="square" lIns="0" rIns="0" tIns="0" bIns="0" anchor="ctr">
            <a:spAutoFit/>
          </a:bodyPr>
          <a:lstStyle/>
          <a:p>
            <a:pPr algn="l"/>
            <a:r>
              <a:rPr sz="2600" b="1">
                <a:solidFill>
                  <a:srgbClr val="282824"/>
                </a:solidFill>
                <a:latin typeface="Readex Pro"/>
                <a:cs typeface="Readex Pro"/>
                <a:ea typeface="Readex Pro"/>
              </a:rPr>
              <a:t>v0.3 is our best model</a:t>
            </a:r>
          </a:p>
        </p:txBody>
      </p:sp>
      <p:pic>
        <p:nvPicPr>
          <p:cNvPr id="6"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7" name="TextBox 6"/>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8" name="TextBox 7"/>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6 / 8</a:t>
            </a:r>
          </a:p>
        </p:txBody>
      </p:sp>
      <p:sp>
        <p:nvSpPr>
          <p:cNvPr id="9" name="TextBox 8"/>
          <p:cNvSpPr txBox="1"/>
          <p:nvPr/>
        </p:nvSpPr>
        <p:spPr>
          <a:xfrm>
            <a:off x="566928" y="1481328"/>
            <a:ext cx="8769096" cy="329184"/>
          </a:xfrm>
          <a:prstGeom prst="rect">
            <a:avLst/>
          </a:prstGeom>
          <a:noFill/>
        </p:spPr>
        <p:txBody>
          <a:bodyPr wrap="square" lIns="0" rIns="0" tIns="0" bIns="0" anchor="ctr">
            <a:spAutoFit/>
          </a:bodyPr>
          <a:lstStyle/>
          <a:p>
            <a:pPr algn="ctr"/>
            <a:r>
              <a:rPr sz="1700" b="1">
                <a:solidFill>
                  <a:srgbClr val="282824"/>
                </a:solidFill>
                <a:latin typeface="Readex Pro"/>
                <a:cs typeface="Readex Pro"/>
                <a:ea typeface="Readex Pro"/>
              </a:rPr>
              <a:t>Blind rating by the team: 18 sentences</a:t>
            </a:r>
          </a:p>
        </p:txBody>
      </p:sp>
      <p:sp>
        <p:nvSpPr>
          <p:cNvPr id="10" name="TextBox 9"/>
          <p:cNvSpPr txBox="1"/>
          <p:nvPr/>
        </p:nvSpPr>
        <p:spPr>
          <a:xfrm>
            <a:off x="566928" y="1874519"/>
            <a:ext cx="8769096" cy="256032"/>
          </a:xfrm>
          <a:prstGeom prst="rect">
            <a:avLst/>
          </a:prstGeom>
          <a:noFill/>
        </p:spPr>
        <p:txBody>
          <a:bodyPr wrap="square" lIns="0" rIns="0" tIns="0" bIns="0" anchor="ctr">
            <a:spAutoFit/>
          </a:bodyPr>
          <a:lstStyle/>
          <a:p>
            <a:pPr algn="ctr"/>
            <a:r>
              <a:rPr sz="1200" b="0">
                <a:solidFill>
                  <a:srgbClr val="6F6B5E"/>
                </a:solidFill>
                <a:latin typeface="Readex Pro"/>
                <a:cs typeface="Readex Pro"/>
                <a:ea typeface="Readex Pro"/>
              </a:rPr>
              <a:t>outputs the system changed, rated easier to read</a:t>
            </a:r>
          </a:p>
        </p:txBody>
      </p:sp>
      <p:sp>
        <p:nvSpPr>
          <p:cNvPr id="11" name="TextBox 10"/>
          <p:cNvSpPr txBox="1"/>
          <p:nvPr/>
        </p:nvSpPr>
        <p:spPr>
          <a:xfrm>
            <a:off x="566928" y="2423160"/>
            <a:ext cx="1097280" cy="292608"/>
          </a:xfrm>
          <a:prstGeom prst="rect">
            <a:avLst/>
          </a:prstGeom>
          <a:noFill/>
        </p:spPr>
        <p:txBody>
          <a:bodyPr wrap="square" lIns="0" rIns="0" tIns="0" bIns="0" anchor="ctr">
            <a:spAutoFit/>
          </a:bodyPr>
          <a:lstStyle/>
          <a:p>
            <a:pPr algn="l"/>
            <a:r>
              <a:rPr sz="1300" b="1">
                <a:solidFill>
                  <a:srgbClr val="282824"/>
                </a:solidFill>
                <a:latin typeface="Readex Pro"/>
                <a:cs typeface="Readex Pro"/>
                <a:ea typeface="Readex Pro"/>
              </a:rPr>
              <a:t>v0.3</a:t>
            </a:r>
          </a:p>
        </p:txBody>
      </p:sp>
      <p:sp>
        <p:nvSpPr>
          <p:cNvPr id="12" name="Rectangle 11"/>
          <p:cNvSpPr/>
          <p:nvPr/>
        </p:nvSpPr>
        <p:spPr>
          <a:xfrm>
            <a:off x="1801368" y="2441448"/>
            <a:ext cx="4403750" cy="347472"/>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4846" y="2423160"/>
            <a:ext cx="731520" cy="292608"/>
          </a:xfrm>
          <a:prstGeom prst="rect">
            <a:avLst/>
          </a:prstGeom>
          <a:noFill/>
        </p:spPr>
        <p:txBody>
          <a:bodyPr wrap="square" lIns="0" rIns="0" tIns="0" bIns="0" anchor="ctr">
            <a:spAutoFit/>
          </a:bodyPr>
          <a:lstStyle/>
          <a:p>
            <a:pPr algn="l"/>
            <a:r>
              <a:rPr sz="1300" b="1">
                <a:solidFill>
                  <a:srgbClr val="8A5E35"/>
                </a:solidFill>
                <a:latin typeface="Readex Pro"/>
                <a:cs typeface="Readex Pro"/>
                <a:ea typeface="Readex Pro"/>
              </a:rPr>
              <a:t>86%</a:t>
            </a:r>
          </a:p>
        </p:txBody>
      </p:sp>
      <p:sp>
        <p:nvSpPr>
          <p:cNvPr id="14" name="TextBox 13"/>
          <p:cNvSpPr txBox="1"/>
          <p:nvPr/>
        </p:nvSpPr>
        <p:spPr>
          <a:xfrm>
            <a:off x="566928" y="2990088"/>
            <a:ext cx="109728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a:t>
            </a:r>
          </a:p>
        </p:txBody>
      </p:sp>
      <p:sp>
        <p:nvSpPr>
          <p:cNvPr id="15" name="Rectangle 14"/>
          <p:cNvSpPr/>
          <p:nvPr/>
        </p:nvSpPr>
        <p:spPr>
          <a:xfrm>
            <a:off x="1801368" y="3008376"/>
            <a:ext cx="3072384" cy="347472"/>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83480" y="2990088"/>
            <a:ext cx="731520" cy="292608"/>
          </a:xfrm>
          <a:prstGeom prst="rect">
            <a:avLst/>
          </a:prstGeom>
          <a:noFill/>
        </p:spPr>
        <p:txBody>
          <a:bodyPr wrap="square" lIns="0" rIns="0" tIns="0" bIns="0" anchor="ctr">
            <a:spAutoFit/>
          </a:bodyPr>
          <a:lstStyle/>
          <a:p>
            <a:pPr algn="l"/>
            <a:r>
              <a:rPr sz="1300" b="1">
                <a:solidFill>
                  <a:srgbClr val="4A4842"/>
                </a:solidFill>
                <a:latin typeface="Readex Pro"/>
                <a:cs typeface="Readex Pro"/>
                <a:ea typeface="Readex Pro"/>
              </a:rPr>
              <a:t>60%</a:t>
            </a:r>
          </a:p>
        </p:txBody>
      </p:sp>
      <p:sp>
        <p:nvSpPr>
          <p:cNvPr id="17" name="TextBox 16"/>
          <p:cNvSpPr txBox="1"/>
          <p:nvPr/>
        </p:nvSpPr>
        <p:spPr>
          <a:xfrm>
            <a:off x="566928" y="3557015"/>
            <a:ext cx="1097280" cy="292608"/>
          </a:xfrm>
          <a:prstGeom prst="rect">
            <a:avLst/>
          </a:prstGeom>
          <a:noFill/>
        </p:spPr>
        <p:txBody>
          <a:bodyPr wrap="square" lIns="0" rIns="0" tIns="0" bIns="0" anchor="ctr">
            <a:spAutoFit/>
          </a:bodyPr>
          <a:lstStyle/>
          <a:p>
            <a:pPr algn="l"/>
            <a:r>
              <a:rPr sz="1300" b="0">
                <a:solidFill>
                  <a:srgbClr val="282824"/>
                </a:solidFill>
                <a:latin typeface="Readex Pro"/>
                <a:cs typeface="Readex Pro"/>
                <a:ea typeface="Readex Pro"/>
              </a:rPr>
              <a:t>v0.2-Fast</a:t>
            </a:r>
          </a:p>
        </p:txBody>
      </p:sp>
      <p:sp>
        <p:nvSpPr>
          <p:cNvPr id="18" name="Rectangle 17"/>
          <p:cNvSpPr/>
          <p:nvPr/>
        </p:nvSpPr>
        <p:spPr>
          <a:xfrm>
            <a:off x="1801368" y="3575303"/>
            <a:ext cx="2304287" cy="347472"/>
          </a:xfrm>
          <a:prstGeom prst="rect">
            <a:avLst/>
          </a:prstGeom>
          <a:solidFill>
            <a:srgbClr val="E6DF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15384" y="3557015"/>
            <a:ext cx="731520" cy="292608"/>
          </a:xfrm>
          <a:prstGeom prst="rect">
            <a:avLst/>
          </a:prstGeom>
          <a:noFill/>
        </p:spPr>
        <p:txBody>
          <a:bodyPr wrap="square" lIns="0" rIns="0" tIns="0" bIns="0" anchor="ctr">
            <a:spAutoFit/>
          </a:bodyPr>
          <a:lstStyle/>
          <a:p>
            <a:pPr algn="l"/>
            <a:r>
              <a:rPr sz="1300" b="1">
                <a:solidFill>
                  <a:srgbClr val="4A4842"/>
                </a:solidFill>
                <a:latin typeface="Readex Pro"/>
                <a:cs typeface="Readex Pro"/>
                <a:ea typeface="Readex Pro"/>
              </a:rPr>
              <a:t>45%</a:t>
            </a:r>
          </a:p>
        </p:txBody>
      </p:sp>
      <p:sp>
        <p:nvSpPr>
          <p:cNvPr id="20" name="Rounded Rectangle 19"/>
          <p:cNvSpPr/>
          <p:nvPr/>
        </p:nvSpPr>
        <p:spPr>
          <a:xfrm>
            <a:off x="1576578" y="4343400"/>
            <a:ext cx="6749795" cy="347472"/>
          </a:xfrm>
          <a:prstGeom prst="roundRect">
            <a:avLst>
              <a:gd name="adj" fmla="val 23684"/>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200" b="0">
                <a:solidFill>
                  <a:srgbClr val="4A4842"/>
                </a:solidFill>
                <a:latin typeface="Readex Pro"/>
                <a:cs typeface="Readex Pro"/>
                <a:ea typeface="Readex Pro"/>
              </a:rPr>
              <a:t>meaning kept in 96% of ratings (v0.2: 96%, v0.2-Fast: 92%) · none rated harder</a:t>
            </a:r>
          </a:p>
        </p:txBody>
      </p:sp>
      <p:sp>
        <p:nvSpPr>
          <p:cNvPr id="21" name="Rounded Rectangle 20"/>
          <p:cNvSpPr/>
          <p:nvPr/>
        </p:nvSpPr>
        <p:spPr>
          <a:xfrm>
            <a:off x="3008248" y="4892040"/>
            <a:ext cx="3886454" cy="364236"/>
          </a:xfrm>
          <a:prstGeom prst="roundRect">
            <a:avLst>
              <a:gd name="adj" fmla="val 22594"/>
            </a:avLst>
          </a:prstGeom>
          <a:solidFill>
            <a:srgbClr val="EEDDC7"/>
          </a:solidFill>
          <a:ln w="15875">
            <a:solidFill>
              <a:srgbClr val="EEDDC7"/>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1">
                <a:solidFill>
                  <a:srgbClr val="8A5E35"/>
                </a:solidFill>
                <a:latin typeface="Readex Pro"/>
                <a:cs typeface="Readex Pro"/>
                <a:ea typeface="Readex Pro"/>
              </a:rPr>
              <a:t>8 of 8 team votes chose v0.3 over v0.2</a:t>
            </a:r>
          </a:p>
        </p:txBody>
      </p:sp>
      <p:sp>
        <p:nvSpPr>
          <p:cNvPr id="22" name="Rounded Rectangle 21"/>
          <p:cNvSpPr/>
          <p:nvPr/>
        </p:nvSpPr>
        <p:spPr>
          <a:xfrm>
            <a:off x="990917" y="5440680"/>
            <a:ext cx="7921116" cy="339090"/>
          </a:xfrm>
          <a:prstGeom prst="roundRect">
            <a:avLst>
              <a:gd name="adj" fmla="val 24269"/>
            </a:avLst>
          </a:prstGeom>
          <a:solidFill>
            <a:srgbClr val="EFE9D9"/>
          </a:solidFill>
          <a:ln w="15875">
            <a:solidFill>
              <a:srgbClr val="EFE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150" b="0">
                <a:solidFill>
                  <a:srgbClr val="4A4842"/>
                </a:solidFill>
                <a:latin typeface="Readex Pro"/>
                <a:cs typeface="Readex Pro"/>
                <a:ea typeface="Readex Pro"/>
              </a:rPr>
              <a:t>the reader with dyslexia chose v0.3 in 4 of 4 comparisons · 18 sentences: a direction, not a size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F6F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475488"/>
            <a:ext cx="64008" cy="274320"/>
          </a:xfrm>
          <a:prstGeom prst="rect">
            <a:avLst/>
          </a:prstGeom>
          <a:solidFill>
            <a:srgbClr val="C69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38912"/>
            <a:ext cx="8586216" cy="310896"/>
          </a:xfrm>
          <a:prstGeom prst="rect">
            <a:avLst/>
          </a:prstGeom>
          <a:noFill/>
        </p:spPr>
        <p:txBody>
          <a:bodyPr wrap="square" lIns="0" rIns="0" tIns="0" bIns="0" anchor="ctr">
            <a:spAutoFit/>
          </a:bodyPr>
          <a:lstStyle/>
          <a:p>
            <a:pPr algn="l"/>
            <a:r>
              <a:rPr sz="1250" b="1">
                <a:solidFill>
                  <a:srgbClr val="C6986B"/>
                </a:solidFill>
                <a:latin typeface="Readex Pro"/>
                <a:cs typeface="Readex Pro"/>
                <a:ea typeface="Readex Pro"/>
              </a:rPr>
              <a:t>06 · ON A PHONE</a:t>
            </a:r>
          </a:p>
        </p:txBody>
      </p:sp>
      <p:pic>
        <p:nvPicPr>
          <p:cNvPr id="5"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6" name="TextBox 5"/>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6F6B5E"/>
                </a:solidFill>
                <a:latin typeface="Readex Pro"/>
                <a:cs typeface="Readex Pro"/>
                <a:ea typeface="Readex Pro"/>
              </a:rPr>
              <a:t>Samsung Innovation Campus  ·  AI Course</a:t>
            </a:r>
          </a:p>
        </p:txBody>
      </p:sp>
      <p:sp>
        <p:nvSpPr>
          <p:cNvPr id="7" name="TextBox 6"/>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6F6B5E"/>
                </a:solidFill>
                <a:latin typeface="Readex Pro"/>
                <a:cs typeface="Readex Pro"/>
                <a:ea typeface="Readex Pro"/>
              </a:rPr>
              <a:t>7 / 8</a:t>
            </a:r>
          </a:p>
        </p:txBody>
      </p:sp>
      <p:sp>
        <p:nvSpPr>
          <p:cNvPr id="8" name="Rounded Rectangle 7"/>
          <p:cNvSpPr/>
          <p:nvPr/>
        </p:nvSpPr>
        <p:spPr>
          <a:xfrm>
            <a:off x="6958963" y="1481328"/>
            <a:ext cx="2377060" cy="4846320"/>
          </a:xfrm>
          <a:prstGeom prst="roundRect">
            <a:avLst>
              <a:gd name="adj" fmla="val 10001"/>
            </a:avLst>
          </a:prstGeom>
          <a:solidFill>
            <a:srgbClr val="1A1A14"/>
          </a:solidFill>
          <a:ln w="25400">
            <a:solidFill>
              <a:srgbClr val="A29D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Demo video" descr="Bayan demo: select Arabic text, tap Simplify, read aloud">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7068691" y="1591056"/>
            <a:ext cx="2157604" cy="4626864"/>
          </a:xfrm>
          <a:prstGeom prst="rect">
            <a:avLst/>
          </a:prstGeom>
        </p:spPr>
      </p:pic>
      <p:sp>
        <p:nvSpPr>
          <p:cNvPr id="10" name="TextBox 9"/>
          <p:cNvSpPr txBox="1"/>
          <p:nvPr/>
        </p:nvSpPr>
        <p:spPr>
          <a:xfrm>
            <a:off x="566928" y="2468880"/>
            <a:ext cx="5934835" cy="502920"/>
          </a:xfrm>
          <a:prstGeom prst="rect">
            <a:avLst/>
          </a:prstGeom>
          <a:noFill/>
        </p:spPr>
        <p:txBody>
          <a:bodyPr wrap="square" lIns="0" rIns="0" tIns="0" bIns="0" anchor="ctr">
            <a:spAutoFit/>
          </a:bodyPr>
          <a:lstStyle/>
          <a:p>
            <a:pPr algn="l"/>
            <a:r>
              <a:rPr sz="3000" b="1">
                <a:solidFill>
                  <a:srgbClr val="282824"/>
                </a:solidFill>
                <a:latin typeface="Readex Pro"/>
                <a:cs typeface="Readex Pro"/>
                <a:ea typeface="Readex Pro"/>
              </a:rPr>
              <a:t>What the app does</a:t>
            </a:r>
          </a:p>
        </p:txBody>
      </p:sp>
      <p:sp>
        <p:nvSpPr>
          <p:cNvPr id="11" name="TextBox 10"/>
          <p:cNvSpPr txBox="1"/>
          <p:nvPr/>
        </p:nvSpPr>
        <p:spPr>
          <a:xfrm>
            <a:off x="566928" y="3154680"/>
            <a:ext cx="5934835" cy="1463040"/>
          </a:xfrm>
          <a:prstGeom prst="rect">
            <a:avLst/>
          </a:prstGeom>
          <a:noFill/>
        </p:spPr>
        <p:txBody>
          <a:bodyPr wrap="square" lIns="0" rIns="0" tIns="0" bIns="0" anchor="ctr">
            <a:spAutoFit/>
          </a:bodyPr>
          <a:lstStyle/>
          <a:p>
            <a:pPr algn="l">
              <a:lnSpc>
                <a:spcPct val="125000"/>
              </a:lnSpc>
            </a:pPr>
            <a:r>
              <a:rPr sz="1800" b="0">
                <a:solidFill>
                  <a:srgbClr val="4A4842"/>
                </a:solidFill>
                <a:latin typeface="Readex Pro"/>
                <a:cs typeface="Readex Pro"/>
                <a:ea typeface="Readex Pro"/>
              </a:rPr>
              <a:t>Select Arabic text in any app.</a:t>
            </a:r>
          </a:p>
          <a:p>
            <a:pPr algn="l">
              <a:lnSpc>
                <a:spcPct val="125000"/>
              </a:lnSpc>
            </a:pPr>
            <a:r>
              <a:rPr sz="1800" b="0">
                <a:solidFill>
                  <a:srgbClr val="4A4842"/>
                </a:solidFill>
                <a:latin typeface="Readex Pro"/>
                <a:cs typeface="Readex Pro"/>
                <a:ea typeface="Readex Pro"/>
              </a:rPr>
              <a:t>Tap تبسيط. Bayan simplifies it</a:t>
            </a:r>
          </a:p>
          <a:p>
            <a:pPr algn="l">
              <a:lnSpc>
                <a:spcPct val="125000"/>
              </a:lnSpc>
            </a:pPr>
            <a:r>
              <a:rPr sz="1800" b="0">
                <a:solidFill>
                  <a:srgbClr val="4A4842"/>
                </a:solidFill>
                <a:latin typeface="Readex Pro"/>
                <a:cs typeface="Readex Pro"/>
                <a:ea typeface="Readex Pro"/>
              </a:rPr>
              <a:t>and reads it aloud.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9"/>
                </p:tgtEl>
              </p:cMediaNode>
            </p:video>
          </p:childTnLst>
        </p:cTn>
      </p:par>
    </p:tnLst>
  </p:timing>
  <p:timing>
    <p:tnLst>
      <p:par>
        <p:cTn id="1" dur="indefinite" restart="never" nodeType="tmRoot">
          <p:childTnLst>
            <p:video>
              <p:cMediaNode vol="80000">
                <p:cTn id="2" fill="hold" display="0">
                  <p:stCondLst>
                    <p:cond delay="0"/>
                  </p:stCondLst>
                </p:cTn>
                <p:tgtEl>
                  <p:spTgt spid="9"/>
                </p:tgtEl>
              </p:cMediaNode>
            </p:video>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4" name="TextBox 3"/>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8 / 8</a:t>
            </a:r>
          </a:p>
        </p:txBody>
      </p:sp>
      <p:pic>
        <p:nvPicPr>
          <p:cNvPr id="6" name="Bayan logo" descr="Bayan logo"/>
          <p:cNvPicPr>
            <a:picLocks noChangeAspect="1"/>
          </p:cNvPicPr>
          <p:nvPr/>
        </p:nvPicPr>
        <p:blipFill>
          <a:blip r:embed="rId3"/>
          <a:stretch>
            <a:fillRect/>
          </a:stretch>
        </p:blipFill>
        <p:spPr>
          <a:xfrm>
            <a:off x="3808476" y="1600200"/>
            <a:ext cx="2286000" cy="1284446"/>
          </a:xfrm>
          <a:prstGeom prst="rect">
            <a:avLst/>
          </a:prstGeom>
        </p:spPr>
      </p:pic>
      <p:sp>
        <p:nvSpPr>
          <p:cNvPr id="7" name="TextBox 6"/>
          <p:cNvSpPr txBox="1"/>
          <p:nvPr/>
        </p:nvSpPr>
        <p:spPr>
          <a:xfrm>
            <a:off x="0" y="3977639"/>
            <a:ext cx="9902952" cy="594360"/>
          </a:xfrm>
          <a:prstGeom prst="rect">
            <a:avLst/>
          </a:prstGeom>
          <a:noFill/>
        </p:spPr>
        <p:txBody>
          <a:bodyPr wrap="square" lIns="0" rIns="0" tIns="0" bIns="0" anchor="ctr">
            <a:spAutoFit/>
          </a:bodyPr>
          <a:lstStyle/>
          <a:p>
            <a:pPr algn="ctr"/>
            <a:r>
              <a:rPr sz="3000" b="1">
                <a:solidFill>
                  <a:srgbClr val="F2EFE2"/>
                </a:solidFill>
                <a:latin typeface="Readex Pro"/>
                <a:cs typeface="Readex Pro"/>
                <a:ea typeface="Readex Pro"/>
              </a:rPr>
              <a:t>Simplify where you read.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9902952" cy="6858000"/>
          </a:xfrm>
          <a:prstGeom prst="rect">
            <a:avLst/>
          </a:prstGeom>
          <a:solidFill>
            <a:srgbClr val="1A1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Samsung logo" descr="Samsung"/>
          <p:cNvPicPr>
            <a:picLocks noChangeAspect="1"/>
          </p:cNvPicPr>
          <p:nvPr/>
        </p:nvPicPr>
        <p:blipFill>
          <a:blip r:embed="rId2"/>
          <a:stretch>
            <a:fillRect/>
          </a:stretch>
        </p:blipFill>
        <p:spPr>
          <a:xfrm>
            <a:off x="566928" y="6336792"/>
            <a:ext cx="1024128" cy="157460"/>
          </a:xfrm>
          <a:prstGeom prst="rect">
            <a:avLst/>
          </a:prstGeom>
        </p:spPr>
      </p:pic>
      <p:sp>
        <p:nvSpPr>
          <p:cNvPr id="4" name="TextBox 3"/>
          <p:cNvSpPr txBox="1"/>
          <p:nvPr/>
        </p:nvSpPr>
        <p:spPr>
          <a:xfrm>
            <a:off x="1737360" y="6382512"/>
            <a:ext cx="3840480" cy="256032"/>
          </a:xfrm>
          <a:prstGeom prst="rect">
            <a:avLst/>
          </a:prstGeom>
          <a:noFill/>
        </p:spPr>
        <p:txBody>
          <a:bodyPr wrap="square" lIns="0" rIns="0" tIns="0" bIns="0" anchor="ctr">
            <a:spAutoFit/>
          </a:bodyPr>
          <a:lstStyle/>
          <a:p>
            <a:pPr algn="l"/>
            <a:r>
              <a:rPr sz="1000" b="0">
                <a:solidFill>
                  <a:srgbClr val="F2EFE2"/>
                </a:solidFill>
                <a:latin typeface="Readex Pro"/>
                <a:cs typeface="Readex Pro"/>
                <a:ea typeface="Readex Pro"/>
              </a:rPr>
              <a:t>Samsung Innovation Campus  ·  AI Course</a:t>
            </a:r>
          </a:p>
        </p:txBody>
      </p:sp>
      <p:sp>
        <p:nvSpPr>
          <p:cNvPr id="5" name="TextBox 4"/>
          <p:cNvSpPr txBox="1"/>
          <p:nvPr/>
        </p:nvSpPr>
        <p:spPr>
          <a:xfrm>
            <a:off x="8421624" y="6382512"/>
            <a:ext cx="914400" cy="256032"/>
          </a:xfrm>
          <a:prstGeom prst="rect">
            <a:avLst/>
          </a:prstGeom>
          <a:noFill/>
        </p:spPr>
        <p:txBody>
          <a:bodyPr wrap="square" lIns="0" rIns="0" tIns="0" bIns="0" anchor="ctr">
            <a:spAutoFit/>
          </a:bodyPr>
          <a:lstStyle/>
          <a:p>
            <a:pPr algn="r"/>
            <a:r>
              <a:rPr sz="1000" b="0">
                <a:solidFill>
                  <a:srgbClr val="F2EFE2"/>
                </a:solidFill>
                <a:latin typeface="Readex Pro"/>
                <a:cs typeface="Readex Pro"/>
                <a:ea typeface="Readex Pro"/>
              </a:rPr>
              <a:t>8 / 8</a:t>
            </a:r>
          </a:p>
        </p:txBody>
      </p:sp>
      <p:sp>
        <p:nvSpPr>
          <p:cNvPr id="6" name="TextBox 5"/>
          <p:cNvSpPr txBox="1"/>
          <p:nvPr/>
        </p:nvSpPr>
        <p:spPr>
          <a:xfrm>
            <a:off x="0" y="1691640"/>
            <a:ext cx="9902952" cy="502920"/>
          </a:xfrm>
          <a:prstGeom prst="rect">
            <a:avLst/>
          </a:prstGeom>
          <a:noFill/>
        </p:spPr>
        <p:txBody>
          <a:bodyPr wrap="square" lIns="0" rIns="0" tIns="0" bIns="0" anchor="ctr">
            <a:spAutoFit/>
          </a:bodyPr>
          <a:lstStyle/>
          <a:p>
            <a:pPr algn="ctr"/>
            <a:r>
              <a:rPr sz="2800" b="1">
                <a:solidFill>
                  <a:srgbClr val="F2EFE2"/>
                </a:solidFill>
                <a:latin typeface="Readex Pro"/>
                <a:cs typeface="Readex Pro"/>
                <a:ea typeface="Readex Pro"/>
              </a:rPr>
              <a:t>Simplify where you read.</a:t>
            </a:r>
          </a:p>
        </p:txBody>
      </p:sp>
      <p:sp>
        <p:nvSpPr>
          <p:cNvPr id="7" name="Rounded Rectangle 6"/>
          <p:cNvSpPr/>
          <p:nvPr/>
        </p:nvSpPr>
        <p:spPr>
          <a:xfrm>
            <a:off x="2318956" y="2606040"/>
            <a:ext cx="5265039" cy="364236"/>
          </a:xfrm>
          <a:prstGeom prst="roundRect">
            <a:avLst>
              <a:gd name="adj" fmla="val 22594"/>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A29D8C"/>
                </a:solidFill>
                <a:latin typeface="Readex Pro"/>
                <a:cs typeface="Readex Pro"/>
                <a:ea typeface="Readex Pro"/>
              </a:rPr>
              <a:t>no reader has used Bayan; one reader rated 30 outputs</a:t>
            </a:r>
          </a:p>
        </p:txBody>
      </p:sp>
      <p:sp>
        <p:nvSpPr>
          <p:cNvPr id="8" name="Rounded Rectangle 7"/>
          <p:cNvSpPr/>
          <p:nvPr/>
        </p:nvSpPr>
        <p:spPr>
          <a:xfrm>
            <a:off x="3236912" y="3172968"/>
            <a:ext cx="3429127" cy="364236"/>
          </a:xfrm>
          <a:prstGeom prst="roundRect">
            <a:avLst>
              <a:gd name="adj" fmla="val 22594"/>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A29D8C"/>
                </a:solidFill>
                <a:latin typeface="Readex Pro"/>
                <a:cs typeface="Readex Pro"/>
                <a:ea typeface="Readex Pro"/>
              </a:rPr>
              <a:t>our scorer is stricter than people</a:t>
            </a:r>
          </a:p>
        </p:txBody>
      </p:sp>
      <p:sp>
        <p:nvSpPr>
          <p:cNvPr id="9" name="Rounded Rectangle 8"/>
          <p:cNvSpPr/>
          <p:nvPr/>
        </p:nvSpPr>
        <p:spPr>
          <a:xfrm>
            <a:off x="2642552" y="3739896"/>
            <a:ext cx="4617847" cy="364236"/>
          </a:xfrm>
          <a:prstGeom prst="roundRect">
            <a:avLst>
              <a:gd name="adj" fmla="val 22594"/>
            </a:avLst>
          </a:prstGeom>
          <a:solidFill>
            <a:srgbClr val="26261E"/>
          </a:solidFill>
          <a:ln w="15875">
            <a:solidFill>
              <a:srgbClr val="26261E"/>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0" bIns="0"/>
          <a:lstStyle/>
          <a:p>
            <a:pPr algn="ctr"/>
            <a:r>
              <a:rPr sz="1300" b="0">
                <a:solidFill>
                  <a:srgbClr val="A29D8C"/>
                </a:solidFill>
                <a:latin typeface="Readex Pro"/>
                <a:cs typeface="Readex Pro"/>
                <a:ea typeface="Readex Pro"/>
              </a:rPr>
              <a:t>the comparison with people covers 18 sentences</a:t>
            </a:r>
          </a:p>
        </p:txBody>
      </p:sp>
      <p:sp>
        <p:nvSpPr>
          <p:cNvPr id="10" name="TextBox 9"/>
          <p:cNvSpPr txBox="1"/>
          <p:nvPr/>
        </p:nvSpPr>
        <p:spPr>
          <a:xfrm>
            <a:off x="0" y="4617720"/>
            <a:ext cx="9902952" cy="329184"/>
          </a:xfrm>
          <a:prstGeom prst="rect">
            <a:avLst/>
          </a:prstGeom>
          <a:noFill/>
        </p:spPr>
        <p:txBody>
          <a:bodyPr wrap="square" lIns="0" rIns="0" tIns="0" bIns="0" anchor="ctr">
            <a:spAutoFit/>
          </a:bodyPr>
          <a:lstStyle/>
          <a:p>
            <a:pPr algn="ctr"/>
            <a:r>
              <a:rPr sz="1500" b="0">
                <a:solidFill>
                  <a:srgbClr val="C6986B"/>
                </a:solidFill>
                <a:latin typeface="Readex Pro"/>
                <a:cs typeface="Readex Pro"/>
                <a:ea typeface="Readex Pro"/>
              </a:rPr>
              <a:t>Next: a reading study with more readers.</a:t>
            </a:r>
          </a:p>
        </p:txBody>
      </p:sp>
      <p:sp>
        <p:nvSpPr>
          <p:cNvPr id="11" name="TextBox 10"/>
          <p:cNvSpPr txBox="1"/>
          <p:nvPr/>
        </p:nvSpPr>
        <p:spPr>
          <a:xfrm>
            <a:off x="0" y="5074920"/>
            <a:ext cx="9902952" cy="274320"/>
          </a:xfrm>
          <a:prstGeom prst="rect">
            <a:avLst/>
          </a:prstGeom>
          <a:noFill/>
        </p:spPr>
        <p:txBody>
          <a:bodyPr wrap="square" lIns="0" rIns="0" tIns="0" bIns="0" anchor="ctr">
            <a:spAutoFit/>
          </a:bodyPr>
          <a:lstStyle/>
          <a:p>
            <a:pPr algn="ctr"/>
            <a:r>
              <a:rPr sz="1200" b="0">
                <a:solidFill>
                  <a:srgbClr val="A29D8C"/>
                </a:solidFill>
                <a:latin typeface="Readex Pro"/>
                <a:cs typeface="Readex Pro"/>
                <a:ea typeface="Readex Pro"/>
              </a:rPr>
              <a:t>Thank you  ·  Team Cogni  ·  Samsung Innovation Campus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Office Theme">
  <a:themeElements>
    <a:clrScheme name="Office 테마">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amsung">
      <a:majorFont>
        <a:latin typeface="Samsung Sharp Sans"/>
        <a:ea typeface="SamsungOneKorean 700"/>
        <a:cs typeface=""/>
      </a:majorFont>
      <a:minorFont>
        <a:latin typeface="SamsungOne 400"/>
        <a:ea typeface="SamsungOneKorean 400"/>
        <a:cs typeface=""/>
      </a:minorFont>
    </a:fontScheme>
    <a:fmtScheme name="Office 테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B971F96850C604FA9DD4A6FAA1D7E94" ma:contentTypeVersion="13" ma:contentTypeDescription="Create a new document." ma:contentTypeScope="" ma:versionID="94bb0226509be2894c83196f814f5ace">
  <xsd:schema xmlns:xsd="http://www.w3.org/2001/XMLSchema" xmlns:xs="http://www.w3.org/2001/XMLSchema" xmlns:p="http://schemas.microsoft.com/office/2006/metadata/properties" xmlns:ns2="5192ee0d-e524-4888-b581-1910cadcd210" xmlns:ns3="525df02f-3aee-47af-b2f3-c2ea8bcae9a6" targetNamespace="http://schemas.microsoft.com/office/2006/metadata/properties" ma:root="true" ma:fieldsID="eb19b1b986ba2b37eb36a9dd005ffe1c" ns2:_="" ns3:_="">
    <xsd:import namespace="5192ee0d-e524-4888-b581-1910cadcd210"/>
    <xsd:import namespace="525df02f-3aee-47af-b2f3-c2ea8bcae9a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BillingMetadata" minOccurs="0"/>
                <xsd:element ref="ns2:MediaServiceOCR" minOccurs="0"/>
                <xsd:element ref="ns2:comme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192ee0d-e524-4888-b581-1910cadcd21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3ef62f9-2e07-484b-bd79-00aec90129fe" ma:termSetId="09814cd3-568e-fe90-9814-8d621ff8fb84" ma:anchorId="fba54fb3-c3e1-fe81-a776-ca4b69148c4d" ma:open="true" ma:isKeyword="false">
      <xsd:complexType>
        <xsd:sequence>
          <xsd:element ref="pc:Terms" minOccurs="0" maxOccurs="1"/>
        </xsd:sequence>
      </xsd:complexType>
    </xsd:element>
    <xsd:element name="MediaServiceBillingMetadata" ma:index="18" nillable="true" ma:displayName="MediaServiceBillingMetadata" ma:hidden="true" ma:internalName="MediaServiceBillingMetadata" ma:readOnly="true">
      <xsd:simpleType>
        <xsd:restriction base="dms:Note"/>
      </xsd:simpleType>
    </xsd:element>
    <xsd:element name="MediaServiceOCR" ma:index="19" nillable="true" ma:displayName="Extracted Text" ma:internalName="MediaServiceOCR" ma:readOnly="true">
      <xsd:simpleType>
        <xsd:restriction base="dms:Note">
          <xsd:maxLength value="255"/>
        </xsd:restriction>
      </xsd:simpleType>
    </xsd:element>
    <xsd:element name="comment" ma:index="20" nillable="true" ma:displayName="comment" ma:format="Dropdown" ma:internalName="comment">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525df02f-3aee-47af-b2f3-c2ea8bcae9a6"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ff2df0d5-6bdf-4400-9605-4c2d2eede7e4}" ma:internalName="TaxCatchAll" ma:showField="CatchAllData" ma:web="525df02f-3aee-47af-b2f3-c2ea8bcae9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525df02f-3aee-47af-b2f3-c2ea8bcae9a6" xsi:nil="true"/>
    <lcf76f155ced4ddcb4097134ff3c332f xmlns="5192ee0d-e524-4888-b581-1910cadcd210">
      <Terms xmlns="http://schemas.microsoft.com/office/infopath/2007/PartnerControls"/>
    </lcf76f155ced4ddcb4097134ff3c332f>
    <comment xmlns="5192ee0d-e524-4888-b581-1910cadcd210" xsi:nil="true"/>
  </documentManagement>
</p:properties>
</file>

<file path=customXml/itemProps1.xml><?xml version="1.0" encoding="utf-8"?>
<ds:datastoreItem xmlns:ds="http://schemas.openxmlformats.org/officeDocument/2006/customXml" ds:itemID="{0A0357D8-C495-42E3-A0C0-6723B236FB34}"/>
</file>

<file path=customXml/itemProps2.xml><?xml version="1.0" encoding="utf-8"?>
<ds:datastoreItem xmlns:ds="http://schemas.openxmlformats.org/officeDocument/2006/customXml" ds:itemID="{F7A1BB24-B868-43EF-95F7-238FE3A157D5}"/>
</file>

<file path=customXml/itemProps3.xml><?xml version="1.0" encoding="utf-8"?>
<ds:datastoreItem xmlns:ds="http://schemas.openxmlformats.org/officeDocument/2006/customXml" ds:itemID="{83B4D1BC-3672-47C7-8E98-3D3B83A92BF9}"/>
</file>

<file path=docProps/app.xml><?xml version="1.0" encoding="utf-8"?>
<Properties xmlns="http://schemas.openxmlformats.org/officeDocument/2006/extended-properties" xmlns:vt="http://schemas.openxmlformats.org/officeDocument/2006/docPropsVTypes">
  <Template/>
  <TotalTime>4279</TotalTime>
  <Words>65</Words>
  <Application>Microsoft Office PowerPoint</Application>
  <PresentationFormat>사용자 지정</PresentationFormat>
  <Paragraphs>23</Paragraphs>
  <Slides>4</Slides>
  <Notes>0</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4</vt:i4>
      </vt:variant>
    </vt:vector>
  </HeadingPairs>
  <TitlesOfParts>
    <vt:vector size="14" baseType="lpstr">
      <vt:lpstr>SamsungOne 400</vt:lpstr>
      <vt:lpstr>Samsung Sharp Sans Bold</vt:lpstr>
      <vt:lpstr>Samsung Sharp Sans</vt:lpstr>
      <vt:lpstr>Calibri</vt:lpstr>
      <vt:lpstr>Arial</vt:lpstr>
      <vt:lpstr>Samsung Sharp Sans Medium</vt:lpstr>
      <vt:lpstr>맑은 고딕</vt:lpstr>
      <vt:lpstr>SamsungOne 700</vt:lpstr>
      <vt:lpstr>SamsungOne 400C</vt:lpstr>
      <vt:lpstr>Office Theme</vt:lpstr>
      <vt:lpstr>Project Name</vt:lpstr>
      <vt:lpstr>PowerPoint 프레젠테이션</vt:lpstr>
      <vt:lpstr>Slide Title</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Programming in Python</dc:title>
  <dc:creator>Soon Yong Chang</dc:creator>
  <cp:lastModifiedBy>이 선우</cp:lastModifiedBy>
  <cp:revision>2081</cp:revision>
  <dcterms:created xsi:type="dcterms:W3CDTF">2019-07-06T14:12:49Z</dcterms:created>
  <dcterms:modified xsi:type="dcterms:W3CDTF">2025-12-26T06:30:13Z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0x010100EB971F96850C604FA9DD4A6FAA1D7E94</vt:lpwstr>
  </property>
</Properties>
</file>