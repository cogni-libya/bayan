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88696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5" y="36118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662739" y="4069079"/>
            <a:ext cx="347865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B5533C"/>
                </a:solidFill>
                <a:latin typeface="Readex Pro"/>
                <a:cs typeface="Readex Pro"/>
                <a:ea typeface="Readex Pro"/>
              </a:rPr>
              <a:t>not decoding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256032"/>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 words cut = longest clause, before minus after</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909828" y="1675637"/>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625596" y="1440179"/>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5596"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625596"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780275" y="1675637"/>
            <a:ext cx="3277743"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3195828" y="1874519"/>
            <a:ext cx="356616"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0508" y="1874519"/>
            <a:ext cx="356615"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926080"/>
            <a:ext cx="4434840" cy="3063240"/>
          </a:xfrm>
          <a:prstGeom prst="roundRect">
            <a:avLst>
              <a:gd name="adj" fmla="val 477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090672"/>
            <a:ext cx="4434840" cy="347472"/>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Meaning · 4 questions</a:t>
            </a:r>
          </a:p>
        </p:txBody>
      </p:sp>
      <p:sp>
        <p:nvSpPr>
          <p:cNvPr id="18" name="Rounded Rectangle 17"/>
          <p:cNvSpPr/>
          <p:nvPr/>
        </p:nvSpPr>
        <p:spPr>
          <a:xfrm>
            <a:off x="795528" y="3584448"/>
            <a:ext cx="3977639" cy="442468"/>
          </a:xfrm>
          <a:prstGeom prst="roundRect">
            <a:avLst>
              <a:gd name="adj" fmla="val 18599"/>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0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1988058" y="4173220"/>
            <a:ext cx="1592579"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adds a fact?</a:t>
            </a:r>
          </a:p>
        </p:txBody>
      </p:sp>
      <p:sp>
        <p:nvSpPr>
          <p:cNvPr id="20" name="Rounded Rectangle 19"/>
          <p:cNvSpPr/>
          <p:nvPr/>
        </p:nvSpPr>
        <p:spPr>
          <a:xfrm>
            <a:off x="1942655" y="4834382"/>
            <a:ext cx="1683384"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drops a fact?</a:t>
            </a:r>
          </a:p>
        </p:txBody>
      </p:sp>
      <p:sp>
        <p:nvSpPr>
          <p:cNvPr id="21" name="Rounded Rectangle 20"/>
          <p:cNvSpPr/>
          <p:nvPr/>
        </p:nvSpPr>
        <p:spPr>
          <a:xfrm>
            <a:off x="2010346" y="5495544"/>
            <a:ext cx="1548003"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contradicts?</a:t>
            </a:r>
          </a:p>
        </p:txBody>
      </p:sp>
      <p:sp>
        <p:nvSpPr>
          <p:cNvPr id="22" name="Rounded Rectangle 21"/>
          <p:cNvSpPr/>
          <p:nvPr/>
        </p:nvSpPr>
        <p:spPr>
          <a:xfrm>
            <a:off x="5321807" y="2926080"/>
            <a:ext cx="4434840" cy="3063240"/>
          </a:xfrm>
          <a:prstGeom prst="roundRect">
            <a:avLst>
              <a:gd name="adj" fmla="val 477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3090672"/>
            <a:ext cx="4434840" cy="347472"/>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Quality · 3 questions, diagnostic</a:t>
            </a:r>
          </a:p>
        </p:txBody>
      </p:sp>
      <p:sp>
        <p:nvSpPr>
          <p:cNvPr id="24" name="Rounded Rectangle 23"/>
          <p:cNvSpPr/>
          <p:nvPr/>
        </p:nvSpPr>
        <p:spPr>
          <a:xfrm>
            <a:off x="6618287" y="3584448"/>
            <a:ext cx="1841881"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Arabic correct?</a:t>
            </a:r>
          </a:p>
        </p:txBody>
      </p:sp>
      <p:sp>
        <p:nvSpPr>
          <p:cNvPr id="25" name="Rounded Rectangle 24"/>
          <p:cNvSpPr/>
          <p:nvPr/>
        </p:nvSpPr>
        <p:spPr>
          <a:xfrm>
            <a:off x="6879145" y="4245610"/>
            <a:ext cx="1320165"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coherent?</a:t>
            </a:r>
          </a:p>
        </p:txBody>
      </p:sp>
      <p:sp>
        <p:nvSpPr>
          <p:cNvPr id="26" name="Rounded Rectangle 25"/>
          <p:cNvSpPr/>
          <p:nvPr/>
        </p:nvSpPr>
        <p:spPr>
          <a:xfrm>
            <a:off x="6629019" y="4906772"/>
            <a:ext cx="1820417" cy="514858"/>
          </a:xfrm>
          <a:prstGeom prst="roundRect">
            <a:avLst>
              <a:gd name="adj" fmla="val 1598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easier to read?</a:t>
            </a:r>
          </a:p>
        </p:txBody>
      </p:sp>
      <p:sp>
        <p:nvSpPr>
          <p:cNvPr id="27" name="TextBox 26"/>
          <p:cNvSpPr txBox="1"/>
          <p:nvPr/>
        </p:nvSpPr>
        <p:spPr>
          <a:xfrm>
            <a:off x="5504688" y="5550408"/>
            <a:ext cx="4069079" cy="34747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people barely agree on these: never used to decide</a:t>
            </a:r>
          </a:p>
        </p:txBody>
      </p:sp>
      <p:sp>
        <p:nvSpPr>
          <p:cNvPr id="28" name="TextBox 27"/>
          <p:cNvSpPr txBox="1"/>
          <p:nvPr/>
        </p:nvSpPr>
        <p:spPr>
          <a:xfrm>
            <a:off x="5504688" y="5550408"/>
            <a:ext cx="4069079" cy="34747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148840" y="5120640"/>
            <a:ext cx="4617720"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48840" y="1874519"/>
            <a:ext cx="0" cy="3246121"/>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5230368"/>
            <a:ext cx="461772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1673352" y="3369563"/>
            <a:ext cx="3291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simplification: words cut from the longest clause  →</a:t>
            </a:r>
          </a:p>
        </p:txBody>
      </p:sp>
      <p:sp>
        <p:nvSpPr>
          <p:cNvPr id="13" name="Oval 12"/>
          <p:cNvSpPr/>
          <p:nvPr/>
        </p:nvSpPr>
        <p:spPr>
          <a:xfrm>
            <a:off x="6353555" y="477796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36920" y="446706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875885" y="477796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8255" y="446706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035966" y="402581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00" y="371491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01799" y="299655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57783" y="298283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859987" y="228399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54107" y="256745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361273" y="283820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8973" y="31216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665536" y="212564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85576" y="211192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094427" y="256857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04155" y="267829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491" y="270573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240280" y="560527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557784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TextBox 7"/>
          <p:cNvSpPr txBox="1"/>
          <p:nvPr/>
        </p:nvSpPr>
        <p:spPr>
          <a:xfrm>
            <a:off x="566928" y="1600200"/>
            <a:ext cx="8769096" cy="411480"/>
          </a:xfrm>
          <a:prstGeom prst="rect">
            <a:avLst/>
          </a:prstGeom>
          <a:noFill/>
        </p:spPr>
        <p:txBody>
          <a:bodyPr wrap="square" lIns="0" rIns="0" tIns="0" bIns="0" anchor="ctr">
            <a:spAutoFit/>
          </a:bodyPr>
          <a:lstStyle/>
          <a:p>
            <a:pPr algn="ctr"/>
            <a:r>
              <a:rPr sz="2200" b="1">
                <a:solidFill>
                  <a:srgbClr val="282824"/>
                </a:solidFill>
                <a:latin typeface="Readex Pro"/>
                <a:cs typeface="Readex Pro"/>
                <a:ea typeface="Readex Pro"/>
              </a:rPr>
              <a:t>What the app does</a:t>
            </a:r>
          </a:p>
        </p:txBody>
      </p:sp>
      <p:sp>
        <p:nvSpPr>
          <p:cNvPr id="9" name="Rounded Rectangle 8"/>
          <p:cNvSpPr/>
          <p:nvPr/>
        </p:nvSpPr>
        <p:spPr>
          <a:xfrm>
            <a:off x="3648456" y="2148840"/>
            <a:ext cx="2606040" cy="3794760"/>
          </a:xfrm>
          <a:prstGeom prst="roundRect">
            <a:avLst>
              <a:gd name="adj" fmla="val 9122"/>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58184" y="2258568"/>
            <a:ext cx="2386584" cy="3575304"/>
          </a:xfrm>
          <a:prstGeom prst="roundRect">
            <a:avLst>
              <a:gd name="adj" fmla="val 613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3543300"/>
            <a:ext cx="2606040" cy="7772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648456" y="4457700"/>
            <a:ext cx="2606040" cy="27432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recording goes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