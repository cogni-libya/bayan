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88696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5" y="36118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0144"/>
          </a:xfrm>
          <a:prstGeom prst="roundRect">
            <a:avLst>
              <a:gd name="adj" fmla="val 21093"/>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73888"/>
          </a:xfrm>
          <a:prstGeom prst="roundRect">
            <a:avLst>
              <a:gd name="adj" fmla="val 22010"/>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662739" y="4069079"/>
            <a:ext cx="3478657" cy="357631"/>
          </a:xfrm>
          <a:prstGeom prst="roundRect">
            <a:avLst>
              <a:gd name="adj" fmla="val 2301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B5533C"/>
                </a:solidFill>
                <a:latin typeface="Readex Pro"/>
                <a:cs typeface="Readex Pro"/>
                <a:ea typeface="Readex Pro"/>
              </a:rPr>
              <a:t>not decoding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57631"/>
          </a:xfrm>
          <a:prstGeom prst="roundRect">
            <a:avLst>
              <a:gd name="adj" fmla="val 23011"/>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57631"/>
          </a:xfrm>
          <a:prstGeom prst="roundRect">
            <a:avLst>
              <a:gd name="adj" fmla="val 23011"/>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57631"/>
          </a:xfrm>
          <a:prstGeom prst="roundRect">
            <a:avLst>
              <a:gd name="adj" fmla="val 23011"/>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57631"/>
          </a:xfrm>
          <a:prstGeom prst="roundRect">
            <a:avLst>
              <a:gd name="adj" fmla="val 23011"/>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57631"/>
          </a:xfrm>
          <a:prstGeom prst="roundRect">
            <a:avLst>
              <a:gd name="adj" fmla="val 23011"/>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57631"/>
          </a:xfrm>
          <a:prstGeom prst="roundRect">
            <a:avLst>
              <a:gd name="adj" fmla="val 2301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57631"/>
          </a:xfrm>
          <a:prstGeom prst="roundRect">
            <a:avLst>
              <a:gd name="adj" fmla="val 2301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57631"/>
          </a:xfrm>
          <a:prstGeom prst="roundRect">
            <a:avLst>
              <a:gd name="adj" fmla="val 2301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1375"/>
          </a:xfrm>
          <a:prstGeom prst="roundRect">
            <a:avLst>
              <a:gd name="adj" fmla="val 24107"/>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01472"/>
          </a:xfrm>
          <a:prstGeom prst="roundRect">
            <a:avLst>
              <a:gd name="adj" fmla="val 13682"/>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73888"/>
          </a:xfrm>
          <a:prstGeom prst="roundRect">
            <a:avLst>
              <a:gd name="adj" fmla="val 22010"/>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25120"/>
          </a:xfrm>
          <a:prstGeom prst="roundRect">
            <a:avLst>
              <a:gd name="adj" fmla="val 25312"/>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25120"/>
          </a:xfrm>
          <a:prstGeom prst="roundRect">
            <a:avLst>
              <a:gd name="adj" fmla="val 25312"/>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25120"/>
          </a:xfrm>
          <a:prstGeom prst="roundRect">
            <a:avLst>
              <a:gd name="adj" fmla="val 25312"/>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256032"/>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 words cut = longest clause, before minus after</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1112520" y="1600200"/>
            <a:ext cx="1981199" cy="357631"/>
          </a:xfrm>
          <a:prstGeom prst="roundRect">
            <a:avLst>
              <a:gd name="adj" fmla="val 23011"/>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original + rewrite</a:t>
            </a:r>
          </a:p>
        </p:txBody>
      </p:sp>
      <p:sp>
        <p:nvSpPr>
          <p:cNvPr id="10" name="Rounded Rectangle 9"/>
          <p:cNvSpPr/>
          <p:nvPr/>
        </p:nvSpPr>
        <p:spPr>
          <a:xfrm>
            <a:off x="3520440" y="1508760"/>
            <a:ext cx="2514600" cy="960120"/>
          </a:xfrm>
          <a:prstGeom prst="roundRect">
            <a:avLst>
              <a:gd name="adj" fmla="val 9523"/>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627632"/>
            <a:ext cx="2514600" cy="320040"/>
          </a:xfrm>
          <a:prstGeom prst="rect">
            <a:avLst/>
          </a:prstGeom>
          <a:noFill/>
        </p:spPr>
        <p:txBody>
          <a:bodyPr wrap="square" lIns="0" rIns="0" tIns="0" bIns="0" anchor="ctr">
            <a:spAutoFit/>
          </a:bodyPr>
          <a:lstStyle/>
          <a:p>
            <a:pPr algn="ctr"/>
            <a:r>
              <a:rPr sz="1600" b="1">
                <a:solidFill>
                  <a:srgbClr val="8A5E35"/>
                </a:solidFill>
                <a:latin typeface="Readex Pro"/>
                <a:cs typeface="Readex Pro"/>
                <a:ea typeface="Readex Pro"/>
              </a:rPr>
              <a:t>Gemma 4 31B</a:t>
            </a:r>
          </a:p>
        </p:txBody>
      </p:sp>
      <p:sp>
        <p:nvSpPr>
          <p:cNvPr id="12" name="TextBox 11"/>
          <p:cNvSpPr txBox="1"/>
          <p:nvPr/>
        </p:nvSpPr>
        <p:spPr>
          <a:xfrm>
            <a:off x="3520440" y="1993392"/>
            <a:ext cx="251460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797802" y="1600200"/>
            <a:ext cx="2040636" cy="357631"/>
          </a:xfrm>
          <a:prstGeom prst="roundRect">
            <a:avLst>
              <a:gd name="adj" fmla="val 23011"/>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7 yes/no → P(yes)</a:t>
            </a:r>
          </a:p>
        </p:txBody>
      </p:sp>
      <p:cxnSp>
        <p:nvCxnSpPr>
          <p:cNvPr id="14" name="Connector 13"/>
          <p:cNvCxnSpPr/>
          <p:nvPr/>
        </p:nvCxnSpPr>
        <p:spPr>
          <a:xfrm>
            <a:off x="3063240" y="2011680"/>
            <a:ext cx="41148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80760" y="2011680"/>
            <a:ext cx="45720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880360"/>
            <a:ext cx="4434840" cy="2606040"/>
          </a:xfrm>
          <a:prstGeom prst="roundRect">
            <a:avLst>
              <a:gd name="adj" fmla="val 561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035808"/>
            <a:ext cx="4434840" cy="320040"/>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1297146" y="3520440"/>
            <a:ext cx="2974403" cy="520192"/>
          </a:xfrm>
          <a:prstGeom prst="roundRect">
            <a:avLst>
              <a:gd name="adj" fmla="val 1582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1">
                <a:solidFill>
                  <a:srgbClr val="1A1A14"/>
                </a:solidFill>
                <a:latin typeface="Readex Pro"/>
                <a:cs typeface="Readex Pro"/>
                <a:ea typeface="Readex Pro"/>
              </a:rPr>
              <a:t>same meaning?  kept = yes ≥ 0.5</a:t>
            </a:r>
          </a:p>
          <a:p>
            <a:pPr algn="ctr"/>
            <a:r>
              <a:rPr sz="1150" b="1">
                <a:solidFill>
                  <a:srgbClr val="1A1A14"/>
                </a:solidFill>
                <a:latin typeface="Readex Pro"/>
                <a:cs typeface="Readex Pro"/>
                <a:ea typeface="Readex Pro"/>
              </a:rPr>
              <a:t>and every number kept</a:t>
            </a:r>
          </a:p>
        </p:txBody>
      </p:sp>
      <p:sp>
        <p:nvSpPr>
          <p:cNvPr id="19" name="Rounded Rectangle 18"/>
          <p:cNvSpPr/>
          <p:nvPr/>
        </p:nvSpPr>
        <p:spPr>
          <a:xfrm>
            <a:off x="2064639" y="3904488"/>
            <a:ext cx="1439417"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adds a fact?</a:t>
            </a:r>
          </a:p>
        </p:txBody>
      </p:sp>
      <p:sp>
        <p:nvSpPr>
          <p:cNvPr id="20" name="Rounded Rectangle 19"/>
          <p:cNvSpPr/>
          <p:nvPr/>
        </p:nvSpPr>
        <p:spPr>
          <a:xfrm>
            <a:off x="2024475" y="4288536"/>
            <a:ext cx="1519745"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drops a fact?</a:t>
            </a:r>
          </a:p>
        </p:txBody>
      </p:sp>
      <p:sp>
        <p:nvSpPr>
          <p:cNvPr id="21" name="Rounded Rectangle 20"/>
          <p:cNvSpPr/>
          <p:nvPr/>
        </p:nvSpPr>
        <p:spPr>
          <a:xfrm>
            <a:off x="2084355" y="4672584"/>
            <a:ext cx="1399984"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contradicts?</a:t>
            </a:r>
          </a:p>
        </p:txBody>
      </p:sp>
      <p:sp>
        <p:nvSpPr>
          <p:cNvPr id="22" name="Rounded Rectangle 21"/>
          <p:cNvSpPr/>
          <p:nvPr/>
        </p:nvSpPr>
        <p:spPr>
          <a:xfrm>
            <a:off x="5321807" y="2880360"/>
            <a:ext cx="4434840" cy="2606040"/>
          </a:xfrm>
          <a:prstGeom prst="roundRect">
            <a:avLst>
              <a:gd name="adj" fmla="val 561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3035808"/>
            <a:ext cx="4434840" cy="320040"/>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6709251" y="3520440"/>
            <a:ext cx="1659953"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Arabic correct?</a:t>
            </a:r>
          </a:p>
        </p:txBody>
      </p:sp>
      <p:sp>
        <p:nvSpPr>
          <p:cNvPr id="25" name="Rounded Rectangle 24"/>
          <p:cNvSpPr/>
          <p:nvPr/>
        </p:nvSpPr>
        <p:spPr>
          <a:xfrm>
            <a:off x="6940010" y="3904488"/>
            <a:ext cx="1198435"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coherent?</a:t>
            </a:r>
          </a:p>
        </p:txBody>
      </p:sp>
      <p:sp>
        <p:nvSpPr>
          <p:cNvPr id="26" name="Rounded Rectangle 25"/>
          <p:cNvSpPr/>
          <p:nvPr/>
        </p:nvSpPr>
        <p:spPr>
          <a:xfrm>
            <a:off x="6718744" y="4288536"/>
            <a:ext cx="1640966" cy="333248"/>
          </a:xfrm>
          <a:prstGeom prst="roundRect">
            <a:avLst>
              <a:gd name="adj" fmla="val 24695"/>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easier to read?</a:t>
            </a:r>
          </a:p>
        </p:txBody>
      </p:sp>
      <p:sp>
        <p:nvSpPr>
          <p:cNvPr id="27" name="TextBox 26"/>
          <p:cNvSpPr txBox="1"/>
          <p:nvPr/>
        </p:nvSpPr>
        <p:spPr>
          <a:xfrm>
            <a:off x="5504688" y="5047488"/>
            <a:ext cx="4069079" cy="36576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3248"/>
          </a:xfrm>
          <a:prstGeom prst="roundRect">
            <a:avLst>
              <a:gd name="adj" fmla="val 24695"/>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3248"/>
          </a:xfrm>
          <a:prstGeom prst="roundRect">
            <a:avLst>
              <a:gd name="adj" fmla="val 24695"/>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3248"/>
          </a:xfrm>
          <a:prstGeom prst="roundRect">
            <a:avLst>
              <a:gd name="adj" fmla="val 24695"/>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1069848" y="5212080"/>
            <a:ext cx="4892040" cy="0"/>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69848" y="1691640"/>
            <a:ext cx="0" cy="3520440"/>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69848" y="5303520"/>
            <a:ext cx="4892040" cy="237744"/>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meaning kept (%)  →</a:t>
            </a:r>
          </a:p>
        </p:txBody>
      </p:sp>
      <p:sp>
        <p:nvSpPr>
          <p:cNvPr id="12" name="TextBox 11"/>
          <p:cNvSpPr txBox="1"/>
          <p:nvPr/>
        </p:nvSpPr>
        <p:spPr>
          <a:xfrm>
            <a:off x="521207" y="3131820"/>
            <a:ext cx="960120" cy="64008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clause words</a:t>
            </a:r>
          </a:p>
          <a:p>
            <a:pPr algn="ctr"/>
            <a:r>
              <a:rPr sz="1100" b="0">
                <a:solidFill>
                  <a:srgbClr val="6F6B5E"/>
                </a:solidFill>
                <a:latin typeface="Readex Pro"/>
                <a:cs typeface="Readex Pro"/>
                <a:ea typeface="Readex Pro"/>
              </a:rPr>
              <a:t>shorter  →</a:t>
            </a:r>
          </a:p>
        </p:txBody>
      </p:sp>
      <p:sp>
        <p:nvSpPr>
          <p:cNvPr id="13" name="Oval 12"/>
          <p:cNvSpPr/>
          <p:nvPr/>
        </p:nvSpPr>
        <p:spPr>
          <a:xfrm>
            <a:off x="5535167" y="4853902"/>
            <a:ext cx="201168" cy="201168"/>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67072" y="4570438"/>
            <a:ext cx="1737360" cy="237744"/>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copy</a:t>
            </a:r>
          </a:p>
        </p:txBody>
      </p:sp>
      <p:sp>
        <p:nvSpPr>
          <p:cNvPr id="15" name="Oval 14"/>
          <p:cNvSpPr/>
          <p:nvPr/>
        </p:nvSpPr>
        <p:spPr>
          <a:xfrm>
            <a:off x="4126260" y="4166987"/>
            <a:ext cx="201168" cy="20116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8164" y="3883523"/>
            <a:ext cx="1737360" cy="237744"/>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app-arat5 (today)</a:t>
            </a:r>
          </a:p>
        </p:txBody>
      </p:sp>
      <p:sp>
        <p:nvSpPr>
          <p:cNvPr id="17" name="Oval 16"/>
          <p:cNvSpPr/>
          <p:nvPr/>
        </p:nvSpPr>
        <p:spPr>
          <a:xfrm>
            <a:off x="4087124" y="3308343"/>
            <a:ext cx="201168" cy="201168"/>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89148" y="2406767"/>
            <a:ext cx="201168" cy="201168"/>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580375" y="3136615"/>
            <a:ext cx="201168" cy="20116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12279" y="2853151"/>
            <a:ext cx="1737360" cy="237744"/>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app-arabart</a:t>
            </a:r>
          </a:p>
        </p:txBody>
      </p:sp>
      <p:sp>
        <p:nvSpPr>
          <p:cNvPr id="21" name="Oval 20"/>
          <p:cNvSpPr/>
          <p:nvPr/>
        </p:nvSpPr>
        <p:spPr>
          <a:xfrm>
            <a:off x="2639080" y="3308343"/>
            <a:ext cx="201168" cy="201168"/>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745467" y="2277971"/>
            <a:ext cx="201168" cy="201168"/>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307433" y="2545488"/>
            <a:ext cx="438912" cy="438912"/>
          </a:xfrm>
          <a:prstGeom prst="ellipse">
            <a:avLst/>
          </a:prstGeom>
          <a:noFill/>
          <a:ln w="19050">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398873" y="2636928"/>
            <a:ext cx="256032" cy="256032"/>
          </a:xfrm>
          <a:prstGeom prst="ellipse">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9769" y="2618640"/>
            <a:ext cx="1554480" cy="256032"/>
          </a:xfrm>
          <a:prstGeom prst="rect">
            <a:avLst/>
          </a:prstGeom>
          <a:noFill/>
        </p:spPr>
        <p:txBody>
          <a:bodyPr wrap="square" lIns="0" rIns="0" tIns="0" bIns="0" anchor="ctr">
            <a:spAutoFit/>
          </a:bodyPr>
          <a:lstStyle/>
          <a:p>
            <a:pPr algn="l"/>
            <a:r>
              <a:rPr sz="1100" b="1">
                <a:solidFill>
                  <a:srgbClr val="B5533C"/>
                </a:solidFill>
                <a:latin typeface="Readex Pro"/>
                <a:cs typeface="Readex Pro"/>
                <a:ea typeface="Readex Pro"/>
              </a:rPr>
              <a:t>model 3 + net</a:t>
            </a:r>
          </a:p>
        </p:txBody>
      </p:sp>
      <p:sp>
        <p:nvSpPr>
          <p:cNvPr id="26" name="Rectangle 25"/>
          <p:cNvSpPr/>
          <p:nvPr/>
        </p:nvSpPr>
        <p:spPr>
          <a:xfrm>
            <a:off x="1207007" y="565099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16736" y="562356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28" name="Rounded Rectangle 27"/>
          <p:cNvSpPr/>
          <p:nvPr/>
        </p:nvSpPr>
        <p:spPr>
          <a:xfrm>
            <a:off x="6464807" y="1874519"/>
            <a:ext cx="2661412" cy="568960"/>
          </a:xfrm>
          <a:prstGeom prst="roundRect">
            <a:avLst>
              <a:gd name="adj" fmla="val 1446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 more it simplifies,</a:t>
            </a:r>
          </a:p>
          <a:p>
            <a:pPr algn="ctr"/>
            <a:r>
              <a:rPr sz="1300" b="0">
                <a:solidFill>
                  <a:srgbClr val="4A4842"/>
                </a:solidFill>
                <a:latin typeface="Readex Pro"/>
                <a:cs typeface="Readex Pro"/>
                <a:ea typeface="Readex Pro"/>
              </a:rPr>
              <a:t>the less meaning it keeps</a:t>
            </a:r>
          </a:p>
        </p:txBody>
      </p:sp>
      <p:sp>
        <p:nvSpPr>
          <p:cNvPr id="29" name="Rounded Rectangle 28"/>
          <p:cNvSpPr/>
          <p:nvPr/>
        </p:nvSpPr>
        <p:spPr>
          <a:xfrm>
            <a:off x="6464807" y="2788920"/>
            <a:ext cx="2871216" cy="487680"/>
          </a:xfrm>
          <a:prstGeom prst="roundRect">
            <a:avLst>
              <a:gd name="adj" fmla="val 16875"/>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v0.3 keeps the most meaning (82%)</a:t>
            </a:r>
          </a:p>
          <a:p>
            <a:pPr algn="ctr"/>
            <a:r>
              <a:rPr sz="1050" b="1">
                <a:solidFill>
                  <a:srgbClr val="1A1A14"/>
                </a:solidFill>
                <a:latin typeface="Readex Pro"/>
                <a:cs typeface="Readex Pro"/>
                <a:ea typeface="Readex Pro"/>
              </a:rPr>
              <a:t>and still cuts 5.2 words</a:t>
            </a:r>
          </a:p>
        </p:txBody>
      </p:sp>
      <p:sp>
        <p:nvSpPr>
          <p:cNvPr id="30" name="Rounded Rectangle 29"/>
          <p:cNvSpPr/>
          <p:nvPr/>
        </p:nvSpPr>
        <p:spPr>
          <a:xfrm>
            <a:off x="6464807" y="3794760"/>
            <a:ext cx="2449068" cy="536448"/>
          </a:xfrm>
          <a:prstGeom prst="roundRect">
            <a:avLst>
              <a:gd name="adj" fmla="val 15340"/>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app's large model,</a:t>
            </a:r>
          </a:p>
          <a:p>
            <a:pPr algn="ctr"/>
            <a:r>
              <a:rPr sz="1200" b="0">
                <a:solidFill>
                  <a:srgbClr val="4A4842"/>
                </a:solidFill>
                <a:latin typeface="Readex Pro"/>
                <a:cs typeface="Readex Pro"/>
                <a:ea typeface="Readex Pro"/>
              </a:rPr>
              <a:t>four beams + safety net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57631"/>
          </a:xfrm>
          <a:prstGeom prst="roundRect">
            <a:avLst>
              <a:gd name="adj" fmla="val 2301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1375"/>
          </a:xfrm>
          <a:prstGeom prst="roundRect">
            <a:avLst>
              <a:gd name="adj" fmla="val 24107"/>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57631"/>
          </a:xfrm>
          <a:prstGeom prst="roundRect">
            <a:avLst>
              <a:gd name="adj" fmla="val 2301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3248"/>
          </a:xfrm>
          <a:prstGeom prst="roundRect">
            <a:avLst>
              <a:gd name="adj" fmla="val 24695"/>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TextBox 7"/>
          <p:cNvSpPr txBox="1"/>
          <p:nvPr/>
        </p:nvSpPr>
        <p:spPr>
          <a:xfrm>
            <a:off x="566928" y="1600200"/>
            <a:ext cx="8769096" cy="411480"/>
          </a:xfrm>
          <a:prstGeom prst="rect">
            <a:avLst/>
          </a:prstGeom>
          <a:noFill/>
        </p:spPr>
        <p:txBody>
          <a:bodyPr wrap="square" lIns="0" rIns="0" tIns="0" bIns="0" anchor="ctr">
            <a:spAutoFit/>
          </a:bodyPr>
          <a:lstStyle/>
          <a:p>
            <a:pPr algn="ctr"/>
            <a:r>
              <a:rPr sz="2200" b="1">
                <a:solidFill>
                  <a:srgbClr val="282824"/>
                </a:solidFill>
                <a:latin typeface="Readex Pro"/>
                <a:cs typeface="Readex Pro"/>
                <a:ea typeface="Readex Pro"/>
              </a:rPr>
              <a:t>What the app does</a:t>
            </a:r>
          </a:p>
        </p:txBody>
      </p:sp>
      <p:sp>
        <p:nvSpPr>
          <p:cNvPr id="9" name="Rounded Rectangle 8"/>
          <p:cNvSpPr/>
          <p:nvPr/>
        </p:nvSpPr>
        <p:spPr>
          <a:xfrm>
            <a:off x="3648456" y="2148840"/>
            <a:ext cx="2606040" cy="3794760"/>
          </a:xfrm>
          <a:prstGeom prst="roundRect">
            <a:avLst>
              <a:gd name="adj" fmla="val 9122"/>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58184" y="2258568"/>
            <a:ext cx="2386584" cy="3575304"/>
          </a:xfrm>
          <a:prstGeom prst="roundRect">
            <a:avLst>
              <a:gd name="adj" fmla="val 613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48456" y="3543300"/>
            <a:ext cx="2606040" cy="777240"/>
          </a:xfrm>
          <a:prstGeom prst="rect">
            <a:avLst/>
          </a:prstGeom>
          <a:noFill/>
        </p:spPr>
        <p:txBody>
          <a:bodyPr wrap="square" lIns="0" rIns="0" tIns="0" bIns="0" anchor="ctr">
            <a:spAutoFit/>
          </a:bodyPr>
          <a:lstStyle/>
          <a:p>
            <a:pPr algn="ctr"/>
            <a:r>
              <a:rPr sz="3600" b="0">
                <a:solidFill>
                  <a:srgbClr val="6F6B5E"/>
                </a:solidFill>
                <a:latin typeface="Readex Pro"/>
                <a:cs typeface="Readex Pro"/>
                <a:ea typeface="Readex Pro"/>
              </a:rPr>
              <a:t>▶</a:t>
            </a:r>
          </a:p>
        </p:txBody>
      </p:sp>
      <p:sp>
        <p:nvSpPr>
          <p:cNvPr id="12" name="TextBox 11"/>
          <p:cNvSpPr txBox="1"/>
          <p:nvPr/>
        </p:nvSpPr>
        <p:spPr>
          <a:xfrm>
            <a:off x="3648456" y="4457700"/>
            <a:ext cx="2606040" cy="27432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recording goes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57631"/>
          </a:xfrm>
          <a:prstGeom prst="roundRect">
            <a:avLst>
              <a:gd name="adj" fmla="val 23011"/>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57631"/>
          </a:xfrm>
          <a:prstGeom prst="roundRect">
            <a:avLst>
              <a:gd name="adj" fmla="val 23011"/>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57631"/>
          </a:xfrm>
          <a:prstGeom prst="roundRect">
            <a:avLst>
              <a:gd name="adj" fmla="val 23011"/>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