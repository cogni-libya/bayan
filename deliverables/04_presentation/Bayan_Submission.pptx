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a:p/>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94360" y="6327648"/>
            <a:ext cx="1051560" cy="161677"/>
          </a:xfrm>
          <a:prstGeom prst="rect">
            <a:avLst/>
          </a:prstGeom>
        </p:spPr>
      </p:pic>
      <p:sp>
        <p:nvSpPr>
          <p:cNvPr id="4" name="TextBox 3"/>
          <p:cNvSpPr txBox="1"/>
          <p:nvPr/>
        </p:nvSpPr>
        <p:spPr>
          <a:xfrm>
            <a:off x="1828800" y="6281928"/>
            <a:ext cx="4114800" cy="274320"/>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394192" y="6281928"/>
            <a:ext cx="914400" cy="274320"/>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7</a:t>
            </a:r>
          </a:p>
        </p:txBody>
      </p:sp>
      <p:pic>
        <p:nvPicPr>
          <p:cNvPr id="6" name="Bayan logo" descr="Bayan logo: open book with a sun"/>
          <p:cNvPicPr>
            <a:picLocks noChangeAspect="1"/>
          </p:cNvPicPr>
          <p:nvPr/>
        </p:nvPicPr>
        <p:blipFill>
          <a:blip r:embed="rId3"/>
          <a:stretch>
            <a:fillRect/>
          </a:stretch>
        </p:blipFill>
        <p:spPr>
          <a:xfrm>
            <a:off x="3442716" y="868680"/>
            <a:ext cx="3017520" cy="1695469"/>
          </a:xfrm>
          <a:prstGeom prst="rect">
            <a:avLst/>
          </a:prstGeom>
        </p:spPr>
      </p:pic>
      <p:sp>
        <p:nvSpPr>
          <p:cNvPr id="7" name="TextBox 6"/>
          <p:cNvSpPr txBox="1"/>
          <p:nvPr/>
        </p:nvSpPr>
        <p:spPr>
          <a:xfrm>
            <a:off x="0" y="2971800"/>
            <a:ext cx="9902952" cy="822960"/>
          </a:xfrm>
          <a:prstGeom prst="rect">
            <a:avLst/>
          </a:prstGeom>
          <a:noFill/>
        </p:spPr>
        <p:txBody>
          <a:bodyPr wrap="square" lIns="0" rIns="0" tIns="0" bIns="0" anchor="ctr">
            <a:spAutoFit/>
          </a:bodyPr>
          <a:lstStyle/>
          <a:p>
            <a:pPr algn="ctr"/>
            <a:r>
              <a:rPr sz="5400" b="1">
                <a:solidFill>
                  <a:srgbClr val="F2EFE2"/>
                </a:solidFill>
                <a:latin typeface="Readex Pro"/>
                <a:cs typeface="Readex Pro"/>
                <a:ea typeface="Readex Pro"/>
              </a:rPr>
              <a:t>Bayan</a:t>
            </a:r>
          </a:p>
        </p:txBody>
      </p:sp>
      <p:sp>
        <p:nvSpPr>
          <p:cNvPr id="8" name="TextBox 7"/>
          <p:cNvSpPr txBox="1"/>
          <p:nvPr/>
        </p:nvSpPr>
        <p:spPr>
          <a:xfrm>
            <a:off x="0" y="3840480"/>
            <a:ext cx="9902952" cy="365760"/>
          </a:xfrm>
          <a:prstGeom prst="rect">
            <a:avLst/>
          </a:prstGeom>
          <a:noFill/>
        </p:spPr>
        <p:txBody>
          <a:bodyPr wrap="square" lIns="0" rIns="0" tIns="0" bIns="0" anchor="ctr">
            <a:spAutoFit/>
          </a:bodyPr>
          <a:lstStyle/>
          <a:p>
            <a:pPr algn="ctr"/>
            <a:r>
              <a:rPr sz="1800" b="0">
                <a:solidFill>
                  <a:srgbClr val="F2EFE2"/>
                </a:solidFill>
                <a:latin typeface="Readex Pro"/>
                <a:cs typeface="Readex Pro"/>
                <a:ea typeface="Readex Pro"/>
              </a:rPr>
              <a:t>Simplify Arabic where you read</a:t>
            </a:r>
          </a:p>
        </p:txBody>
      </p:sp>
      <p:sp>
        <p:nvSpPr>
          <p:cNvPr id="9" name="TextBox 8"/>
          <p:cNvSpPr txBox="1"/>
          <p:nvPr/>
        </p:nvSpPr>
        <p:spPr>
          <a:xfrm>
            <a:off x="0" y="4251960"/>
            <a:ext cx="9902952" cy="320040"/>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4754880"/>
            <a:ext cx="9902952" cy="320040"/>
          </a:xfrm>
          <a:prstGeom prst="rect">
            <a:avLst/>
          </a:prstGeom>
          <a:noFill/>
        </p:spPr>
        <p:txBody>
          <a:bodyPr wrap="square" lIns="0" rIns="0" tIns="0" bIns="0" anchor="ctr">
            <a:spAutoFit/>
          </a:bodyPr>
          <a:lstStyle/>
          <a:p>
            <a:pPr algn="ctr"/>
            <a:r>
              <a:rPr sz="1600" b="1">
                <a:solidFill>
                  <a:srgbClr val="C6986B"/>
                </a:solidFill>
                <a:latin typeface="Readex Pro"/>
                <a:cs typeface="Readex Pro"/>
                <a:ea typeface="Readex Pro"/>
              </a:rPr>
              <a:t>Team Cogni</a:t>
            </a:r>
          </a:p>
        </p:txBody>
      </p:sp>
      <p:sp>
        <p:nvSpPr>
          <p:cNvPr id="11" name="TextBox 10"/>
          <p:cNvSpPr txBox="1"/>
          <p:nvPr/>
        </p:nvSpPr>
        <p:spPr>
          <a:xfrm>
            <a:off x="0" y="5166360"/>
            <a:ext cx="9902952" cy="274320"/>
          </a:xfrm>
          <a:prstGeom prst="rect">
            <a:avLst/>
          </a:prstGeom>
          <a:noFill/>
        </p:spPr>
        <p:txBody>
          <a:bodyPr wrap="square" lIns="0" rIns="0" tIns="0" bIns="0" anchor="ctr">
            <a:spAutoFit/>
          </a:bodyPr>
          <a:lstStyle/>
          <a:p>
            <a:pPr algn="ctr"/>
            <a:r>
              <a:rPr sz="105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22" presetClass="entr" presetSubtype="8" fill="hold" grpId="0" nodeType="after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wipe(left)">
                                      <p:cBhvr>
                                        <p:cTn id="6" dur="1500"/>
                                        <p:tgtEl>
                                          <p:spTgt spid="6"/>
                                        </p:tgtEl>
                                      </p:cBhvr>
                                    </p:animEffect>
                                  </p:childTnLst>
                                </p:cTn>
                              </p:par>
                              <p:par>
                                <p:cTn id="10" presetID="10" presetClass="entr" presetSubtype="0" fill="hold" grpId="0" nodeType="withEffect">
                                  <p:stCondLst>
                                    <p:cond delay="130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3" presetID="10" presetClass="entr" presetSubtype="0" fill="hold" grpId="0" nodeType="withEffect">
                                  <p:stCondLst>
                                    <p:cond delay="170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6" presetID="10" presetClass="entr" presetSubtype="0" fill="hold" grpId="0" nodeType="withEffect">
                                  <p:stCondLst>
                                    <p:cond delay="190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9" presetID="10" presetClass="entr" presetSubtype="0" fill="hold" grpId="0" nodeType="withEffect">
                                  <p:stCondLst>
                                    <p:cond delay="210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22" presetID="10" presetClass="entr" presetSubtype="0" fill="hold" grpId="0" nodeType="withEffect">
                                  <p:stCondLst>
                                    <p:cond delay="210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502920"/>
            <a:ext cx="54864" cy="219456"/>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457200"/>
            <a:ext cx="4572000" cy="310896"/>
          </a:xfrm>
          <a:prstGeom prst="rect">
            <a:avLst/>
          </a:prstGeom>
          <a:noFill/>
        </p:spPr>
        <p:txBody>
          <a:bodyPr wrap="square" lIns="0" rIns="0" tIns="0" bIns="0" anchor="ctr">
            <a:spAutoFit/>
          </a:bodyPr>
          <a:lstStyle/>
          <a:p>
            <a:pPr algn="l"/>
            <a:r>
              <a:rPr sz="1100" b="1">
                <a:solidFill>
                  <a:srgbClr val="C6986B"/>
                </a:solidFill>
                <a:latin typeface="Readex Pro"/>
                <a:cs typeface="Readex Pro"/>
                <a:ea typeface="Readex Pro"/>
              </a:rPr>
              <a:t>01 · THE PROBLEM</a:t>
            </a:r>
          </a:p>
        </p:txBody>
      </p:sp>
      <p:sp>
        <p:nvSpPr>
          <p:cNvPr id="5" name="TextBox 4"/>
          <p:cNvSpPr txBox="1"/>
          <p:nvPr/>
        </p:nvSpPr>
        <p:spPr>
          <a:xfrm>
            <a:off x="594360" y="822960"/>
            <a:ext cx="8714232" cy="548640"/>
          </a:xfrm>
          <a:prstGeom prst="rect">
            <a:avLst/>
          </a:prstGeom>
          <a:noFill/>
        </p:spPr>
        <p:txBody>
          <a:bodyPr wrap="square" lIns="0" rIns="0" tIns="0" bIns="0" anchor="ctr">
            <a:spAutoFit/>
          </a:bodyPr>
          <a:lstStyle/>
          <a:p>
            <a:pPr algn="l"/>
            <a:r>
              <a:rPr sz="28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94360" y="6327648"/>
            <a:ext cx="1051560" cy="161677"/>
          </a:xfrm>
          <a:prstGeom prst="rect">
            <a:avLst/>
          </a:prstGeom>
        </p:spPr>
      </p:pic>
      <p:sp>
        <p:nvSpPr>
          <p:cNvPr id="7" name="TextBox 6"/>
          <p:cNvSpPr txBox="1"/>
          <p:nvPr/>
        </p:nvSpPr>
        <p:spPr>
          <a:xfrm>
            <a:off x="1828800" y="6281928"/>
            <a:ext cx="4114800" cy="274320"/>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394192" y="6281928"/>
            <a:ext cx="914400" cy="274320"/>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7</a:t>
            </a:r>
          </a:p>
        </p:txBody>
      </p:sp>
      <p:sp>
        <p:nvSpPr>
          <p:cNvPr id="9" name="TextBox 8"/>
          <p:cNvSpPr txBox="1"/>
          <p:nvPr/>
        </p:nvSpPr>
        <p:spPr>
          <a:xfrm>
            <a:off x="594360" y="1691640"/>
            <a:ext cx="3383280" cy="1097280"/>
          </a:xfrm>
          <a:prstGeom prst="rect">
            <a:avLst/>
          </a:prstGeom>
          <a:noFill/>
        </p:spPr>
        <p:txBody>
          <a:bodyPr wrap="square" lIns="0" rIns="0" tIns="0" bIns="0" anchor="ctr">
            <a:spAutoFit/>
          </a:bodyPr>
          <a:lstStyle/>
          <a:p>
            <a:pPr algn="ctr"/>
            <a:r>
              <a:rPr sz="8000" b="0">
                <a:solidFill>
                  <a:srgbClr val="C6986B"/>
                </a:solidFill>
                <a:latin typeface="Readex Pro"/>
                <a:cs typeface="Readex Pro"/>
                <a:ea typeface="Readex Pro"/>
              </a:rPr>
              <a:t>11%</a:t>
            </a:r>
          </a:p>
        </p:txBody>
      </p:sp>
      <p:sp>
        <p:nvSpPr>
          <p:cNvPr id="10" name="TextBox 9"/>
          <p:cNvSpPr txBox="1"/>
          <p:nvPr/>
        </p:nvSpPr>
        <p:spPr>
          <a:xfrm>
            <a:off x="594360" y="2880360"/>
            <a:ext cx="3383280" cy="640080"/>
          </a:xfrm>
          <a:prstGeom prst="rect">
            <a:avLst/>
          </a:prstGeom>
          <a:noFill/>
        </p:spPr>
        <p:txBody>
          <a:bodyPr wrap="square" lIns="0" rIns="0" tIns="0" bIns="0" anchor="ctr">
            <a:spAutoFit/>
          </a:bodyPr>
          <a:lstStyle/>
          <a:p>
            <a:pPr algn="ctr"/>
            <a:r>
              <a:rPr sz="1500" b="0">
                <a:solidFill>
                  <a:srgbClr val="4A4842"/>
                </a:solidFill>
                <a:latin typeface="Readex Pro"/>
                <a:cs typeface="Readex Pro"/>
                <a:ea typeface="Readex Pro"/>
              </a:rPr>
              <a:t>of Arab primary-school children</a:t>
            </a:r>
          </a:p>
          <a:p>
            <a:pPr algn="ctr"/>
            <a:r>
              <a:rPr sz="1500" b="0">
                <a:solidFill>
                  <a:srgbClr val="4A4842"/>
                </a:solidFill>
                <a:latin typeface="Readex Pro"/>
                <a:cs typeface="Readex Pro"/>
                <a:ea typeface="Readex Pro"/>
              </a:rPr>
              <a:t>have developmental dyslexia</a:t>
            </a:r>
          </a:p>
        </p:txBody>
      </p:sp>
      <p:sp>
        <p:nvSpPr>
          <p:cNvPr id="11" name="TextBox 10"/>
          <p:cNvSpPr txBox="1"/>
          <p:nvPr/>
        </p:nvSpPr>
        <p:spPr>
          <a:xfrm>
            <a:off x="594360" y="3566160"/>
            <a:ext cx="3383280"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Al-Dakhil 2024, meta-analysis</a:t>
            </a:r>
          </a:p>
        </p:txBody>
      </p:sp>
      <p:sp>
        <p:nvSpPr>
          <p:cNvPr id="12" name="Rounded Rectangle 11"/>
          <p:cNvSpPr/>
          <p:nvPr/>
        </p:nvSpPr>
        <p:spPr>
          <a:xfrm>
            <a:off x="4297680" y="1463040"/>
            <a:ext cx="5010912" cy="3383280"/>
          </a:xfrm>
          <a:prstGeom prst="roundRect">
            <a:avLst>
              <a:gd name="adj" fmla="val 432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600200"/>
            <a:ext cx="5010912" cy="100584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4" name="TextBox 13"/>
          <p:cNvSpPr txBox="1"/>
          <p:nvPr/>
        </p:nvSpPr>
        <p:spPr>
          <a:xfrm>
            <a:off x="4297680" y="2606040"/>
            <a:ext cx="5010912"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5" name="Connector 14"/>
          <p:cNvCxnSpPr/>
          <p:nvPr/>
        </p:nvCxnSpPr>
        <p:spPr>
          <a:xfrm>
            <a:off x="6803136" y="2971800"/>
            <a:ext cx="1746504" cy="32004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26679" y="3291840"/>
            <a:ext cx="1645920" cy="640080"/>
          </a:xfrm>
          <a:prstGeom prst="rect">
            <a:avLst/>
          </a:prstGeom>
          <a:noFill/>
        </p:spPr>
        <p:txBody>
          <a:bodyPr wrap="square" lIns="0" rIns="0" tIns="0" bIns="0" anchor="ctr">
            <a:spAutoFit/>
          </a:bodyPr>
          <a:lstStyle/>
          <a:p>
            <a:pPr algn="ctr" rtl="1"/>
            <a:r>
              <a:rPr sz="3200" b="0" lang="ar-SA">
                <a:solidFill>
                  <a:srgbClr val="282824"/>
                </a:solidFill>
                <a:latin typeface="Amiri"/>
                <a:cs typeface="Amiri"/>
                <a:ea typeface="Amiri"/>
              </a:rPr>
              <a:t>كَتَبَ</a:t>
            </a:r>
          </a:p>
        </p:txBody>
      </p:sp>
      <p:sp>
        <p:nvSpPr>
          <p:cNvPr id="17" name="TextBox 16"/>
          <p:cNvSpPr txBox="1"/>
          <p:nvPr/>
        </p:nvSpPr>
        <p:spPr>
          <a:xfrm>
            <a:off x="7726679" y="3977639"/>
            <a:ext cx="164592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8" name="Connector 17"/>
          <p:cNvCxnSpPr/>
          <p:nvPr/>
        </p:nvCxnSpPr>
        <p:spPr>
          <a:xfrm>
            <a:off x="6803136" y="2971800"/>
            <a:ext cx="0" cy="32004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980176" y="3291840"/>
            <a:ext cx="1645920" cy="640080"/>
          </a:xfrm>
          <a:prstGeom prst="rect">
            <a:avLst/>
          </a:prstGeom>
          <a:noFill/>
        </p:spPr>
        <p:txBody>
          <a:bodyPr wrap="square" lIns="0" rIns="0" tIns="0" bIns="0" anchor="ctr">
            <a:spAutoFit/>
          </a:bodyPr>
          <a:lstStyle/>
          <a:p>
            <a:pPr algn="ctr" rtl="1"/>
            <a:r>
              <a:rPr sz="3200" b="0" lang="ar-SA">
                <a:solidFill>
                  <a:srgbClr val="282824"/>
                </a:solidFill>
                <a:latin typeface="Amiri"/>
                <a:cs typeface="Amiri"/>
                <a:ea typeface="Amiri"/>
              </a:rPr>
              <a:t>كُتِبَ</a:t>
            </a:r>
          </a:p>
        </p:txBody>
      </p:sp>
      <p:sp>
        <p:nvSpPr>
          <p:cNvPr id="20" name="TextBox 19"/>
          <p:cNvSpPr txBox="1"/>
          <p:nvPr/>
        </p:nvSpPr>
        <p:spPr>
          <a:xfrm>
            <a:off x="5980176" y="3977639"/>
            <a:ext cx="164592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1" name="Connector 20"/>
          <p:cNvCxnSpPr/>
          <p:nvPr/>
        </p:nvCxnSpPr>
        <p:spPr>
          <a:xfrm flipH="1">
            <a:off x="5056632" y="2971800"/>
            <a:ext cx="1746504" cy="32004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233672" y="3291840"/>
            <a:ext cx="1645920" cy="640080"/>
          </a:xfrm>
          <a:prstGeom prst="rect">
            <a:avLst/>
          </a:prstGeom>
          <a:noFill/>
        </p:spPr>
        <p:txBody>
          <a:bodyPr wrap="square" lIns="0" rIns="0" tIns="0" bIns="0" anchor="ctr">
            <a:spAutoFit/>
          </a:bodyPr>
          <a:lstStyle/>
          <a:p>
            <a:pPr algn="ctr" rtl="1"/>
            <a:r>
              <a:rPr sz="3200" b="0" lang="ar-SA">
                <a:solidFill>
                  <a:srgbClr val="282824"/>
                </a:solidFill>
                <a:latin typeface="Amiri"/>
                <a:cs typeface="Amiri"/>
                <a:ea typeface="Amiri"/>
              </a:rPr>
              <a:t>كُتُب</a:t>
            </a:r>
          </a:p>
        </p:txBody>
      </p:sp>
      <p:sp>
        <p:nvSpPr>
          <p:cNvPr id="23" name="TextBox 22"/>
          <p:cNvSpPr txBox="1"/>
          <p:nvPr/>
        </p:nvSpPr>
        <p:spPr>
          <a:xfrm>
            <a:off x="4233672" y="3977639"/>
            <a:ext cx="164592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
        <p:nvSpPr>
          <p:cNvPr id="24" name="Rounded Rectangle 23"/>
          <p:cNvSpPr/>
          <p:nvPr/>
        </p:nvSpPr>
        <p:spPr>
          <a:xfrm>
            <a:off x="914400" y="4160520"/>
            <a:ext cx="1417320" cy="2331720"/>
          </a:xfrm>
          <a:prstGeom prst="roundRect">
            <a:avLst>
              <a:gd name="adj" fmla="val 14193"/>
            </a:avLst>
          </a:prstGeom>
          <a:solidFill>
            <a:srgbClr val="F6F2E6"/>
          </a:solidFill>
          <a:ln w="31750">
            <a:solidFill>
              <a:srgbClr val="2828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51560" y="4297680"/>
            <a:ext cx="1143000" cy="2057400"/>
          </a:xfrm>
          <a:prstGeom prst="roundRect">
            <a:avLst>
              <a:gd name="adj" fmla="val 800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8720" y="4709160"/>
            <a:ext cx="868680" cy="201168"/>
          </a:xfrm>
          <a:prstGeom prst="roundRect">
            <a:avLst>
              <a:gd name="adj" fmla="val 27272"/>
            </a:avLst>
          </a:prstGeom>
          <a:solidFill>
            <a:srgbClr val="C6986B">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43000" y="5029200"/>
            <a:ext cx="1051560" cy="320040"/>
          </a:xfrm>
          <a:prstGeom prst="roundRect">
            <a:avLst>
              <a:gd name="adj" fmla="val 34285"/>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1A1A14"/>
                </a:solidFill>
                <a:latin typeface="Readex Pro"/>
                <a:cs typeface="Readex Pro"/>
                <a:ea typeface="Readex Pro"/>
              </a:rPr>
              <a:t>تبسيط</a:t>
            </a:r>
          </a:p>
        </p:txBody>
      </p:sp>
      <p:sp>
        <p:nvSpPr>
          <p:cNvPr id="28" name="Rounded Rectangle 27"/>
          <p:cNvSpPr/>
          <p:nvPr/>
        </p:nvSpPr>
        <p:spPr>
          <a:xfrm>
            <a:off x="1143000" y="5532120"/>
            <a:ext cx="1051560" cy="640080"/>
          </a:xfrm>
          <a:prstGeom prst="roundRect">
            <a:avLst>
              <a:gd name="adj" fmla="val 17142"/>
            </a:avLst>
          </a:prstGeom>
          <a:solidFill>
            <a:srgbClr val="EFE9D9"/>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743200" y="4343400"/>
            <a:ext cx="4754880" cy="1691640"/>
          </a:xfrm>
          <a:prstGeom prst="roundRect">
            <a:avLst>
              <a:gd name="adj" fmla="val 864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0360" y="4434840"/>
            <a:ext cx="4480560" cy="320040"/>
          </a:xfrm>
          <a:prstGeom prst="rect">
            <a:avLst/>
          </a:prstGeom>
          <a:noFill/>
        </p:spPr>
        <p:txBody>
          <a:bodyPr wrap="square" lIns="0" rIns="0" tIns="0" bIns="0" anchor="ctr">
            <a:spAutoFit/>
          </a:bodyPr>
          <a:lstStyle/>
          <a:p>
            <a:pPr algn="l"/>
            <a:r>
              <a:rPr sz="1300" b="0">
                <a:solidFill>
                  <a:srgbClr val="4A4842"/>
                </a:solidFill>
                <a:latin typeface="Readex Pro"/>
                <a:cs typeface="Readex Pro"/>
                <a:ea typeface="Readex Pro"/>
              </a:rPr>
              <a:t>1  Select the hard text in any app</a:t>
            </a:r>
          </a:p>
        </p:txBody>
      </p:sp>
      <p:sp>
        <p:nvSpPr>
          <p:cNvPr id="31" name="TextBox 30"/>
          <p:cNvSpPr txBox="1"/>
          <p:nvPr/>
        </p:nvSpPr>
        <p:spPr>
          <a:xfrm>
            <a:off x="2880360" y="4846320"/>
            <a:ext cx="4480560" cy="320040"/>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2  Tap تبسيط in the menu</a:t>
            </a:r>
          </a:p>
        </p:txBody>
      </p:sp>
      <p:sp>
        <p:nvSpPr>
          <p:cNvPr id="32" name="TextBox 31"/>
          <p:cNvSpPr txBox="1"/>
          <p:nvPr/>
        </p:nvSpPr>
        <p:spPr>
          <a:xfrm>
            <a:off x="2880360" y="5257800"/>
            <a:ext cx="4480560" cy="502920"/>
          </a:xfrm>
          <a:prstGeom prst="rect">
            <a:avLst/>
          </a:prstGeom>
          <a:noFill/>
        </p:spPr>
        <p:txBody>
          <a:bodyPr wrap="square" lIns="0" rIns="0" tIns="0" bIns="0" anchor="ctr">
            <a:spAutoFit/>
          </a:bodyPr>
          <a:lstStyle/>
          <a:p>
            <a:pPr algn="l"/>
            <a:r>
              <a:rPr sz="1300" b="0">
                <a:solidFill>
                  <a:srgbClr val="4A4842"/>
                </a:solidFill>
                <a:latin typeface="Readex Pro"/>
                <a:cs typeface="Readex Pro"/>
                <a:ea typeface="Readex Pro"/>
              </a:rPr>
              <a:t>3  A sheet shows the simpler text</a:t>
            </a:r>
          </a:p>
          <a:p>
            <a:pPr algn="l"/>
            <a:r>
              <a:rPr sz="1300" b="0">
                <a:solidFill>
                  <a:srgbClr val="4A4842"/>
                </a:solidFill>
                <a:latin typeface="Readex Pro"/>
                <a:cs typeface="Readex Pro"/>
                <a:ea typeface="Readex Pro"/>
              </a:rPr>
              <a:t>     and reads it aloud</a:t>
            </a:r>
          </a:p>
        </p:txBody>
      </p:sp>
      <p:sp>
        <p:nvSpPr>
          <p:cNvPr id="33" name="Rounded Rectangle 32"/>
          <p:cNvSpPr/>
          <p:nvPr/>
        </p:nvSpPr>
        <p:spPr>
          <a:xfrm>
            <a:off x="594360" y="5989320"/>
            <a:ext cx="5943600" cy="347472"/>
          </a:xfrm>
          <a:prstGeom prst="roundRect">
            <a:avLst>
              <a:gd name="adj" fmla="val 47368"/>
            </a:avLst>
          </a:prstGeom>
          <a:solidFill>
            <a:srgbClr val="EEDD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We reduce load: long clauses, hard words.  Not decoding.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30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50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4" fill="hold">
                      <p:stCondLst>
                        <p:cond delay="indefinite"/>
                      </p:stCondLst>
                      <p:childTnLst>
                        <p:par>
                          <p:cTn id="15" fill="hold">
                            <p:stCondLst>
                              <p:cond delay="0"/>
                            </p:stCondLst>
                            <p:childTnLst>
                              <p:par>
                                <p:cTn id="18"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21" presetID="10" presetClass="entr" presetSubtype="0" fill="hold" grpId="0" nodeType="withEffect">
                                  <p:stCondLst>
                                    <p:cond delay="1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4" presetID="10" presetClass="entr" presetSubtype="0" fill="hold" grpId="0" nodeType="withEffect">
                                  <p:stCondLst>
                                    <p:cond delay="40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7" presetID="10" presetClass="entr" presetSubtype="0" fill="hold" grpId="0" nodeType="withEffect">
                                  <p:stCondLst>
                                    <p:cond delay="70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30" presetID="10" presetClass="entr" presetSubtype="0" fill="hold" grpId="0" nodeType="withEffect">
                                  <p:stCondLst>
                                    <p:cond delay="95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3" presetID="10" presetClass="entr" presetSubtype="0" fill="hold" grpId="0" nodeType="withEffect">
                                  <p:stCondLst>
                                    <p:cond delay="12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par>
                                <p:cTn id="36" presetID="10" presetClass="entr" presetSubtype="0" fill="hold" grpId="0" nodeType="withEffect">
                                  <p:stCondLst>
                                    <p:cond delay="8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42" presetID="10" presetClass="entr" presetSubtype="0" fill="hold" grpId="0" nodeType="withEffect">
                                  <p:stCondLst>
                                    <p:cond delay="10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5" presetID="10" presetClass="entr" presetSubtype="0" fill="hold" grpId="0" nodeType="withEffect">
                                  <p:stCondLst>
                                    <p:cond delay="10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8" presetID="10" presetClass="entr" presetSubtype="0" fill="hold" grpId="0" nodeType="withEffect">
                                  <p:stCondLst>
                                    <p:cond delay="13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51" presetID="10" presetClass="entr" presetSubtype="0" fill="hold" grpId="0" nodeType="withEffect">
                                  <p:stCondLst>
                                    <p:cond delay="130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childTnLst>
                          </p:cTn>
                        </p:par>
                      </p:childTnLst>
                    </p:cTn>
                  </p:par>
                  <p:par>
                    <p:cTn id="52" fill="hold">
                      <p:stCondLst>
                        <p:cond delay="indefinite"/>
                      </p:stCondLst>
                      <p:childTnLst>
                        <p:par>
                          <p:cTn id="53" fill="hold">
                            <p:stCondLst>
                              <p:cond delay="0"/>
                            </p:stCondLst>
                            <p:childTnLst>
                              <p:par>
                                <p:cTn id="56" presetID="10" presetClass="entr" presetSubtype="0" fill="hold" grpId="0" nodeType="click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500"/>
                                        <p:tgtEl>
                                          <p:spTgt spid="24"/>
                                        </p:tgtEl>
                                      </p:cBhvr>
                                    </p:animEffect>
                                  </p:childTnLst>
                                </p:cTn>
                              </p:par>
                              <p:par>
                                <p:cTn id="59" presetID="10" presetClass="entr" presetSubtype="0" fill="hold" grpId="0" nodeType="withEffect">
                                  <p:stCondLst>
                                    <p:cond delay="20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500"/>
                                        <p:tgtEl>
                                          <p:spTgt spid="25"/>
                                        </p:tgtEl>
                                      </p:cBhvr>
                                    </p:animEffect>
                                  </p:childTnLst>
                                </p:cTn>
                              </p:par>
                              <p:par>
                                <p:cTn id="62" presetID="10" presetClass="entr" presetSubtype="0" fill="hold" grpId="0" nodeType="withEffect">
                                  <p:stCondLst>
                                    <p:cond delay="5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5" presetID="10" presetClass="entr" presetSubtype="0" fill="hold" grpId="0" nodeType="withEffect">
                                  <p:stCondLst>
                                    <p:cond delay="80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500"/>
                                        <p:tgtEl>
                                          <p:spTgt spid="27"/>
                                        </p:tgtEl>
                                      </p:cBhvr>
                                    </p:animEffect>
                                  </p:childTnLst>
                                </p:cTn>
                              </p:par>
                              <p:par>
                                <p:cTn id="68" presetID="10" presetClass="entr" presetSubtype="0" fill="hold" grpId="0" nodeType="withEffect">
                                  <p:stCondLst>
                                    <p:cond delay="110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500"/>
                                        <p:tgtEl>
                                          <p:spTgt spid="28"/>
                                        </p:tgtEl>
                                      </p:cBhvr>
                                    </p:animEffect>
                                  </p:childTnLst>
                                </p:cTn>
                              </p:par>
                              <p:par>
                                <p:cTn id="71" presetID="10" presetClass="entr" presetSubtype="0" fill="hold" grpId="0" nodeType="withEffect">
                                  <p:stCondLst>
                                    <p:cond delay="140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500"/>
                                        <p:tgtEl>
                                          <p:spTgt spid="29"/>
                                        </p:tgtEl>
                                      </p:cBhvr>
                                    </p:animEffect>
                                  </p:childTnLst>
                                </p:cTn>
                              </p:par>
                              <p:par>
                                <p:cTn id="74" presetID="10" presetClass="entr" presetSubtype="0" fill="hold" grpId="0" nodeType="withEffect">
                                  <p:stCondLst>
                                    <p:cond delay="160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500"/>
                                        <p:tgtEl>
                                          <p:spTgt spid="30"/>
                                        </p:tgtEl>
                                      </p:cBhvr>
                                    </p:animEffect>
                                  </p:childTnLst>
                                </p:cTn>
                              </p:par>
                              <p:par>
                                <p:cTn id="77" presetID="10" presetClass="entr" presetSubtype="0" fill="hold" grpId="0" nodeType="withEffect">
                                  <p:stCondLst>
                                    <p:cond delay="180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500"/>
                                        <p:tgtEl>
                                          <p:spTgt spid="31"/>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500"/>
                                        <p:tgtEl>
                                          <p:spTgt spid="32"/>
                                        </p:tgtEl>
                                      </p:cBhvr>
                                    </p:animEffect>
                                  </p:childTnLst>
                                </p:cTn>
                              </p:par>
                            </p:childTnLst>
                          </p:cTn>
                        </p:par>
                      </p:childTnLst>
                    </p:cTn>
                  </p:par>
                  <p:par>
                    <p:cTn id="81" fill="hold">
                      <p:stCondLst>
                        <p:cond delay="indefinite"/>
                      </p:stCondLst>
                      <p:childTnLst>
                        <p:par>
                          <p:cTn id="82" fill="hold">
                            <p:stCondLst>
                              <p:cond delay="0"/>
                            </p:stCondLst>
                            <p:childTnLst>
                              <p:par>
                                <p:cTn id="85" presetID="10" presetClass="entr" presetSubtype="0" fill="hold" grpId="0" nodeType="click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6" grpId="0" animBg="1"/>
      <p:bldP spid="17" grpId="0" animBg="1"/>
      <p:bldP spid="19" grpId="0" animBg="1"/>
      <p:bldP spid="20"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502920"/>
            <a:ext cx="54864" cy="219456"/>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457200"/>
            <a:ext cx="4572000" cy="310896"/>
          </a:xfrm>
          <a:prstGeom prst="rect">
            <a:avLst/>
          </a:prstGeom>
          <a:noFill/>
        </p:spPr>
        <p:txBody>
          <a:bodyPr wrap="square" lIns="0" rIns="0" tIns="0" bIns="0" anchor="ctr">
            <a:spAutoFit/>
          </a:bodyPr>
          <a:lstStyle/>
          <a:p>
            <a:pPr algn="l"/>
            <a:r>
              <a:rPr sz="1100" b="1">
                <a:solidFill>
                  <a:srgbClr val="C6986B"/>
                </a:solidFill>
                <a:latin typeface="Readex Pro"/>
                <a:cs typeface="Readex Pro"/>
                <a:ea typeface="Readex Pro"/>
              </a:rPr>
              <a:t>02 · DATA PROCESSING</a:t>
            </a:r>
          </a:p>
        </p:txBody>
      </p:sp>
      <p:sp>
        <p:nvSpPr>
          <p:cNvPr id="5" name="TextBox 4"/>
          <p:cNvSpPr txBox="1"/>
          <p:nvPr/>
        </p:nvSpPr>
        <p:spPr>
          <a:xfrm>
            <a:off x="594360" y="822960"/>
            <a:ext cx="8714232" cy="548640"/>
          </a:xfrm>
          <a:prstGeom prst="rect">
            <a:avLst/>
          </a:prstGeom>
          <a:noFill/>
        </p:spPr>
        <p:txBody>
          <a:bodyPr wrap="square" lIns="0" rIns="0" tIns="0" bIns="0" anchor="ctr">
            <a:spAutoFit/>
          </a:bodyPr>
          <a:lstStyle/>
          <a:p>
            <a:pPr algn="l"/>
            <a:r>
              <a:rPr sz="2800" b="1">
                <a:solidFill>
                  <a:srgbClr val="282824"/>
                </a:solidFill>
                <a:latin typeface="Readex Pro"/>
                <a:cs typeface="Readex Pro"/>
                <a:ea typeface="Readex Pro"/>
              </a:rPr>
              <a:t>Corpus v1, built behind gates</a:t>
            </a:r>
          </a:p>
        </p:txBody>
      </p:sp>
      <p:pic>
        <p:nvPicPr>
          <p:cNvPr id="6" name="Samsung logo" descr="Samsung"/>
          <p:cNvPicPr>
            <a:picLocks noChangeAspect="1"/>
          </p:cNvPicPr>
          <p:nvPr/>
        </p:nvPicPr>
        <p:blipFill>
          <a:blip r:embed="rId2"/>
          <a:stretch>
            <a:fillRect/>
          </a:stretch>
        </p:blipFill>
        <p:spPr>
          <a:xfrm>
            <a:off x="594360" y="6327648"/>
            <a:ext cx="1051560" cy="161677"/>
          </a:xfrm>
          <a:prstGeom prst="rect">
            <a:avLst/>
          </a:prstGeom>
        </p:spPr>
      </p:pic>
      <p:sp>
        <p:nvSpPr>
          <p:cNvPr id="7" name="TextBox 6"/>
          <p:cNvSpPr txBox="1"/>
          <p:nvPr/>
        </p:nvSpPr>
        <p:spPr>
          <a:xfrm>
            <a:off x="1828800" y="6281928"/>
            <a:ext cx="4114800" cy="274320"/>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394192" y="6281928"/>
            <a:ext cx="914400" cy="274320"/>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7</a:t>
            </a:r>
          </a:p>
        </p:txBody>
      </p:sp>
      <p:sp>
        <p:nvSpPr>
          <p:cNvPr id="9" name="TextBox 8"/>
          <p:cNvSpPr txBox="1"/>
          <p:nvPr/>
        </p:nvSpPr>
        <p:spPr>
          <a:xfrm>
            <a:off x="594360" y="1417320"/>
            <a:ext cx="8714232" cy="320040"/>
          </a:xfrm>
          <a:prstGeom prst="rect">
            <a:avLst/>
          </a:prstGeom>
          <a:noFill/>
        </p:spPr>
        <p:txBody>
          <a:bodyPr wrap="square" lIns="0" rIns="0" tIns="0" bIns="0" anchor="ctr">
            <a:spAutoFit/>
          </a:bodyPr>
          <a:lstStyle/>
          <a:p>
            <a:pPr algn="l"/>
            <a:r>
              <a:rPr sz="1600" b="1">
                <a:solidFill>
                  <a:srgbClr val="282824"/>
                </a:solidFill>
                <a:latin typeface="Readex Pro"/>
                <a:cs typeface="Readex Pro"/>
                <a:ea typeface="Readex Pro"/>
              </a:rPr>
              <a:t>What the first synthetic corpus got wrong</a:t>
            </a:r>
          </a:p>
        </p:txBody>
      </p:sp>
      <p:sp>
        <p:nvSpPr>
          <p:cNvPr id="10" name="Rounded Rectangle 9"/>
          <p:cNvSpPr/>
          <p:nvPr/>
        </p:nvSpPr>
        <p:spPr>
          <a:xfrm>
            <a:off x="594360" y="1874519"/>
            <a:ext cx="4389120" cy="329184"/>
          </a:xfrm>
          <a:prstGeom prst="roundRect">
            <a:avLst>
              <a:gd name="adj" fmla="val 50000"/>
            </a:avLst>
          </a:prstGeom>
          <a:solidFill>
            <a:srgbClr val="F3E2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B5533C"/>
                </a:solidFill>
                <a:latin typeface="Readex Pro"/>
                <a:cs typeface="Readex Pro"/>
                <a:ea typeface="Readex Pro"/>
              </a:rPr>
              <a:t>56.5% of rows had tashkeel we strip anyway</a:t>
            </a:r>
          </a:p>
        </p:txBody>
      </p:sp>
      <p:sp>
        <p:nvSpPr>
          <p:cNvPr id="11" name="Rounded Rectangle 10"/>
          <p:cNvSpPr/>
          <p:nvPr/>
        </p:nvSpPr>
        <p:spPr>
          <a:xfrm>
            <a:off x="594360" y="2286000"/>
            <a:ext cx="4389120" cy="329184"/>
          </a:xfrm>
          <a:prstGeom prst="roundRect">
            <a:avLst>
              <a:gd name="adj" fmla="val 50000"/>
            </a:avLst>
          </a:prstGeom>
          <a:solidFill>
            <a:srgbClr val="F3E2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B5533C"/>
                </a:solidFill>
                <a:latin typeface="Readex Pro"/>
                <a:cs typeface="Readex Pro"/>
                <a:ea typeface="Readex Pro"/>
              </a:rPr>
              <a:t>63.4% of cut-off sources were simply completed</a:t>
            </a:r>
          </a:p>
        </p:txBody>
      </p:sp>
      <p:sp>
        <p:nvSpPr>
          <p:cNvPr id="12" name="Rounded Rectangle 11"/>
          <p:cNvSpPr/>
          <p:nvPr/>
        </p:nvSpPr>
        <p:spPr>
          <a:xfrm>
            <a:off x="594360" y="2697480"/>
            <a:ext cx="4389120" cy="329184"/>
          </a:xfrm>
          <a:prstGeom prst="roundRect">
            <a:avLst>
              <a:gd name="adj" fmla="val 50000"/>
            </a:avLst>
          </a:prstGeom>
          <a:solidFill>
            <a:srgbClr val="F3E2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B5533C"/>
                </a:solidFill>
                <a:latin typeface="Readex Pro"/>
                <a:cs typeface="Readex Pro"/>
                <a:ea typeface="Readex Pro"/>
              </a:rPr>
              <a:t>11.1% of short sources were rewritten</a:t>
            </a:r>
          </a:p>
        </p:txBody>
      </p:sp>
      <p:sp>
        <p:nvSpPr>
          <p:cNvPr id="13" name="Rounded Rectangle 12"/>
          <p:cNvSpPr/>
          <p:nvPr/>
        </p:nvSpPr>
        <p:spPr>
          <a:xfrm>
            <a:off x="594360" y="3108960"/>
            <a:ext cx="4389120" cy="329184"/>
          </a:xfrm>
          <a:prstGeom prst="roundRect">
            <a:avLst>
              <a:gd name="adj" fmla="val 50000"/>
            </a:avLst>
          </a:prstGeom>
          <a:solidFill>
            <a:srgbClr val="F3E2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B5533C"/>
                </a:solidFill>
                <a:latin typeface="Readex Pro"/>
                <a:cs typeface="Readex Pro"/>
                <a:ea typeface="Readex Pro"/>
              </a:rPr>
              <a:t>only 42.9% of pairs were 2+ levels easier</a:t>
            </a:r>
          </a:p>
        </p:txBody>
      </p:sp>
      <p:sp>
        <p:nvSpPr>
          <p:cNvPr id="14" name="TextBox 13"/>
          <p:cNvSpPr txBox="1"/>
          <p:nvPr/>
        </p:nvSpPr>
        <p:spPr>
          <a:xfrm>
            <a:off x="594360" y="3611880"/>
            <a:ext cx="8714232" cy="274320"/>
          </a:xfrm>
          <a:prstGeom prst="rect">
            <a:avLst/>
          </a:prstGeom>
          <a:noFill/>
        </p:spPr>
        <p:txBody>
          <a:bodyPr wrap="square" lIns="0" rIns="0" tIns="0" bIns="0" anchor="ctr">
            <a:spAutoFit/>
          </a:bodyPr>
          <a:lstStyle/>
          <a:p>
            <a:pPr algn="l"/>
            <a:r>
              <a:rPr sz="1300" b="0">
                <a:solidFill>
                  <a:srgbClr val="4A4842"/>
                </a:solidFill>
                <a:latin typeface="Readex Pro"/>
                <a:cs typeface="Readex Pro"/>
                <a:ea typeface="Readex Pro"/>
              </a:rPr>
              <a:t>So every gate in corpus v1 exists because of a failure we saw.</a:t>
            </a:r>
          </a:p>
        </p:txBody>
      </p:sp>
      <p:sp>
        <p:nvSpPr>
          <p:cNvPr id="15" name="Rounded Rectangle 14"/>
          <p:cNvSpPr/>
          <p:nvPr/>
        </p:nvSpPr>
        <p:spPr>
          <a:xfrm>
            <a:off x="594360" y="4160520"/>
            <a:ext cx="141732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206240"/>
            <a:ext cx="1325880" cy="320040"/>
          </a:xfrm>
          <a:prstGeom prst="rect">
            <a:avLst/>
          </a:prstGeom>
          <a:noFill/>
        </p:spPr>
        <p:txBody>
          <a:bodyPr wrap="square" lIns="0" rIns="0" tIns="0" bIns="0" anchor="ctr">
            <a:spAutoFit/>
          </a:bodyPr>
          <a:lstStyle/>
          <a:p>
            <a:pPr algn="ctr"/>
            <a:r>
              <a:rPr sz="1000" b="1">
                <a:solidFill>
                  <a:srgbClr val="282824"/>
                </a:solidFill>
                <a:latin typeface="Readex Pro"/>
                <a:cs typeface="Readex Pro"/>
                <a:ea typeface="Readex Pro"/>
              </a:rPr>
              <a:t>BAREC train + dev</a:t>
            </a:r>
          </a:p>
        </p:txBody>
      </p:sp>
      <p:sp>
        <p:nvSpPr>
          <p:cNvPr id="17" name="TextBox 16"/>
          <p:cNvSpPr txBox="1"/>
          <p:nvPr/>
        </p:nvSpPr>
        <p:spPr>
          <a:xfrm>
            <a:off x="640080" y="4526280"/>
            <a:ext cx="1325880" cy="320040"/>
          </a:xfrm>
          <a:prstGeom prst="rect">
            <a:avLst/>
          </a:prstGeom>
          <a:noFill/>
        </p:spPr>
        <p:txBody>
          <a:bodyPr wrap="square" lIns="0" rIns="0" tIns="0" bIns="0" anchor="ctr">
            <a:spAutoFit/>
          </a:bodyPr>
          <a:lstStyle/>
          <a:p>
            <a:pPr algn="ctr"/>
            <a:r>
              <a:rPr sz="850" b="0">
                <a:solidFill>
                  <a:srgbClr val="6F6B5E"/>
                </a:solidFill>
                <a:latin typeface="Readex Pro"/>
                <a:cs typeface="Readex Pro"/>
                <a:ea typeface="Readex Pro"/>
              </a:rPr>
              <a:t>test never enters</a:t>
            </a:r>
          </a:p>
        </p:txBody>
      </p:sp>
      <p:sp>
        <p:nvSpPr>
          <p:cNvPr id="18" name="Rounded Rectangle 17"/>
          <p:cNvSpPr/>
          <p:nvPr/>
        </p:nvSpPr>
        <p:spPr>
          <a:xfrm>
            <a:off x="2121408" y="4160520"/>
            <a:ext cx="141732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67127" y="4206240"/>
            <a:ext cx="1325880" cy="320040"/>
          </a:xfrm>
          <a:prstGeom prst="rect">
            <a:avLst/>
          </a:prstGeom>
          <a:noFill/>
        </p:spPr>
        <p:txBody>
          <a:bodyPr wrap="square" lIns="0" rIns="0" tIns="0" bIns="0" anchor="ctr">
            <a:spAutoFit/>
          </a:bodyPr>
          <a:lstStyle/>
          <a:p>
            <a:pPr algn="ctr"/>
            <a:r>
              <a:rPr sz="1000" b="1">
                <a:solidFill>
                  <a:srgbClr val="282824"/>
                </a:solidFill>
                <a:latin typeface="Readex Pro"/>
                <a:cs typeface="Readex Pro"/>
                <a:ea typeface="Readex Pro"/>
              </a:rPr>
              <a:t>strip tashkeel / tatweel</a:t>
            </a:r>
          </a:p>
        </p:txBody>
      </p:sp>
      <p:sp>
        <p:nvSpPr>
          <p:cNvPr id="20" name="TextBox 19"/>
          <p:cNvSpPr txBox="1"/>
          <p:nvPr/>
        </p:nvSpPr>
        <p:spPr>
          <a:xfrm>
            <a:off x="2167127" y="4526280"/>
            <a:ext cx="1325880" cy="320040"/>
          </a:xfrm>
          <a:prstGeom prst="rect">
            <a:avLst/>
          </a:prstGeom>
          <a:noFill/>
        </p:spPr>
        <p:txBody>
          <a:bodyPr wrap="square" lIns="0" rIns="0" tIns="0" bIns="0" anchor="ctr">
            <a:spAutoFit/>
          </a:bodyPr>
          <a:lstStyle/>
          <a:p>
            <a:pPr algn="ctr"/>
            <a:r>
              <a:rPr sz="850" b="0">
                <a:solidFill>
                  <a:srgbClr val="6F6B5E"/>
                </a:solidFill>
                <a:latin typeface="Readex Pro"/>
                <a:cs typeface="Readex Pro"/>
                <a:ea typeface="Readex Pro"/>
              </a:rPr>
              <a:t>every text</a:t>
            </a:r>
          </a:p>
        </p:txBody>
      </p:sp>
      <p:cxnSp>
        <p:nvCxnSpPr>
          <p:cNvPr id="21" name="Connector 20"/>
          <p:cNvCxnSpPr/>
          <p:nvPr/>
        </p:nvCxnSpPr>
        <p:spPr>
          <a:xfrm>
            <a:off x="2011679" y="4549140"/>
            <a:ext cx="109729" cy="0"/>
          </a:xfrm>
          <a:prstGeom prst="line">
            <a:avLst/>
          </a:prstGeom>
          <a:ln w="190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48456" y="4160520"/>
            <a:ext cx="141732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94176" y="4206240"/>
            <a:ext cx="1325880" cy="320040"/>
          </a:xfrm>
          <a:prstGeom prst="rect">
            <a:avLst/>
          </a:prstGeom>
          <a:noFill/>
        </p:spPr>
        <p:txBody>
          <a:bodyPr wrap="square" lIns="0" rIns="0" tIns="0" bIns="0" anchor="ctr">
            <a:spAutoFit/>
          </a:bodyPr>
          <a:lstStyle/>
          <a:p>
            <a:pPr algn="ctr"/>
            <a:r>
              <a:rPr sz="1000" b="1">
                <a:solidFill>
                  <a:srgbClr val="282824"/>
                </a:solidFill>
                <a:latin typeface="Readex Pro"/>
                <a:cs typeface="Readex Pro"/>
                <a:ea typeface="Readex Pro"/>
              </a:rPr>
              <a:t>route each source</a:t>
            </a:r>
          </a:p>
        </p:txBody>
      </p:sp>
      <p:sp>
        <p:nvSpPr>
          <p:cNvPr id="24" name="TextBox 23"/>
          <p:cNvSpPr txBox="1"/>
          <p:nvPr/>
        </p:nvSpPr>
        <p:spPr>
          <a:xfrm>
            <a:off x="3694176" y="4526280"/>
            <a:ext cx="1325880" cy="320040"/>
          </a:xfrm>
          <a:prstGeom prst="rect">
            <a:avLst/>
          </a:prstGeom>
          <a:noFill/>
        </p:spPr>
        <p:txBody>
          <a:bodyPr wrap="square" lIns="0" rIns="0" tIns="0" bIns="0" anchor="ctr">
            <a:spAutoFit/>
          </a:bodyPr>
          <a:lstStyle/>
          <a:p>
            <a:pPr algn="ctr"/>
            <a:r>
              <a:rPr sz="850" b="0">
                <a:solidFill>
                  <a:srgbClr val="6F6B5E"/>
                </a:solidFill>
                <a:latin typeface="Readex Pro"/>
                <a:cs typeface="Readex Pro"/>
                <a:ea typeface="Readex Pro"/>
              </a:rPr>
              <a:t>protected · short · hard</a:t>
            </a:r>
          </a:p>
        </p:txBody>
      </p:sp>
      <p:sp>
        <p:nvSpPr>
          <p:cNvPr id="25" name="TextBox 24"/>
          <p:cNvSpPr txBox="1"/>
          <p:nvPr/>
        </p:nvSpPr>
        <p:spPr>
          <a:xfrm>
            <a:off x="3648456" y="5010912"/>
            <a:ext cx="1417320" cy="228600"/>
          </a:xfrm>
          <a:prstGeom prst="rect">
            <a:avLst/>
          </a:prstGeom>
          <a:noFill/>
        </p:spPr>
        <p:txBody>
          <a:bodyPr wrap="square" lIns="0" rIns="0" tIns="0" bIns="0" anchor="ctr">
            <a:spAutoFit/>
          </a:bodyPr>
          <a:lstStyle/>
          <a:p>
            <a:pPr algn="ctr"/>
            <a:r>
              <a:rPr sz="950" b="1">
                <a:solidFill>
                  <a:srgbClr val="8A5E35"/>
                </a:solidFill>
                <a:latin typeface="Readex Pro"/>
                <a:cs typeface="Readex Pro"/>
                <a:ea typeface="Readex Pro"/>
              </a:rPr>
              <a:t>23,221 hard</a:t>
            </a:r>
          </a:p>
        </p:txBody>
      </p:sp>
      <p:cxnSp>
        <p:nvCxnSpPr>
          <p:cNvPr id="26" name="Connector 25"/>
          <p:cNvCxnSpPr/>
          <p:nvPr/>
        </p:nvCxnSpPr>
        <p:spPr>
          <a:xfrm>
            <a:off x="3538727" y="4549140"/>
            <a:ext cx="109729" cy="0"/>
          </a:xfrm>
          <a:prstGeom prst="line">
            <a:avLst/>
          </a:prstGeom>
          <a:ln w="190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175504" y="4160520"/>
            <a:ext cx="141732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21224" y="4206240"/>
            <a:ext cx="1325880" cy="320040"/>
          </a:xfrm>
          <a:prstGeom prst="rect">
            <a:avLst/>
          </a:prstGeom>
          <a:noFill/>
        </p:spPr>
        <p:txBody>
          <a:bodyPr wrap="square" lIns="0" rIns="0" tIns="0" bIns="0" anchor="ctr">
            <a:spAutoFit/>
          </a:bodyPr>
          <a:lstStyle/>
          <a:p>
            <a:pPr algn="ctr"/>
            <a:r>
              <a:rPr sz="1000" b="1">
                <a:solidFill>
                  <a:srgbClr val="282824"/>
                </a:solidFill>
                <a:latin typeface="Readex Pro"/>
                <a:cs typeface="Readex Pro"/>
                <a:ea typeface="Readex Pro"/>
              </a:rPr>
              <a:t>Gemma 4 31B writes candidates</a:t>
            </a:r>
          </a:p>
        </p:txBody>
      </p:sp>
      <p:sp>
        <p:nvSpPr>
          <p:cNvPr id="29" name="TextBox 28"/>
          <p:cNvSpPr txBox="1"/>
          <p:nvPr/>
        </p:nvSpPr>
        <p:spPr>
          <a:xfrm>
            <a:off x="5221224" y="4526280"/>
            <a:ext cx="1325880" cy="320040"/>
          </a:xfrm>
          <a:prstGeom prst="rect">
            <a:avLst/>
          </a:prstGeom>
          <a:noFill/>
        </p:spPr>
        <p:txBody>
          <a:bodyPr wrap="square" lIns="0" rIns="0" tIns="0" bIns="0" anchor="ctr">
            <a:spAutoFit/>
          </a:bodyPr>
          <a:lstStyle/>
          <a:p>
            <a:pPr algn="ctr"/>
            <a:r>
              <a:rPr sz="850" b="0">
                <a:solidFill>
                  <a:srgbClr val="6F6B5E"/>
                </a:solidFill>
                <a:latin typeface="Readex Pro"/>
                <a:cs typeface="Readex Pro"/>
                <a:ea typeface="Readex Pro"/>
              </a:rPr>
              <a:t>hard band only</a:t>
            </a:r>
          </a:p>
        </p:txBody>
      </p:sp>
      <p:sp>
        <p:nvSpPr>
          <p:cNvPr id="30" name="TextBox 29"/>
          <p:cNvSpPr txBox="1"/>
          <p:nvPr/>
        </p:nvSpPr>
        <p:spPr>
          <a:xfrm>
            <a:off x="5175504" y="5010912"/>
            <a:ext cx="1417320" cy="228600"/>
          </a:xfrm>
          <a:prstGeom prst="rect">
            <a:avLst/>
          </a:prstGeom>
          <a:noFill/>
        </p:spPr>
        <p:txBody>
          <a:bodyPr wrap="square" lIns="0" rIns="0" tIns="0" bIns="0" anchor="ctr">
            <a:spAutoFit/>
          </a:bodyPr>
          <a:lstStyle/>
          <a:p>
            <a:pPr algn="ctr"/>
            <a:r>
              <a:rPr sz="950" b="1">
                <a:solidFill>
                  <a:srgbClr val="8A5E35"/>
                </a:solidFill>
                <a:latin typeface="Readex Pro"/>
                <a:cs typeface="Readex Pro"/>
                <a:ea typeface="Readex Pro"/>
              </a:rPr>
              <a:t>23,205 responses</a:t>
            </a:r>
          </a:p>
        </p:txBody>
      </p:sp>
      <p:cxnSp>
        <p:nvCxnSpPr>
          <p:cNvPr id="31" name="Connector 30"/>
          <p:cNvCxnSpPr/>
          <p:nvPr/>
        </p:nvCxnSpPr>
        <p:spPr>
          <a:xfrm>
            <a:off x="5065776" y="4549140"/>
            <a:ext cx="109728" cy="0"/>
          </a:xfrm>
          <a:prstGeom prst="line">
            <a:avLst/>
          </a:prstGeom>
          <a:ln w="190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702552" y="4160520"/>
            <a:ext cx="141732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48272" y="4206240"/>
            <a:ext cx="1325880" cy="320040"/>
          </a:xfrm>
          <a:prstGeom prst="rect">
            <a:avLst/>
          </a:prstGeom>
          <a:noFill/>
        </p:spPr>
        <p:txBody>
          <a:bodyPr wrap="square" lIns="0" rIns="0" tIns="0" bIns="0" anchor="ctr">
            <a:spAutoFit/>
          </a:bodyPr>
          <a:lstStyle/>
          <a:p>
            <a:pPr algn="ctr"/>
            <a:r>
              <a:rPr sz="1000" b="1">
                <a:solidFill>
                  <a:srgbClr val="282824"/>
                </a:solidFill>
                <a:latin typeface="Readex Pro"/>
                <a:cs typeface="Readex Pro"/>
                <a:ea typeface="Readex Pro"/>
              </a:rPr>
              <a:t>code gates</a:t>
            </a:r>
          </a:p>
        </p:txBody>
      </p:sp>
      <p:sp>
        <p:nvSpPr>
          <p:cNvPr id="34" name="TextBox 33"/>
          <p:cNvSpPr txBox="1"/>
          <p:nvPr/>
        </p:nvSpPr>
        <p:spPr>
          <a:xfrm>
            <a:off x="6748272" y="4526280"/>
            <a:ext cx="1325880" cy="320040"/>
          </a:xfrm>
          <a:prstGeom prst="rect">
            <a:avLst/>
          </a:prstGeom>
          <a:noFill/>
        </p:spPr>
        <p:txBody>
          <a:bodyPr wrap="square" lIns="0" rIns="0" tIns="0" bIns="0" anchor="ctr">
            <a:spAutoFit/>
          </a:bodyPr>
          <a:lstStyle/>
          <a:p>
            <a:pPr algn="ctr"/>
            <a:r>
              <a:rPr sz="850" b="0">
                <a:solidFill>
                  <a:srgbClr val="6F6B5E"/>
                </a:solidFill>
                <a:latin typeface="Readex Pro"/>
                <a:cs typeface="Readex Pro"/>
                <a:ea typeface="Readex Pro"/>
              </a:rPr>
              <a:t>numbers · quotes · options</a:t>
            </a:r>
          </a:p>
        </p:txBody>
      </p:sp>
      <p:cxnSp>
        <p:nvCxnSpPr>
          <p:cNvPr id="35" name="Connector 34"/>
          <p:cNvCxnSpPr/>
          <p:nvPr/>
        </p:nvCxnSpPr>
        <p:spPr>
          <a:xfrm>
            <a:off x="6592824" y="4549140"/>
            <a:ext cx="109728" cy="0"/>
          </a:xfrm>
          <a:prstGeom prst="line">
            <a:avLst/>
          </a:prstGeom>
          <a:ln w="190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229600" y="4160520"/>
            <a:ext cx="141732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5320" y="4206240"/>
            <a:ext cx="1325880" cy="320040"/>
          </a:xfrm>
          <a:prstGeom prst="rect">
            <a:avLst/>
          </a:prstGeom>
          <a:noFill/>
        </p:spPr>
        <p:txBody>
          <a:bodyPr wrap="square" lIns="0" rIns="0" tIns="0" bIns="0" anchor="ctr">
            <a:spAutoFit/>
          </a:bodyPr>
          <a:lstStyle/>
          <a:p>
            <a:pPr algn="ctr"/>
            <a:r>
              <a:rPr sz="1000" b="1">
                <a:solidFill>
                  <a:srgbClr val="282824"/>
                </a:solidFill>
                <a:latin typeface="Readex Pro"/>
                <a:cs typeface="Readex Pro"/>
                <a:ea typeface="Readex Pro"/>
              </a:rPr>
              <a:t>readability + meaning gates</a:t>
            </a:r>
          </a:p>
        </p:txBody>
      </p:sp>
      <p:sp>
        <p:nvSpPr>
          <p:cNvPr id="38" name="TextBox 37"/>
          <p:cNvSpPr txBox="1"/>
          <p:nvPr/>
        </p:nvSpPr>
        <p:spPr>
          <a:xfrm>
            <a:off x="8275320" y="4526280"/>
            <a:ext cx="1325880" cy="320040"/>
          </a:xfrm>
          <a:prstGeom prst="rect">
            <a:avLst/>
          </a:prstGeom>
          <a:noFill/>
        </p:spPr>
        <p:txBody>
          <a:bodyPr wrap="square" lIns="0" rIns="0" tIns="0" bIns="0" anchor="ctr">
            <a:spAutoFit/>
          </a:bodyPr>
          <a:lstStyle/>
          <a:p>
            <a:pPr algn="ctr"/>
            <a:r>
              <a:rPr sz="850" b="0">
                <a:solidFill>
                  <a:srgbClr val="6F6B5E"/>
                </a:solidFill>
                <a:latin typeface="Readex Pro"/>
                <a:cs typeface="Readex Pro"/>
                <a:ea typeface="Readex Pro"/>
              </a:rPr>
              <a:t>≥ 2 CAMeL levels · Qwen ≥ 0.85</a:t>
            </a:r>
          </a:p>
        </p:txBody>
      </p:sp>
      <p:sp>
        <p:nvSpPr>
          <p:cNvPr id="39" name="TextBox 38"/>
          <p:cNvSpPr txBox="1"/>
          <p:nvPr/>
        </p:nvSpPr>
        <p:spPr>
          <a:xfrm>
            <a:off x="8229600" y="5010912"/>
            <a:ext cx="1417320" cy="228600"/>
          </a:xfrm>
          <a:prstGeom prst="rect">
            <a:avLst/>
          </a:prstGeom>
          <a:noFill/>
        </p:spPr>
        <p:txBody>
          <a:bodyPr wrap="square" lIns="0" rIns="0" tIns="0" bIns="0" anchor="ctr">
            <a:spAutoFit/>
          </a:bodyPr>
          <a:lstStyle/>
          <a:p>
            <a:pPr algn="ctr"/>
            <a:r>
              <a:rPr sz="950" b="1">
                <a:solidFill>
                  <a:srgbClr val="8A5E35"/>
                </a:solidFill>
                <a:latin typeface="Readex Pro"/>
                <a:cs typeface="Readex Pro"/>
                <a:ea typeface="Readex Pro"/>
              </a:rPr>
              <a:t>10,693 accepted</a:t>
            </a:r>
          </a:p>
        </p:txBody>
      </p:sp>
      <p:cxnSp>
        <p:nvCxnSpPr>
          <p:cNvPr id="40" name="Connector 39"/>
          <p:cNvCxnSpPr/>
          <p:nvPr/>
        </p:nvCxnSpPr>
        <p:spPr>
          <a:xfrm>
            <a:off x="8119872" y="4549140"/>
            <a:ext cx="109728" cy="0"/>
          </a:xfrm>
          <a:prstGeom prst="line">
            <a:avLst/>
          </a:prstGeom>
          <a:ln w="190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94360" y="5349240"/>
            <a:ext cx="8714232" cy="640080"/>
          </a:xfrm>
          <a:prstGeom prst="roundRect">
            <a:avLst>
              <a:gd name="adj" fmla="val 2142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5394960"/>
            <a:ext cx="8714232" cy="320040"/>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14,975 rows  ·  0 rule violations  ·  0 leakage vs BAREC test</a:t>
            </a:r>
          </a:p>
        </p:txBody>
      </p:sp>
      <p:sp>
        <p:nvSpPr>
          <p:cNvPr id="43" name="TextBox 42"/>
          <p:cNvSpPr txBox="1"/>
          <p:nvPr/>
        </p:nvSpPr>
        <p:spPr>
          <a:xfrm>
            <a:off x="594360" y="5760720"/>
            <a:ext cx="8714232" cy="228600"/>
          </a:xfrm>
          <a:prstGeom prst="rect">
            <a:avLst/>
          </a:prstGeom>
          <a:noFill/>
        </p:spPr>
        <p:txBody>
          <a:bodyPr wrap="square" lIns="0" rIns="0" tIns="0" bIns="0" anchor="ctr">
            <a:spAutoFit/>
          </a:bodyPr>
          <a:lstStyle/>
          <a:p>
            <a:pPr algn="ctr"/>
            <a:r>
              <a:rPr sz="1100" b="0">
                <a:solidFill>
                  <a:srgbClr val="4A4842"/>
                </a:solidFill>
                <a:latin typeface="Readex Pro"/>
                <a:cs typeface="Readex Pro"/>
                <a:ea typeface="Readex Pro"/>
              </a:rPr>
              <a:t>blind audit of 1,039 pairs: 1.7% meaning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20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35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50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9" presetID="10" presetClass="entr" presetSubtype="0" fill="hold" grpId="0" nodeType="withEffect">
                                  <p:stCondLst>
                                    <p:cond delay="65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22" presetID="10" presetClass="entr" presetSubtype="0" fill="hold" grpId="0" nodeType="withEffect">
                                  <p:stCondLst>
                                    <p:cond delay="90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7" presetID="10" presetClass="entr" presetSubtype="0" fill="hold" grpId="0"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30" presetID="10" presetClass="entr" presetSubtype="0" fill="hold" grpId="0" nodeType="withEffect">
                                  <p:stCondLst>
                                    <p:cond delay="2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3" presetID="10" presetClass="entr" presetSubtype="0" fill="hold" grpId="0" nodeType="withEffect">
                                  <p:stCondLst>
                                    <p:cond delay="4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6" presetID="10" presetClass="entr" presetSubtype="0" fill="hold" grpId="0" nodeType="withEffect">
                                  <p:stCondLst>
                                    <p:cond delay="6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42" presetID="10" presetClass="entr" presetSubtype="0" fill="hold" grpId="0" nodeType="withEffect">
                                  <p:stCondLst>
                                    <p:cond delay="1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5" presetID="10" presetClass="entr" presetSubtype="0" fill="hold" grpId="0" nodeType="withEffect">
                                  <p:stCondLst>
                                    <p:cond delay="120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8" presetID="10" presetClass="entr" presetSubtype="0" fill="hold" grpId="0" nodeType="withEffect">
                                  <p:stCondLst>
                                    <p:cond delay="140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51" presetID="10" presetClass="entr" presetSubtype="0" fill="hold" grpId="0" nodeType="withEffect">
                                  <p:stCondLst>
                                    <p:cond delay="160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4" presetID="10" presetClass="entr" presetSubtype="0" fill="hold" grpId="0" nodeType="withEffect">
                                  <p:stCondLst>
                                    <p:cond delay="18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7" presetID="10" presetClass="entr" presetSubtype="0" fill="hold" grpId="0" nodeType="withEffect">
                                  <p:stCondLst>
                                    <p:cond delay="200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500"/>
                                        <p:tgtEl>
                                          <p:spTgt spid="27"/>
                                        </p:tgtEl>
                                      </p:cBhvr>
                                    </p:animEffect>
                                  </p:childTnLst>
                                </p:cTn>
                              </p:par>
                              <p:par>
                                <p:cTn id="60" presetID="10" presetClass="entr" presetSubtype="0" fill="hold" grpId="0" nodeType="withEffect">
                                  <p:stCondLst>
                                    <p:cond delay="220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00"/>
                                        <p:tgtEl>
                                          <p:spTgt spid="28"/>
                                        </p:tgtEl>
                                      </p:cBhvr>
                                    </p:animEffect>
                                  </p:childTnLst>
                                </p:cTn>
                              </p:par>
                              <p:par>
                                <p:cTn id="63" presetID="10" presetClass="entr" presetSubtype="0" fill="hold" grpId="0" nodeType="withEffect">
                                  <p:stCondLst>
                                    <p:cond delay="240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par>
                                <p:cTn id="66" presetID="10" presetClass="entr" presetSubtype="0" fill="hold" grpId="0" nodeType="withEffect">
                                  <p:stCondLst>
                                    <p:cond delay="260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00"/>
                                        <p:tgtEl>
                                          <p:spTgt spid="30"/>
                                        </p:tgtEl>
                                      </p:cBhvr>
                                    </p:animEffect>
                                  </p:childTnLst>
                                </p:cTn>
                              </p:par>
                              <p:par>
                                <p:cTn id="69" presetID="10" presetClass="entr" presetSubtype="0" fill="hold" grpId="0" nodeType="withEffect">
                                  <p:stCondLst>
                                    <p:cond delay="280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500"/>
                                        <p:tgtEl>
                                          <p:spTgt spid="32"/>
                                        </p:tgtEl>
                                      </p:cBhvr>
                                    </p:animEffect>
                                  </p:childTnLst>
                                </p:cTn>
                              </p:par>
                              <p:par>
                                <p:cTn id="72" presetID="10" presetClass="entr" presetSubtype="0" fill="hold" grpId="0" nodeType="withEffect">
                                  <p:stCondLst>
                                    <p:cond delay="300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00"/>
                                        <p:tgtEl>
                                          <p:spTgt spid="33"/>
                                        </p:tgtEl>
                                      </p:cBhvr>
                                    </p:animEffect>
                                  </p:childTnLst>
                                </p:cTn>
                              </p:par>
                              <p:par>
                                <p:cTn id="75" presetID="10" presetClass="entr" presetSubtype="0" fill="hold" grpId="0" nodeType="withEffect">
                                  <p:stCondLst>
                                    <p:cond delay="320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childTnLst>
                                </p:cTn>
                              </p:par>
                              <p:par>
                                <p:cTn id="78" presetID="10" presetClass="entr" presetSubtype="0" fill="hold" grpId="0" nodeType="withEffect">
                                  <p:stCondLst>
                                    <p:cond delay="340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00"/>
                                        <p:tgtEl>
                                          <p:spTgt spid="36"/>
                                        </p:tgtEl>
                                      </p:cBhvr>
                                    </p:animEffect>
                                  </p:childTnLst>
                                </p:cTn>
                              </p:par>
                              <p:par>
                                <p:cTn id="81" presetID="10" presetClass="entr" presetSubtype="0" fill="hold" grpId="0" nodeType="withEffect">
                                  <p:stCondLst>
                                    <p:cond delay="360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500"/>
                                        <p:tgtEl>
                                          <p:spTgt spid="37"/>
                                        </p:tgtEl>
                                      </p:cBhvr>
                                    </p:animEffect>
                                  </p:childTnLst>
                                </p:cTn>
                              </p:par>
                              <p:par>
                                <p:cTn id="84" presetID="10" presetClass="entr" presetSubtype="0" fill="hold" grpId="0" nodeType="withEffect">
                                  <p:stCondLst>
                                    <p:cond delay="380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500"/>
                                        <p:tgtEl>
                                          <p:spTgt spid="38"/>
                                        </p:tgtEl>
                                      </p:cBhvr>
                                    </p:animEffect>
                                  </p:childTnLst>
                                </p:cTn>
                              </p:par>
                              <p:par>
                                <p:cTn id="87" presetID="10" presetClass="entr" presetSubtype="0" fill="hold" grpId="0" nodeType="withEffect">
                                  <p:stCondLst>
                                    <p:cond delay="4000"/>
                                  </p:stCondLst>
                                  <p:childTnLst>
                                    <p:set>
                                      <p:cBhvr>
                                        <p:cTn id="85" dur="1" fill="hold">
                                          <p:stCondLst>
                                            <p:cond delay="0"/>
                                          </p:stCondLst>
                                        </p:cTn>
                                        <p:tgtEl>
                                          <p:spTgt spid="39"/>
                                        </p:tgtEl>
                                        <p:attrNameLst>
                                          <p:attrName>style.visibility</p:attrName>
                                        </p:attrNameLst>
                                      </p:cBhvr>
                                      <p:to>
                                        <p:strVal val="visible"/>
                                      </p:to>
                                    </p:set>
                                    <p:animEffect transition="in" filter="fade">
                                      <p:cBhvr>
                                        <p:cTn id="86" dur="500"/>
                                        <p:tgtEl>
                                          <p:spTgt spid="39"/>
                                        </p:tgtEl>
                                      </p:cBhvr>
                                    </p:animEffect>
                                  </p:childTnLst>
                                </p:cTn>
                              </p:par>
                              <p:par>
                                <p:cTn id="90" presetID="10" presetClass="entr" presetSubtype="0" fill="hold" grpId="0" nodeType="withEffect">
                                  <p:stCondLst>
                                    <p:cond delay="1200"/>
                                  </p:stCondLst>
                                  <p:childTnLst>
                                    <p:set>
                                      <p:cBhvr>
                                        <p:cTn id="88" dur="1" fill="hold">
                                          <p:stCondLst>
                                            <p:cond delay="0"/>
                                          </p:stCondLst>
                                        </p:cTn>
                                        <p:tgtEl>
                                          <p:spTgt spid="21"/>
                                        </p:tgtEl>
                                        <p:attrNameLst>
                                          <p:attrName>style.visibility</p:attrName>
                                        </p:attrNameLst>
                                      </p:cBhvr>
                                      <p:to>
                                        <p:strVal val="visible"/>
                                      </p:to>
                                    </p:set>
                                    <p:animEffect transition="in" filter="fade">
                                      <p:cBhvr>
                                        <p:cTn id="89" dur="500"/>
                                        <p:tgtEl>
                                          <p:spTgt spid="21"/>
                                        </p:tgtEl>
                                      </p:cBhvr>
                                    </p:animEffect>
                                  </p:childTnLst>
                                </p:cTn>
                              </p:par>
                              <p:par>
                                <p:cTn id="93" presetID="10" presetClass="entr" presetSubtype="0" fill="hold" grpId="0" nodeType="withEffect">
                                  <p:stCondLst>
                                    <p:cond delay="1200"/>
                                  </p:stCondLst>
                                  <p:childTnLst>
                                    <p:set>
                                      <p:cBhvr>
                                        <p:cTn id="91" dur="1" fill="hold">
                                          <p:stCondLst>
                                            <p:cond delay="0"/>
                                          </p:stCondLst>
                                        </p:cTn>
                                        <p:tgtEl>
                                          <p:spTgt spid="26"/>
                                        </p:tgtEl>
                                        <p:attrNameLst>
                                          <p:attrName>style.visibility</p:attrName>
                                        </p:attrNameLst>
                                      </p:cBhvr>
                                      <p:to>
                                        <p:strVal val="visible"/>
                                      </p:to>
                                    </p:set>
                                    <p:animEffect transition="in" filter="fade">
                                      <p:cBhvr>
                                        <p:cTn id="92" dur="500"/>
                                        <p:tgtEl>
                                          <p:spTgt spid="26"/>
                                        </p:tgtEl>
                                      </p:cBhvr>
                                    </p:animEffect>
                                  </p:childTnLst>
                                </p:cTn>
                              </p:par>
                              <p:par>
                                <p:cTn id="96" presetID="10" presetClass="entr" presetSubtype="0" fill="hold" grpId="0" nodeType="withEffect">
                                  <p:stCondLst>
                                    <p:cond delay="120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500"/>
                                        <p:tgtEl>
                                          <p:spTgt spid="31"/>
                                        </p:tgtEl>
                                      </p:cBhvr>
                                    </p:animEffect>
                                  </p:childTnLst>
                                </p:cTn>
                              </p:par>
                              <p:par>
                                <p:cTn id="99" presetID="10" presetClass="entr" presetSubtype="0" fill="hold" grpId="0" nodeType="withEffect">
                                  <p:stCondLst>
                                    <p:cond delay="1200"/>
                                  </p:stCondLst>
                                  <p:childTnLst>
                                    <p:set>
                                      <p:cBhvr>
                                        <p:cTn id="97" dur="1" fill="hold">
                                          <p:stCondLst>
                                            <p:cond delay="0"/>
                                          </p:stCondLst>
                                        </p:cTn>
                                        <p:tgtEl>
                                          <p:spTgt spid="35"/>
                                        </p:tgtEl>
                                        <p:attrNameLst>
                                          <p:attrName>style.visibility</p:attrName>
                                        </p:attrNameLst>
                                      </p:cBhvr>
                                      <p:to>
                                        <p:strVal val="visible"/>
                                      </p:to>
                                    </p:set>
                                    <p:animEffect transition="in" filter="fade">
                                      <p:cBhvr>
                                        <p:cTn id="98" dur="500"/>
                                        <p:tgtEl>
                                          <p:spTgt spid="35"/>
                                        </p:tgtEl>
                                      </p:cBhvr>
                                    </p:animEffect>
                                  </p:childTnLst>
                                </p:cTn>
                              </p:par>
                              <p:par>
                                <p:cTn id="102" presetID="10" presetClass="entr" presetSubtype="0" fill="hold" grpId="0" nodeType="withEffect">
                                  <p:stCondLst>
                                    <p:cond delay="120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00"/>
                                        <p:tgtEl>
                                          <p:spTgt spid="40"/>
                                        </p:tgtEl>
                                      </p:cBhvr>
                                    </p:animEffect>
                                  </p:childTnLst>
                                </p:cTn>
                              </p:par>
                            </p:childTnLst>
                          </p:cTn>
                        </p:par>
                      </p:childTnLst>
                    </p:cTn>
                  </p:par>
                  <p:par>
                    <p:cTn id="103" fill="hold">
                      <p:stCondLst>
                        <p:cond delay="indefinite"/>
                      </p:stCondLst>
                      <p:childTnLst>
                        <p:par>
                          <p:cTn id="104" fill="hold">
                            <p:stCondLst>
                              <p:cond delay="0"/>
                            </p:stCondLst>
                            <p:childTnLst>
                              <p:par>
                                <p:cTn id="107" presetID="10" presetClass="entr" presetSubtype="0" fill="hold" grpId="0" nodeType="clickEffect">
                                  <p:stCondLst>
                                    <p:cond delay="0"/>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500"/>
                                        <p:tgtEl>
                                          <p:spTgt spid="41"/>
                                        </p:tgtEl>
                                      </p:cBhvr>
                                    </p:animEffect>
                                  </p:childTnLst>
                                </p:cTn>
                              </p:par>
                              <p:par>
                                <p:cTn id="110" presetID="10" presetClass="entr" presetSubtype="0" fill="hold" grpId="0" nodeType="withEffect">
                                  <p:stCondLst>
                                    <p:cond delay="300"/>
                                  </p:stCondLst>
                                  <p:childTnLst>
                                    <p:set>
                                      <p:cBhvr>
                                        <p:cTn id="108" dur="1" fill="hold">
                                          <p:stCondLst>
                                            <p:cond delay="0"/>
                                          </p:stCondLst>
                                        </p:cTn>
                                        <p:tgtEl>
                                          <p:spTgt spid="42"/>
                                        </p:tgtEl>
                                        <p:attrNameLst>
                                          <p:attrName>style.visibility</p:attrName>
                                        </p:attrNameLst>
                                      </p:cBhvr>
                                      <p:to>
                                        <p:strVal val="visible"/>
                                      </p:to>
                                    </p:set>
                                    <p:animEffect transition="in" filter="fade">
                                      <p:cBhvr>
                                        <p:cTn id="109" dur="500"/>
                                        <p:tgtEl>
                                          <p:spTgt spid="42"/>
                                        </p:tgtEl>
                                      </p:cBhvr>
                                    </p:animEffect>
                                  </p:childTnLst>
                                </p:cTn>
                              </p:par>
                              <p:par>
                                <p:cTn id="113" presetID="10" presetClass="entr" presetSubtype="0" fill="hold" grpId="0" nodeType="withEffect">
                                  <p:stCondLst>
                                    <p:cond delay="600"/>
                                  </p:stCondLst>
                                  <p:childTnLst>
                                    <p:set>
                                      <p:cBhvr>
                                        <p:cTn id="111" dur="1" fill="hold">
                                          <p:stCondLst>
                                            <p:cond delay="0"/>
                                          </p:stCondLst>
                                        </p:cTn>
                                        <p:tgtEl>
                                          <p:spTgt spid="43"/>
                                        </p:tgtEl>
                                        <p:attrNameLst>
                                          <p:attrName>style.visibility</p:attrName>
                                        </p:attrNameLst>
                                      </p:cBhvr>
                                      <p:to>
                                        <p:strVal val="visible"/>
                                      </p:to>
                                    </p:set>
                                    <p:animEffect transition="in" filter="fade">
                                      <p:cBhvr>
                                        <p:cTn id="11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502920"/>
            <a:ext cx="54864" cy="219456"/>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457200"/>
            <a:ext cx="4572000" cy="310896"/>
          </a:xfrm>
          <a:prstGeom prst="rect">
            <a:avLst/>
          </a:prstGeom>
          <a:noFill/>
        </p:spPr>
        <p:txBody>
          <a:bodyPr wrap="square" lIns="0" rIns="0" tIns="0" bIns="0" anchor="ctr">
            <a:spAutoFit/>
          </a:bodyPr>
          <a:lstStyle/>
          <a:p>
            <a:pPr algn="l"/>
            <a:r>
              <a:rPr sz="1100" b="1">
                <a:solidFill>
                  <a:srgbClr val="C6986B"/>
                </a:solidFill>
                <a:latin typeface="Readex Pro"/>
                <a:cs typeface="Readex Pro"/>
                <a:ea typeface="Readex Pro"/>
              </a:rPr>
              <a:t>03 · TRAINING</a:t>
            </a:r>
          </a:p>
        </p:txBody>
      </p:sp>
      <p:sp>
        <p:nvSpPr>
          <p:cNvPr id="5" name="TextBox 4"/>
          <p:cNvSpPr txBox="1"/>
          <p:nvPr/>
        </p:nvSpPr>
        <p:spPr>
          <a:xfrm>
            <a:off x="594360" y="822960"/>
            <a:ext cx="8714232" cy="548640"/>
          </a:xfrm>
          <a:prstGeom prst="rect">
            <a:avLst/>
          </a:prstGeom>
          <a:noFill/>
        </p:spPr>
        <p:txBody>
          <a:bodyPr wrap="square" lIns="0" rIns="0" tIns="0" bIns="0" anchor="ctr">
            <a:spAutoFit/>
          </a:bodyPr>
          <a:lstStyle/>
          <a:p>
            <a:pPr algn="l"/>
            <a:r>
              <a:rPr sz="2800" b="1">
                <a:solidFill>
                  <a:srgbClr val="282824"/>
                </a:solidFill>
                <a:latin typeface="Readex Pro"/>
                <a:cs typeface="Readex Pro"/>
                <a:ea typeface="Readex Pro"/>
              </a:rPr>
              <a:t>Each model answered the last failure</a:t>
            </a:r>
          </a:p>
        </p:txBody>
      </p:sp>
      <p:pic>
        <p:nvPicPr>
          <p:cNvPr id="6" name="Samsung logo" descr="Samsung"/>
          <p:cNvPicPr>
            <a:picLocks noChangeAspect="1"/>
          </p:cNvPicPr>
          <p:nvPr/>
        </p:nvPicPr>
        <p:blipFill>
          <a:blip r:embed="rId2"/>
          <a:stretch>
            <a:fillRect/>
          </a:stretch>
        </p:blipFill>
        <p:spPr>
          <a:xfrm>
            <a:off x="594360" y="6327648"/>
            <a:ext cx="1051560" cy="161677"/>
          </a:xfrm>
          <a:prstGeom prst="rect">
            <a:avLst/>
          </a:prstGeom>
        </p:spPr>
      </p:pic>
      <p:sp>
        <p:nvSpPr>
          <p:cNvPr id="7" name="TextBox 6"/>
          <p:cNvSpPr txBox="1"/>
          <p:nvPr/>
        </p:nvSpPr>
        <p:spPr>
          <a:xfrm>
            <a:off x="1828800" y="6281928"/>
            <a:ext cx="4114800" cy="274320"/>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394192" y="6281928"/>
            <a:ext cx="914400" cy="274320"/>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7</a:t>
            </a:r>
          </a:p>
        </p:txBody>
      </p:sp>
      <p:sp>
        <p:nvSpPr>
          <p:cNvPr id="9" name="TextBox 8"/>
          <p:cNvSpPr txBox="1"/>
          <p:nvPr/>
        </p:nvSpPr>
        <p:spPr>
          <a:xfrm>
            <a:off x="448056" y="1417320"/>
            <a:ext cx="2788920" cy="228600"/>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AraT5v2 on SAMER</a:t>
            </a:r>
          </a:p>
        </p:txBody>
      </p:sp>
      <p:sp>
        <p:nvSpPr>
          <p:cNvPr id="10" name="Rounded Rectangle 9"/>
          <p:cNvSpPr/>
          <p:nvPr/>
        </p:nvSpPr>
        <p:spPr>
          <a:xfrm>
            <a:off x="448056" y="1691640"/>
            <a:ext cx="2788920" cy="502920"/>
          </a:xfrm>
          <a:prstGeom prst="roundRect">
            <a:avLst>
              <a:gd name="adj" fmla="val 21818"/>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282824"/>
                </a:solidFill>
                <a:latin typeface="Readex Pro"/>
                <a:cs typeface="Readex Pro"/>
                <a:ea typeface="Readex Pro"/>
              </a:rPr>
              <a:t>Model 1</a:t>
            </a:r>
          </a:p>
        </p:txBody>
      </p:sp>
      <p:sp>
        <p:nvSpPr>
          <p:cNvPr id="11" name="Rounded Rectangle 10"/>
          <p:cNvSpPr/>
          <p:nvPr/>
        </p:nvSpPr>
        <p:spPr>
          <a:xfrm>
            <a:off x="448056" y="2331720"/>
            <a:ext cx="2788920" cy="1005840"/>
          </a:xfrm>
          <a:prstGeom prst="roundRect">
            <a:avLst>
              <a:gd name="adj" fmla="val 1454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377440"/>
            <a:ext cx="2642615" cy="914400"/>
          </a:xfrm>
          <a:prstGeom prst="rect">
            <a:avLst/>
          </a:prstGeom>
          <a:noFill/>
        </p:spPr>
        <p:txBody>
          <a:bodyPr wrap="square" lIns="0" rIns="0" tIns="0" bIns="0" anchor="ctr">
            <a:spAutoFit/>
          </a:bodyPr>
          <a:lstStyle/>
          <a:p>
            <a:pPr algn="ctr"/>
            <a:r>
              <a:rPr sz="1100" b="0">
                <a:solidFill>
                  <a:srgbClr val="4A4842"/>
                </a:solidFill>
                <a:latin typeface="Readex Pro"/>
                <a:cs typeface="Readex Pro"/>
                <a:ea typeface="Readex Pro"/>
              </a:rPr>
              <a:t>SAMER L5→L3,</a:t>
            </a:r>
          </a:p>
          <a:p>
            <a:pPr algn="ctr"/>
            <a:r>
              <a:rPr sz="1100" b="0">
                <a:solidFill>
                  <a:srgbClr val="4A4842"/>
                </a:solidFill>
                <a:latin typeface="Readex Pro"/>
                <a:cs typeface="Readex Pro"/>
                <a:ea typeface="Readex Pro"/>
              </a:rPr>
              <a:t>14,343 pairs</a:t>
            </a:r>
          </a:p>
        </p:txBody>
      </p:sp>
      <p:sp>
        <p:nvSpPr>
          <p:cNvPr id="13" name="Rounded Rectangle 12"/>
          <p:cNvSpPr/>
          <p:nvPr/>
        </p:nvSpPr>
        <p:spPr>
          <a:xfrm>
            <a:off x="448056" y="3474720"/>
            <a:ext cx="2788920" cy="1005840"/>
          </a:xfrm>
          <a:prstGeom prst="roundRect">
            <a:avLst>
              <a:gd name="adj" fmla="val 1090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3520440"/>
            <a:ext cx="2642615" cy="914400"/>
          </a:xfrm>
          <a:prstGeom prst="rect">
            <a:avLst/>
          </a:prstGeom>
          <a:noFill/>
        </p:spPr>
        <p:txBody>
          <a:bodyPr wrap="square" lIns="0" rIns="0" tIns="0" bIns="0" anchor="ctr">
            <a:spAutoFit/>
          </a:bodyPr>
          <a:lstStyle/>
          <a:p>
            <a:pPr algn="ctr"/>
            <a:r>
              <a:rPr sz="1100" b="0">
                <a:solidFill>
                  <a:srgbClr val="B5533C"/>
                </a:solidFill>
                <a:latin typeface="Readex Pro"/>
                <a:cs typeface="Readex Pro"/>
                <a:ea typeface="Readex Pro"/>
              </a:rPr>
              <a:t>Copying scored higher.</a:t>
            </a:r>
          </a:p>
          <a:p>
            <a:pPr algn="ctr"/>
            <a:r>
              <a:rPr sz="1100" b="0">
                <a:solidFill>
                  <a:srgbClr val="B5533C"/>
                </a:solidFill>
                <a:latin typeface="Readex Pro"/>
                <a:cs typeface="Readex Pro"/>
                <a:ea typeface="Readex Pro"/>
              </a:rPr>
              <a:t>Swapped words, never restructured.</a:t>
            </a:r>
          </a:p>
        </p:txBody>
      </p:sp>
      <p:sp>
        <p:nvSpPr>
          <p:cNvPr id="15" name="TextBox 14"/>
          <p:cNvSpPr txBox="1"/>
          <p:nvPr/>
        </p:nvSpPr>
        <p:spPr>
          <a:xfrm>
            <a:off x="3557016" y="1417320"/>
            <a:ext cx="2788920" cy="228600"/>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AraT5v2 and AraBART</a:t>
            </a:r>
          </a:p>
        </p:txBody>
      </p:sp>
      <p:sp>
        <p:nvSpPr>
          <p:cNvPr id="16" name="Rounded Rectangle 15"/>
          <p:cNvSpPr/>
          <p:nvPr/>
        </p:nvSpPr>
        <p:spPr>
          <a:xfrm>
            <a:off x="3557016" y="1691640"/>
            <a:ext cx="2788920" cy="502920"/>
          </a:xfrm>
          <a:prstGeom prst="roundRect">
            <a:avLst>
              <a:gd name="adj" fmla="val 21818"/>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282824"/>
                </a:solidFill>
                <a:latin typeface="Readex Pro"/>
                <a:cs typeface="Readex Pro"/>
                <a:ea typeface="Readex Pro"/>
              </a:rPr>
              <a:t>Model 2</a:t>
            </a:r>
          </a:p>
        </p:txBody>
      </p:sp>
      <p:sp>
        <p:nvSpPr>
          <p:cNvPr id="17" name="Rounded Rectangle 16"/>
          <p:cNvSpPr/>
          <p:nvPr/>
        </p:nvSpPr>
        <p:spPr>
          <a:xfrm>
            <a:off x="3557016" y="2331720"/>
            <a:ext cx="2788920" cy="1005840"/>
          </a:xfrm>
          <a:prstGeom prst="roundRect">
            <a:avLst>
              <a:gd name="adj" fmla="val 1454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30168" y="2377440"/>
            <a:ext cx="2642615" cy="914400"/>
          </a:xfrm>
          <a:prstGeom prst="rect">
            <a:avLst/>
          </a:prstGeom>
          <a:noFill/>
        </p:spPr>
        <p:txBody>
          <a:bodyPr wrap="square" lIns="0" rIns="0" tIns="0" bIns="0" anchor="ctr">
            <a:spAutoFit/>
          </a:bodyPr>
          <a:lstStyle/>
          <a:p>
            <a:pPr algn="ctr"/>
            <a:r>
              <a:rPr sz="1100" b="0">
                <a:solidFill>
                  <a:srgbClr val="4A4842"/>
                </a:solidFill>
                <a:latin typeface="Readex Pro"/>
                <a:cs typeface="Readex Pro"/>
                <a:ea typeface="Readex Pro"/>
              </a:rPr>
              <a:t>SAMER + DAASI +</a:t>
            </a:r>
          </a:p>
          <a:p>
            <a:pPr algn="ctr"/>
            <a:r>
              <a:rPr sz="1100" b="0">
                <a:solidFill>
                  <a:srgbClr val="4A4842"/>
                </a:solidFill>
                <a:latin typeface="Readex Pro"/>
                <a:cs typeface="Readex Pro"/>
                <a:ea typeface="Readex Pro"/>
              </a:rPr>
              <a:t>meaning-filtered external</a:t>
            </a:r>
          </a:p>
        </p:txBody>
      </p:sp>
      <p:sp>
        <p:nvSpPr>
          <p:cNvPr id="19" name="Rounded Rectangle 18"/>
          <p:cNvSpPr/>
          <p:nvPr/>
        </p:nvSpPr>
        <p:spPr>
          <a:xfrm>
            <a:off x="3557016" y="3474720"/>
            <a:ext cx="2788920" cy="1005840"/>
          </a:xfrm>
          <a:prstGeom prst="roundRect">
            <a:avLst>
              <a:gd name="adj" fmla="val 1090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30168" y="3520440"/>
            <a:ext cx="2642615" cy="914400"/>
          </a:xfrm>
          <a:prstGeom prst="rect">
            <a:avLst/>
          </a:prstGeom>
          <a:noFill/>
        </p:spPr>
        <p:txBody>
          <a:bodyPr wrap="square" lIns="0" rIns="0" tIns="0" bIns="0" anchor="ctr">
            <a:spAutoFit/>
          </a:bodyPr>
          <a:lstStyle/>
          <a:p>
            <a:pPr algn="ctr"/>
            <a:r>
              <a:rPr sz="1100" b="0">
                <a:solidFill>
                  <a:srgbClr val="B5533C"/>
                </a:solidFill>
                <a:latin typeface="Readex Pro"/>
                <a:cs typeface="Readex Pro"/>
                <a:ea typeface="Readex Pro"/>
              </a:rPr>
              <a:t>Meaning kept only 0.59</a:t>
            </a:r>
          </a:p>
          <a:p>
            <a:pPr algn="ctr"/>
            <a:r>
              <a:rPr sz="1100" b="0">
                <a:solidFill>
                  <a:srgbClr val="B5533C"/>
                </a:solidFill>
                <a:latin typeface="Readex Pro"/>
                <a:cs typeface="Readex Pro"/>
                <a:ea typeface="Readex Pro"/>
              </a:rPr>
              <a:t>and 0.4.</a:t>
            </a:r>
          </a:p>
        </p:txBody>
      </p:sp>
      <p:cxnSp>
        <p:nvCxnSpPr>
          <p:cNvPr id="21" name="Connector 20"/>
          <p:cNvCxnSpPr/>
          <p:nvPr/>
        </p:nvCxnSpPr>
        <p:spPr>
          <a:xfrm>
            <a:off x="3282696" y="2834640"/>
            <a:ext cx="22860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665976" y="1417320"/>
            <a:ext cx="2788920" cy="228600"/>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AraT5v2 on corpus v1</a:t>
            </a:r>
          </a:p>
        </p:txBody>
      </p:sp>
      <p:sp>
        <p:nvSpPr>
          <p:cNvPr id="23" name="Rounded Rectangle 22"/>
          <p:cNvSpPr/>
          <p:nvPr/>
        </p:nvSpPr>
        <p:spPr>
          <a:xfrm>
            <a:off x="6665976" y="1691640"/>
            <a:ext cx="2788920" cy="502920"/>
          </a:xfrm>
          <a:prstGeom prst="roundRect">
            <a:avLst>
              <a:gd name="adj" fmla="val 21818"/>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1A1A14"/>
                </a:solidFill>
                <a:latin typeface="Readex Pro"/>
                <a:cs typeface="Readex Pro"/>
                <a:ea typeface="Readex Pro"/>
              </a:rPr>
              <a:t>Model 3</a:t>
            </a:r>
          </a:p>
        </p:txBody>
      </p:sp>
      <p:sp>
        <p:nvSpPr>
          <p:cNvPr id="24" name="Rounded Rectangle 23"/>
          <p:cNvSpPr/>
          <p:nvPr/>
        </p:nvSpPr>
        <p:spPr>
          <a:xfrm>
            <a:off x="6665976" y="2331720"/>
            <a:ext cx="2788920" cy="1005840"/>
          </a:xfrm>
          <a:prstGeom prst="roundRect">
            <a:avLst>
              <a:gd name="adj" fmla="val 1454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9128" y="2377440"/>
            <a:ext cx="2642615" cy="914400"/>
          </a:xfrm>
          <a:prstGeom prst="rect">
            <a:avLst/>
          </a:prstGeom>
          <a:noFill/>
        </p:spPr>
        <p:txBody>
          <a:bodyPr wrap="square" lIns="0" rIns="0" tIns="0" bIns="0" anchor="ctr">
            <a:spAutoFit/>
          </a:bodyPr>
          <a:lstStyle/>
          <a:p>
            <a:pPr algn="ctr"/>
            <a:r>
              <a:rPr sz="1100" b="0">
                <a:solidFill>
                  <a:srgbClr val="4A4842"/>
                </a:solidFill>
                <a:latin typeface="Readex Pro"/>
                <a:cs typeface="Readex Pro"/>
                <a:ea typeface="Readex Pro"/>
              </a:rPr>
              <a:t>corpus v1, 14,975 rows,</a:t>
            </a:r>
          </a:p>
          <a:p>
            <a:pPr algn="ctr"/>
            <a:r>
              <a:rPr sz="1100" b="0">
                <a:solidFill>
                  <a:srgbClr val="4A4842"/>
                </a:solidFill>
                <a:latin typeface="Readex Pro"/>
                <a:cs typeface="Readex Pro"/>
                <a:ea typeface="Readex Pro"/>
              </a:rPr>
              <a:t>+ code safety net</a:t>
            </a:r>
          </a:p>
        </p:txBody>
      </p:sp>
      <p:sp>
        <p:nvSpPr>
          <p:cNvPr id="26" name="Rounded Rectangle 25"/>
          <p:cNvSpPr/>
          <p:nvPr/>
        </p:nvSpPr>
        <p:spPr>
          <a:xfrm>
            <a:off x="6665976" y="3474720"/>
            <a:ext cx="2788920" cy="1005840"/>
          </a:xfrm>
          <a:prstGeom prst="roundRect">
            <a:avLst>
              <a:gd name="adj" fmla="val 1090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39128" y="3520440"/>
            <a:ext cx="2642615" cy="914400"/>
          </a:xfrm>
          <a:prstGeom prst="rect">
            <a:avLst/>
          </a:prstGeom>
          <a:noFill/>
        </p:spPr>
        <p:txBody>
          <a:bodyPr wrap="square" lIns="0" rIns="0" tIns="0" bIns="0" anchor="ctr">
            <a:spAutoFit/>
          </a:bodyPr>
          <a:lstStyle/>
          <a:p>
            <a:pPr algn="ctr"/>
            <a:r>
              <a:rPr sz="1100" b="0">
                <a:solidFill>
                  <a:srgbClr val="B5533C"/>
                </a:solidFill>
                <a:latin typeface="Readex Pro"/>
                <a:cs typeface="Readex Pro"/>
                <a:ea typeface="Readex Pro"/>
              </a:rPr>
              <a:t>Every number kept.</a:t>
            </a:r>
          </a:p>
          <a:p>
            <a:pPr algn="ctr"/>
            <a:r>
              <a:rPr sz="1100" b="0">
                <a:solidFill>
                  <a:srgbClr val="B5533C"/>
                </a:solidFill>
                <a:latin typeface="Readex Pro"/>
                <a:cs typeface="Readex Pro"/>
                <a:ea typeface="Readex Pro"/>
              </a:rPr>
              <a:t>Easy text 74% vs 48%.</a:t>
            </a:r>
          </a:p>
        </p:txBody>
      </p:sp>
      <p:cxnSp>
        <p:nvCxnSpPr>
          <p:cNvPr id="28" name="Connector 27"/>
          <p:cNvCxnSpPr/>
          <p:nvPr/>
        </p:nvCxnSpPr>
        <p:spPr>
          <a:xfrm>
            <a:off x="6391656" y="2834640"/>
            <a:ext cx="22860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94360" y="4892040"/>
            <a:ext cx="5029200" cy="329184"/>
          </a:xfrm>
          <a:prstGeom prst="roundRect">
            <a:avLst>
              <a:gd name="adj" fmla="val 5000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6F6B5E"/>
                </a:solidFill>
                <a:latin typeface="Readex Pro"/>
                <a:cs typeface="Readex Pro"/>
                <a:ea typeface="Readex Pro"/>
              </a:rPr>
              <a:t>Tried and dropped: MRT  ·  Gemma E2B teacher  ·  student DPO</a:t>
            </a:r>
          </a:p>
        </p:txBody>
      </p:sp>
      <p:sp>
        <p:nvSpPr>
          <p:cNvPr id="30" name="TextBox 29"/>
          <p:cNvSpPr txBox="1"/>
          <p:nvPr/>
        </p:nvSpPr>
        <p:spPr>
          <a:xfrm>
            <a:off x="5897880" y="4892040"/>
            <a:ext cx="3200400" cy="329184"/>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DPO learned the judge's preferences,</a:t>
            </a:r>
          </a:p>
          <a:p>
            <a:pPr algn="l"/>
            <a:r>
              <a:rPr sz="1000" b="0">
                <a:solidFill>
                  <a:srgbClr val="6F6B5E"/>
                </a:solidFill>
                <a:latin typeface="Readex Pro"/>
                <a:cs typeface="Readex Pro"/>
                <a:ea typeface="Readex Pro"/>
              </a:rPr>
              <a:t>not meaning safety.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7" presetID="22" presetClass="entr" presetSubtype="8" fill="hold" grpId="0" nodeType="click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wipe(left)">
                                      <p:cBhvr>
                                        <p:cTn id="26" dur="500"/>
                                        <p:tgtEl>
                                          <p:spTgt spid="21"/>
                                        </p:tgtEl>
                                      </p:cBhvr>
                                    </p:animEffect>
                                  </p:childTnLst>
                                </p:cTn>
                              </p:par>
                              <p:par>
                                <p:cTn id="30" presetID="10" presetClass="entr" presetSubtype="0" fill="hold" grpId="0" nodeType="withEffect">
                                  <p:stCondLst>
                                    <p:cond delay="4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3" presetID="10" presetClass="entr" presetSubtype="0" fill="hold" grpId="0" nodeType="withEffect">
                                  <p:stCondLst>
                                    <p:cond delay="40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6" presetID="10" presetClass="entr" presetSubtype="0" fill="hold" grpId="0" nodeType="withEffect">
                                  <p:stCondLst>
                                    <p:cond delay="4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9" presetID="10" presetClass="entr" presetSubtype="0" fill="hold" grpId="0" nodeType="withEffect">
                                  <p:stCondLst>
                                    <p:cond delay="4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42" presetID="10" presetClass="entr" presetSubtype="0" fill="hold" grpId="0" nodeType="withEffect">
                                  <p:stCondLst>
                                    <p:cond delay="40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5" presetID="10" presetClass="entr" presetSubtype="0" fill="hold" grpId="0" nodeType="withEffect">
                                  <p:stCondLst>
                                    <p:cond delay="4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childTnLst>
                          </p:cTn>
                        </p:par>
                      </p:childTnLst>
                    </p:cTn>
                  </p:par>
                  <p:par>
                    <p:cTn id="46" fill="hold">
                      <p:stCondLst>
                        <p:cond delay="indefinite"/>
                      </p:stCondLst>
                      <p:childTnLst>
                        <p:par>
                          <p:cTn id="47" fill="hold">
                            <p:stCondLst>
                              <p:cond delay="0"/>
                            </p:stCondLst>
                            <p:childTnLst>
                              <p:par>
                                <p:cTn id="50" presetID="22" presetClass="entr" presetSubtype="8"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wipe(left)">
                                      <p:cBhvr>
                                        <p:cTn id="49" dur="500"/>
                                        <p:tgtEl>
                                          <p:spTgt spid="28"/>
                                        </p:tgtEl>
                                      </p:cBhvr>
                                    </p:animEffect>
                                  </p:childTnLst>
                                </p:cTn>
                              </p:par>
                              <p:par>
                                <p:cTn id="53" presetID="10" presetClass="entr" presetSubtype="0" fill="hold" grpId="0" nodeType="withEffect">
                                  <p:stCondLst>
                                    <p:cond delay="40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6" presetID="10" presetClass="entr" presetSubtype="0" fill="hold" grpId="0" nodeType="withEffect">
                                  <p:stCondLst>
                                    <p:cond delay="40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9" presetID="10" presetClass="entr" presetSubtype="0" fill="hold" grpId="0" nodeType="withEffect">
                                  <p:stCondLst>
                                    <p:cond delay="4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62" presetID="10" presetClass="entr" presetSubtype="0" fill="hold" grpId="0" nodeType="withEffect">
                                  <p:stCondLst>
                                    <p:cond delay="40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5" presetID="10" presetClass="entr" presetSubtype="0" fill="hold" grpId="0" nodeType="withEffect">
                                  <p:stCondLst>
                                    <p:cond delay="40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par>
                                <p:cTn id="68" presetID="10" presetClass="entr" presetSubtype="0" fill="hold" grpId="0" nodeType="withEffect">
                                  <p:stCondLst>
                                    <p:cond delay="40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childTnLst>
                          </p:cTn>
                        </p:par>
                      </p:childTnLst>
                    </p:cTn>
                  </p:par>
                  <p:par>
                    <p:cTn id="69" fill="hold">
                      <p:stCondLst>
                        <p:cond delay="indefinite"/>
                      </p:stCondLst>
                      <p:childTnLst>
                        <p:par>
                          <p:cTn id="70" fill="hold">
                            <p:stCondLst>
                              <p:cond delay="0"/>
                            </p:stCondLst>
                            <p:childTnLst>
                              <p:par>
                                <p:cTn id="73" presetID="10" presetClass="entr" presetSubtype="0"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500"/>
                                        <p:tgtEl>
                                          <p:spTgt spid="29"/>
                                        </p:tgtEl>
                                      </p:cBhvr>
                                    </p:animEffect>
                                  </p:childTnLst>
                                </p:cTn>
                              </p:par>
                              <p:par>
                                <p:cTn id="76" presetID="10" presetClass="entr" presetSubtype="0" fill="hold" grpId="0" nodeType="withEffect">
                                  <p:stCondLst>
                                    <p:cond delay="30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9" grpId="0" animBg="1"/>
      <p:bldP spid="3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502920"/>
            <a:ext cx="54864" cy="219456"/>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457200"/>
            <a:ext cx="4572000" cy="310896"/>
          </a:xfrm>
          <a:prstGeom prst="rect">
            <a:avLst/>
          </a:prstGeom>
          <a:noFill/>
        </p:spPr>
        <p:txBody>
          <a:bodyPr wrap="square" lIns="0" rIns="0" tIns="0" bIns="0" anchor="ctr">
            <a:spAutoFit/>
          </a:bodyPr>
          <a:lstStyle/>
          <a:p>
            <a:pPr algn="l"/>
            <a:r>
              <a:rPr sz="1100" b="1">
                <a:solidFill>
                  <a:srgbClr val="C6986B"/>
                </a:solidFill>
                <a:latin typeface="Readex Pro"/>
                <a:cs typeface="Readex Pro"/>
                <a:ea typeface="Readex Pro"/>
              </a:rPr>
              <a:t>04 · BAYANBENCH</a:t>
            </a:r>
          </a:p>
        </p:txBody>
      </p:sp>
      <p:sp>
        <p:nvSpPr>
          <p:cNvPr id="5" name="TextBox 4"/>
          <p:cNvSpPr txBox="1"/>
          <p:nvPr/>
        </p:nvSpPr>
        <p:spPr>
          <a:xfrm>
            <a:off x="594360" y="822960"/>
            <a:ext cx="8714232" cy="548640"/>
          </a:xfrm>
          <a:prstGeom prst="rect">
            <a:avLst/>
          </a:prstGeom>
          <a:noFill/>
        </p:spPr>
        <p:txBody>
          <a:bodyPr wrap="square" lIns="0" rIns="0" tIns="0" bIns="0" anchor="ctr">
            <a:spAutoFit/>
          </a:bodyPr>
          <a:lstStyle/>
          <a:p>
            <a:pPr algn="l"/>
            <a:r>
              <a:rPr sz="28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94360" y="6327648"/>
            <a:ext cx="1051560" cy="161677"/>
          </a:xfrm>
          <a:prstGeom prst="rect">
            <a:avLst/>
          </a:prstGeom>
        </p:spPr>
      </p:pic>
      <p:sp>
        <p:nvSpPr>
          <p:cNvPr id="7" name="TextBox 6"/>
          <p:cNvSpPr txBox="1"/>
          <p:nvPr/>
        </p:nvSpPr>
        <p:spPr>
          <a:xfrm>
            <a:off x="1828800" y="6281928"/>
            <a:ext cx="4114800" cy="274320"/>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394192" y="6281928"/>
            <a:ext cx="914400" cy="274320"/>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7</a:t>
            </a:r>
          </a:p>
        </p:txBody>
      </p:sp>
      <p:sp>
        <p:nvSpPr>
          <p:cNvPr id="9" name="TextBox 8"/>
          <p:cNvSpPr txBox="1"/>
          <p:nvPr/>
        </p:nvSpPr>
        <p:spPr>
          <a:xfrm>
            <a:off x="594360" y="1417320"/>
            <a:ext cx="5029200" cy="365760"/>
          </a:xfrm>
          <a:prstGeom prst="rect">
            <a:avLst/>
          </a:prstGeom>
          <a:noFill/>
        </p:spPr>
        <p:txBody>
          <a:bodyPr wrap="square" lIns="0" rIns="0" tIns="0" bIns="0" anchor="ctr">
            <a:spAutoFit/>
          </a:bodyPr>
          <a:lstStyle/>
          <a:p>
            <a:pPr algn="l"/>
            <a:r>
              <a:rPr sz="1800" b="1">
                <a:solidFill>
                  <a:srgbClr val="282824"/>
                </a:solidFill>
                <a:latin typeface="Readex Pro"/>
                <a:cs typeface="Readex Pro"/>
                <a:ea typeface="Readex Pro"/>
              </a:rPr>
              <a:t>How do we know a simplification is good?</a:t>
            </a:r>
          </a:p>
        </p:txBody>
      </p:sp>
      <p:sp>
        <p:nvSpPr>
          <p:cNvPr id="10" name="Rounded Rectangle 9"/>
          <p:cNvSpPr/>
          <p:nvPr/>
        </p:nvSpPr>
        <p:spPr>
          <a:xfrm>
            <a:off x="594360" y="1965960"/>
            <a:ext cx="2560320" cy="347472"/>
          </a:xfrm>
          <a:prstGeom prst="roundRect">
            <a:avLst>
              <a:gd name="adj" fmla="val 47368"/>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4A4842"/>
                </a:solidFill>
                <a:latin typeface="Readex Pro"/>
                <a:cs typeface="Readex Pro"/>
                <a:ea typeface="Readex Pro"/>
              </a:rPr>
              <a:t>copying the input</a:t>
            </a:r>
          </a:p>
        </p:txBody>
      </p:sp>
      <p:sp>
        <p:nvSpPr>
          <p:cNvPr id="11" name="Rounded Rectangle 10"/>
          <p:cNvSpPr/>
          <p:nvPr/>
        </p:nvSpPr>
        <p:spPr>
          <a:xfrm>
            <a:off x="594360" y="2377440"/>
            <a:ext cx="2560320" cy="347472"/>
          </a:xfrm>
          <a:prstGeom prst="roundRect">
            <a:avLst>
              <a:gd name="adj" fmla="val 47368"/>
            </a:avLst>
          </a:prstGeom>
          <a:solidFill>
            <a:srgbClr val="EEDD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100% of the meaning</a:t>
            </a:r>
          </a:p>
        </p:txBody>
      </p:sp>
      <p:sp>
        <p:nvSpPr>
          <p:cNvPr id="12" name="Rounded Rectangle 11"/>
          <p:cNvSpPr/>
          <p:nvPr/>
        </p:nvSpPr>
        <p:spPr>
          <a:xfrm>
            <a:off x="594360" y="2788920"/>
            <a:ext cx="2560320" cy="347472"/>
          </a:xfrm>
          <a:prstGeom prst="roundRect">
            <a:avLst>
              <a:gd name="adj" fmla="val 47368"/>
            </a:avLst>
          </a:prstGeom>
          <a:solidFill>
            <a:srgbClr val="F3E2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0 simplification</a:t>
            </a:r>
          </a:p>
        </p:txBody>
      </p:sp>
      <p:cxnSp>
        <p:nvCxnSpPr>
          <p:cNvPr id="13" name="Connector 12"/>
          <p:cNvCxnSpPr/>
          <p:nvPr/>
        </p:nvCxnSpPr>
        <p:spPr>
          <a:xfrm>
            <a:off x="5303520" y="4480560"/>
            <a:ext cx="3931920" cy="0"/>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303520" y="1554480"/>
            <a:ext cx="0" cy="2926080"/>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03520" y="4590288"/>
            <a:ext cx="3931920" cy="228600"/>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meaning kept (%)</a:t>
            </a:r>
          </a:p>
        </p:txBody>
      </p:sp>
      <p:sp>
        <p:nvSpPr>
          <p:cNvPr id="16" name="TextBox 15"/>
          <p:cNvSpPr txBox="1"/>
          <p:nvPr/>
        </p:nvSpPr>
        <p:spPr>
          <a:xfrm>
            <a:off x="4526280" y="2880360"/>
            <a:ext cx="1463040" cy="274320"/>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clause words</a:t>
            </a:r>
          </a:p>
          <a:p>
            <a:pPr algn="ctr"/>
            <a:r>
              <a:rPr sz="1000" b="0">
                <a:solidFill>
                  <a:srgbClr val="6F6B5E"/>
                </a:solidFill>
                <a:latin typeface="Readex Pro"/>
                <a:cs typeface="Readex Pro"/>
                <a:ea typeface="Readex Pro"/>
              </a:rPr>
              <a:t>shorter</a:t>
            </a:r>
          </a:p>
        </p:txBody>
      </p:sp>
      <p:sp>
        <p:nvSpPr>
          <p:cNvPr id="17" name="Oval 16"/>
          <p:cNvSpPr/>
          <p:nvPr/>
        </p:nvSpPr>
        <p:spPr>
          <a:xfrm>
            <a:off x="8863148" y="4194048"/>
            <a:ext cx="182880" cy="182880"/>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49870" y="3569817"/>
            <a:ext cx="182880" cy="182880"/>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01230" y="3798417"/>
            <a:ext cx="1280160" cy="228600"/>
          </a:xfrm>
          <a:prstGeom prst="rect">
            <a:avLst/>
          </a:prstGeom>
          <a:noFill/>
        </p:spPr>
        <p:txBody>
          <a:bodyPr wrap="square" lIns="0" rIns="0" tIns="0" bIns="0" anchor="ctr">
            <a:spAutoFit/>
          </a:bodyPr>
          <a:lstStyle/>
          <a:p>
            <a:pPr algn="ctr"/>
            <a:r>
              <a:rPr sz="950" b="0">
                <a:solidFill>
                  <a:srgbClr val="4A4842"/>
                </a:solidFill>
                <a:latin typeface="Readex Pro"/>
                <a:cs typeface="Readex Pro"/>
                <a:ea typeface="Readex Pro"/>
              </a:rPr>
              <a:t>app-arat5 (today)</a:t>
            </a:r>
          </a:p>
        </p:txBody>
      </p:sp>
      <p:sp>
        <p:nvSpPr>
          <p:cNvPr id="20" name="Oval 19"/>
          <p:cNvSpPr/>
          <p:nvPr/>
        </p:nvSpPr>
        <p:spPr>
          <a:xfrm>
            <a:off x="7616168" y="2789529"/>
            <a:ext cx="182880" cy="182880"/>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56762" y="1970227"/>
            <a:ext cx="182880" cy="182880"/>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18634" y="2633472"/>
            <a:ext cx="182880" cy="182880"/>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9994" y="2404872"/>
            <a:ext cx="1280160" cy="228600"/>
          </a:xfrm>
          <a:prstGeom prst="rect">
            <a:avLst/>
          </a:prstGeom>
          <a:noFill/>
        </p:spPr>
        <p:txBody>
          <a:bodyPr wrap="square" lIns="0" rIns="0" tIns="0" bIns="0" anchor="ctr">
            <a:spAutoFit/>
          </a:bodyPr>
          <a:lstStyle/>
          <a:p>
            <a:pPr algn="ctr"/>
            <a:r>
              <a:rPr sz="950" b="0">
                <a:solidFill>
                  <a:srgbClr val="4A4842"/>
                </a:solidFill>
                <a:latin typeface="Readex Pro"/>
                <a:cs typeface="Readex Pro"/>
                <a:ea typeface="Readex Pro"/>
              </a:rPr>
              <a:t>app-arabart</a:t>
            </a:r>
          </a:p>
        </p:txBody>
      </p:sp>
      <p:sp>
        <p:nvSpPr>
          <p:cNvPr id="24" name="Oval 23"/>
          <p:cNvSpPr/>
          <p:nvPr/>
        </p:nvSpPr>
        <p:spPr>
          <a:xfrm>
            <a:off x="6369187" y="2789529"/>
            <a:ext cx="182880" cy="182880"/>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599654" y="1853184"/>
            <a:ext cx="182880" cy="182880"/>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871677" y="2167737"/>
            <a:ext cx="256032" cy="256032"/>
          </a:xfrm>
          <a:prstGeom prst="ellipse">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59613" y="1975713"/>
            <a:ext cx="1280160" cy="228600"/>
          </a:xfrm>
          <a:prstGeom prst="rect">
            <a:avLst/>
          </a:prstGeom>
          <a:noFill/>
        </p:spPr>
        <p:txBody>
          <a:bodyPr wrap="square" lIns="0" rIns="0" tIns="0" bIns="0" anchor="ctr">
            <a:spAutoFit/>
          </a:bodyPr>
          <a:lstStyle/>
          <a:p>
            <a:pPr algn="ctr"/>
            <a:r>
              <a:rPr sz="950" b="1">
                <a:solidFill>
                  <a:srgbClr val="B5533C"/>
                </a:solidFill>
                <a:latin typeface="Readex Pro"/>
                <a:cs typeface="Readex Pro"/>
                <a:ea typeface="Readex Pro"/>
              </a:rPr>
              <a:t>model 3 + net</a:t>
            </a:r>
          </a:p>
        </p:txBody>
      </p:sp>
      <p:sp>
        <p:nvSpPr>
          <p:cNvPr id="28" name="Rounded Rectangle 27"/>
          <p:cNvSpPr/>
          <p:nvPr/>
        </p:nvSpPr>
        <p:spPr>
          <a:xfrm>
            <a:off x="594360" y="3429000"/>
            <a:ext cx="4754880" cy="329184"/>
          </a:xfrm>
          <a:prstGeom prst="roundRect">
            <a:avLst>
              <a:gd name="adj" fmla="val 50000"/>
            </a:avLst>
          </a:prstGeom>
          <a:solidFill>
            <a:srgbClr val="EEDD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8A5E35"/>
                </a:solidFill>
                <a:latin typeface="Readex Pro"/>
                <a:cs typeface="Readex Pro"/>
                <a:ea typeface="Readex Pro"/>
              </a:rPr>
              <a:t>frozen rule: meaning kept = same meaning AND every number kept</a:t>
            </a:r>
          </a:p>
        </p:txBody>
      </p:sp>
      <p:sp>
        <p:nvSpPr>
          <p:cNvPr id="29" name="Rounded Rectangle 28"/>
          <p:cNvSpPr/>
          <p:nvPr/>
        </p:nvSpPr>
        <p:spPr>
          <a:xfrm>
            <a:off x="594360" y="3840480"/>
            <a:ext cx="4754880" cy="329184"/>
          </a:xfrm>
          <a:prstGeom prst="roundRect">
            <a:avLst>
              <a:gd name="adj" fmla="val 5000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4A4842"/>
                </a:solidFill>
                <a:latin typeface="Readex Pro"/>
                <a:cs typeface="Readex Pro"/>
                <a:ea typeface="Readex Pro"/>
              </a:rPr>
              <a:t>scorer agrees with 6 human raters at AUC 0.85</a:t>
            </a:r>
          </a:p>
        </p:txBody>
      </p:sp>
      <p:sp>
        <p:nvSpPr>
          <p:cNvPr id="30" name="Rounded Rectangle 29"/>
          <p:cNvSpPr/>
          <p:nvPr/>
        </p:nvSpPr>
        <p:spPr>
          <a:xfrm>
            <a:off x="594360" y="4251960"/>
            <a:ext cx="4754880" cy="329184"/>
          </a:xfrm>
          <a:prstGeom prst="roundRect">
            <a:avLst>
              <a:gd name="adj" fmla="val 50000"/>
            </a:avLst>
          </a:prstGeom>
          <a:solidFill>
            <a:srgbClr val="F3E2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B5533C"/>
                </a:solidFill>
                <a:latin typeface="Readex Pro"/>
                <a:cs typeface="Readex Pro"/>
                <a:ea typeface="Readex Pro"/>
              </a:rPr>
              <a:t>dropped the measures that scored 0.5 against people</a:t>
            </a:r>
          </a:p>
        </p:txBody>
      </p:sp>
      <p:sp>
        <p:nvSpPr>
          <p:cNvPr id="31" name="TextBox 30"/>
          <p:cNvSpPr txBox="1"/>
          <p:nvPr/>
        </p:nvSpPr>
        <p:spPr>
          <a:xfrm>
            <a:off x="594360" y="4800600"/>
            <a:ext cx="8714232" cy="320040"/>
          </a:xfrm>
          <a:prstGeom prst="rect">
            <a:avLst/>
          </a:prstGeom>
          <a:noFill/>
        </p:spPr>
        <p:txBody>
          <a:bodyPr wrap="square" lIns="0" rIns="0" tIns="0" bIns="0" anchor="ctr">
            <a:spAutoFit/>
          </a:bodyPr>
          <a:lstStyle/>
          <a:p>
            <a:pPr algn="ctr"/>
            <a:r>
              <a:rPr sz="1500" b="1">
                <a:solidFill>
                  <a:srgbClr val="B5533C"/>
                </a:solidFill>
                <a:latin typeface="Readex Pro"/>
                <a:cs typeface="Readex Pro"/>
                <a:ea typeface="Readex Pro"/>
              </a:rPr>
              <a:t>Simplify most, keep meaning most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30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50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70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7" presetID="10" presetClass="entr" presetSubtype="0" fill="hold" grpId="0" nodeType="withEffect">
                                  <p:stCondLst>
                                    <p:cond delay="20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30" presetID="10" presetClass="entr" presetSubtype="0" fill="hold" grpId="0" nodeType="withEffect">
                                  <p:stCondLst>
                                    <p:cond delay="2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3" presetID="10" presetClass="entr" presetSubtype="0" fill="hold" grpId="0"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6" presetID="10" presetClass="entr" presetSubtype="0" fill="hold" grpId="0" nodeType="withEffect">
                                  <p:stCondLst>
                                    <p:cond delay="6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42" presetID="10" presetClass="entr" presetSubtype="0" fill="hold" grpId="0" nodeType="withEffect">
                                  <p:stCondLst>
                                    <p:cond delay="95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5" presetID="10" presetClass="entr" presetSubtype="0" fill="hold" grpId="0" nodeType="withEffect">
                                  <p:stCondLst>
                                    <p:cond delay="11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8" presetID="10" presetClass="entr" presetSubtype="0" fill="hold" grpId="0" nodeType="withEffect">
                                  <p:stCondLst>
                                    <p:cond delay="12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51" presetID="10" presetClass="entr" presetSubtype="0" fill="hold" grpId="0" nodeType="withEffect">
                                  <p:stCondLst>
                                    <p:cond delay="140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4" presetID="10" presetClass="entr" presetSubtype="0" fill="hold" grpId="0" nodeType="withEffect">
                                  <p:stCondLst>
                                    <p:cond delay="155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7" presetID="10" presetClass="entr" presetSubtype="0" fill="hold" grpId="0" nodeType="withEffect">
                                  <p:stCondLst>
                                    <p:cond delay="17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60" presetID="10" presetClass="entr" presetSubtype="0" fill="hold" grpId="0" nodeType="withEffect">
                                  <p:stCondLst>
                                    <p:cond delay="18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3" presetID="10" presetClass="entr" presetSubtype="0" fill="hold" grpId="0" nodeType="withEffect">
                                  <p:stCondLst>
                                    <p:cond delay="20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childTnLst>
                          </p:cTn>
                        </p:par>
                      </p:childTnLst>
                    </p:cTn>
                  </p:par>
                  <p:par>
                    <p:cTn id="64" fill="hold">
                      <p:stCondLst>
                        <p:cond delay="indefinite"/>
                      </p:stCondLst>
                      <p:childTnLst>
                        <p:par>
                          <p:cTn id="65" fill="hold">
                            <p:stCondLst>
                              <p:cond delay="0"/>
                            </p:stCondLst>
                            <p:childTnLst>
                              <p:par>
                                <p:cTn id="68" presetID="10" presetClass="entr" presetSubtype="0" fill="hold" grpId="0" nodeType="click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500"/>
                                        <p:tgtEl>
                                          <p:spTgt spid="28"/>
                                        </p:tgtEl>
                                      </p:cBhvr>
                                    </p:animEffect>
                                  </p:childTnLst>
                                </p:cTn>
                              </p:par>
                              <p:par>
                                <p:cTn id="71" presetID="10" presetClass="entr" presetSubtype="0" fill="hold" grpId="0" nodeType="withEffect">
                                  <p:stCondLst>
                                    <p:cond delay="30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500"/>
                                        <p:tgtEl>
                                          <p:spTgt spid="29"/>
                                        </p:tgtEl>
                                      </p:cBhvr>
                                    </p:animEffect>
                                  </p:childTnLst>
                                </p:cTn>
                              </p:par>
                              <p:par>
                                <p:cTn id="74" presetID="10" presetClass="entr" presetSubtype="0" fill="hold" grpId="0" nodeType="withEffect">
                                  <p:stCondLst>
                                    <p:cond delay="60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500"/>
                                        <p:tgtEl>
                                          <p:spTgt spid="30"/>
                                        </p:tgtEl>
                                      </p:cBhvr>
                                    </p:animEffect>
                                  </p:childTnLst>
                                </p:cTn>
                              </p:par>
                            </p:childTnLst>
                          </p:cTn>
                        </p:par>
                      </p:childTnLst>
                    </p:cTn>
                  </p:par>
                  <p:par>
                    <p:cTn id="75" fill="hold">
                      <p:stCondLst>
                        <p:cond delay="indefinite"/>
                      </p:stCondLst>
                      <p:childTnLst>
                        <p:par>
                          <p:cTn id="76" fill="hold">
                            <p:stCondLst>
                              <p:cond delay="0"/>
                            </p:stCondLst>
                            <p:childTnLst>
                              <p:par>
                                <p:cTn id="79" presetID="10" presetClass="entr" presetSubtype="0" fill="hold" grpId="0" nodeType="click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502920"/>
            <a:ext cx="54864" cy="219456"/>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457200"/>
            <a:ext cx="4572000" cy="310896"/>
          </a:xfrm>
          <a:prstGeom prst="rect">
            <a:avLst/>
          </a:prstGeom>
          <a:noFill/>
        </p:spPr>
        <p:txBody>
          <a:bodyPr wrap="square" lIns="0" rIns="0" tIns="0" bIns="0" anchor="ctr">
            <a:spAutoFit/>
          </a:bodyPr>
          <a:lstStyle/>
          <a:p>
            <a:pPr algn="l"/>
            <a:r>
              <a:rPr sz="1100" b="1">
                <a:solidFill>
                  <a:srgbClr val="C6986B"/>
                </a:solidFill>
                <a:latin typeface="Readex Pro"/>
                <a:cs typeface="Readex Pro"/>
                <a:ea typeface="Readex Pro"/>
              </a:rPr>
              <a:t>05 · ON A PHONE</a:t>
            </a:r>
          </a:p>
        </p:txBody>
      </p:sp>
      <p:pic>
        <p:nvPicPr>
          <p:cNvPr id="5" name="Samsung logo" descr="Samsung"/>
          <p:cNvPicPr>
            <a:picLocks noChangeAspect="1"/>
          </p:cNvPicPr>
          <p:nvPr/>
        </p:nvPicPr>
        <p:blipFill>
          <a:blip r:embed="rId2"/>
          <a:stretch>
            <a:fillRect/>
          </a:stretch>
        </p:blipFill>
        <p:spPr>
          <a:xfrm>
            <a:off x="594360" y="6327648"/>
            <a:ext cx="1051560" cy="161677"/>
          </a:xfrm>
          <a:prstGeom prst="rect">
            <a:avLst/>
          </a:prstGeom>
        </p:spPr>
      </p:pic>
      <p:sp>
        <p:nvSpPr>
          <p:cNvPr id="6" name="TextBox 5"/>
          <p:cNvSpPr txBox="1"/>
          <p:nvPr/>
        </p:nvSpPr>
        <p:spPr>
          <a:xfrm>
            <a:off x="1828800" y="6281928"/>
            <a:ext cx="4114800" cy="274320"/>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394192" y="6281928"/>
            <a:ext cx="914400" cy="274320"/>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7</a:t>
            </a:r>
          </a:p>
        </p:txBody>
      </p:sp>
      <p:sp>
        <p:nvSpPr>
          <p:cNvPr id="8" name="Rounded Rectangle 7"/>
          <p:cNvSpPr/>
          <p:nvPr/>
        </p:nvSpPr>
        <p:spPr>
          <a:xfrm>
            <a:off x="3200400" y="1280160"/>
            <a:ext cx="2560320" cy="4389120"/>
          </a:xfrm>
          <a:prstGeom prst="roundRect">
            <a:avLst>
              <a:gd name="adj" fmla="val 10000"/>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37560" y="1417320"/>
            <a:ext cx="2286000" cy="4114800"/>
          </a:xfrm>
          <a:prstGeom prst="roundRect">
            <a:avLst>
              <a:gd name="adj" fmla="val 600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66160" y="2103120"/>
            <a:ext cx="1828800" cy="1828800"/>
          </a:xfrm>
          <a:prstGeom prst="roundRect">
            <a:avLst>
              <a:gd name="adj" fmla="val 600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2560320"/>
            <a:ext cx="1828800" cy="548640"/>
          </a:xfrm>
          <a:prstGeom prst="rect">
            <a:avLst/>
          </a:prstGeom>
          <a:noFill/>
        </p:spPr>
        <p:txBody>
          <a:bodyPr wrap="square" lIns="0" rIns="0" tIns="0" bIns="0" anchor="ctr">
            <a:spAutoFit/>
          </a:bodyPr>
          <a:lstStyle/>
          <a:p>
            <a:pPr algn="ctr"/>
            <a:r>
              <a:rPr sz="3600" b="0">
                <a:solidFill>
                  <a:srgbClr val="6F6B5E"/>
                </a:solidFill>
                <a:latin typeface="Readex Pro"/>
                <a:cs typeface="Readex Pro"/>
                <a:ea typeface="Readex Pro"/>
              </a:rPr>
              <a:t>▶</a:t>
            </a:r>
          </a:p>
        </p:txBody>
      </p:sp>
      <p:sp>
        <p:nvSpPr>
          <p:cNvPr id="12" name="TextBox 11"/>
          <p:cNvSpPr txBox="1"/>
          <p:nvPr/>
        </p:nvSpPr>
        <p:spPr>
          <a:xfrm>
            <a:off x="3566160" y="4069080"/>
            <a:ext cx="1828800" cy="274320"/>
          </a:xfrm>
          <a:prstGeom prst="rect">
            <a:avLst/>
          </a:prstGeom>
          <a:noFill/>
        </p:spPr>
        <p:txBody>
          <a:bodyPr wrap="square" lIns="0" rIns="0" tIns="0" bIns="0" anchor="ctr">
            <a:spAutoFit/>
          </a:bodyPr>
          <a:lstStyle/>
          <a:p>
            <a:pPr algn="ctr"/>
            <a:r>
              <a:rPr sz="1300" b="1">
                <a:solidFill>
                  <a:srgbClr val="4A4842"/>
                </a:solidFill>
                <a:latin typeface="Readex Pro"/>
                <a:cs typeface="Readex Pro"/>
                <a:ea typeface="Readex Pro"/>
              </a:rPr>
              <a:t>30 s recording</a:t>
            </a:r>
          </a:p>
        </p:txBody>
      </p:sp>
      <p:sp>
        <p:nvSpPr>
          <p:cNvPr id="13" name="TextBox 12"/>
          <p:cNvSpPr txBox="1"/>
          <p:nvPr/>
        </p:nvSpPr>
        <p:spPr>
          <a:xfrm>
            <a:off x="3337560" y="4434840"/>
            <a:ext cx="2286000" cy="320040"/>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select → تبسيط → sheet → read aloud</a:t>
            </a:r>
          </a:p>
        </p:txBody>
      </p:sp>
      <p:sp>
        <p:nvSpPr>
          <p:cNvPr id="14" name="TextBox 13"/>
          <p:cNvSpPr txBox="1"/>
          <p:nvPr/>
        </p:nvSpPr>
        <p:spPr>
          <a:xfrm>
            <a:off x="6217920" y="1691640"/>
            <a:ext cx="3200400" cy="274320"/>
          </a:xfrm>
          <a:prstGeom prst="rect">
            <a:avLst/>
          </a:prstGeom>
          <a:noFill/>
        </p:spPr>
        <p:txBody>
          <a:bodyPr wrap="square" lIns="0" rIns="0" tIns="0" bIns="0" anchor="ctr">
            <a:spAutoFit/>
          </a:bodyPr>
          <a:lstStyle/>
          <a:p>
            <a:pPr algn="l"/>
            <a:r>
              <a:rPr sz="1400" b="1">
                <a:solidFill>
                  <a:srgbClr val="282824"/>
                </a:solidFill>
                <a:latin typeface="Readex Pro"/>
                <a:cs typeface="Readex Pro"/>
                <a:ea typeface="Readex Pro"/>
              </a:rPr>
              <a:t>What you are watching</a:t>
            </a:r>
          </a:p>
        </p:txBody>
      </p:sp>
      <p:sp>
        <p:nvSpPr>
          <p:cNvPr id="15" name="Rounded Rectangle 14"/>
          <p:cNvSpPr/>
          <p:nvPr/>
        </p:nvSpPr>
        <p:spPr>
          <a:xfrm>
            <a:off x="6217920" y="2148840"/>
            <a:ext cx="3108960" cy="347472"/>
          </a:xfrm>
          <a:prstGeom prst="roundRect">
            <a:avLst>
              <a:gd name="adj" fmla="val 47368"/>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4A4842"/>
                </a:solidFill>
                <a:latin typeface="Readex Pro"/>
                <a:cs typeface="Readex Pro"/>
                <a:ea typeface="Readex Pro"/>
              </a:rPr>
              <a:t>Text selected in a browser</a:t>
            </a:r>
          </a:p>
        </p:txBody>
      </p:sp>
      <p:sp>
        <p:nvSpPr>
          <p:cNvPr id="16" name="Rounded Rectangle 15"/>
          <p:cNvSpPr/>
          <p:nvPr/>
        </p:nvSpPr>
        <p:spPr>
          <a:xfrm>
            <a:off x="6217920" y="2624328"/>
            <a:ext cx="3108960" cy="347472"/>
          </a:xfrm>
          <a:prstGeom prst="roundRect">
            <a:avLst>
              <a:gd name="adj" fmla="val 47368"/>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4A4842"/>
                </a:solidFill>
                <a:latin typeface="Readex Pro"/>
                <a:cs typeface="Readex Pro"/>
                <a:ea typeface="Readex Pro"/>
              </a:rPr>
              <a:t>Tap تبسيط in the menu</a:t>
            </a:r>
          </a:p>
        </p:txBody>
      </p:sp>
      <p:sp>
        <p:nvSpPr>
          <p:cNvPr id="17" name="Rounded Rectangle 16"/>
          <p:cNvSpPr/>
          <p:nvPr/>
        </p:nvSpPr>
        <p:spPr>
          <a:xfrm>
            <a:off x="6217920" y="3099816"/>
            <a:ext cx="3108960" cy="347472"/>
          </a:xfrm>
          <a:prstGeom prst="roundRect">
            <a:avLst>
              <a:gd name="adj" fmla="val 47368"/>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4A4842"/>
                </a:solidFill>
                <a:latin typeface="Readex Pro"/>
                <a:cs typeface="Readex Pro"/>
                <a:ea typeface="Readex Pro"/>
              </a:rPr>
              <a:t>The sheet shows the simpler text</a:t>
            </a:r>
          </a:p>
        </p:txBody>
      </p:sp>
      <p:sp>
        <p:nvSpPr>
          <p:cNvPr id="18" name="Rounded Rectangle 17"/>
          <p:cNvSpPr/>
          <p:nvPr/>
        </p:nvSpPr>
        <p:spPr>
          <a:xfrm>
            <a:off x="6217920" y="3575304"/>
            <a:ext cx="3108960" cy="347472"/>
          </a:xfrm>
          <a:prstGeom prst="roundRect">
            <a:avLst>
              <a:gd name="adj" fmla="val 47368"/>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4A4842"/>
                </a:solidFill>
                <a:latin typeface="Readex Pro"/>
                <a:cs typeface="Readex Pro"/>
                <a:ea typeface="Readex Pro"/>
              </a:rPr>
              <a:t>and reads it aloud</a:t>
            </a:r>
          </a:p>
        </p:txBody>
      </p:sp>
      <p:sp>
        <p:nvSpPr>
          <p:cNvPr id="19" name="Rounded Rectangle 18"/>
          <p:cNvSpPr/>
          <p:nvPr/>
        </p:nvSpPr>
        <p:spPr>
          <a:xfrm>
            <a:off x="6217920" y="4050791"/>
            <a:ext cx="3108960" cy="347472"/>
          </a:xfrm>
          <a:prstGeom prst="roundRect">
            <a:avLst>
              <a:gd name="adj" fmla="val 47368"/>
            </a:avLst>
          </a:prstGeom>
          <a:solidFill>
            <a:srgbClr val="EEDD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1">
                <a:solidFill>
                  <a:srgbClr val="8A5E35"/>
                </a:solidFill>
                <a:latin typeface="Readex Pro"/>
                <a:cs typeface="Readex Pro"/>
                <a:ea typeface="Readex Pro"/>
              </a:rPr>
              <a:t>The original is one tap away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childTnLst>
                                </p:cTn>
                              </p:par>
                              <p:par>
                                <p:cTn id="10" presetID="10" presetClass="entr" presetSubtype="0" fill="hold" grpId="0" nodeType="withEffect">
                                  <p:stCondLst>
                                    <p:cond delay="20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par>
                                <p:cTn id="13" presetID="10" presetClass="entr" presetSubtype="0" fill="hold" grpId="0" nodeType="withEffect">
                                  <p:stCondLst>
                                    <p:cond delay="50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6" presetID="10" presetClass="entr" presetSubtype="0" fill="hold" grpId="0" nodeType="withEffect">
                                  <p:stCondLst>
                                    <p:cond delay="70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9" presetID="10" presetClass="entr" presetSubtype="0" fill="hold" grpId="0" nodeType="withEffect">
                                  <p:stCondLst>
                                    <p:cond delay="90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par>
                                <p:cTn id="22" presetID="10" presetClass="entr" presetSubtype="0" fill="hold" grpId="0" nodeType="withEffect">
                                  <p:stCondLst>
                                    <p:cond delay="110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par>
                                <p:cTn id="25" presetID="10" presetClass="entr" presetSubtype="0" fill="hold" grpId="0" nodeType="withEffect">
                                  <p:stCondLst>
                                    <p:cond delay="140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8" presetID="10" presetClass="entr" presetSubtype="0" fill="hold" grpId="0" nodeType="withEffect">
                                  <p:stCondLst>
                                    <p:cond delay="155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par>
                                <p:cTn id="31" presetID="10" presetClass="entr" presetSubtype="0" fill="hold" grpId="0" nodeType="withEffect">
                                  <p:stCondLst>
                                    <p:cond delay="17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childTnLst>
                                </p:cTn>
                              </p:par>
                              <p:par>
                                <p:cTn id="34" presetID="10" presetClass="entr" presetSubtype="0" fill="hold" grpId="0" nodeType="withEffect">
                                  <p:stCondLst>
                                    <p:cond delay="185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par>
                                <p:cTn id="37" presetID="10" presetClass="entr" presetSubtype="0" fill="hold" grpId="0" nodeType="withEffect">
                                  <p:stCondLst>
                                    <p:cond delay="200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00"/>
                                        <p:tgtEl>
                                          <p:spTgt spid="18"/>
                                        </p:tgtEl>
                                      </p:cBhvr>
                                    </p:animEffect>
                                  </p:childTnLst>
                                </p:cTn>
                              </p:par>
                              <p:par>
                                <p:cTn id="40" presetID="10" presetClass="entr" presetSubtype="0" fill="hold" grpId="0" nodeType="withEffect">
                                  <p:stCondLst>
                                    <p:cond delay="215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94360" y="6327648"/>
            <a:ext cx="1051560" cy="161677"/>
          </a:xfrm>
          <a:prstGeom prst="rect">
            <a:avLst/>
          </a:prstGeom>
        </p:spPr>
      </p:pic>
      <p:sp>
        <p:nvSpPr>
          <p:cNvPr id="4" name="TextBox 3"/>
          <p:cNvSpPr txBox="1"/>
          <p:nvPr/>
        </p:nvSpPr>
        <p:spPr>
          <a:xfrm>
            <a:off x="1828800" y="6281928"/>
            <a:ext cx="4114800" cy="274320"/>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394192" y="6281928"/>
            <a:ext cx="914400" cy="274320"/>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7 / 7</a:t>
            </a:r>
          </a:p>
        </p:txBody>
      </p:sp>
      <p:pic>
        <p:nvPicPr>
          <p:cNvPr id="6" name="Bayan logo" descr="Bayan logo"/>
          <p:cNvPicPr>
            <a:picLocks noChangeAspect="1"/>
          </p:cNvPicPr>
          <p:nvPr/>
        </p:nvPicPr>
        <p:blipFill>
          <a:blip r:embed="rId3"/>
          <a:stretch>
            <a:fillRect/>
          </a:stretch>
        </p:blipFill>
        <p:spPr>
          <a:xfrm>
            <a:off x="3168396" y="1143000"/>
            <a:ext cx="3566160" cy="1116654"/>
          </a:xfrm>
          <a:prstGeom prst="rect">
            <a:avLst/>
          </a:prstGeom>
        </p:spPr>
      </p:pic>
      <p:sp>
        <p:nvSpPr>
          <p:cNvPr id="7" name="TextBox 6"/>
          <p:cNvSpPr txBox="1"/>
          <p:nvPr/>
        </p:nvSpPr>
        <p:spPr>
          <a:xfrm>
            <a:off x="0" y="2926080"/>
            <a:ext cx="9902952" cy="640080"/>
          </a:xfrm>
          <a:prstGeom prst="rect">
            <a:avLst/>
          </a:prstGeom>
          <a:noFill/>
        </p:spPr>
        <p:txBody>
          <a:bodyPr wrap="square" lIns="0" rIns="0" tIns="0" bIns="0" anchor="ctr">
            <a:spAutoFit/>
          </a:bodyPr>
          <a:lstStyle/>
          <a:p>
            <a:pPr algn="ctr"/>
            <a:r>
              <a:rPr sz="3400" b="1">
                <a:solidFill>
                  <a:srgbClr val="F2EFE2"/>
                </a:solidFill>
                <a:latin typeface="Readex Pro"/>
                <a:cs typeface="Readex Pro"/>
                <a:ea typeface="Readex Pro"/>
              </a:rPr>
              <a:t>Simplify where you read.</a:t>
            </a:r>
          </a:p>
        </p:txBody>
      </p:sp>
      <p:sp>
        <p:nvSpPr>
          <p:cNvPr id="8" name="Rounded Rectangle 7"/>
          <p:cNvSpPr/>
          <p:nvPr/>
        </p:nvSpPr>
        <p:spPr>
          <a:xfrm>
            <a:off x="2286000" y="3840480"/>
            <a:ext cx="2560320" cy="365760"/>
          </a:xfrm>
          <a:prstGeom prst="roundRect">
            <a:avLst>
              <a:gd name="adj" fmla="val 44999"/>
            </a:avLst>
          </a:prstGeom>
          <a:solidFill>
            <a:srgbClr val="2626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A29D8C"/>
                </a:solidFill>
                <a:latin typeface="Readex Pro"/>
                <a:cs typeface="Readex Pro"/>
                <a:ea typeface="Readex Pro"/>
              </a:rPr>
              <a:t>no reader has used Bayan yet</a:t>
            </a:r>
          </a:p>
        </p:txBody>
      </p:sp>
      <p:sp>
        <p:nvSpPr>
          <p:cNvPr id="9" name="Rounded Rectangle 8"/>
          <p:cNvSpPr/>
          <p:nvPr/>
        </p:nvSpPr>
        <p:spPr>
          <a:xfrm>
            <a:off x="5074920" y="3840480"/>
            <a:ext cx="2560320" cy="365760"/>
          </a:xfrm>
          <a:prstGeom prst="roundRect">
            <a:avLst>
              <a:gd name="adj" fmla="val 44999"/>
            </a:avLst>
          </a:prstGeom>
          <a:solidFill>
            <a:srgbClr val="2626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A29D8C"/>
                </a:solidFill>
                <a:latin typeface="Readex Pro"/>
                <a:cs typeface="Readex Pro"/>
                <a:ea typeface="Readex Pro"/>
              </a:rPr>
              <a:t>Arabic fluency is still a gap</a:t>
            </a:r>
          </a:p>
        </p:txBody>
      </p:sp>
      <p:sp>
        <p:nvSpPr>
          <p:cNvPr id="10" name="TextBox 9"/>
          <p:cNvSpPr txBox="1"/>
          <p:nvPr/>
        </p:nvSpPr>
        <p:spPr>
          <a:xfrm>
            <a:off x="0" y="4709160"/>
            <a:ext cx="9902952" cy="320040"/>
          </a:xfrm>
          <a:prstGeom prst="rect">
            <a:avLst/>
          </a:prstGeom>
          <a:noFill/>
        </p:spPr>
        <p:txBody>
          <a:bodyPr wrap="square" lIns="0" rIns="0" tIns="0" bIns="0" anchor="ctr">
            <a:spAutoFit/>
          </a:bodyPr>
          <a:lstStyle/>
          <a:p>
            <a:pPr algn="ctr"/>
            <a:r>
              <a:rPr sz="1300" b="0">
                <a:solidFill>
                  <a:srgbClr val="C6986B"/>
                </a:solidFill>
                <a:latin typeface="Readex Pro"/>
                <a:cs typeface="Readex Pro"/>
                <a:ea typeface="Readex Pro"/>
              </a:rPr>
              <a:t>Thank you  ·  Team Cogni  ·  Samsung Innovation Campus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par>
                                <p:cTn id="10" presetID="10" presetClass="entr" presetSubtype="0" fill="hold" grpId="0" nodeType="withEffect">
                                  <p:stCondLst>
                                    <p:cond delay="50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par>
                                <p:cTn id="18" presetID="10" presetClass="entr" presetSubtype="0" fill="hold" grpId="0" nodeType="withEffect">
                                  <p:stCondLst>
                                    <p:cond delay="2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21" presetID="10" presetClass="entr" presetSubtype="0" fill="hold" grpId="0" nodeType="withEffect">
                                  <p:stCondLst>
                                    <p:cond delay="80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