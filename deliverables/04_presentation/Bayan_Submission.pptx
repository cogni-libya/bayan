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3" r:id="rId1"/>
  </p:sldMasterIdLst>
  <p:notesMasterIdLst>
    <p:notesMasterId r:id="rId6"/>
  </p:notesMasterIdLst>
  <p:sldIdLst>
    <p:sldId id="256" r:id="rId5"/>
    <p:sldId id="257" r:id="rId4"/>
    <p:sldId id="258" r:id="rId3"/>
    <p:sldId id="259" r:id="rId2"/>
    <p:sldId id="260" r:id="rId24"/>
    <p:sldId id="261" r:id="rId25"/>
    <p:sldId id="262" r:id="rId26"/>
    <p:sldId id="263" r:id="rId27"/>
  </p:sldIdLst>
  <p:sldSz cx="9902825" cy="6858000"/>
  <p:notesSz cx="6858000" cy="9144000"/>
  <p:embeddedFontLst>
    <p:embeddedFont>
      <p:font typeface="Samsung Sharp Sans" pitchFamily="2" charset="0"/>
      <p:regular r:id="rId7"/>
      <p:bold r:id="rId8"/>
    </p:embeddedFont>
    <p:embeddedFont>
      <p:font typeface="Samsung Sharp Sans Bold" pitchFamily="2" charset="0"/>
      <p:bold r:id="rId9"/>
    </p:embeddedFont>
    <p:embeddedFont>
      <p:font typeface="Samsung Sharp Sans Medium" pitchFamily="2" charset="0"/>
      <p:bold r:id="rId10"/>
    </p:embeddedFont>
    <p:embeddedFont>
      <p:font typeface="SamsungOne 400" panose="020B0503030303020204" pitchFamily="34" charset="0"/>
      <p:regular r:id="rId11"/>
    </p:embeddedFont>
    <p:embeddedFont>
      <p:font typeface="SamsungOne 400C" panose="020B0506030303020204" charset="0"/>
      <p:regular r:id="rId12"/>
    </p:embeddedFont>
    <p:embeddedFont>
      <p:font typeface="SamsungOne 700" panose="020B0803030303020204" pitchFamily="34" charset="0"/>
      <p:bold r:id="rId13"/>
    </p:embeddedFont>
    <p:embeddedFont>
      <p:font typeface="맑은 고딕" panose="020B0503020000020004" pitchFamily="50" charset="-127"/>
      <p:regular r:id="rId14"/>
      <p:bold r:id="rId1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19"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EB0"/>
    <a:srgbClr val="FFB546"/>
    <a:srgbClr val="FF4337"/>
    <a:srgbClr val="00B3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3" autoAdjust="0"/>
    <p:restoredTop sz="72205" autoAdjust="0"/>
  </p:normalViewPr>
  <p:slideViewPr>
    <p:cSldViewPr snapToGrid="0">
      <p:cViewPr varScale="1">
        <p:scale>
          <a:sx n="110" d="100"/>
          <a:sy n="110" d="100"/>
        </p:scale>
        <p:origin x="1386" y="114"/>
      </p:cViewPr>
      <p:guideLst>
        <p:guide pos="3119"/>
        <p:guide orient="horz" pos="2160"/>
      </p:guideLst>
    </p:cSldViewPr>
  </p:slideViewPr>
  <p:notesTextViewPr>
    <p:cViewPr>
      <p:scale>
        <a:sx n="125" d="100"/>
        <a:sy n="12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4.xml"/><Relationship Id="rId3" Type="http://schemas.openxmlformats.org/officeDocument/2006/relationships/slide" Target="slides/slide3.xml"/><Relationship Id="rId4" Type="http://schemas.openxmlformats.org/officeDocument/2006/relationships/slide" Target="slides/slide2.xml"/><Relationship Id="rId5" Type="http://schemas.openxmlformats.org/officeDocument/2006/relationships/slide" Target="slides/slide1.xml"/><Relationship Id="rId6" Type="http://schemas.openxmlformats.org/officeDocument/2006/relationships/notesMaster" Target="notesMasters/notesMaster1.xml"/><Relationship Id="rId7" Type="http://schemas.openxmlformats.org/officeDocument/2006/relationships/font" Target="fonts/font1.fntdata"/><Relationship Id="rId8" Type="http://schemas.openxmlformats.org/officeDocument/2006/relationships/font" Target="fonts/font2.fntdata"/><Relationship Id="rId9" Type="http://schemas.openxmlformats.org/officeDocument/2006/relationships/font" Target="fonts/font3.fntdata"/><Relationship Id="rId10" Type="http://schemas.openxmlformats.org/officeDocument/2006/relationships/font" Target="fonts/font4.fntdata"/><Relationship Id="rId11" Type="http://schemas.openxmlformats.org/officeDocument/2006/relationships/font" Target="fonts/font5.fntdata"/><Relationship Id="rId12" Type="http://schemas.openxmlformats.org/officeDocument/2006/relationships/font" Target="fonts/font6.fntdata"/><Relationship Id="rId13" Type="http://schemas.openxmlformats.org/officeDocument/2006/relationships/font" Target="fonts/font7.fntdata"/><Relationship Id="rId14" Type="http://schemas.openxmlformats.org/officeDocument/2006/relationships/font" Target="fonts/font8.fntdata"/><Relationship Id="rId15" Type="http://schemas.openxmlformats.org/officeDocument/2006/relationships/font" Target="fonts/font9.fnt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6/11/relationships/changesInfo" Target="changesInfos/changesInfo1.xml"/><Relationship Id="rId21" Type="http://schemas.openxmlformats.org/officeDocument/2006/relationships/customXml" Target="../customXml/item1.xml"/><Relationship Id="rId22" Type="http://schemas.openxmlformats.org/officeDocument/2006/relationships/customXml" Target="../customXml/item2.xml"/><Relationship Id="rId23" Type="http://schemas.openxmlformats.org/officeDocument/2006/relationships/customXml" Target="../customXml/item3.xml"/><Relationship Id="rId24" Type="http://schemas.openxmlformats.org/officeDocument/2006/relationships/slide" Target="slides/slide5.xml"/><Relationship Id="rId25" Type="http://schemas.openxmlformats.org/officeDocument/2006/relationships/slide" Target="slides/slide6.xml"/><Relationship Id="rId26" Type="http://schemas.openxmlformats.org/officeDocument/2006/relationships/slide" Target="slides/slide7.xml"/><Relationship Id="rId27"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이 선우" userId="0fe69268-fa1a-4efe-9dc5-d4012ab1114b" providerId="ADAL" clId="{C52B7E7F-94C4-473C-B7E9-B27EED8C6190}"/>
    <pc:docChg chg="modMainMaster">
      <pc:chgData name="이 선우" userId="0fe69268-fa1a-4efe-9dc5-d4012ab1114b" providerId="ADAL" clId="{C52B7E7F-94C4-473C-B7E9-B27EED8C6190}" dt="2025-12-26T06:30:10.164" v="2" actId="20577"/>
      <pc:docMkLst>
        <pc:docMk/>
      </pc:docMkLst>
      <pc:sldMasterChg chg="modSldLayout">
        <pc:chgData name="이 선우" userId="0fe69268-fa1a-4efe-9dc5-d4012ab1114b" providerId="ADAL" clId="{C52B7E7F-94C4-473C-B7E9-B27EED8C6190}" dt="2025-12-26T06:30:10.164" v="2" actId="20577"/>
        <pc:sldMasterMkLst>
          <pc:docMk/>
          <pc:sldMasterMk cId="3477928821" sldId="2147483683"/>
        </pc:sldMasterMkLst>
        <pc:sldLayoutChg chg="modSp mod">
          <pc:chgData name="이 선우" userId="0fe69268-fa1a-4efe-9dc5-d4012ab1114b" providerId="ADAL" clId="{C52B7E7F-94C4-473C-B7E9-B27EED8C6190}" dt="2025-12-26T06:30:10.164" v="2" actId="20577"/>
          <pc:sldLayoutMkLst>
            <pc:docMk/>
            <pc:sldMasterMk cId="3477928821" sldId="2147483683"/>
            <pc:sldLayoutMk cId="1227834196" sldId="2147483689"/>
          </pc:sldLayoutMkLst>
          <pc:spChg chg="mod">
            <ac:chgData name="이 선우" userId="0fe69268-fa1a-4efe-9dc5-d4012ab1114b" providerId="ADAL" clId="{C52B7E7F-94C4-473C-B7E9-B27EED8C6190}" dt="2025-12-26T06:30:10.164" v="2" actId="20577"/>
            <ac:spMkLst>
              <pc:docMk/>
              <pc:sldMasterMk cId="3477928821" sldId="2147483683"/>
              <pc:sldLayoutMk cId="1227834196" sldId="2147483689"/>
              <ac:spMk id="7" creationId="{782B242C-8600-47F0-98D5-6EA512C41BF2}"/>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57C17-E6FD-4AF5-A787-31E9CCE99A85}" type="datetimeFigureOut">
              <a:rPr lang="ko-KR" altLang="en-US" smtClean="0"/>
              <a:t>2025-12-26</a:t>
            </a:fld>
            <a:endParaRPr lang="ko-KR" altLang="en-US" dirty="0"/>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59C55F-00F1-4985-9065-F2D92AE05D03}" type="slidenum">
              <a:rPr lang="ko-KR" altLang="en-US" smtClean="0"/>
              <a:t>‹#›</a:t>
            </a:fld>
            <a:endParaRPr lang="ko-KR" altLang="en-US" dirty="0"/>
          </a:p>
        </p:txBody>
      </p:sp>
    </p:spTree>
    <p:extLst>
      <p:ext uri="{BB962C8B-B14F-4D97-AF65-F5344CB8AC3E}">
        <p14:creationId xmlns:p14="http://schemas.microsoft.com/office/powerpoint/2010/main" val="9912534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a:t>
            </a:r>
          </a:p>
          <a:p/>
          <a:p>
            <a:r>
              <a:t>▶ Step 1 (on arrival; The logo draws itself, then the title and team appear)</a:t>
            </a:r>
          </a:p>
          <a:p>
            <a:r>
              <a:t>This is Bayan: an Android tool that simplifies hard Arabic where you read, on your phone. Building it was fine. Checking it was the hard part.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a:t>
            </a:r>
          </a:p>
          <a:p/>
          <a:p>
            <a:r>
              <a:t>▶ Step 1 (on arrival; 11% counts up; كتب splits into kataba, kutiba, kutub)</a:t>
            </a:r>
          </a:p>
          <a:p>
            <a:r>
              <a:t>About eleven percent of Arab primary-school children have dyslexia, and Arabic doesn't help: these letters can be kataba, kutiba or kutub, because short vowels aren't written.</a:t>
            </a:r>
          </a:p>
          <a:p/>
          <a:p>
            <a:r>
              <a:t>▶ Step 2 (step 2 (auto); Left: shorter clauses help the weakest readers most. Right: our scope)</a:t>
            </a:r>
          </a:p>
          <a:p>
            <a:r>
              <a:t>Shorter clauses help the weakest readers most. So Bayan reduces reading load: long clauses, hard words. Not decoding, and we don't yet claim it helps readers with dyslexia.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a:t>
            </a:r>
          </a:p>
          <a:p/>
          <a:p>
            <a:r>
              <a:t>▶ Step 1 (on arrival; Two cards: SAMER (novels, half unchanged, word swaps) and other LLM-written sources (summaries))</a:t>
            </a:r>
          </a:p>
          <a:p>
            <a:r>
              <a:t>We started with what existed. SAMER is novels: half its pairs are unchanged, and it swaps words but never splits sentences. The other sources mostly summarised.</a:t>
            </a:r>
          </a:p>
          <a:p/>
          <a:p>
            <a:r>
              <a:t>▶ Step 2 (step 2 (auto); Corpus v0: DeepSeek -&gt; validator -&gt; readability gate; three red chips; validator accepted 34% of planted additions)</a:t>
            </a:r>
          </a:p>
          <a:p>
            <a:r>
              <a:t>So we wrote our own with DeepSeek. The audit was humbling: tashkeel in fifty-seven percent of rows, cut-off sentences helpfully completed, a validator that waved through a third of our planted errors. We trained nothing on it.</a:t>
            </a:r>
          </a:p>
          <a:p/>
          <a:p>
            <a:r>
              <a:t>▶ Step 3 (step 3 (auto); Pipeline v1: BAREC -&gt; strip tashkeel -&gt; route -&gt; Gemma 4 31B -&gt; code, readability and meaning gates)</a:t>
            </a:r>
          </a:p>
          <a:p>
            <a:r>
              <a:t>Corpus v1 starts from BAREC, strips tashkeel, sets protected and short text aside, and has Gemma 4 31B rewrite the hard sentences behind three gates.</a:t>
            </a:r>
          </a:p>
          <a:p/>
          <a:p>
            <a:r>
              <a:t>▶ Step 4 (step 4 (auto); 14,975 rows lock in; audit badge: 1.7% meaning changed)</a:t>
            </a:r>
          </a:p>
          <a:p>
            <a:r>
              <a:t>Fourteen thousand nine hundred seventy-five pairs survived. A blind audit found one point seven percent with changed meaning. We'll take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a:t>
            </a:r>
          </a:p>
          <a:p/>
          <a:p>
            <a:r>
              <a:t>▶ Step 1 (on arrival; Lane v0.1: AraT5v2 on SAMER. Found: returned 65% of rows unchanged, swapped single words)</a:t>
            </a:r>
          </a:p>
          <a:p>
            <a:r>
              <a:t>BayanSimplify v0.1 trained on SAMER. It returned sixty-five percent of sentences untouched, where editors leave forty-nine. Bold strategy: change nothing.</a:t>
            </a:r>
          </a:p>
          <a:p/>
          <a:p>
            <a:r>
              <a:t>▶ Step 2 (step 2 (auto); Lane v0.2: two models, AraT5v2 (v0.2) and AraBART (v0.2-Fast); meaning kept 60% / 40%; the tag costs meaning)</a:t>
            </a:r>
          </a:p>
          <a:p>
            <a:r>
              <a:t>v0.2 is two models, AraT5v2 and AraBART, trained with everyday text and strength tags. They kept the meaning in sixty and forty percent of outputs. The tag costs meaning, so the app sends none.</a:t>
            </a:r>
          </a:p>
          <a:p/>
          <a:p>
            <a:r>
              <a:t>▶ Step 3 (step 3 (auto); Lane v0.3: AraT5v2 on corpus v1, our best: cuts 9.5 words vs 4.5, about the same meaning (vs v0.2, no tag))</a:t>
            </a:r>
          </a:p>
          <a:p>
            <a:r>
              <a:t>v0.3 is AraT5v2 on corpus v1, no tag. As trained, it cuts twice the words of v0.2 and keeps about the same meaning.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a:t>
            </a:r>
          </a:p>
          <a:p/>
          <a:p>
            <a:r>
              <a:t>▶ Step 1 (on arrival; Copy baseline table: copy 100% / 0; v0.1 76% / 0; v0.2 68% / 4.5 and v0.2-Fast 51% / 4.9; v0.3 69% / 9.5)</a:t>
            </a:r>
          </a:p>
          <a:p>
            <a:r>
              <a:t>How do we know a rewrite is good? Copying keeps all the meaning and simplifies nothing, which is how a lazy model would win. v0.1 nearly managed it: seventy-six percent kept, no words cut from the longest clause. So we built BayanBench.</a:t>
            </a:r>
          </a:p>
          <a:p/>
          <a:p>
            <a:r>
              <a:t>▶ Step 2 (step 2 (auto); Gemma 4 31B reads original + rewrite and answers 7 yes/no questions: 4 on meaning, 3 on quality)</a:t>
            </a:r>
          </a:p>
          <a:p>
            <a:r>
              <a:t>Meaning comes from Gemma 4 31B, an open model. It reads the original and the rewrite and answers seven yes-or-no questions: four about meaning, three about quality.</a:t>
            </a:r>
          </a:p>
          <a:p/>
          <a:p>
            <a:r>
              <a:t>▶ Step 3 (step 3 (auto); Four measures in a square: meaning, simpler, restraint, copying rate)</a:t>
            </a:r>
          </a:p>
          <a:p>
            <a:r>
              <a:t>Four measures, scored separately. Kept means the same meaning and every number intact.</a:t>
            </a:r>
          </a:p>
          <a:p/>
          <a:p>
            <a:r>
              <a:t>▶ Step 4 (step 4 (auto); People check: one reader with dyslexia rated 30 outputs (17 easier, 9 same, 4 harder); scorer AUC 0.85)</a:t>
            </a:r>
          </a:p>
          <a:p>
            <a:r>
              <a:t>Do people agree with the scorer? Six raters, two hundred ninety tasks: zero point eight five. One reader with dyslexia rated thirty outputs too: seventeen easier, four harder.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a:t>
            </a:r>
          </a:p>
          <a:p/>
          <a:p>
            <a:r>
              <a:t>▶ Step 1 (on arrival; Scatter: v0.3 in the app keeps the most meaning (82%) and cuts 5.2 words)</a:t>
            </a:r>
          </a:p>
          <a:p>
            <a:r>
              <a:t>More simplification usually means less meaning. v0.3 breaks the pattern: in the app it keeps the most meaning, eighty-two percent, and still cuts five words off the longest clause.</a:t>
            </a:r>
          </a:p>
          <a:p/>
          <a:p>
            <a:r>
              <a:t>▶ Step 2 (step 2 (auto); In the app: v0.3 minus v0.2 behind the same checks: +3.4 words, harder words out, meaning kept as well (not significant))</a:t>
            </a:r>
          </a:p>
          <a:p>
            <a:r>
              <a:t>Against v0.2 behind the same checks, it cuts three and a half more words off the longest clause, removes more hard words, and keeps the meaning as well. Not significantly different.</a:t>
            </a:r>
          </a:p>
          <a:p/>
          <a:p>
            <a:r>
              <a:t>▶ Step 3 (step 3 (auto); Blind rating, 18 sentences: v0.3 easier on 86% of changed outputs vs 60%; 8 of 8 votes)</a:t>
            </a:r>
          </a:p>
          <a:p>
            <a:r>
              <a:t>People agree. In a blind rating, the team found v0.3's changed outputs easier eighty-six percent of the time, against sixty for v0.2, and the reader with dyslexia chose v0.3 in every comparison it was 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a:t>
            </a:r>
          </a:p>
          <a:p/>
          <a:p>
            <a:r>
              <a:t>▶ Step 1 (on arrival; Heading 'What the app does' and the video recording under it)</a:t>
            </a:r>
          </a:p>
          <a:p>
            <a:r>
              <a:t>On a phone: select, tap tabseet, and it reads aloud. Scripture never reaches the model, and code checks that numbers survive.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[Sanad]</a:t>
            </a:r>
          </a:p>
          <a:p/>
          <a:p>
            <a:r>
              <a:t>▶ Step 1 (on arrival; Logo and 'Simplify where you read.')</a:t>
            </a:r>
          </a:p>
          <a:p>
            <a:r>
              <a:t>Bayan: simplify where you read.</a:t>
            </a:r>
          </a:p>
          <a:p/>
          <a:p>
            <a:r>
              <a:t>▶ Step 2 (step 2 (auto); Three limit chips and the next step)</a:t>
            </a:r>
          </a:p>
          <a:p>
            <a:r>
              <a:t>What we can't claim: no reader has used it, our scorer is stricter than people, and our human comparison is eighteen sentences. Next, a reading study.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3956667998"/>
      </p:ext>
    </p:extLst>
  </p:cSld>
  <p:clrMapOvr>
    <a:masterClrMapping/>
  </p:clrMapOvr>
  <p:extLst>
    <p:ext uri="{DCECCB84-F9BA-43D5-87BE-67443E8EF086}">
      <p15:sldGuideLst xmlns:p15="http://schemas.microsoft.com/office/powerpoint/2012/main">
        <p15:guide id="2" pos="285">
          <p15:clr>
            <a:srgbClr val="FBAE40"/>
          </p15:clr>
        </p15:guide>
        <p15:guide id="3" pos="595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6"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
        <p:nvSpPr>
          <p:cNvPr id="7" name="직사각형 133">
            <a:extLst>
              <a:ext uri="{FF2B5EF4-FFF2-40B4-BE49-F238E27FC236}">
                <a16:creationId xmlns:a16="http://schemas.microsoft.com/office/drawing/2014/main" id="{DE8CAD59-3F29-4FBB-AE0A-697DDFD5E69E}"/>
              </a:ext>
            </a:extLst>
          </p:cNvPr>
          <p:cNvSpPr/>
          <p:nvPr userDrawn="1"/>
        </p:nvSpPr>
        <p:spPr>
          <a:xfrm>
            <a:off x="990000" y="4320000"/>
            <a:ext cx="583252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914400" latinLnBrk="1">
              <a:defRPr/>
            </a:pPr>
            <a:r>
              <a:rPr lang="en-US" altLang="ko-KR" sz="2400" baseline="0" dirty="0">
                <a:solidFill>
                  <a:srgbClr val="1428A0"/>
                </a:solidFill>
                <a:latin typeface="Samsung Sharp Sans" pitchFamily="2" charset="0"/>
                <a:ea typeface="Samsung Sharp Sans" pitchFamily="2" charset="0"/>
                <a:cs typeface="Samsung Sharp Sans" pitchFamily="2" charset="0"/>
              </a:rPr>
              <a:t>Artificial Intelligence Course</a:t>
            </a:r>
            <a:endParaRPr lang="ko-KR" altLang="en-US" sz="2400" dirty="0">
              <a:solidFill>
                <a:srgbClr val="1428A0"/>
              </a:solidFill>
              <a:latin typeface="Samsung Sharp Sans" pitchFamily="2" charset="0"/>
              <a:ea typeface="Samsung Sharp Sans" pitchFamily="2" charset="0"/>
              <a:cs typeface="Samsung Sharp Sans" pitchFamily="2" charset="0"/>
            </a:endParaRPr>
          </a:p>
        </p:txBody>
      </p:sp>
      <p:sp>
        <p:nvSpPr>
          <p:cNvPr id="8" name="직사각형 7">
            <a:extLst>
              <a:ext uri="{FF2B5EF4-FFF2-40B4-BE49-F238E27FC236}">
                <a16:creationId xmlns:a16="http://schemas.microsoft.com/office/drawing/2014/main" id="{86149771-D78D-40D7-8B97-564358008D8D}"/>
              </a:ext>
            </a:extLst>
          </p:cNvPr>
          <p:cNvSpPr/>
          <p:nvPr userDrawn="1"/>
        </p:nvSpPr>
        <p:spPr>
          <a:xfrm>
            <a:off x="724689" y="4320000"/>
            <a:ext cx="54000" cy="360000"/>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11" name="텍스트 개체 틀 18">
            <a:extLst>
              <a:ext uri="{FF2B5EF4-FFF2-40B4-BE49-F238E27FC236}">
                <a16:creationId xmlns:a16="http://schemas.microsoft.com/office/drawing/2014/main" id="{02AC410D-7805-4DA9-915F-991D726861C7}"/>
              </a:ext>
            </a:extLst>
          </p:cNvPr>
          <p:cNvSpPr>
            <a:spLocks noGrp="1"/>
          </p:cNvSpPr>
          <p:nvPr>
            <p:ph type="body" sz="quarter" idx="11" hasCustomPrompt="1"/>
          </p:nvPr>
        </p:nvSpPr>
        <p:spPr>
          <a:xfrm>
            <a:off x="720000" y="3551768"/>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800" dirty="0">
                <a:solidFill>
                  <a:schemeClr val="bg1">
                    <a:lumMod val="50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Team Name</a:t>
            </a:r>
            <a:endParaRPr lang="ko-KR" altLang="en-US" dirty="0"/>
          </a:p>
        </p:txBody>
      </p:sp>
      <p:sp>
        <p:nvSpPr>
          <p:cNvPr id="12" name="제목 2">
            <a:extLst>
              <a:ext uri="{FF2B5EF4-FFF2-40B4-BE49-F238E27FC236}">
                <a16:creationId xmlns:a16="http://schemas.microsoft.com/office/drawing/2014/main" id="{44AF0917-EEBC-44C5-8BA6-F1CA2AFA4B1E}"/>
              </a:ext>
            </a:extLst>
          </p:cNvPr>
          <p:cNvSpPr>
            <a:spLocks noGrp="1"/>
          </p:cNvSpPr>
          <p:nvPr>
            <p:ph type="title" hasCustomPrompt="1"/>
          </p:nvPr>
        </p:nvSpPr>
        <p:spPr>
          <a:xfrm>
            <a:off x="720000" y="1710000"/>
            <a:ext cx="5221019" cy="1477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defRPr lang="ko-KR" altLang="en-US" sz="4800">
                <a:solidFill>
                  <a:schemeClr val="tx1"/>
                </a:solidFill>
                <a:latin typeface="Samsung Sharp Sans" pitchFamily="2" charset="0"/>
                <a:ea typeface="Samsung Sharp Sans" pitchFamily="2" charset="0"/>
                <a:cs typeface="Samsung Sharp Sans" pitchFamily="2" charset="0"/>
              </a:defRPr>
            </a:lvl1pPr>
          </a:lstStyle>
          <a:p>
            <a:pPr marL="0" lvl="0" defTabSz="457200" latinLnBrk="0"/>
            <a:r>
              <a:rPr lang="en-US" altLang="ko-KR" dirty="0"/>
              <a:t>Project</a:t>
            </a:r>
            <a:r>
              <a:rPr lang="ko-KR" altLang="en-US" dirty="0"/>
              <a:t> </a:t>
            </a:r>
            <a:br>
              <a:rPr lang="en-US" altLang="ko-KR" dirty="0"/>
            </a:br>
            <a:r>
              <a:rPr lang="en-US" altLang="ko-KR" dirty="0"/>
              <a:t>Name</a:t>
            </a:r>
            <a:endParaRPr lang="ko-KR" altLang="en-US" dirty="0"/>
          </a:p>
        </p:txBody>
      </p:sp>
    </p:spTree>
    <p:extLst>
      <p:ext uri="{BB962C8B-B14F-4D97-AF65-F5344CB8AC3E}">
        <p14:creationId xmlns:p14="http://schemas.microsoft.com/office/powerpoint/2010/main" val="3032291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8"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직사각형 133">
            <a:extLst>
              <a:ext uri="{FF2B5EF4-FFF2-40B4-BE49-F238E27FC236}">
                <a16:creationId xmlns:a16="http://schemas.microsoft.com/office/drawing/2014/main" id="{7A4BCBFF-5289-45FE-BA09-DFF42AF8A347}"/>
              </a:ext>
            </a:extLst>
          </p:cNvPr>
          <p:cNvSpPr/>
          <p:nvPr userDrawn="1"/>
        </p:nvSpPr>
        <p:spPr>
          <a:xfrm>
            <a:off x="990000" y="4157757"/>
            <a:ext cx="3563339" cy="323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200">
              <a:defRPr/>
            </a:pPr>
            <a:r>
              <a:rPr lang="en-US" altLang="ko-KR" sz="2100" dirty="0">
                <a:solidFill>
                  <a:srgbClr val="1428A0"/>
                </a:solidFill>
                <a:latin typeface="Samsung Sharp Sans" pitchFamily="2" charset="0"/>
                <a:ea typeface="Samsung Sharp Sans" pitchFamily="2" charset="0"/>
                <a:cs typeface="Samsung Sharp Sans" pitchFamily="2" charset="0"/>
              </a:rPr>
              <a:t>AI Course</a:t>
            </a:r>
            <a:endParaRPr lang="ko-KR" altLang="en-US" sz="2100" dirty="0">
              <a:solidFill>
                <a:srgbClr val="1428A0"/>
              </a:solidFill>
              <a:latin typeface="Samsung Sharp Sans" pitchFamily="2" charset="0"/>
              <a:ea typeface="Samsung Sharp Sans" pitchFamily="2" charset="0"/>
              <a:cs typeface="Samsung Sharp Sans" pitchFamily="2" charset="0"/>
            </a:endParaRPr>
          </a:p>
        </p:txBody>
      </p:sp>
      <p:sp>
        <p:nvSpPr>
          <p:cNvPr id="9" name="직사각형 8">
            <a:extLst>
              <a:ext uri="{FF2B5EF4-FFF2-40B4-BE49-F238E27FC236}">
                <a16:creationId xmlns:a16="http://schemas.microsoft.com/office/drawing/2014/main" id="{4AA6CFBD-D9B3-4245-A68B-1D7EC1CB6F07}"/>
              </a:ext>
            </a:extLst>
          </p:cNvPr>
          <p:cNvSpPr/>
          <p:nvPr userDrawn="1"/>
        </p:nvSpPr>
        <p:spPr>
          <a:xfrm>
            <a:off x="720000" y="2095275"/>
            <a:ext cx="60008" cy="1759369"/>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10" name="직사각형 9">
            <a:extLst>
              <a:ext uri="{FF2B5EF4-FFF2-40B4-BE49-F238E27FC236}">
                <a16:creationId xmlns:a16="http://schemas.microsoft.com/office/drawing/2014/main" id="{1B2EB59A-603F-4715-ABA1-D9DF69D44512}"/>
              </a:ext>
            </a:extLst>
          </p:cNvPr>
          <p:cNvSpPr/>
          <p:nvPr userDrawn="1"/>
        </p:nvSpPr>
        <p:spPr>
          <a:xfrm>
            <a:off x="720000" y="4157757"/>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3" name="제목 2">
            <a:extLst>
              <a:ext uri="{FF2B5EF4-FFF2-40B4-BE49-F238E27FC236}">
                <a16:creationId xmlns:a16="http://schemas.microsoft.com/office/drawing/2014/main" id="{CF6BC111-C555-4B09-8375-33C4F4C2FBB5}"/>
              </a:ext>
            </a:extLst>
          </p:cNvPr>
          <p:cNvSpPr>
            <a:spLocks noGrp="1"/>
          </p:cNvSpPr>
          <p:nvPr>
            <p:ph type="title" hasCustomPrompt="1"/>
          </p:nvPr>
        </p:nvSpPr>
        <p:spPr>
          <a:xfrm>
            <a:off x="990000" y="2095275"/>
            <a:ext cx="5221019" cy="13542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defRPr lang="ko-KR" altLang="en-US" sz="4400">
                <a:solidFill>
                  <a:schemeClr val="tx1"/>
                </a:solidFill>
                <a:latin typeface="Samsung Sharp Sans" pitchFamily="2" charset="0"/>
                <a:ea typeface="Samsung Sharp Sans" pitchFamily="2" charset="0"/>
                <a:cs typeface="Samsung Sharp Sans" pitchFamily="2" charset="0"/>
              </a:defRPr>
            </a:lvl1pPr>
          </a:lstStyle>
          <a:p>
            <a:pPr marL="0" lvl="0" defTabSz="457200" latinLnBrk="0"/>
            <a:r>
              <a:rPr lang="en-US" altLang="ko-KR" dirty="0"/>
              <a:t>Project</a:t>
            </a:r>
            <a:r>
              <a:rPr lang="ko-KR" altLang="en-US" dirty="0"/>
              <a:t> </a:t>
            </a:r>
            <a:br>
              <a:rPr lang="en-US" altLang="ko-KR" dirty="0"/>
            </a:br>
            <a:r>
              <a:rPr lang="en-US" altLang="ko-KR" dirty="0"/>
              <a:t>Name</a:t>
            </a:r>
            <a:endParaRPr lang="ko-KR" altLang="en-US" dirty="0"/>
          </a:p>
        </p:txBody>
      </p:sp>
      <p:sp>
        <p:nvSpPr>
          <p:cNvPr id="17" name="텍스트 개체 틀 18">
            <a:extLst>
              <a:ext uri="{FF2B5EF4-FFF2-40B4-BE49-F238E27FC236}">
                <a16:creationId xmlns:a16="http://schemas.microsoft.com/office/drawing/2014/main" id="{CBEAE583-0BAA-455B-9555-B00A4FE8B1C9}"/>
              </a:ext>
            </a:extLst>
          </p:cNvPr>
          <p:cNvSpPr>
            <a:spLocks noGrp="1"/>
          </p:cNvSpPr>
          <p:nvPr>
            <p:ph type="body" sz="quarter" idx="11" hasCustomPrompt="1"/>
          </p:nvPr>
        </p:nvSpPr>
        <p:spPr>
          <a:xfrm>
            <a:off x="990000" y="3577645"/>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800" dirty="0">
                <a:solidFill>
                  <a:schemeClr val="bg1">
                    <a:lumMod val="50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Team Name</a:t>
            </a:r>
            <a:endParaRPr lang="ko-KR" altLang="en-US" dirty="0"/>
          </a:p>
        </p:txBody>
      </p:sp>
    </p:spTree>
    <p:extLst>
      <p:ext uri="{BB962C8B-B14F-4D97-AF65-F5344CB8AC3E}">
        <p14:creationId xmlns:p14="http://schemas.microsoft.com/office/powerpoint/2010/main" val="690312953"/>
      </p:ext>
    </p:extLst>
  </p:cSld>
  <p:clrMapOvr>
    <a:masterClrMapping/>
  </p:clrMapOvr>
  <p:extLst>
    <p:ext uri="{DCECCB84-F9BA-43D5-87BE-67443E8EF086}">
      <p15:sldGuideLst xmlns:p15="http://schemas.microsoft.com/office/powerpoint/2012/main">
        <p15:guide id="1" orient="horz" pos="2614" userDrawn="1">
          <p15:clr>
            <a:srgbClr val="FBAE40"/>
          </p15:clr>
        </p15:guide>
        <p15:guide id="2" pos="443" userDrawn="1">
          <p15:clr>
            <a:srgbClr val="FBAE40"/>
          </p15:clr>
        </p15:guide>
        <p15:guide id="3" pos="5955">
          <p15:clr>
            <a:srgbClr val="FBAE40"/>
          </p15:clr>
        </p15:guide>
        <p15:guide id="4" pos="60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3" name="제목 2">
            <a:extLst>
              <a:ext uri="{FF2B5EF4-FFF2-40B4-BE49-F238E27FC236}">
                <a16:creationId xmlns:a16="http://schemas.microsoft.com/office/drawing/2014/main" id="{4625E1FE-2B04-4D8E-A51A-6B9CEC7B3790}"/>
              </a:ext>
            </a:extLst>
          </p:cNvPr>
          <p:cNvSpPr>
            <a:spLocks noGrp="1"/>
          </p:cNvSpPr>
          <p:nvPr>
            <p:ph type="title" hasCustomPrompt="1"/>
          </p:nvPr>
        </p:nvSpPr>
        <p:spPr>
          <a:xfrm>
            <a:off x="449468" y="1440000"/>
            <a:ext cx="8541187"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spcBef>
                <a:spcPts val="0"/>
              </a:spcBef>
              <a:defRPr lang="ko-KR" altLang="en-US" sz="3200">
                <a:solidFill>
                  <a:schemeClr val="tx1">
                    <a:lumMod val="95000"/>
                    <a:lumOff val="5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Slide Title</a:t>
            </a:r>
            <a:endParaRPr lang="ko-KR" altLang="en-US" dirty="0"/>
          </a:p>
        </p:txBody>
      </p:sp>
      <p:sp>
        <p:nvSpPr>
          <p:cNvPr id="19" name="텍스트 개체 틀 18">
            <a:extLst>
              <a:ext uri="{FF2B5EF4-FFF2-40B4-BE49-F238E27FC236}">
                <a16:creationId xmlns:a16="http://schemas.microsoft.com/office/drawing/2014/main" id="{DFEC8C6A-D95C-4B3C-9803-6F9071BF0C29}"/>
              </a:ext>
            </a:extLst>
          </p:cNvPr>
          <p:cNvSpPr>
            <a:spLocks noGrp="1"/>
          </p:cNvSpPr>
          <p:nvPr>
            <p:ph type="body" sz="quarter" idx="10" hasCustomPrompt="1"/>
          </p:nvPr>
        </p:nvSpPr>
        <p:spPr>
          <a:xfrm>
            <a:off x="449468" y="450000"/>
            <a:ext cx="323896"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No</a:t>
            </a:r>
            <a:endParaRPr lang="ko-KR" altLang="en-US" dirty="0"/>
          </a:p>
        </p:txBody>
      </p:sp>
      <p:sp>
        <p:nvSpPr>
          <p:cNvPr id="20" name="텍스트 개체 틀 18">
            <a:extLst>
              <a:ext uri="{FF2B5EF4-FFF2-40B4-BE49-F238E27FC236}">
                <a16:creationId xmlns:a16="http://schemas.microsoft.com/office/drawing/2014/main" id="{6DA22BCA-E7E2-4377-AD8E-AC1336C3DB31}"/>
              </a:ext>
            </a:extLst>
          </p:cNvPr>
          <p:cNvSpPr>
            <a:spLocks noGrp="1"/>
          </p:cNvSpPr>
          <p:nvPr>
            <p:ph type="body" sz="quarter" idx="11" hasCustomPrompt="1"/>
          </p:nvPr>
        </p:nvSpPr>
        <p:spPr>
          <a:xfrm>
            <a:off x="790000" y="450001"/>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Bold" pitchFamily="2" charset="0"/>
                <a:ea typeface="Samsung Sharp Sans Bold" pitchFamily="2" charset="0"/>
                <a:cs typeface="Samsung Sharp Sans Bold" pitchFamily="2" charset="0"/>
              </a:defRPr>
            </a:lvl1pPr>
          </a:lstStyle>
          <a:p>
            <a:pPr marL="0" lvl="0" defTabSz="457050" latinLnBrk="0"/>
            <a:r>
              <a:rPr lang="en-US" altLang="ko-KR" dirty="0"/>
              <a:t>Subtitle</a:t>
            </a:r>
            <a:endParaRPr lang="ko-KR" altLang="en-US" dirty="0"/>
          </a:p>
        </p:txBody>
      </p:sp>
      <p:sp>
        <p:nvSpPr>
          <p:cNvPr id="21" name="텍스트 개체 틀 18">
            <a:extLst>
              <a:ext uri="{FF2B5EF4-FFF2-40B4-BE49-F238E27FC236}">
                <a16:creationId xmlns:a16="http://schemas.microsoft.com/office/drawing/2014/main" id="{7647BD6A-5F13-45AE-859C-AF2BA0A739E6}"/>
              </a:ext>
            </a:extLst>
          </p:cNvPr>
          <p:cNvSpPr>
            <a:spLocks noGrp="1"/>
          </p:cNvSpPr>
          <p:nvPr>
            <p:ph type="body" sz="quarter" idx="12" hasCustomPrompt="1"/>
          </p:nvPr>
        </p:nvSpPr>
        <p:spPr>
          <a:xfrm>
            <a:off x="9112825" y="480779"/>
            <a:ext cx="340625" cy="246221"/>
          </a:xfrm>
          <a:prstGeom prst="rect">
            <a:avLst/>
          </a:prstGeom>
        </p:spPr>
        <p:txBody>
          <a:bodyPr wrap="square" lIns="0" tIns="0" rIns="0" bIns="0">
            <a:spAutoFit/>
          </a:bodyPr>
          <a:lstStyle>
            <a:lvl1pPr marL="0" indent="0" algn="r">
              <a:lnSpc>
                <a:spcPct val="100000"/>
              </a:lnSpc>
              <a:spcBef>
                <a:spcPts val="0"/>
              </a:spcBef>
              <a:buNone/>
              <a:defRPr lang="ko-KR" altLang="en-US" sz="1600" dirty="0">
                <a:solidFill>
                  <a:schemeClr val="bg1">
                    <a:lumMod val="85000"/>
                  </a:schemeClr>
                </a:solidFill>
                <a:latin typeface="Samsung Sharp Sans Bold" pitchFamily="2" charset="0"/>
                <a:ea typeface="Samsung Sharp Sans Bold" pitchFamily="2" charset="0"/>
                <a:cs typeface="Samsung Sharp Sans Bold" pitchFamily="2" charset="0"/>
              </a:defRPr>
            </a:lvl1pPr>
          </a:lstStyle>
          <a:p>
            <a:pPr marL="0" lvl="0" algn="r" defTabSz="457063" latinLnBrk="0"/>
            <a:r>
              <a:rPr lang="en-US" altLang="ko-KR" dirty="0"/>
              <a:t>00</a:t>
            </a:r>
            <a:endParaRPr lang="ko-KR" altLang="en-US" dirty="0"/>
          </a:p>
        </p:txBody>
      </p:sp>
      <p:sp>
        <p:nvSpPr>
          <p:cNvPr id="23" name="텍스트 개체 틀 18">
            <a:extLst>
              <a:ext uri="{FF2B5EF4-FFF2-40B4-BE49-F238E27FC236}">
                <a16:creationId xmlns:a16="http://schemas.microsoft.com/office/drawing/2014/main" id="{3A9667F7-80AD-4A7A-8543-285975B06BE3}"/>
              </a:ext>
            </a:extLst>
          </p:cNvPr>
          <p:cNvSpPr>
            <a:spLocks noGrp="1"/>
          </p:cNvSpPr>
          <p:nvPr>
            <p:ph type="body" sz="quarter" idx="13" hasCustomPrompt="1"/>
          </p:nvPr>
        </p:nvSpPr>
        <p:spPr>
          <a:xfrm>
            <a:off x="8740667" y="480779"/>
            <a:ext cx="46785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600" dirty="0">
                <a:solidFill>
                  <a:schemeClr val="bg1">
                    <a:lumMod val="85000"/>
                  </a:schemeClr>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UNIT</a:t>
            </a:r>
            <a:endParaRPr lang="ko-KR" altLang="en-US" dirty="0"/>
          </a:p>
        </p:txBody>
      </p:sp>
      <p:sp>
        <p:nvSpPr>
          <p:cNvPr id="16" name="텍스트 개체 틀 7">
            <a:extLst>
              <a:ext uri="{FF2B5EF4-FFF2-40B4-BE49-F238E27FC236}">
                <a16:creationId xmlns:a16="http://schemas.microsoft.com/office/drawing/2014/main" id="{B6D584F0-F100-4FB4-B935-0E81DB1D3B51}"/>
              </a:ext>
            </a:extLst>
          </p:cNvPr>
          <p:cNvSpPr>
            <a:spLocks noGrp="1"/>
          </p:cNvSpPr>
          <p:nvPr>
            <p:ph type="body" sz="quarter" idx="15" hasCustomPrompt="1"/>
          </p:nvPr>
        </p:nvSpPr>
        <p:spPr>
          <a:xfrm>
            <a:off x="522288" y="2221661"/>
            <a:ext cx="8055439" cy="914400"/>
          </a:xfrm>
          <a:prstGeom prst="rect">
            <a:avLst/>
          </a:prstGeom>
        </p:spPr>
        <p:txBody>
          <a:bodyPr lIns="0" tIns="0" rIns="0" bIns="0"/>
          <a:lstStyle>
            <a:lvl1pPr marL="177747" indent="-177747">
              <a:lnSpc>
                <a:spcPts val="1800"/>
              </a:lnSpc>
              <a:buSzPct val="105000"/>
              <a:buFontTx/>
              <a:buBlip>
                <a:blip r:embed="rId3"/>
              </a:buBlip>
              <a:defRPr kumimoji="1" lang="en-US" altLang="ko-KR" sz="1400" kern="120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1pPr>
            <a:lvl2pPr marL="360255" indent="-182508">
              <a:lnSpc>
                <a:spcPts val="1800"/>
              </a:lnSpc>
              <a:buSzPct val="80000"/>
              <a:buFontTx/>
              <a:buBlip>
                <a:blip r:embed="rId4"/>
              </a:buBlip>
              <a:tabLst>
                <a:tab pos="447541" algn="l"/>
              </a:tabLst>
              <a:defRPr lang="en-US" altLang="ko-KR" sz="1300" kern="1200" dirty="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2pPr>
          </a:lstStyle>
          <a:p>
            <a:pPr lvl="0"/>
            <a:r>
              <a:rPr lang="en-US" altLang="ko-KR" dirty="0"/>
              <a:t>Level1</a:t>
            </a:r>
          </a:p>
          <a:p>
            <a:pPr lvl="1"/>
            <a:r>
              <a:rPr lang="en-US" altLang="ko-KR" dirty="0"/>
              <a:t>Level2</a:t>
            </a:r>
          </a:p>
          <a:p>
            <a:pPr lvl="1"/>
            <a:endParaRPr lang="en-US" altLang="ko-KR" dirty="0"/>
          </a:p>
          <a:p>
            <a:pPr marL="628461" lvl="1" indent="-207901" algn="l" defTabSz="843830" rtl="0" eaLnBrk="1" latinLnBrk="1" hangingPunct="1">
              <a:lnSpc>
                <a:spcPct val="90000"/>
              </a:lnSpc>
              <a:spcBef>
                <a:spcPts val="462"/>
              </a:spcBef>
              <a:buSzPct val="90000"/>
              <a:buFontTx/>
              <a:buBlip>
                <a:blip r:embed="rId5"/>
              </a:buBlip>
            </a:pPr>
            <a:endParaRPr lang="en-US" altLang="ko-KR" dirty="0"/>
          </a:p>
          <a:p>
            <a:pPr lvl="1"/>
            <a:endParaRPr lang="ko-KR" altLang="en-US" dirty="0"/>
          </a:p>
        </p:txBody>
      </p:sp>
      <p:sp>
        <p:nvSpPr>
          <p:cNvPr id="17" name="슬라이드 번호 개체 틀 15">
            <a:extLst>
              <a:ext uri="{FF2B5EF4-FFF2-40B4-BE49-F238E27FC236}">
                <a16:creationId xmlns:a16="http://schemas.microsoft.com/office/drawing/2014/main" id="{D63EAE99-E447-4D3D-BFEE-6F01BCEB93C6}"/>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3102046736"/>
      </p:ext>
    </p:extLst>
  </p:cSld>
  <p:clrMapOvr>
    <a:masterClrMapping/>
  </p:clrMapOvr>
  <p:extLst>
    <p:ext uri="{DCECCB84-F9BA-43D5-87BE-67443E8EF086}">
      <p15:sldGuideLst xmlns:p15="http://schemas.microsoft.com/office/powerpoint/2012/main">
        <p15:guide id="1" orient="horz" pos="902" userDrawn="1">
          <p15:clr>
            <a:srgbClr val="FBAE40"/>
          </p15:clr>
        </p15:guide>
        <p15:guide id="2" pos="285">
          <p15:clr>
            <a:srgbClr val="FBAE40"/>
          </p15:clr>
        </p15:guide>
        <p15:guide id="3" pos="5955">
          <p15:clr>
            <a:srgbClr val="FBAE40"/>
          </p15:clr>
        </p15:guide>
        <p15:guide id="4" pos="32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7" name="슬라이드 번호 개체 틀 15">
            <a:extLst>
              <a:ext uri="{FF2B5EF4-FFF2-40B4-BE49-F238E27FC236}">
                <a16:creationId xmlns:a16="http://schemas.microsoft.com/office/drawing/2014/main" id="{D63EAE99-E447-4D3D-BFEE-6F01BCEB93C6}"/>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434159522"/>
      </p:ext>
    </p:extLst>
  </p:cSld>
  <p:clrMapOvr>
    <a:masterClrMapping/>
  </p:clrMapOvr>
  <p:extLst>
    <p:ext uri="{DCECCB84-F9BA-43D5-87BE-67443E8EF086}">
      <p15:sldGuideLst xmlns:p15="http://schemas.microsoft.com/office/powerpoint/2012/main">
        <p15:guide id="1" orient="horz" pos="902">
          <p15:clr>
            <a:srgbClr val="FBAE40"/>
          </p15:clr>
        </p15:guide>
        <p15:guide id="2" pos="285">
          <p15:clr>
            <a:srgbClr val="FBAE40"/>
          </p15:clr>
        </p15:guide>
        <p15:guide id="3" pos="5955">
          <p15:clr>
            <a:srgbClr val="FBAE40"/>
          </p15:clr>
        </p15:guide>
        <p15:guide id="4" pos="32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8"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1779621428"/>
      </p:ext>
    </p:extLst>
  </p:cSld>
  <p:clrMapOvr>
    <a:masterClrMapping/>
  </p:clrMapOvr>
  <p:extLst>
    <p:ext uri="{DCECCB84-F9BA-43D5-87BE-67443E8EF086}">
      <p15:sldGuideLst xmlns:p15="http://schemas.microsoft.com/office/powerpoint/2012/main">
        <p15:guide id="1" orient="horz" pos="2614">
          <p15:clr>
            <a:srgbClr val="FBAE40"/>
          </p15:clr>
        </p15:guide>
        <p15:guide id="2" pos="443">
          <p15:clr>
            <a:srgbClr val="FBAE40"/>
          </p15:clr>
        </p15:guide>
        <p15:guide id="3" pos="5955">
          <p15:clr>
            <a:srgbClr val="FBAE40"/>
          </p15:clr>
        </p15:guide>
        <p15:guide id="4" pos="60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E75758B0-2429-4331-898E-5EEED60D4280}"/>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3942502544"/>
      </p:ext>
    </p:extLst>
  </p:cSld>
  <p:clrMapOvr>
    <a:masterClrMapping/>
  </p:clrMapOvr>
  <p:extLst>
    <p:ext uri="{DCECCB84-F9BA-43D5-87BE-67443E8EF086}">
      <p15:sldGuideLst xmlns:p15="http://schemas.microsoft.com/office/powerpoint/2012/main">
        <p15:guide id="1" orient="horz" pos="2160">
          <p15:clr>
            <a:srgbClr val="FBAE40"/>
          </p15:clr>
        </p15:guide>
        <p15:guide id="2" pos="5955">
          <p15:clr>
            <a:srgbClr val="FBAE40"/>
          </p15:clr>
        </p15:guide>
        <p15:guide id="3" pos="28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ody">
    <p:spTree>
      <p:nvGrpSpPr>
        <p:cNvPr id="1" name=""/>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468" y="900000"/>
            <a:ext cx="9000714"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15">
            <a:extLst>
              <a:ext uri="{FF2B5EF4-FFF2-40B4-BE49-F238E27FC236}">
                <a16:creationId xmlns:a16="http://schemas.microsoft.com/office/drawing/2014/main" id="{C5960DC7-D671-485D-92B0-FEED6CE658A3}"/>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1343950608"/>
      </p:ext>
    </p:extLst>
  </p:cSld>
  <p:clrMapOvr>
    <a:masterClrMapping/>
  </p:clrMapOvr>
  <p:extLst>
    <p:ext uri="{DCECCB84-F9BA-43D5-87BE-67443E8EF086}">
      <p15:sldGuideLst xmlns:p15="http://schemas.microsoft.com/office/powerpoint/2012/main">
        <p15:guide id="1" orient="horz" pos="2160">
          <p15:clr>
            <a:srgbClr val="FBAE40"/>
          </p15:clr>
        </p15:guide>
        <p15:guide id="2" pos="285">
          <p15:clr>
            <a:srgbClr val="FBAE40"/>
          </p15:clr>
        </p15:guide>
        <p15:guide id="3" pos="595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4395"/>
            <a:ext cx="9899651" cy="6853605"/>
          </a:xfrm>
          <a:prstGeom prst="rect">
            <a:avLst/>
          </a:prstGeom>
        </p:spPr>
      </p:pic>
      <p:sp>
        <p:nvSpPr>
          <p:cNvPr id="2" name="직사각형 1"/>
          <p:cNvSpPr/>
          <p:nvPr userDrawn="1"/>
        </p:nvSpPr>
        <p:spPr>
          <a:xfrm>
            <a:off x="2" y="0"/>
            <a:ext cx="9899651"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59" dirty="0"/>
          </a:p>
        </p:txBody>
      </p:sp>
      <p:sp>
        <p:nvSpPr>
          <p:cNvPr id="7" name="직사각형 6">
            <a:extLst>
              <a:ext uri="{FF2B5EF4-FFF2-40B4-BE49-F238E27FC236}">
                <a16:creationId xmlns:a16="http://schemas.microsoft.com/office/drawing/2014/main" id="{782B242C-8600-47F0-98D5-6EA512C41BF2}"/>
              </a:ext>
            </a:extLst>
          </p:cNvPr>
          <p:cNvSpPr/>
          <p:nvPr userDrawn="1"/>
        </p:nvSpPr>
        <p:spPr>
          <a:xfrm>
            <a:off x="449468" y="5677032"/>
            <a:ext cx="9000714"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2025 SAMSUNG. All rights reserved.</a:t>
            </a:r>
          </a:p>
          <a:p>
            <a:pPr marL="0" marR="0" lvl="0" indent="0" algn="l" defTabSz="914126"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Samsung Electronics Corporate Citizenship Office holds the copyright of book.</a:t>
            </a:r>
          </a:p>
          <a:p>
            <a:pPr marL="0" marR="0" lvl="0" indent="0" algn="l" defTabSz="914126"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This book is a literary property protected by copyright law so reprint and reproduction without permission are prohibited. </a:t>
            </a:r>
          </a:p>
          <a:p>
            <a:pPr marL="0" marR="0" lvl="0" indent="0" algn="l" defTabSz="914126"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1822" y="3022951"/>
            <a:ext cx="2476006" cy="812098"/>
          </a:xfrm>
          <a:prstGeom prst="rect">
            <a:avLst/>
          </a:prstGeom>
        </p:spPr>
      </p:pic>
      <p:sp>
        <p:nvSpPr>
          <p:cNvPr id="9"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90568"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spTree>
    <p:extLst>
      <p:ext uri="{BB962C8B-B14F-4D97-AF65-F5344CB8AC3E}">
        <p14:creationId xmlns:p14="http://schemas.microsoft.com/office/powerpoint/2010/main" val="12278341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19"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5"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Tree>
    <p:extLst>
      <p:ext uri="{BB962C8B-B14F-4D97-AF65-F5344CB8AC3E}">
        <p14:creationId xmlns:p14="http://schemas.microsoft.com/office/powerpoint/2010/main" val="181444263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928821"/>
      </p:ext>
    </p:extLst>
  </p:cSld>
  <p:clrMap bg1="lt1" tx1="dk1" bg2="lt2" tx2="dk2" accent1="accent1" accent2="accent2" accent3="accent3" accent4="accent4" accent5="accent5" accent6="accent6" hlink="hlink" folHlink="folHlink"/>
  <p:sldLayoutIdLst>
    <p:sldLayoutId id="2147483684" r:id="rId1"/>
    <p:sldLayoutId id="2147483691" r:id="rId2"/>
    <p:sldLayoutId id="2147483685" r:id="rId3"/>
    <p:sldLayoutId id="2147483687" r:id="rId4"/>
    <p:sldLayoutId id="2147483694" r:id="rId5"/>
    <p:sldLayoutId id="2147483693" r:id="rId6"/>
    <p:sldLayoutId id="2147483686" r:id="rId7"/>
    <p:sldLayoutId id="2147483688" r:id="rId8"/>
    <p:sldLayoutId id="2147483689" r:id="rId9"/>
    <p:sldLayoutId id="2147483690" r:id="rId10"/>
  </p:sldLayoutIdLst>
  <p:txStyles>
    <p:titleStyle>
      <a:lvl1pPr algn="l" defTabSz="914126" rtl="0" eaLnBrk="1" latinLnBrk="1"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1"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1"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1"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1" hangingPunct="1">
        <a:defRPr sz="1799" kern="1200">
          <a:solidFill>
            <a:schemeClr val="tx1"/>
          </a:solidFill>
          <a:latin typeface="+mn-lt"/>
          <a:ea typeface="+mn-ea"/>
          <a:cs typeface="+mn-cs"/>
        </a:defRPr>
      </a:lvl1pPr>
      <a:lvl2pPr marL="457063" algn="l" defTabSz="914126" rtl="0" eaLnBrk="1" latinLnBrk="1" hangingPunct="1">
        <a:defRPr sz="1799" kern="1200">
          <a:solidFill>
            <a:schemeClr val="tx1"/>
          </a:solidFill>
          <a:latin typeface="+mn-lt"/>
          <a:ea typeface="+mn-ea"/>
          <a:cs typeface="+mn-cs"/>
        </a:defRPr>
      </a:lvl2pPr>
      <a:lvl3pPr marL="914126" algn="l" defTabSz="914126" rtl="0" eaLnBrk="1" latinLnBrk="1" hangingPunct="1">
        <a:defRPr sz="1799" kern="1200">
          <a:solidFill>
            <a:schemeClr val="tx1"/>
          </a:solidFill>
          <a:latin typeface="+mn-lt"/>
          <a:ea typeface="+mn-ea"/>
          <a:cs typeface="+mn-cs"/>
        </a:defRPr>
      </a:lvl3pPr>
      <a:lvl4pPr marL="1371189" algn="l" defTabSz="914126" rtl="0" eaLnBrk="1" latinLnBrk="1" hangingPunct="1">
        <a:defRPr sz="1799" kern="1200">
          <a:solidFill>
            <a:schemeClr val="tx1"/>
          </a:solidFill>
          <a:latin typeface="+mn-lt"/>
          <a:ea typeface="+mn-ea"/>
          <a:cs typeface="+mn-cs"/>
        </a:defRPr>
      </a:lvl4pPr>
      <a:lvl5pPr marL="1828251" algn="l" defTabSz="914126" rtl="0" eaLnBrk="1" latinLnBrk="1" hangingPunct="1">
        <a:defRPr sz="1799" kern="1200">
          <a:solidFill>
            <a:schemeClr val="tx1"/>
          </a:solidFill>
          <a:latin typeface="+mn-lt"/>
          <a:ea typeface="+mn-ea"/>
          <a:cs typeface="+mn-cs"/>
        </a:defRPr>
      </a:lvl5pPr>
      <a:lvl6pPr marL="2285314" algn="l" defTabSz="914126" rtl="0" eaLnBrk="1" latinLnBrk="1" hangingPunct="1">
        <a:defRPr sz="1799" kern="1200">
          <a:solidFill>
            <a:schemeClr val="tx1"/>
          </a:solidFill>
          <a:latin typeface="+mn-lt"/>
          <a:ea typeface="+mn-ea"/>
          <a:cs typeface="+mn-cs"/>
        </a:defRPr>
      </a:lvl6pPr>
      <a:lvl7pPr marL="2742377" algn="l" defTabSz="914126" rtl="0" eaLnBrk="1" latinLnBrk="1" hangingPunct="1">
        <a:defRPr sz="1799" kern="1200">
          <a:solidFill>
            <a:schemeClr val="tx1"/>
          </a:solidFill>
          <a:latin typeface="+mn-lt"/>
          <a:ea typeface="+mn-ea"/>
          <a:cs typeface="+mn-cs"/>
        </a:defRPr>
      </a:lvl7pPr>
      <a:lvl8pPr marL="3199440" algn="l" defTabSz="914126" rtl="0" eaLnBrk="1" latinLnBrk="1" hangingPunct="1">
        <a:defRPr sz="1799" kern="1200">
          <a:solidFill>
            <a:schemeClr val="tx1"/>
          </a:solidFill>
          <a:latin typeface="+mn-lt"/>
          <a:ea typeface="+mn-ea"/>
          <a:cs typeface="+mn-cs"/>
        </a:defRPr>
      </a:lvl8pPr>
      <a:lvl9pPr marL="3656503" algn="l" defTabSz="914126" rtl="0" eaLnBrk="1" latinLnBrk="1"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2.png"/><Relationship Id="rId3" Type="http://schemas.openxmlformats.org/officeDocument/2006/relationships/image" Target="../media/image15.png"/><Relationship Id="rId4"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9902952" cy="6858000"/>
          </a:xfrm>
          <a:prstGeom prst="rect">
            <a:avLst/>
          </a:prstGeom>
          <a:solidFill>
            <a:srgbClr val="1A1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Samsung logo" descr="Samsung"/>
          <p:cNvPicPr>
            <a:picLocks noChangeAspect="1"/>
          </p:cNvPicPr>
          <p:nvPr/>
        </p:nvPicPr>
        <p:blipFill>
          <a:blip r:embed="rId2"/>
          <a:stretch>
            <a:fillRect/>
          </a:stretch>
        </p:blipFill>
        <p:spPr>
          <a:xfrm>
            <a:off x="594360" y="6327648"/>
            <a:ext cx="1051560" cy="161677"/>
          </a:xfrm>
          <a:prstGeom prst="rect">
            <a:avLst/>
          </a:prstGeom>
        </p:spPr>
      </p:pic>
      <p:sp>
        <p:nvSpPr>
          <p:cNvPr id="4" name="TextBox 3"/>
          <p:cNvSpPr txBox="1"/>
          <p:nvPr/>
        </p:nvSpPr>
        <p:spPr>
          <a:xfrm>
            <a:off x="1828800" y="6281928"/>
            <a:ext cx="4114800" cy="274320"/>
          </a:xfrm>
          <a:prstGeom prst="rect">
            <a:avLst/>
          </a:prstGeom>
          <a:noFill/>
        </p:spPr>
        <p:txBody>
          <a:bodyPr wrap="square" lIns="0" rIns="0" tIns="0" bIns="0" anchor="ctr">
            <a:spAutoFit/>
          </a:bodyPr>
          <a:lstStyle/>
          <a:p>
            <a:pPr algn="l"/>
            <a:r>
              <a:rPr sz="1000" b="0">
                <a:solidFill>
                  <a:srgbClr val="F2EFE2"/>
                </a:solidFill>
                <a:latin typeface="Readex Pro"/>
                <a:cs typeface="Readex Pro"/>
                <a:ea typeface="Readex Pro"/>
              </a:rPr>
              <a:t>Samsung Innovation Campus  ·  AI Course</a:t>
            </a:r>
          </a:p>
        </p:txBody>
      </p:sp>
      <p:sp>
        <p:nvSpPr>
          <p:cNvPr id="5" name="TextBox 4"/>
          <p:cNvSpPr txBox="1"/>
          <p:nvPr/>
        </p:nvSpPr>
        <p:spPr>
          <a:xfrm>
            <a:off x="8394192" y="6281928"/>
            <a:ext cx="914400" cy="274320"/>
          </a:xfrm>
          <a:prstGeom prst="rect">
            <a:avLst/>
          </a:prstGeom>
          <a:noFill/>
        </p:spPr>
        <p:txBody>
          <a:bodyPr wrap="square" lIns="0" rIns="0" tIns="0" bIns="0" anchor="ctr">
            <a:spAutoFit/>
          </a:bodyPr>
          <a:lstStyle/>
          <a:p>
            <a:pPr algn="r"/>
            <a:r>
              <a:rPr sz="1000" b="0">
                <a:solidFill>
                  <a:srgbClr val="F2EFE2"/>
                </a:solidFill>
                <a:latin typeface="Readex Pro"/>
                <a:cs typeface="Readex Pro"/>
                <a:ea typeface="Readex Pro"/>
              </a:rPr>
              <a:t>1 / 8</a:t>
            </a:r>
          </a:p>
        </p:txBody>
      </p:sp>
      <p:pic>
        <p:nvPicPr>
          <p:cNvPr id="6" name="Bayan logo" descr="Bayan logo: open book with a sun"/>
          <p:cNvPicPr>
            <a:picLocks noChangeAspect="1"/>
          </p:cNvPicPr>
          <p:nvPr/>
        </p:nvPicPr>
        <p:blipFill>
          <a:blip r:embed="rId3"/>
          <a:stretch>
            <a:fillRect/>
          </a:stretch>
        </p:blipFill>
        <p:spPr>
          <a:xfrm>
            <a:off x="3442716" y="868680"/>
            <a:ext cx="3017520" cy="1695469"/>
          </a:xfrm>
          <a:prstGeom prst="rect">
            <a:avLst/>
          </a:prstGeom>
        </p:spPr>
      </p:pic>
      <p:sp>
        <p:nvSpPr>
          <p:cNvPr id="7" name="TextBox 6"/>
          <p:cNvSpPr txBox="1"/>
          <p:nvPr/>
        </p:nvSpPr>
        <p:spPr>
          <a:xfrm>
            <a:off x="0" y="2971800"/>
            <a:ext cx="9902952" cy="822960"/>
          </a:xfrm>
          <a:prstGeom prst="rect">
            <a:avLst/>
          </a:prstGeom>
          <a:noFill/>
        </p:spPr>
        <p:txBody>
          <a:bodyPr wrap="square" lIns="0" rIns="0" tIns="0" bIns="0" anchor="ctr">
            <a:spAutoFit/>
          </a:bodyPr>
          <a:lstStyle/>
          <a:p>
            <a:pPr algn="ctr"/>
            <a:r>
              <a:rPr sz="5400" b="1">
                <a:solidFill>
                  <a:srgbClr val="F2EFE2"/>
                </a:solidFill>
                <a:latin typeface="Readex Pro"/>
                <a:cs typeface="Readex Pro"/>
                <a:ea typeface="Readex Pro"/>
              </a:rPr>
              <a:t>Bayan</a:t>
            </a:r>
          </a:p>
        </p:txBody>
      </p:sp>
      <p:sp>
        <p:nvSpPr>
          <p:cNvPr id="8" name="TextBox 7"/>
          <p:cNvSpPr txBox="1"/>
          <p:nvPr/>
        </p:nvSpPr>
        <p:spPr>
          <a:xfrm>
            <a:off x="0" y="3840480"/>
            <a:ext cx="9902952" cy="365760"/>
          </a:xfrm>
          <a:prstGeom prst="rect">
            <a:avLst/>
          </a:prstGeom>
          <a:noFill/>
        </p:spPr>
        <p:txBody>
          <a:bodyPr wrap="square" lIns="0" rIns="0" tIns="0" bIns="0" anchor="ctr">
            <a:spAutoFit/>
          </a:bodyPr>
          <a:lstStyle/>
          <a:p>
            <a:pPr algn="ctr"/>
            <a:r>
              <a:rPr sz="1800" b="0">
                <a:solidFill>
                  <a:srgbClr val="F2EFE2"/>
                </a:solidFill>
                <a:latin typeface="Readex Pro"/>
                <a:cs typeface="Readex Pro"/>
                <a:ea typeface="Readex Pro"/>
              </a:rPr>
              <a:t>Simplify Arabic where you read</a:t>
            </a:r>
          </a:p>
        </p:txBody>
      </p:sp>
      <p:sp>
        <p:nvSpPr>
          <p:cNvPr id="9" name="TextBox 8"/>
          <p:cNvSpPr txBox="1"/>
          <p:nvPr/>
        </p:nvSpPr>
        <p:spPr>
          <a:xfrm>
            <a:off x="0" y="4251960"/>
            <a:ext cx="9902952" cy="320040"/>
          </a:xfrm>
          <a:prstGeom prst="rect">
            <a:avLst/>
          </a:prstGeom>
          <a:noFill/>
        </p:spPr>
        <p:txBody>
          <a:bodyPr wrap="square" lIns="0" rIns="0" tIns="0" bIns="0" anchor="ctr">
            <a:spAutoFit/>
          </a:bodyPr>
          <a:lstStyle/>
          <a:p>
            <a:pPr algn="ctr"/>
            <a:r>
              <a:rPr sz="1400" b="0">
                <a:solidFill>
                  <a:srgbClr val="C6986B"/>
                </a:solidFill>
                <a:latin typeface="Readex Pro"/>
                <a:cs typeface="Readex Pro"/>
                <a:ea typeface="Readex Pro"/>
              </a:rPr>
              <a:t>on the phone, offline</a:t>
            </a:r>
          </a:p>
        </p:txBody>
      </p:sp>
      <p:sp>
        <p:nvSpPr>
          <p:cNvPr id="10" name="TextBox 9"/>
          <p:cNvSpPr txBox="1"/>
          <p:nvPr/>
        </p:nvSpPr>
        <p:spPr>
          <a:xfrm>
            <a:off x="0" y="4754880"/>
            <a:ext cx="9902952" cy="320040"/>
          </a:xfrm>
          <a:prstGeom prst="rect">
            <a:avLst/>
          </a:prstGeom>
          <a:noFill/>
        </p:spPr>
        <p:txBody>
          <a:bodyPr wrap="square" lIns="0" rIns="0" tIns="0" bIns="0" anchor="ctr">
            <a:spAutoFit/>
          </a:bodyPr>
          <a:lstStyle/>
          <a:p>
            <a:pPr algn="ctr"/>
            <a:r>
              <a:rPr sz="1600" b="1">
                <a:solidFill>
                  <a:srgbClr val="C6986B"/>
                </a:solidFill>
                <a:latin typeface="Readex Pro"/>
                <a:cs typeface="Readex Pro"/>
                <a:ea typeface="Readex Pro"/>
              </a:rPr>
              <a:t>Team Cogni</a:t>
            </a:r>
          </a:p>
        </p:txBody>
      </p:sp>
      <p:sp>
        <p:nvSpPr>
          <p:cNvPr id="11" name="TextBox 10"/>
          <p:cNvSpPr txBox="1"/>
          <p:nvPr/>
        </p:nvSpPr>
        <p:spPr>
          <a:xfrm>
            <a:off x="0" y="5166360"/>
            <a:ext cx="9902952" cy="274320"/>
          </a:xfrm>
          <a:prstGeom prst="rect">
            <a:avLst/>
          </a:prstGeom>
          <a:noFill/>
        </p:spPr>
        <p:txBody>
          <a:bodyPr wrap="square" lIns="0" rIns="0" tIns="0" bIns="0" anchor="ctr">
            <a:spAutoFit/>
          </a:bodyPr>
          <a:lstStyle/>
          <a:p>
            <a:pPr algn="ctr"/>
            <a:r>
              <a:rPr sz="1050" b="0">
                <a:solidFill>
                  <a:srgbClr val="A29D8C"/>
                </a:solidFill>
                <a:latin typeface="Readex Pro"/>
                <a:cs typeface="Readex Pro"/>
                <a:ea typeface="Readex Pro"/>
              </a:rPr>
              <a:t>Marwan Elamami  ·  Abdulrahman Khengari  ·  Ahmed Alaeb  ·  Sanad Ali  ·  Mohammed Thabet  ·  Abdul Majid Mraied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grpId="0"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wipe(left)">
                                      <p:cBhvr>
                                        <p:cTn id="6" dur="1500"/>
                                        <p:tgtEl>
                                          <p:spTgt spid="6"/>
                                        </p:tgtEl>
                                      </p:cBhvr>
                                    </p:animEffect>
                                  </p:childTnLst>
                                </p:cTn>
                              </p:par>
                              <p:par>
                                <p:cTn id="10" presetID="10" presetClass="entr" presetSubtype="0" fill="hold" grpId="0" nodeType="withEffect">
                                  <p:stCondLst>
                                    <p:cond delay="130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par>
                                <p:cTn id="13" presetID="10" presetClass="entr" presetSubtype="0" fill="hold" grpId="0" nodeType="withEffect">
                                  <p:stCondLst>
                                    <p:cond delay="17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6" presetID="10" presetClass="entr" presetSubtype="0" fill="hold" grpId="0" nodeType="withEffect">
                                  <p:stCondLst>
                                    <p:cond delay="19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9" presetID="10" presetClass="entr" presetSubtype="0" fill="hold" grpId="0" nodeType="withEffect">
                                  <p:stCondLst>
                                    <p:cond delay="210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22" presetID="10" presetClass="entr" presetSubtype="0" fill="hold" grpId="0" nodeType="withEffect">
                                  <p:stCondLst>
                                    <p:cond delay="210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9902952" cy="6858000"/>
          </a:xfrm>
          <a:prstGeom prst="rect">
            <a:avLst/>
          </a:prstGeom>
          <a:solidFill>
            <a:srgbClr val="F6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54864" cy="219456"/>
          </a:xfrm>
          <a:prstGeom prst="rect">
            <a:avLst/>
          </a:prstGeom>
          <a:solidFill>
            <a:srgbClr val="C69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457200"/>
            <a:ext cx="4572000" cy="310896"/>
          </a:xfrm>
          <a:prstGeom prst="rect">
            <a:avLst/>
          </a:prstGeom>
          <a:noFill/>
        </p:spPr>
        <p:txBody>
          <a:bodyPr wrap="square" lIns="0" rIns="0" tIns="0" bIns="0" anchor="ctr">
            <a:spAutoFit/>
          </a:bodyPr>
          <a:lstStyle/>
          <a:p>
            <a:pPr algn="l"/>
            <a:r>
              <a:rPr sz="1100" b="1">
                <a:solidFill>
                  <a:srgbClr val="C6986B"/>
                </a:solidFill>
                <a:latin typeface="Readex Pro"/>
                <a:cs typeface="Readex Pro"/>
                <a:ea typeface="Readex Pro"/>
              </a:rPr>
              <a:t>01 · THE PROBLEM</a:t>
            </a:r>
          </a:p>
        </p:txBody>
      </p:sp>
      <p:sp>
        <p:nvSpPr>
          <p:cNvPr id="5" name="TextBox 4"/>
          <p:cNvSpPr txBox="1"/>
          <p:nvPr/>
        </p:nvSpPr>
        <p:spPr>
          <a:xfrm>
            <a:off x="594360" y="822960"/>
            <a:ext cx="8714232" cy="548640"/>
          </a:xfrm>
          <a:prstGeom prst="rect">
            <a:avLst/>
          </a:prstGeom>
          <a:noFill/>
        </p:spPr>
        <p:txBody>
          <a:bodyPr wrap="square" lIns="0" rIns="0" tIns="0" bIns="0" anchor="ctr">
            <a:spAutoFit/>
          </a:bodyPr>
          <a:lstStyle/>
          <a:p>
            <a:pPr algn="l"/>
            <a:r>
              <a:rPr sz="2800" b="1">
                <a:solidFill>
                  <a:srgbClr val="282824"/>
                </a:solidFill>
                <a:latin typeface="Readex Pro"/>
                <a:cs typeface="Readex Pro"/>
                <a:ea typeface="Readex Pro"/>
              </a:rPr>
              <a:t>Reading in Arabic adds load</a:t>
            </a:r>
          </a:p>
        </p:txBody>
      </p:sp>
      <p:pic>
        <p:nvPicPr>
          <p:cNvPr id="6" name="Samsung logo" descr="Samsung"/>
          <p:cNvPicPr>
            <a:picLocks noChangeAspect="1"/>
          </p:cNvPicPr>
          <p:nvPr/>
        </p:nvPicPr>
        <p:blipFill>
          <a:blip r:embed="rId2"/>
          <a:stretch>
            <a:fillRect/>
          </a:stretch>
        </p:blipFill>
        <p:spPr>
          <a:xfrm>
            <a:off x="594360" y="6327648"/>
            <a:ext cx="1051560" cy="161677"/>
          </a:xfrm>
          <a:prstGeom prst="rect">
            <a:avLst/>
          </a:prstGeom>
        </p:spPr>
      </p:pic>
      <p:sp>
        <p:nvSpPr>
          <p:cNvPr id="7" name="TextBox 6"/>
          <p:cNvSpPr txBox="1"/>
          <p:nvPr/>
        </p:nvSpPr>
        <p:spPr>
          <a:xfrm>
            <a:off x="1828800" y="6281928"/>
            <a:ext cx="4114800" cy="274320"/>
          </a:xfrm>
          <a:prstGeom prst="rect">
            <a:avLst/>
          </a:prstGeom>
          <a:noFill/>
        </p:spPr>
        <p:txBody>
          <a:bodyPr wrap="square" lIns="0" rIns="0" tIns="0" bIns="0" anchor="ctr">
            <a:spAutoFit/>
          </a:bodyPr>
          <a:lstStyle/>
          <a:p>
            <a:pPr algn="l"/>
            <a:r>
              <a:rPr sz="1000" b="0">
                <a:solidFill>
                  <a:srgbClr val="6F6B5E"/>
                </a:solidFill>
                <a:latin typeface="Readex Pro"/>
                <a:cs typeface="Readex Pro"/>
                <a:ea typeface="Readex Pro"/>
              </a:rPr>
              <a:t>Samsung Innovation Campus  ·  AI Course</a:t>
            </a:r>
          </a:p>
        </p:txBody>
      </p:sp>
      <p:sp>
        <p:nvSpPr>
          <p:cNvPr id="8" name="TextBox 7"/>
          <p:cNvSpPr txBox="1"/>
          <p:nvPr/>
        </p:nvSpPr>
        <p:spPr>
          <a:xfrm>
            <a:off x="8394192" y="6281928"/>
            <a:ext cx="914400" cy="274320"/>
          </a:xfrm>
          <a:prstGeom prst="rect">
            <a:avLst/>
          </a:prstGeom>
          <a:noFill/>
        </p:spPr>
        <p:txBody>
          <a:bodyPr wrap="square" lIns="0" rIns="0" tIns="0" bIns="0" anchor="ctr">
            <a:spAutoFit/>
          </a:bodyPr>
          <a:lstStyle/>
          <a:p>
            <a:pPr algn="r"/>
            <a:r>
              <a:rPr sz="1000" b="0">
                <a:solidFill>
                  <a:srgbClr val="6F6B5E"/>
                </a:solidFill>
                <a:latin typeface="Readex Pro"/>
                <a:cs typeface="Readex Pro"/>
                <a:ea typeface="Readex Pro"/>
              </a:rPr>
              <a:t>2 / 8</a:t>
            </a:r>
          </a:p>
        </p:txBody>
      </p:sp>
      <p:sp>
        <p:nvSpPr>
          <p:cNvPr id="9" name="TextBox 8"/>
          <p:cNvSpPr txBox="1"/>
          <p:nvPr/>
        </p:nvSpPr>
        <p:spPr>
          <a:xfrm>
            <a:off x="594360" y="1691640"/>
            <a:ext cx="3383280" cy="1097280"/>
          </a:xfrm>
          <a:prstGeom prst="rect">
            <a:avLst/>
          </a:prstGeom>
          <a:noFill/>
        </p:spPr>
        <p:txBody>
          <a:bodyPr wrap="square" lIns="0" rIns="0" tIns="0" bIns="0" anchor="ctr">
            <a:spAutoFit/>
          </a:bodyPr>
          <a:lstStyle/>
          <a:p>
            <a:pPr algn="ctr"/>
            <a:r>
              <a:rPr sz="8000" b="0">
                <a:solidFill>
                  <a:srgbClr val="C6986B"/>
                </a:solidFill>
                <a:latin typeface="Readex Pro"/>
                <a:cs typeface="Readex Pro"/>
                <a:ea typeface="Readex Pro"/>
              </a:rPr>
              <a:t>11%</a:t>
            </a:r>
          </a:p>
        </p:txBody>
      </p:sp>
      <p:sp>
        <p:nvSpPr>
          <p:cNvPr id="10" name="TextBox 9"/>
          <p:cNvSpPr txBox="1"/>
          <p:nvPr/>
        </p:nvSpPr>
        <p:spPr>
          <a:xfrm>
            <a:off x="594360" y="2880360"/>
            <a:ext cx="3383280" cy="640080"/>
          </a:xfrm>
          <a:prstGeom prst="rect">
            <a:avLst/>
          </a:prstGeom>
          <a:noFill/>
        </p:spPr>
        <p:txBody>
          <a:bodyPr wrap="square" lIns="0" rIns="0" tIns="0" bIns="0" anchor="ctr">
            <a:spAutoFit/>
          </a:bodyPr>
          <a:lstStyle/>
          <a:p>
            <a:pPr algn="ctr"/>
            <a:r>
              <a:rPr sz="1500" b="0">
                <a:solidFill>
                  <a:srgbClr val="4A4842"/>
                </a:solidFill>
                <a:latin typeface="Readex Pro"/>
                <a:cs typeface="Readex Pro"/>
                <a:ea typeface="Readex Pro"/>
              </a:rPr>
              <a:t>of Arab primary-school children</a:t>
            </a:r>
          </a:p>
          <a:p>
            <a:pPr algn="ctr"/>
            <a:r>
              <a:rPr sz="1500" b="0">
                <a:solidFill>
                  <a:srgbClr val="4A4842"/>
                </a:solidFill>
                <a:latin typeface="Readex Pro"/>
                <a:cs typeface="Readex Pro"/>
                <a:ea typeface="Readex Pro"/>
              </a:rPr>
              <a:t>have developmental dyslexia</a:t>
            </a:r>
          </a:p>
        </p:txBody>
      </p:sp>
      <p:sp>
        <p:nvSpPr>
          <p:cNvPr id="11" name="TextBox 10"/>
          <p:cNvSpPr txBox="1"/>
          <p:nvPr/>
        </p:nvSpPr>
        <p:spPr>
          <a:xfrm>
            <a:off x="594360" y="3566160"/>
            <a:ext cx="3383280" cy="274320"/>
          </a:xfrm>
          <a:prstGeom prst="rect">
            <a:avLst/>
          </a:prstGeom>
          <a:noFill/>
        </p:spPr>
        <p:txBody>
          <a:bodyPr wrap="square" lIns="0" rIns="0" tIns="0" bIns="0" anchor="ctr">
            <a:spAutoFit/>
          </a:bodyPr>
          <a:lstStyle/>
          <a:p>
            <a:pPr algn="ctr"/>
            <a:r>
              <a:rPr sz="1100" b="0">
                <a:solidFill>
                  <a:srgbClr val="6F6B5E"/>
                </a:solidFill>
                <a:latin typeface="Readex Pro"/>
                <a:cs typeface="Readex Pro"/>
                <a:ea typeface="Readex Pro"/>
              </a:rPr>
              <a:t>Al-Dakhil 2024, meta-analysis</a:t>
            </a:r>
          </a:p>
        </p:txBody>
      </p:sp>
      <p:sp>
        <p:nvSpPr>
          <p:cNvPr id="12" name="Rounded Rectangle 11"/>
          <p:cNvSpPr/>
          <p:nvPr/>
        </p:nvSpPr>
        <p:spPr>
          <a:xfrm>
            <a:off x="4297680" y="1463040"/>
            <a:ext cx="5010912" cy="3383280"/>
          </a:xfrm>
          <a:prstGeom prst="roundRect">
            <a:avLst>
              <a:gd name="adj" fmla="val 4324"/>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7680" y="1600200"/>
            <a:ext cx="5010912" cy="1005840"/>
          </a:xfrm>
          <a:prstGeom prst="rect">
            <a:avLst/>
          </a:prstGeom>
          <a:noFill/>
        </p:spPr>
        <p:txBody>
          <a:bodyPr wrap="square" lIns="0" rIns="0" tIns="0" bIns="0" anchor="ctr">
            <a:spAutoFit/>
          </a:bodyPr>
          <a:lstStyle/>
          <a:p>
            <a:pPr algn="ctr" rtl="1"/>
            <a:r>
              <a:rPr sz="6800" b="0" lang="ar-SA">
                <a:solidFill>
                  <a:srgbClr val="282824"/>
                </a:solidFill>
                <a:latin typeface="Amiri"/>
                <a:cs typeface="Amiri"/>
                <a:ea typeface="Amiri"/>
              </a:rPr>
              <a:t>كتب</a:t>
            </a:r>
          </a:p>
        </p:txBody>
      </p:sp>
      <p:sp>
        <p:nvSpPr>
          <p:cNvPr id="14" name="TextBox 13"/>
          <p:cNvSpPr txBox="1"/>
          <p:nvPr/>
        </p:nvSpPr>
        <p:spPr>
          <a:xfrm>
            <a:off x="4297680" y="2606040"/>
            <a:ext cx="5010912" cy="256032"/>
          </a:xfrm>
          <a:prstGeom prst="rect">
            <a:avLst/>
          </a:prstGeom>
          <a:noFill/>
        </p:spPr>
        <p:txBody>
          <a:bodyPr wrap="square" lIns="0" rIns="0" tIns="0" bIns="0" anchor="ctr">
            <a:spAutoFit/>
          </a:bodyPr>
          <a:lstStyle/>
          <a:p>
            <a:pPr algn="ctr"/>
            <a:r>
              <a:rPr sz="1200" b="0">
                <a:solidFill>
                  <a:srgbClr val="6F6B5E"/>
                </a:solidFill>
                <a:latin typeface="Readex Pro"/>
                <a:cs typeface="Readex Pro"/>
                <a:ea typeface="Readex Pro"/>
              </a:rPr>
              <a:t>one written form</a:t>
            </a:r>
          </a:p>
        </p:txBody>
      </p:sp>
      <p:cxnSp>
        <p:nvCxnSpPr>
          <p:cNvPr id="15" name="Connector 14"/>
          <p:cNvCxnSpPr/>
          <p:nvPr/>
        </p:nvCxnSpPr>
        <p:spPr>
          <a:xfrm>
            <a:off x="6803136" y="2971800"/>
            <a:ext cx="1746504" cy="320040"/>
          </a:xfrm>
          <a:prstGeom prst="line">
            <a:avLst/>
          </a:prstGeom>
          <a:ln w="25400">
            <a:solidFill>
              <a:srgbClr val="C6986B"/>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26679" y="3291840"/>
            <a:ext cx="1645920" cy="640080"/>
          </a:xfrm>
          <a:prstGeom prst="rect">
            <a:avLst/>
          </a:prstGeom>
          <a:noFill/>
        </p:spPr>
        <p:txBody>
          <a:bodyPr wrap="square" lIns="0" rIns="0" tIns="0" bIns="0" anchor="ctr">
            <a:spAutoFit/>
          </a:bodyPr>
          <a:lstStyle/>
          <a:p>
            <a:pPr algn="ctr" rtl="1"/>
            <a:r>
              <a:rPr sz="3200" b="0" lang="ar-SA">
                <a:solidFill>
                  <a:srgbClr val="282824"/>
                </a:solidFill>
                <a:latin typeface="Amiri"/>
                <a:cs typeface="Amiri"/>
                <a:ea typeface="Amiri"/>
              </a:rPr>
              <a:t>كَتَبَ</a:t>
            </a:r>
          </a:p>
        </p:txBody>
      </p:sp>
      <p:sp>
        <p:nvSpPr>
          <p:cNvPr id="17" name="TextBox 16"/>
          <p:cNvSpPr txBox="1"/>
          <p:nvPr/>
        </p:nvSpPr>
        <p:spPr>
          <a:xfrm>
            <a:off x="7726679" y="3977639"/>
            <a:ext cx="1645920" cy="502920"/>
          </a:xfrm>
          <a:prstGeom prst="rect">
            <a:avLst/>
          </a:prstGeom>
          <a:noFill/>
        </p:spPr>
        <p:txBody>
          <a:bodyPr wrap="square" lIns="0" rIns="0" tIns="0" bIns="0" anchor="ctr">
            <a:spAutoFit/>
          </a:bodyPr>
          <a:lstStyle/>
          <a:p>
            <a:pPr algn="ctr"/>
            <a:r>
              <a:rPr sz="1200" b="1">
                <a:solidFill>
                  <a:srgbClr val="8A5E35"/>
                </a:solidFill>
                <a:latin typeface="Readex Pro"/>
                <a:cs typeface="Readex Pro"/>
                <a:ea typeface="Readex Pro"/>
              </a:rPr>
              <a:t>kataba</a:t>
            </a:r>
          </a:p>
          <a:p>
            <a:pPr algn="ctr"/>
            <a:r>
              <a:rPr sz="1100" b="0">
                <a:solidFill>
                  <a:srgbClr val="8A5E35"/>
                </a:solidFill>
                <a:latin typeface="Readex Pro"/>
                <a:cs typeface="Readex Pro"/>
                <a:ea typeface="Readex Pro"/>
              </a:rPr>
              <a:t>he wrote</a:t>
            </a:r>
          </a:p>
        </p:txBody>
      </p:sp>
      <p:cxnSp>
        <p:nvCxnSpPr>
          <p:cNvPr id="18" name="Connector 17"/>
          <p:cNvCxnSpPr/>
          <p:nvPr/>
        </p:nvCxnSpPr>
        <p:spPr>
          <a:xfrm>
            <a:off x="6803136" y="2971800"/>
            <a:ext cx="0" cy="320040"/>
          </a:xfrm>
          <a:prstGeom prst="line">
            <a:avLst/>
          </a:prstGeom>
          <a:ln w="25400">
            <a:solidFill>
              <a:srgbClr val="C6986B"/>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80176" y="3291840"/>
            <a:ext cx="1645920" cy="640080"/>
          </a:xfrm>
          <a:prstGeom prst="rect">
            <a:avLst/>
          </a:prstGeom>
          <a:noFill/>
        </p:spPr>
        <p:txBody>
          <a:bodyPr wrap="square" lIns="0" rIns="0" tIns="0" bIns="0" anchor="ctr">
            <a:spAutoFit/>
          </a:bodyPr>
          <a:lstStyle/>
          <a:p>
            <a:pPr algn="ctr" rtl="1"/>
            <a:r>
              <a:rPr sz="3200" b="0" lang="ar-SA">
                <a:solidFill>
                  <a:srgbClr val="282824"/>
                </a:solidFill>
                <a:latin typeface="Amiri"/>
                <a:cs typeface="Amiri"/>
                <a:ea typeface="Amiri"/>
              </a:rPr>
              <a:t>كُتِبَ</a:t>
            </a:r>
          </a:p>
        </p:txBody>
      </p:sp>
      <p:sp>
        <p:nvSpPr>
          <p:cNvPr id="20" name="TextBox 19"/>
          <p:cNvSpPr txBox="1"/>
          <p:nvPr/>
        </p:nvSpPr>
        <p:spPr>
          <a:xfrm>
            <a:off x="5980176" y="3977639"/>
            <a:ext cx="1645920" cy="502920"/>
          </a:xfrm>
          <a:prstGeom prst="rect">
            <a:avLst/>
          </a:prstGeom>
          <a:noFill/>
        </p:spPr>
        <p:txBody>
          <a:bodyPr wrap="square" lIns="0" rIns="0" tIns="0" bIns="0" anchor="ctr">
            <a:spAutoFit/>
          </a:bodyPr>
          <a:lstStyle/>
          <a:p>
            <a:pPr algn="ctr"/>
            <a:r>
              <a:rPr sz="1200" b="1">
                <a:solidFill>
                  <a:srgbClr val="8A5E35"/>
                </a:solidFill>
                <a:latin typeface="Readex Pro"/>
                <a:cs typeface="Readex Pro"/>
                <a:ea typeface="Readex Pro"/>
              </a:rPr>
              <a:t>kutiba</a:t>
            </a:r>
          </a:p>
          <a:p>
            <a:pPr algn="ctr"/>
            <a:r>
              <a:rPr sz="1100" b="0">
                <a:solidFill>
                  <a:srgbClr val="8A5E35"/>
                </a:solidFill>
                <a:latin typeface="Readex Pro"/>
                <a:cs typeface="Readex Pro"/>
                <a:ea typeface="Readex Pro"/>
              </a:rPr>
              <a:t>it was written</a:t>
            </a:r>
          </a:p>
        </p:txBody>
      </p:sp>
      <p:cxnSp>
        <p:nvCxnSpPr>
          <p:cNvPr id="21" name="Connector 20"/>
          <p:cNvCxnSpPr/>
          <p:nvPr/>
        </p:nvCxnSpPr>
        <p:spPr>
          <a:xfrm flipH="1">
            <a:off x="5056632" y="2971800"/>
            <a:ext cx="1746504" cy="320040"/>
          </a:xfrm>
          <a:prstGeom prst="line">
            <a:avLst/>
          </a:prstGeom>
          <a:ln w="25400">
            <a:solidFill>
              <a:srgbClr val="C6986B"/>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233672" y="3291840"/>
            <a:ext cx="1645920" cy="640080"/>
          </a:xfrm>
          <a:prstGeom prst="rect">
            <a:avLst/>
          </a:prstGeom>
          <a:noFill/>
        </p:spPr>
        <p:txBody>
          <a:bodyPr wrap="square" lIns="0" rIns="0" tIns="0" bIns="0" anchor="ctr">
            <a:spAutoFit/>
          </a:bodyPr>
          <a:lstStyle/>
          <a:p>
            <a:pPr algn="ctr" rtl="1"/>
            <a:r>
              <a:rPr sz="3200" b="0" lang="ar-SA">
                <a:solidFill>
                  <a:srgbClr val="282824"/>
                </a:solidFill>
                <a:latin typeface="Amiri"/>
                <a:cs typeface="Amiri"/>
                <a:ea typeface="Amiri"/>
              </a:rPr>
              <a:t>كُتُب</a:t>
            </a:r>
          </a:p>
        </p:txBody>
      </p:sp>
      <p:sp>
        <p:nvSpPr>
          <p:cNvPr id="23" name="TextBox 22"/>
          <p:cNvSpPr txBox="1"/>
          <p:nvPr/>
        </p:nvSpPr>
        <p:spPr>
          <a:xfrm>
            <a:off x="4233672" y="3977639"/>
            <a:ext cx="1645920" cy="502920"/>
          </a:xfrm>
          <a:prstGeom prst="rect">
            <a:avLst/>
          </a:prstGeom>
          <a:noFill/>
        </p:spPr>
        <p:txBody>
          <a:bodyPr wrap="square" lIns="0" rIns="0" tIns="0" bIns="0" anchor="ctr">
            <a:spAutoFit/>
          </a:bodyPr>
          <a:lstStyle/>
          <a:p>
            <a:pPr algn="ctr"/>
            <a:r>
              <a:rPr sz="1200" b="1">
                <a:solidFill>
                  <a:srgbClr val="8A5E35"/>
                </a:solidFill>
                <a:latin typeface="Readex Pro"/>
                <a:cs typeface="Readex Pro"/>
                <a:ea typeface="Readex Pro"/>
              </a:rPr>
              <a:t>kutub</a:t>
            </a:r>
          </a:p>
          <a:p>
            <a:pPr algn="ctr"/>
            <a:r>
              <a:rPr sz="1100" b="0">
                <a:solidFill>
                  <a:srgbClr val="8A5E35"/>
                </a:solidFill>
                <a:latin typeface="Readex Pro"/>
                <a:cs typeface="Readex Pro"/>
                <a:ea typeface="Readex Pro"/>
              </a:rPr>
              <a:t>books</a:t>
            </a:r>
          </a:p>
        </p:txBody>
      </p:sp>
      <p:sp>
        <p:nvSpPr>
          <p:cNvPr id="24" name="Rounded Rectangle 23"/>
          <p:cNvSpPr/>
          <p:nvPr/>
        </p:nvSpPr>
        <p:spPr>
          <a:xfrm>
            <a:off x="914400" y="4160520"/>
            <a:ext cx="1417320" cy="2331720"/>
          </a:xfrm>
          <a:prstGeom prst="roundRect">
            <a:avLst>
              <a:gd name="adj" fmla="val 14193"/>
            </a:avLst>
          </a:prstGeom>
          <a:solidFill>
            <a:srgbClr val="F6F2E6"/>
          </a:solidFill>
          <a:ln w="31750">
            <a:solidFill>
              <a:srgbClr val="2828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51560" y="4297680"/>
            <a:ext cx="1143000" cy="2057400"/>
          </a:xfrm>
          <a:prstGeom prst="roundRect">
            <a:avLst>
              <a:gd name="adj" fmla="val 8000"/>
            </a:avLst>
          </a:prstGeom>
          <a:solidFill>
            <a:srgbClr val="EFE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188720" y="4709160"/>
            <a:ext cx="868680" cy="201168"/>
          </a:xfrm>
          <a:prstGeom prst="roundRect">
            <a:avLst>
              <a:gd name="adj" fmla="val 27272"/>
            </a:avLst>
          </a:prstGeom>
          <a:solidFill>
            <a:srgbClr val="C6986B">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143000" y="5029200"/>
            <a:ext cx="1051560" cy="320040"/>
          </a:xfrm>
          <a:prstGeom prst="roundRect">
            <a:avLst>
              <a:gd name="adj" fmla="val 34285"/>
            </a:avLst>
          </a:prstGeom>
          <a:solidFill>
            <a:srgbClr val="C6986B"/>
          </a:solidFill>
          <a:ln w="15875">
            <a:solidFill>
              <a:srgbClr val="C698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300" b="1">
                <a:solidFill>
                  <a:srgbClr val="1A1A14"/>
                </a:solidFill>
                <a:latin typeface="Readex Pro"/>
                <a:cs typeface="Readex Pro"/>
                <a:ea typeface="Readex Pro"/>
              </a:rPr>
              <a:t>تبسيط</a:t>
            </a:r>
          </a:p>
        </p:txBody>
      </p:sp>
      <p:sp>
        <p:nvSpPr>
          <p:cNvPr id="28" name="Rounded Rectangle 27"/>
          <p:cNvSpPr/>
          <p:nvPr/>
        </p:nvSpPr>
        <p:spPr>
          <a:xfrm>
            <a:off x="1143000" y="5532120"/>
            <a:ext cx="1051560" cy="640080"/>
          </a:xfrm>
          <a:prstGeom prst="roundRect">
            <a:avLst>
              <a:gd name="adj" fmla="val 17142"/>
            </a:avLst>
          </a:prstGeom>
          <a:solidFill>
            <a:srgbClr val="EFE9D9"/>
          </a:solidFill>
          <a:ln w="15875">
            <a:solidFill>
              <a:srgbClr val="C69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743200" y="4343400"/>
            <a:ext cx="4754880" cy="1691640"/>
          </a:xfrm>
          <a:prstGeom prst="roundRect">
            <a:avLst>
              <a:gd name="adj" fmla="val 8648"/>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880360" y="4434840"/>
            <a:ext cx="4480560" cy="320040"/>
          </a:xfrm>
          <a:prstGeom prst="rect">
            <a:avLst/>
          </a:prstGeom>
          <a:noFill/>
        </p:spPr>
        <p:txBody>
          <a:bodyPr wrap="square" lIns="0" rIns="0" tIns="0" bIns="0" anchor="ctr">
            <a:spAutoFit/>
          </a:bodyPr>
          <a:lstStyle/>
          <a:p>
            <a:pPr algn="l"/>
            <a:r>
              <a:rPr sz="1300" b="0">
                <a:solidFill>
                  <a:srgbClr val="4A4842"/>
                </a:solidFill>
                <a:latin typeface="Readex Pro"/>
                <a:cs typeface="Readex Pro"/>
                <a:ea typeface="Readex Pro"/>
              </a:rPr>
              <a:t>1  Select the hard text in any app</a:t>
            </a:r>
          </a:p>
        </p:txBody>
      </p:sp>
      <p:sp>
        <p:nvSpPr>
          <p:cNvPr id="31" name="TextBox 30"/>
          <p:cNvSpPr txBox="1"/>
          <p:nvPr/>
        </p:nvSpPr>
        <p:spPr>
          <a:xfrm>
            <a:off x="2880360" y="4846320"/>
            <a:ext cx="4480560" cy="320040"/>
          </a:xfrm>
          <a:prstGeom prst="rect">
            <a:avLst/>
          </a:prstGeom>
          <a:noFill/>
        </p:spPr>
        <p:txBody>
          <a:bodyPr wrap="square" lIns="0" rIns="0" tIns="0" bIns="0" anchor="ctr">
            <a:spAutoFit/>
          </a:bodyPr>
          <a:lstStyle/>
          <a:p>
            <a:pPr algn="l"/>
            <a:r>
              <a:rPr sz="1300" b="1">
                <a:solidFill>
                  <a:srgbClr val="8A5E35"/>
                </a:solidFill>
                <a:latin typeface="Readex Pro"/>
                <a:cs typeface="Readex Pro"/>
                <a:ea typeface="Readex Pro"/>
              </a:rPr>
              <a:t>2  Tap تبسيط in the menu</a:t>
            </a:r>
          </a:p>
        </p:txBody>
      </p:sp>
      <p:sp>
        <p:nvSpPr>
          <p:cNvPr id="32" name="TextBox 31"/>
          <p:cNvSpPr txBox="1"/>
          <p:nvPr/>
        </p:nvSpPr>
        <p:spPr>
          <a:xfrm>
            <a:off x="2880360" y="5257800"/>
            <a:ext cx="4480560" cy="502920"/>
          </a:xfrm>
          <a:prstGeom prst="rect">
            <a:avLst/>
          </a:prstGeom>
          <a:noFill/>
        </p:spPr>
        <p:txBody>
          <a:bodyPr wrap="square" lIns="0" rIns="0" tIns="0" bIns="0" anchor="ctr">
            <a:spAutoFit/>
          </a:bodyPr>
          <a:lstStyle/>
          <a:p>
            <a:pPr algn="l"/>
            <a:r>
              <a:rPr sz="1300" b="0">
                <a:solidFill>
                  <a:srgbClr val="4A4842"/>
                </a:solidFill>
                <a:latin typeface="Readex Pro"/>
                <a:cs typeface="Readex Pro"/>
                <a:ea typeface="Readex Pro"/>
              </a:rPr>
              <a:t>3  A sheet shows the simpler text</a:t>
            </a:r>
          </a:p>
          <a:p>
            <a:pPr algn="l"/>
            <a:r>
              <a:rPr sz="1300" b="0">
                <a:solidFill>
                  <a:srgbClr val="4A4842"/>
                </a:solidFill>
                <a:latin typeface="Readex Pro"/>
                <a:cs typeface="Readex Pro"/>
                <a:ea typeface="Readex Pro"/>
              </a:rPr>
              <a:t>     and reads it aloud</a:t>
            </a:r>
          </a:p>
        </p:txBody>
      </p:sp>
      <p:sp>
        <p:nvSpPr>
          <p:cNvPr id="33" name="Rounded Rectangle 32"/>
          <p:cNvSpPr/>
          <p:nvPr/>
        </p:nvSpPr>
        <p:spPr>
          <a:xfrm>
            <a:off x="594360" y="5989320"/>
            <a:ext cx="5943600" cy="347472"/>
          </a:xfrm>
          <a:prstGeom prst="roundRect">
            <a:avLst>
              <a:gd name="adj" fmla="val 47368"/>
            </a:avLst>
          </a:prstGeom>
          <a:solidFill>
            <a:srgbClr val="EED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200" b="1">
                <a:solidFill>
                  <a:srgbClr val="8A5E35"/>
                </a:solidFill>
                <a:latin typeface="Readex Pro"/>
                <a:cs typeface="Readex Pro"/>
                <a:ea typeface="Readex Pro"/>
              </a:rPr>
              <a:t>We reduce load: long clauses, hard words.  Not decoding.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10" presetID="10" presetClass="entr" presetSubtype="0" fill="hold" grpId="0" nodeType="withEffect">
                                  <p:stCondLst>
                                    <p:cond delay="30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3" presetID="10" presetClass="entr" presetSubtype="0" fill="hold" grpId="0" nodeType="withEffect">
                                  <p:stCondLst>
                                    <p:cond delay="50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8"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21" presetID="10" presetClass="entr" presetSubtype="0" fill="hold" grpId="0" nodeType="withEffect">
                                  <p:stCondLst>
                                    <p:cond delay="15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4" presetID="10" presetClass="entr" presetSubtype="0" fill="hold" grpId="0" nodeType="withEffect">
                                  <p:stCondLst>
                                    <p:cond delay="40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7" presetID="10" presetClass="entr" presetSubtype="0" fill="hold" grpId="0" nodeType="withEffect">
                                  <p:stCondLst>
                                    <p:cond delay="70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par>
                                <p:cTn id="30" presetID="10" presetClass="entr" presetSubtype="0" fill="hold" grpId="0" nodeType="withEffect">
                                  <p:stCondLst>
                                    <p:cond delay="95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500"/>
                                        <p:tgtEl>
                                          <p:spTgt spid="18"/>
                                        </p:tgtEl>
                                      </p:cBhvr>
                                    </p:animEffect>
                                  </p:childTnLst>
                                </p:cTn>
                              </p:par>
                              <p:par>
                                <p:cTn id="33" presetID="10" presetClass="entr" presetSubtype="0" fill="hold" grpId="0" nodeType="withEffect">
                                  <p:stCondLst>
                                    <p:cond delay="120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6" presetID="10" presetClass="entr" presetSubtype="0" fill="hold" grpId="0" nodeType="withEffect">
                                  <p:stCondLst>
                                    <p:cond delay="8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9" presetID="10" presetClass="entr" presetSubtype="0" fill="hold" grpId="0" nodeType="withEffect">
                                  <p:stCondLst>
                                    <p:cond delay="80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42" presetID="10" presetClass="entr" presetSubtype="0" fill="hold" grpId="0" nodeType="withEffect">
                                  <p:stCondLst>
                                    <p:cond delay="105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5" presetID="10" presetClass="entr" presetSubtype="0" fill="hold" grpId="0" nodeType="withEffect">
                                  <p:stCondLst>
                                    <p:cond delay="105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8" presetID="10" presetClass="entr" presetSubtype="0" fill="hold" grpId="0" nodeType="withEffect">
                                  <p:stCondLst>
                                    <p:cond delay="130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par>
                                <p:cTn id="51" presetID="10" presetClass="entr" presetSubtype="0" fill="hold" grpId="0" nodeType="withEffect">
                                  <p:stCondLst>
                                    <p:cond delay="130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500"/>
                                        <p:tgtEl>
                                          <p:spTgt spid="23"/>
                                        </p:tgtEl>
                                      </p:cBhvr>
                                    </p:animEffect>
                                  </p:childTnLst>
                                </p:cTn>
                              </p:par>
                            </p:childTnLst>
                          </p:cTn>
                        </p:par>
                      </p:childTnLst>
                    </p:cTn>
                  </p:par>
                  <p:par>
                    <p:cTn id="52" fill="hold">
                      <p:stCondLst>
                        <p:cond delay="indefinite"/>
                      </p:stCondLst>
                      <p:childTnLst>
                        <p:par>
                          <p:cTn id="53" fill="hold">
                            <p:stCondLst>
                              <p:cond delay="0"/>
                            </p:stCondLst>
                            <p:childTnLst>
                              <p:par>
                                <p:cTn id="56" presetID="10"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par>
                                <p:cTn id="59" presetID="10" presetClass="entr" presetSubtype="0" fill="hold" grpId="0" nodeType="withEffect">
                                  <p:stCondLst>
                                    <p:cond delay="20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par>
                                <p:cTn id="62" presetID="10" presetClass="entr" presetSubtype="0" fill="hold" grpId="0" nodeType="withEffect">
                                  <p:stCondLst>
                                    <p:cond delay="50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5" presetID="10" presetClass="entr" presetSubtype="0" fill="hold" grpId="0" nodeType="withEffect">
                                  <p:stCondLst>
                                    <p:cond delay="80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00"/>
                                        <p:tgtEl>
                                          <p:spTgt spid="27"/>
                                        </p:tgtEl>
                                      </p:cBhvr>
                                    </p:animEffect>
                                  </p:childTnLst>
                                </p:cTn>
                              </p:par>
                              <p:par>
                                <p:cTn id="68" presetID="10" presetClass="entr" presetSubtype="0" fill="hold" grpId="0" nodeType="withEffect">
                                  <p:stCondLst>
                                    <p:cond delay="110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par>
                                <p:cTn id="71" presetID="10" presetClass="entr" presetSubtype="0" fill="hold" grpId="0" nodeType="withEffect">
                                  <p:stCondLst>
                                    <p:cond delay="140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par>
                                <p:cTn id="74" presetID="10" presetClass="entr" presetSubtype="0" fill="hold" grpId="0" nodeType="withEffect">
                                  <p:stCondLst>
                                    <p:cond delay="160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par>
                                <p:cTn id="77" presetID="10" presetClass="entr" presetSubtype="0" fill="hold" grpId="0" nodeType="withEffect">
                                  <p:stCondLst>
                                    <p:cond delay="180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par>
                                <p:cTn id="80" presetID="10" presetClass="entr" presetSubtype="0" fill="hold" grpId="0" nodeType="withEffect">
                                  <p:stCondLst>
                                    <p:cond delay="200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500"/>
                                        <p:tgtEl>
                                          <p:spTgt spid="32"/>
                                        </p:tgtEl>
                                      </p:cBhvr>
                                    </p:animEffect>
                                  </p:childTnLst>
                                </p:cTn>
                              </p:par>
                            </p:childTnLst>
                          </p:cTn>
                        </p:par>
                      </p:childTnLst>
                    </p:cTn>
                  </p:par>
                  <p:par>
                    <p:cTn id="81" fill="hold">
                      <p:stCondLst>
                        <p:cond delay="indefinite"/>
                      </p:stCondLst>
                      <p:childTnLst>
                        <p:par>
                          <p:cTn id="82" fill="hold">
                            <p:stCondLst>
                              <p:cond delay="0"/>
                            </p:stCondLst>
                            <p:childTnLst>
                              <p:par>
                                <p:cTn id="85" presetID="10" presetClass="entr" presetSubtype="0" fill="hold" grpId="0" nodeType="click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6" grpId="0" animBg="1"/>
      <p:bldP spid="17" grpId="0" animBg="1"/>
      <p:bldP spid="19" grpId="0" animBg="1"/>
      <p:bldP spid="20"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9902952" cy="6858000"/>
          </a:xfrm>
          <a:prstGeom prst="rect">
            <a:avLst/>
          </a:prstGeom>
          <a:solidFill>
            <a:srgbClr val="F6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54864" cy="219456"/>
          </a:xfrm>
          <a:prstGeom prst="rect">
            <a:avLst/>
          </a:prstGeom>
          <a:solidFill>
            <a:srgbClr val="C69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457200"/>
            <a:ext cx="4572000" cy="310896"/>
          </a:xfrm>
          <a:prstGeom prst="rect">
            <a:avLst/>
          </a:prstGeom>
          <a:noFill/>
        </p:spPr>
        <p:txBody>
          <a:bodyPr wrap="square" lIns="0" rIns="0" tIns="0" bIns="0" anchor="ctr">
            <a:spAutoFit/>
          </a:bodyPr>
          <a:lstStyle/>
          <a:p>
            <a:pPr algn="l"/>
            <a:r>
              <a:rPr sz="1100" b="1">
                <a:solidFill>
                  <a:srgbClr val="C6986B"/>
                </a:solidFill>
                <a:latin typeface="Readex Pro"/>
                <a:cs typeface="Readex Pro"/>
                <a:ea typeface="Readex Pro"/>
              </a:rPr>
              <a:t>02 · DATA PROCESSING</a:t>
            </a:r>
          </a:p>
        </p:txBody>
      </p:sp>
      <p:sp>
        <p:nvSpPr>
          <p:cNvPr id="5" name="TextBox 4"/>
          <p:cNvSpPr txBox="1"/>
          <p:nvPr/>
        </p:nvSpPr>
        <p:spPr>
          <a:xfrm>
            <a:off x="594360" y="822960"/>
            <a:ext cx="8714232" cy="548640"/>
          </a:xfrm>
          <a:prstGeom prst="rect">
            <a:avLst/>
          </a:prstGeom>
          <a:noFill/>
        </p:spPr>
        <p:txBody>
          <a:bodyPr wrap="square" lIns="0" rIns="0" tIns="0" bIns="0" anchor="ctr">
            <a:spAutoFit/>
          </a:bodyPr>
          <a:lstStyle/>
          <a:p>
            <a:pPr algn="l"/>
            <a:r>
              <a:rPr sz="2800" b="1">
                <a:solidFill>
                  <a:srgbClr val="282824"/>
                </a:solidFill>
                <a:latin typeface="Readex Pro"/>
                <a:cs typeface="Readex Pro"/>
                <a:ea typeface="Readex Pro"/>
              </a:rPr>
              <a:t>Corpus v1, built behind gates</a:t>
            </a:r>
          </a:p>
        </p:txBody>
      </p:sp>
      <p:pic>
        <p:nvPicPr>
          <p:cNvPr id="6" name="Samsung logo" descr="Samsung"/>
          <p:cNvPicPr>
            <a:picLocks noChangeAspect="1"/>
          </p:cNvPicPr>
          <p:nvPr/>
        </p:nvPicPr>
        <p:blipFill>
          <a:blip r:embed="rId2"/>
          <a:stretch>
            <a:fillRect/>
          </a:stretch>
        </p:blipFill>
        <p:spPr>
          <a:xfrm>
            <a:off x="594360" y="6327648"/>
            <a:ext cx="1051560" cy="161677"/>
          </a:xfrm>
          <a:prstGeom prst="rect">
            <a:avLst/>
          </a:prstGeom>
        </p:spPr>
      </p:pic>
      <p:sp>
        <p:nvSpPr>
          <p:cNvPr id="7" name="TextBox 6"/>
          <p:cNvSpPr txBox="1"/>
          <p:nvPr/>
        </p:nvSpPr>
        <p:spPr>
          <a:xfrm>
            <a:off x="1828800" y="6281928"/>
            <a:ext cx="4114800" cy="274320"/>
          </a:xfrm>
          <a:prstGeom prst="rect">
            <a:avLst/>
          </a:prstGeom>
          <a:noFill/>
        </p:spPr>
        <p:txBody>
          <a:bodyPr wrap="square" lIns="0" rIns="0" tIns="0" bIns="0" anchor="ctr">
            <a:spAutoFit/>
          </a:bodyPr>
          <a:lstStyle/>
          <a:p>
            <a:pPr algn="l"/>
            <a:r>
              <a:rPr sz="1000" b="0">
                <a:solidFill>
                  <a:srgbClr val="6F6B5E"/>
                </a:solidFill>
                <a:latin typeface="Readex Pro"/>
                <a:cs typeface="Readex Pro"/>
                <a:ea typeface="Readex Pro"/>
              </a:rPr>
              <a:t>Samsung Innovation Campus  ·  AI Course</a:t>
            </a:r>
          </a:p>
        </p:txBody>
      </p:sp>
      <p:sp>
        <p:nvSpPr>
          <p:cNvPr id="8" name="TextBox 7"/>
          <p:cNvSpPr txBox="1"/>
          <p:nvPr/>
        </p:nvSpPr>
        <p:spPr>
          <a:xfrm>
            <a:off x="8394192" y="6281928"/>
            <a:ext cx="914400" cy="274320"/>
          </a:xfrm>
          <a:prstGeom prst="rect">
            <a:avLst/>
          </a:prstGeom>
          <a:noFill/>
        </p:spPr>
        <p:txBody>
          <a:bodyPr wrap="square" lIns="0" rIns="0" tIns="0" bIns="0" anchor="ctr">
            <a:spAutoFit/>
          </a:bodyPr>
          <a:lstStyle/>
          <a:p>
            <a:pPr algn="r"/>
            <a:r>
              <a:rPr sz="1000" b="0">
                <a:solidFill>
                  <a:srgbClr val="6F6B5E"/>
                </a:solidFill>
                <a:latin typeface="Readex Pro"/>
                <a:cs typeface="Readex Pro"/>
                <a:ea typeface="Readex Pro"/>
              </a:rPr>
              <a:t>3 / 8</a:t>
            </a:r>
          </a:p>
        </p:txBody>
      </p:sp>
      <p:sp>
        <p:nvSpPr>
          <p:cNvPr id="9" name="TextBox 8"/>
          <p:cNvSpPr txBox="1"/>
          <p:nvPr/>
        </p:nvSpPr>
        <p:spPr>
          <a:xfrm>
            <a:off x="594360" y="1417320"/>
            <a:ext cx="8714232" cy="320040"/>
          </a:xfrm>
          <a:prstGeom prst="rect">
            <a:avLst/>
          </a:prstGeom>
          <a:noFill/>
        </p:spPr>
        <p:txBody>
          <a:bodyPr wrap="square" lIns="0" rIns="0" tIns="0" bIns="0" anchor="ctr">
            <a:spAutoFit/>
          </a:bodyPr>
          <a:lstStyle/>
          <a:p>
            <a:pPr algn="l"/>
            <a:r>
              <a:rPr sz="1600" b="1">
                <a:solidFill>
                  <a:srgbClr val="282824"/>
                </a:solidFill>
                <a:latin typeface="Readex Pro"/>
                <a:cs typeface="Readex Pro"/>
                <a:ea typeface="Readex Pro"/>
              </a:rPr>
              <a:t>What the first synthetic corpus got wrong</a:t>
            </a:r>
          </a:p>
        </p:txBody>
      </p:sp>
      <p:sp>
        <p:nvSpPr>
          <p:cNvPr id="10" name="Rounded Rectangle 9"/>
          <p:cNvSpPr/>
          <p:nvPr/>
        </p:nvSpPr>
        <p:spPr>
          <a:xfrm>
            <a:off x="594360" y="1874519"/>
            <a:ext cx="4389120" cy="329184"/>
          </a:xfrm>
          <a:prstGeom prst="roundRect">
            <a:avLst>
              <a:gd name="adj" fmla="val 50000"/>
            </a:avLst>
          </a:prstGeom>
          <a:solidFill>
            <a:srgbClr val="F3E2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200" b="1">
                <a:solidFill>
                  <a:srgbClr val="B5533C"/>
                </a:solidFill>
                <a:latin typeface="Readex Pro"/>
                <a:cs typeface="Readex Pro"/>
                <a:ea typeface="Readex Pro"/>
              </a:rPr>
              <a:t>56.5% of rows had tashkeel we strip anyway</a:t>
            </a:r>
          </a:p>
        </p:txBody>
      </p:sp>
      <p:sp>
        <p:nvSpPr>
          <p:cNvPr id="11" name="Rounded Rectangle 10"/>
          <p:cNvSpPr/>
          <p:nvPr/>
        </p:nvSpPr>
        <p:spPr>
          <a:xfrm>
            <a:off x="594360" y="2286000"/>
            <a:ext cx="4389120" cy="329184"/>
          </a:xfrm>
          <a:prstGeom prst="roundRect">
            <a:avLst>
              <a:gd name="adj" fmla="val 50000"/>
            </a:avLst>
          </a:prstGeom>
          <a:solidFill>
            <a:srgbClr val="F3E2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200" b="1">
                <a:solidFill>
                  <a:srgbClr val="B5533C"/>
                </a:solidFill>
                <a:latin typeface="Readex Pro"/>
                <a:cs typeface="Readex Pro"/>
                <a:ea typeface="Readex Pro"/>
              </a:rPr>
              <a:t>63.4% of cut-off sources were simply completed</a:t>
            </a:r>
          </a:p>
        </p:txBody>
      </p:sp>
      <p:sp>
        <p:nvSpPr>
          <p:cNvPr id="12" name="Rounded Rectangle 11"/>
          <p:cNvSpPr/>
          <p:nvPr/>
        </p:nvSpPr>
        <p:spPr>
          <a:xfrm>
            <a:off x="594360" y="2697480"/>
            <a:ext cx="4389120" cy="329184"/>
          </a:xfrm>
          <a:prstGeom prst="roundRect">
            <a:avLst>
              <a:gd name="adj" fmla="val 50000"/>
            </a:avLst>
          </a:prstGeom>
          <a:solidFill>
            <a:srgbClr val="F3E2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200" b="1">
                <a:solidFill>
                  <a:srgbClr val="B5533C"/>
                </a:solidFill>
                <a:latin typeface="Readex Pro"/>
                <a:cs typeface="Readex Pro"/>
                <a:ea typeface="Readex Pro"/>
              </a:rPr>
              <a:t>11.1% of short sources were rewritten</a:t>
            </a:r>
          </a:p>
        </p:txBody>
      </p:sp>
      <p:sp>
        <p:nvSpPr>
          <p:cNvPr id="13" name="Rounded Rectangle 12"/>
          <p:cNvSpPr/>
          <p:nvPr/>
        </p:nvSpPr>
        <p:spPr>
          <a:xfrm>
            <a:off x="594360" y="3108960"/>
            <a:ext cx="4389120" cy="329184"/>
          </a:xfrm>
          <a:prstGeom prst="roundRect">
            <a:avLst>
              <a:gd name="adj" fmla="val 50000"/>
            </a:avLst>
          </a:prstGeom>
          <a:solidFill>
            <a:srgbClr val="F3E2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200" b="1">
                <a:solidFill>
                  <a:srgbClr val="B5533C"/>
                </a:solidFill>
                <a:latin typeface="Readex Pro"/>
                <a:cs typeface="Readex Pro"/>
                <a:ea typeface="Readex Pro"/>
              </a:rPr>
              <a:t>only 42.9% of pairs were 2+ levels easier</a:t>
            </a:r>
          </a:p>
        </p:txBody>
      </p:sp>
      <p:sp>
        <p:nvSpPr>
          <p:cNvPr id="14" name="TextBox 13"/>
          <p:cNvSpPr txBox="1"/>
          <p:nvPr/>
        </p:nvSpPr>
        <p:spPr>
          <a:xfrm>
            <a:off x="594360" y="3611880"/>
            <a:ext cx="8714232" cy="274320"/>
          </a:xfrm>
          <a:prstGeom prst="rect">
            <a:avLst/>
          </a:prstGeom>
          <a:noFill/>
        </p:spPr>
        <p:txBody>
          <a:bodyPr wrap="square" lIns="0" rIns="0" tIns="0" bIns="0" anchor="ctr">
            <a:spAutoFit/>
          </a:bodyPr>
          <a:lstStyle/>
          <a:p>
            <a:pPr algn="l"/>
            <a:r>
              <a:rPr sz="1300" b="0">
                <a:solidFill>
                  <a:srgbClr val="4A4842"/>
                </a:solidFill>
                <a:latin typeface="Readex Pro"/>
                <a:cs typeface="Readex Pro"/>
                <a:ea typeface="Readex Pro"/>
              </a:rPr>
              <a:t>So every gate in corpus v1 exists because of a failure we saw.</a:t>
            </a:r>
          </a:p>
        </p:txBody>
      </p:sp>
      <p:sp>
        <p:nvSpPr>
          <p:cNvPr id="15" name="Rounded Rectangle 14"/>
          <p:cNvSpPr/>
          <p:nvPr/>
        </p:nvSpPr>
        <p:spPr>
          <a:xfrm>
            <a:off x="594360" y="4160520"/>
            <a:ext cx="1417320" cy="777240"/>
          </a:xfrm>
          <a:prstGeom prst="roundRect">
            <a:avLst>
              <a:gd name="adj" fmla="val 11764"/>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206240"/>
            <a:ext cx="1325880" cy="320040"/>
          </a:xfrm>
          <a:prstGeom prst="rect">
            <a:avLst/>
          </a:prstGeom>
          <a:noFill/>
        </p:spPr>
        <p:txBody>
          <a:bodyPr wrap="square" lIns="0" rIns="0" tIns="0" bIns="0" anchor="ctr">
            <a:spAutoFit/>
          </a:bodyPr>
          <a:lstStyle/>
          <a:p>
            <a:pPr algn="ctr"/>
            <a:r>
              <a:rPr sz="1000" b="1">
                <a:solidFill>
                  <a:srgbClr val="282824"/>
                </a:solidFill>
                <a:latin typeface="Readex Pro"/>
                <a:cs typeface="Readex Pro"/>
                <a:ea typeface="Readex Pro"/>
              </a:rPr>
              <a:t>BAREC train + dev</a:t>
            </a:r>
          </a:p>
        </p:txBody>
      </p:sp>
      <p:sp>
        <p:nvSpPr>
          <p:cNvPr id="17" name="TextBox 16"/>
          <p:cNvSpPr txBox="1"/>
          <p:nvPr/>
        </p:nvSpPr>
        <p:spPr>
          <a:xfrm>
            <a:off x="640080" y="4526280"/>
            <a:ext cx="1325880" cy="320040"/>
          </a:xfrm>
          <a:prstGeom prst="rect">
            <a:avLst/>
          </a:prstGeom>
          <a:noFill/>
        </p:spPr>
        <p:txBody>
          <a:bodyPr wrap="square" lIns="0" rIns="0" tIns="0" bIns="0" anchor="ctr">
            <a:spAutoFit/>
          </a:bodyPr>
          <a:lstStyle/>
          <a:p>
            <a:pPr algn="ctr"/>
            <a:r>
              <a:rPr sz="850" b="0">
                <a:solidFill>
                  <a:srgbClr val="6F6B5E"/>
                </a:solidFill>
                <a:latin typeface="Readex Pro"/>
                <a:cs typeface="Readex Pro"/>
                <a:ea typeface="Readex Pro"/>
              </a:rPr>
              <a:t>test never enters</a:t>
            </a:r>
          </a:p>
        </p:txBody>
      </p:sp>
      <p:sp>
        <p:nvSpPr>
          <p:cNvPr id="18" name="Rounded Rectangle 17"/>
          <p:cNvSpPr/>
          <p:nvPr/>
        </p:nvSpPr>
        <p:spPr>
          <a:xfrm>
            <a:off x="2121408" y="4160520"/>
            <a:ext cx="1417320" cy="777240"/>
          </a:xfrm>
          <a:prstGeom prst="roundRect">
            <a:avLst>
              <a:gd name="adj" fmla="val 11764"/>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67127" y="4206240"/>
            <a:ext cx="1325880" cy="320040"/>
          </a:xfrm>
          <a:prstGeom prst="rect">
            <a:avLst/>
          </a:prstGeom>
          <a:noFill/>
        </p:spPr>
        <p:txBody>
          <a:bodyPr wrap="square" lIns="0" rIns="0" tIns="0" bIns="0" anchor="ctr">
            <a:spAutoFit/>
          </a:bodyPr>
          <a:lstStyle/>
          <a:p>
            <a:pPr algn="ctr"/>
            <a:r>
              <a:rPr sz="1000" b="1">
                <a:solidFill>
                  <a:srgbClr val="282824"/>
                </a:solidFill>
                <a:latin typeface="Readex Pro"/>
                <a:cs typeface="Readex Pro"/>
                <a:ea typeface="Readex Pro"/>
              </a:rPr>
              <a:t>strip tashkeel / tatweel</a:t>
            </a:r>
          </a:p>
        </p:txBody>
      </p:sp>
      <p:sp>
        <p:nvSpPr>
          <p:cNvPr id="20" name="TextBox 19"/>
          <p:cNvSpPr txBox="1"/>
          <p:nvPr/>
        </p:nvSpPr>
        <p:spPr>
          <a:xfrm>
            <a:off x="2167127" y="4526280"/>
            <a:ext cx="1325880" cy="320040"/>
          </a:xfrm>
          <a:prstGeom prst="rect">
            <a:avLst/>
          </a:prstGeom>
          <a:noFill/>
        </p:spPr>
        <p:txBody>
          <a:bodyPr wrap="square" lIns="0" rIns="0" tIns="0" bIns="0" anchor="ctr">
            <a:spAutoFit/>
          </a:bodyPr>
          <a:lstStyle/>
          <a:p>
            <a:pPr algn="ctr"/>
            <a:r>
              <a:rPr sz="850" b="0">
                <a:solidFill>
                  <a:srgbClr val="6F6B5E"/>
                </a:solidFill>
                <a:latin typeface="Readex Pro"/>
                <a:cs typeface="Readex Pro"/>
                <a:ea typeface="Readex Pro"/>
              </a:rPr>
              <a:t>every text</a:t>
            </a:r>
          </a:p>
        </p:txBody>
      </p:sp>
      <p:cxnSp>
        <p:nvCxnSpPr>
          <p:cNvPr id="21" name="Connector 20"/>
          <p:cNvCxnSpPr/>
          <p:nvPr/>
        </p:nvCxnSpPr>
        <p:spPr>
          <a:xfrm>
            <a:off x="2011679" y="4549140"/>
            <a:ext cx="109729" cy="0"/>
          </a:xfrm>
          <a:prstGeom prst="line">
            <a:avLst/>
          </a:prstGeom>
          <a:ln w="19050">
            <a:solidFill>
              <a:srgbClr val="C6986B"/>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648456" y="4160520"/>
            <a:ext cx="1417320" cy="777240"/>
          </a:xfrm>
          <a:prstGeom prst="roundRect">
            <a:avLst>
              <a:gd name="adj" fmla="val 11764"/>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94176" y="4206240"/>
            <a:ext cx="1325880" cy="320040"/>
          </a:xfrm>
          <a:prstGeom prst="rect">
            <a:avLst/>
          </a:prstGeom>
          <a:noFill/>
        </p:spPr>
        <p:txBody>
          <a:bodyPr wrap="square" lIns="0" rIns="0" tIns="0" bIns="0" anchor="ctr">
            <a:spAutoFit/>
          </a:bodyPr>
          <a:lstStyle/>
          <a:p>
            <a:pPr algn="ctr"/>
            <a:r>
              <a:rPr sz="1000" b="1">
                <a:solidFill>
                  <a:srgbClr val="282824"/>
                </a:solidFill>
                <a:latin typeface="Readex Pro"/>
                <a:cs typeface="Readex Pro"/>
                <a:ea typeface="Readex Pro"/>
              </a:rPr>
              <a:t>route each source</a:t>
            </a:r>
          </a:p>
        </p:txBody>
      </p:sp>
      <p:sp>
        <p:nvSpPr>
          <p:cNvPr id="24" name="TextBox 23"/>
          <p:cNvSpPr txBox="1"/>
          <p:nvPr/>
        </p:nvSpPr>
        <p:spPr>
          <a:xfrm>
            <a:off x="3694176" y="4526280"/>
            <a:ext cx="1325880" cy="320040"/>
          </a:xfrm>
          <a:prstGeom prst="rect">
            <a:avLst/>
          </a:prstGeom>
          <a:noFill/>
        </p:spPr>
        <p:txBody>
          <a:bodyPr wrap="square" lIns="0" rIns="0" tIns="0" bIns="0" anchor="ctr">
            <a:spAutoFit/>
          </a:bodyPr>
          <a:lstStyle/>
          <a:p>
            <a:pPr algn="ctr"/>
            <a:r>
              <a:rPr sz="850" b="0">
                <a:solidFill>
                  <a:srgbClr val="6F6B5E"/>
                </a:solidFill>
                <a:latin typeface="Readex Pro"/>
                <a:cs typeface="Readex Pro"/>
                <a:ea typeface="Readex Pro"/>
              </a:rPr>
              <a:t>protected · short · hard</a:t>
            </a:r>
          </a:p>
        </p:txBody>
      </p:sp>
      <p:sp>
        <p:nvSpPr>
          <p:cNvPr id="25" name="TextBox 24"/>
          <p:cNvSpPr txBox="1"/>
          <p:nvPr/>
        </p:nvSpPr>
        <p:spPr>
          <a:xfrm>
            <a:off x="3648456" y="5010912"/>
            <a:ext cx="1417320" cy="228600"/>
          </a:xfrm>
          <a:prstGeom prst="rect">
            <a:avLst/>
          </a:prstGeom>
          <a:noFill/>
        </p:spPr>
        <p:txBody>
          <a:bodyPr wrap="square" lIns="0" rIns="0" tIns="0" bIns="0" anchor="ctr">
            <a:spAutoFit/>
          </a:bodyPr>
          <a:lstStyle/>
          <a:p>
            <a:pPr algn="ctr"/>
            <a:r>
              <a:rPr sz="950" b="1">
                <a:solidFill>
                  <a:srgbClr val="8A5E35"/>
                </a:solidFill>
                <a:latin typeface="Readex Pro"/>
                <a:cs typeface="Readex Pro"/>
                <a:ea typeface="Readex Pro"/>
              </a:rPr>
              <a:t>23,221 hard</a:t>
            </a:r>
          </a:p>
        </p:txBody>
      </p:sp>
      <p:cxnSp>
        <p:nvCxnSpPr>
          <p:cNvPr id="26" name="Connector 25"/>
          <p:cNvCxnSpPr/>
          <p:nvPr/>
        </p:nvCxnSpPr>
        <p:spPr>
          <a:xfrm>
            <a:off x="3538727" y="4549140"/>
            <a:ext cx="109729" cy="0"/>
          </a:xfrm>
          <a:prstGeom prst="line">
            <a:avLst/>
          </a:prstGeom>
          <a:ln w="19050">
            <a:solidFill>
              <a:srgbClr val="C6986B"/>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175504" y="4160520"/>
            <a:ext cx="1417320" cy="777240"/>
          </a:xfrm>
          <a:prstGeom prst="roundRect">
            <a:avLst>
              <a:gd name="adj" fmla="val 11764"/>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21224" y="4206240"/>
            <a:ext cx="1325880" cy="320040"/>
          </a:xfrm>
          <a:prstGeom prst="rect">
            <a:avLst/>
          </a:prstGeom>
          <a:noFill/>
        </p:spPr>
        <p:txBody>
          <a:bodyPr wrap="square" lIns="0" rIns="0" tIns="0" bIns="0" anchor="ctr">
            <a:spAutoFit/>
          </a:bodyPr>
          <a:lstStyle/>
          <a:p>
            <a:pPr algn="ctr"/>
            <a:r>
              <a:rPr sz="1000" b="1">
                <a:solidFill>
                  <a:srgbClr val="282824"/>
                </a:solidFill>
                <a:latin typeface="Readex Pro"/>
                <a:cs typeface="Readex Pro"/>
                <a:ea typeface="Readex Pro"/>
              </a:rPr>
              <a:t>Gemma 4 31B writes candidates</a:t>
            </a:r>
          </a:p>
        </p:txBody>
      </p:sp>
      <p:sp>
        <p:nvSpPr>
          <p:cNvPr id="29" name="TextBox 28"/>
          <p:cNvSpPr txBox="1"/>
          <p:nvPr/>
        </p:nvSpPr>
        <p:spPr>
          <a:xfrm>
            <a:off x="5221224" y="4526280"/>
            <a:ext cx="1325880" cy="320040"/>
          </a:xfrm>
          <a:prstGeom prst="rect">
            <a:avLst/>
          </a:prstGeom>
          <a:noFill/>
        </p:spPr>
        <p:txBody>
          <a:bodyPr wrap="square" lIns="0" rIns="0" tIns="0" bIns="0" anchor="ctr">
            <a:spAutoFit/>
          </a:bodyPr>
          <a:lstStyle/>
          <a:p>
            <a:pPr algn="ctr"/>
            <a:r>
              <a:rPr sz="850" b="0">
                <a:solidFill>
                  <a:srgbClr val="6F6B5E"/>
                </a:solidFill>
                <a:latin typeface="Readex Pro"/>
                <a:cs typeface="Readex Pro"/>
                <a:ea typeface="Readex Pro"/>
              </a:rPr>
              <a:t>hard band only</a:t>
            </a:r>
          </a:p>
        </p:txBody>
      </p:sp>
      <p:sp>
        <p:nvSpPr>
          <p:cNvPr id="30" name="TextBox 29"/>
          <p:cNvSpPr txBox="1"/>
          <p:nvPr/>
        </p:nvSpPr>
        <p:spPr>
          <a:xfrm>
            <a:off x="5175504" y="5010912"/>
            <a:ext cx="1417320" cy="228600"/>
          </a:xfrm>
          <a:prstGeom prst="rect">
            <a:avLst/>
          </a:prstGeom>
          <a:noFill/>
        </p:spPr>
        <p:txBody>
          <a:bodyPr wrap="square" lIns="0" rIns="0" tIns="0" bIns="0" anchor="ctr">
            <a:spAutoFit/>
          </a:bodyPr>
          <a:lstStyle/>
          <a:p>
            <a:pPr algn="ctr"/>
            <a:r>
              <a:rPr sz="950" b="1">
                <a:solidFill>
                  <a:srgbClr val="8A5E35"/>
                </a:solidFill>
                <a:latin typeface="Readex Pro"/>
                <a:cs typeface="Readex Pro"/>
                <a:ea typeface="Readex Pro"/>
              </a:rPr>
              <a:t>23,205 responses</a:t>
            </a:r>
          </a:p>
        </p:txBody>
      </p:sp>
      <p:cxnSp>
        <p:nvCxnSpPr>
          <p:cNvPr id="31" name="Connector 30"/>
          <p:cNvCxnSpPr/>
          <p:nvPr/>
        </p:nvCxnSpPr>
        <p:spPr>
          <a:xfrm>
            <a:off x="5065776" y="4549140"/>
            <a:ext cx="109728" cy="0"/>
          </a:xfrm>
          <a:prstGeom prst="line">
            <a:avLst/>
          </a:prstGeom>
          <a:ln w="19050">
            <a:solidFill>
              <a:srgbClr val="C6986B"/>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702552" y="4160520"/>
            <a:ext cx="1417320" cy="777240"/>
          </a:xfrm>
          <a:prstGeom prst="roundRect">
            <a:avLst>
              <a:gd name="adj" fmla="val 11764"/>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48272" y="4206240"/>
            <a:ext cx="1325880" cy="320040"/>
          </a:xfrm>
          <a:prstGeom prst="rect">
            <a:avLst/>
          </a:prstGeom>
          <a:noFill/>
        </p:spPr>
        <p:txBody>
          <a:bodyPr wrap="square" lIns="0" rIns="0" tIns="0" bIns="0" anchor="ctr">
            <a:spAutoFit/>
          </a:bodyPr>
          <a:lstStyle/>
          <a:p>
            <a:pPr algn="ctr"/>
            <a:r>
              <a:rPr sz="1000" b="1">
                <a:solidFill>
                  <a:srgbClr val="282824"/>
                </a:solidFill>
                <a:latin typeface="Readex Pro"/>
                <a:cs typeface="Readex Pro"/>
                <a:ea typeface="Readex Pro"/>
              </a:rPr>
              <a:t>code gates</a:t>
            </a:r>
          </a:p>
        </p:txBody>
      </p:sp>
      <p:sp>
        <p:nvSpPr>
          <p:cNvPr id="34" name="TextBox 33"/>
          <p:cNvSpPr txBox="1"/>
          <p:nvPr/>
        </p:nvSpPr>
        <p:spPr>
          <a:xfrm>
            <a:off x="6748272" y="4526280"/>
            <a:ext cx="1325880" cy="320040"/>
          </a:xfrm>
          <a:prstGeom prst="rect">
            <a:avLst/>
          </a:prstGeom>
          <a:noFill/>
        </p:spPr>
        <p:txBody>
          <a:bodyPr wrap="square" lIns="0" rIns="0" tIns="0" bIns="0" anchor="ctr">
            <a:spAutoFit/>
          </a:bodyPr>
          <a:lstStyle/>
          <a:p>
            <a:pPr algn="ctr"/>
            <a:r>
              <a:rPr sz="850" b="0">
                <a:solidFill>
                  <a:srgbClr val="6F6B5E"/>
                </a:solidFill>
                <a:latin typeface="Readex Pro"/>
                <a:cs typeface="Readex Pro"/>
                <a:ea typeface="Readex Pro"/>
              </a:rPr>
              <a:t>numbers · quotes · options</a:t>
            </a:r>
          </a:p>
        </p:txBody>
      </p:sp>
      <p:cxnSp>
        <p:nvCxnSpPr>
          <p:cNvPr id="35" name="Connector 34"/>
          <p:cNvCxnSpPr/>
          <p:nvPr/>
        </p:nvCxnSpPr>
        <p:spPr>
          <a:xfrm>
            <a:off x="6592824" y="4549140"/>
            <a:ext cx="109728" cy="0"/>
          </a:xfrm>
          <a:prstGeom prst="line">
            <a:avLst/>
          </a:prstGeom>
          <a:ln w="19050">
            <a:solidFill>
              <a:srgbClr val="C6986B"/>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229600" y="4160520"/>
            <a:ext cx="1417320" cy="777240"/>
          </a:xfrm>
          <a:prstGeom prst="roundRect">
            <a:avLst>
              <a:gd name="adj" fmla="val 11764"/>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75320" y="4206240"/>
            <a:ext cx="1325880" cy="320040"/>
          </a:xfrm>
          <a:prstGeom prst="rect">
            <a:avLst/>
          </a:prstGeom>
          <a:noFill/>
        </p:spPr>
        <p:txBody>
          <a:bodyPr wrap="square" lIns="0" rIns="0" tIns="0" bIns="0" anchor="ctr">
            <a:spAutoFit/>
          </a:bodyPr>
          <a:lstStyle/>
          <a:p>
            <a:pPr algn="ctr"/>
            <a:r>
              <a:rPr sz="1000" b="1">
                <a:solidFill>
                  <a:srgbClr val="282824"/>
                </a:solidFill>
                <a:latin typeface="Readex Pro"/>
                <a:cs typeface="Readex Pro"/>
                <a:ea typeface="Readex Pro"/>
              </a:rPr>
              <a:t>readability + meaning gates</a:t>
            </a:r>
          </a:p>
        </p:txBody>
      </p:sp>
      <p:sp>
        <p:nvSpPr>
          <p:cNvPr id="38" name="TextBox 37"/>
          <p:cNvSpPr txBox="1"/>
          <p:nvPr/>
        </p:nvSpPr>
        <p:spPr>
          <a:xfrm>
            <a:off x="8275320" y="4526280"/>
            <a:ext cx="1325880" cy="320040"/>
          </a:xfrm>
          <a:prstGeom prst="rect">
            <a:avLst/>
          </a:prstGeom>
          <a:noFill/>
        </p:spPr>
        <p:txBody>
          <a:bodyPr wrap="square" lIns="0" rIns="0" tIns="0" bIns="0" anchor="ctr">
            <a:spAutoFit/>
          </a:bodyPr>
          <a:lstStyle/>
          <a:p>
            <a:pPr algn="ctr"/>
            <a:r>
              <a:rPr sz="850" b="0">
                <a:solidFill>
                  <a:srgbClr val="6F6B5E"/>
                </a:solidFill>
                <a:latin typeface="Readex Pro"/>
                <a:cs typeface="Readex Pro"/>
                <a:ea typeface="Readex Pro"/>
              </a:rPr>
              <a:t>≥ 2 CAMeL levels · Qwen ≥ 0.85</a:t>
            </a:r>
          </a:p>
        </p:txBody>
      </p:sp>
      <p:sp>
        <p:nvSpPr>
          <p:cNvPr id="39" name="TextBox 38"/>
          <p:cNvSpPr txBox="1"/>
          <p:nvPr/>
        </p:nvSpPr>
        <p:spPr>
          <a:xfrm>
            <a:off x="8229600" y="5010912"/>
            <a:ext cx="1417320" cy="228600"/>
          </a:xfrm>
          <a:prstGeom prst="rect">
            <a:avLst/>
          </a:prstGeom>
          <a:noFill/>
        </p:spPr>
        <p:txBody>
          <a:bodyPr wrap="square" lIns="0" rIns="0" tIns="0" bIns="0" anchor="ctr">
            <a:spAutoFit/>
          </a:bodyPr>
          <a:lstStyle/>
          <a:p>
            <a:pPr algn="ctr"/>
            <a:r>
              <a:rPr sz="950" b="1">
                <a:solidFill>
                  <a:srgbClr val="8A5E35"/>
                </a:solidFill>
                <a:latin typeface="Readex Pro"/>
                <a:cs typeface="Readex Pro"/>
                <a:ea typeface="Readex Pro"/>
              </a:rPr>
              <a:t>10,693 accepted</a:t>
            </a:r>
          </a:p>
        </p:txBody>
      </p:sp>
      <p:cxnSp>
        <p:nvCxnSpPr>
          <p:cNvPr id="40" name="Connector 39"/>
          <p:cNvCxnSpPr/>
          <p:nvPr/>
        </p:nvCxnSpPr>
        <p:spPr>
          <a:xfrm>
            <a:off x="8119872" y="4549140"/>
            <a:ext cx="109728" cy="0"/>
          </a:xfrm>
          <a:prstGeom prst="line">
            <a:avLst/>
          </a:prstGeom>
          <a:ln w="19050">
            <a:solidFill>
              <a:srgbClr val="C6986B"/>
            </a:solidFill>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94360" y="5349240"/>
            <a:ext cx="8714232" cy="640080"/>
          </a:xfrm>
          <a:prstGeom prst="roundRect">
            <a:avLst>
              <a:gd name="adj" fmla="val 21428"/>
            </a:avLst>
          </a:prstGeom>
          <a:solidFill>
            <a:srgbClr val="EEDDC7"/>
          </a:solidFill>
          <a:ln w="15875">
            <a:solidFill>
              <a:srgbClr val="C69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5394960"/>
            <a:ext cx="8714232" cy="320040"/>
          </a:xfrm>
          <a:prstGeom prst="rect">
            <a:avLst/>
          </a:prstGeom>
          <a:noFill/>
        </p:spPr>
        <p:txBody>
          <a:bodyPr wrap="square" lIns="0" rIns="0" tIns="0" bIns="0" anchor="ctr">
            <a:spAutoFit/>
          </a:bodyPr>
          <a:lstStyle/>
          <a:p>
            <a:pPr algn="ctr"/>
            <a:r>
              <a:rPr sz="1500" b="1">
                <a:solidFill>
                  <a:srgbClr val="8A5E35"/>
                </a:solidFill>
                <a:latin typeface="Readex Pro"/>
                <a:cs typeface="Readex Pro"/>
                <a:ea typeface="Readex Pro"/>
              </a:rPr>
              <a:t>14,975 rows  ·  0 rule violations  ·  0 leakage vs BAREC test</a:t>
            </a:r>
          </a:p>
        </p:txBody>
      </p:sp>
      <p:sp>
        <p:nvSpPr>
          <p:cNvPr id="43" name="TextBox 42"/>
          <p:cNvSpPr txBox="1"/>
          <p:nvPr/>
        </p:nvSpPr>
        <p:spPr>
          <a:xfrm>
            <a:off x="594360" y="5760720"/>
            <a:ext cx="8714232" cy="228600"/>
          </a:xfrm>
          <a:prstGeom prst="rect">
            <a:avLst/>
          </a:prstGeom>
          <a:noFill/>
        </p:spPr>
        <p:txBody>
          <a:bodyPr wrap="square" lIns="0" rIns="0" tIns="0" bIns="0" anchor="ctr">
            <a:spAutoFit/>
          </a:bodyPr>
          <a:lstStyle/>
          <a:p>
            <a:pPr algn="ctr"/>
            <a:r>
              <a:rPr sz="1100" b="0">
                <a:solidFill>
                  <a:srgbClr val="4A4842"/>
                </a:solidFill>
                <a:latin typeface="Readex Pro"/>
                <a:cs typeface="Readex Pro"/>
                <a:ea typeface="Readex Pro"/>
              </a:rPr>
              <a:t>blind audit of 1,039 pairs: 1.7% meaning changed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3" presetID="10" presetClass="entr" presetSubtype="0" fill="hold" grpId="0" nodeType="withEffect">
                                  <p:stCondLst>
                                    <p:cond delay="35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6" presetID="10" presetClass="entr" presetSubtype="0" fill="hold" grpId="0" nodeType="withEffect">
                                  <p:stCondLst>
                                    <p:cond delay="50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9" presetID="10" presetClass="entr" presetSubtype="0" fill="hold" grpId="0" nodeType="withEffect">
                                  <p:stCondLst>
                                    <p:cond delay="65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22" presetID="10" presetClass="entr" presetSubtype="0" fill="hold" grpId="0" nodeType="withEffect">
                                  <p:stCondLst>
                                    <p:cond delay="90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7" presetID="10"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par>
                                <p:cTn id="30" presetID="10" presetClass="entr" presetSubtype="0" fill="hold" grpId="0" nodeType="withEffect">
                                  <p:stCondLst>
                                    <p:cond delay="20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3" presetID="10" presetClass="entr" presetSubtype="0" fill="hold" grpId="0" nodeType="withEffect">
                                  <p:stCondLst>
                                    <p:cond delay="40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par>
                                <p:cTn id="36" presetID="10" presetClass="entr" presetSubtype="0" fill="hold" grpId="0" nodeType="withEffect">
                                  <p:stCondLst>
                                    <p:cond delay="60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9" presetID="10" presetClass="entr" presetSubtype="0" fill="hold" grpId="0" nodeType="withEffect">
                                  <p:stCondLst>
                                    <p:cond delay="80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par>
                                <p:cTn id="42" presetID="10" presetClass="entr" presetSubtype="0" fill="hold" grpId="0" nodeType="withEffect">
                                  <p:stCondLst>
                                    <p:cond delay="100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500"/>
                                        <p:tgtEl>
                                          <p:spTgt spid="20"/>
                                        </p:tgtEl>
                                      </p:cBhvr>
                                    </p:animEffect>
                                  </p:childTnLst>
                                </p:cTn>
                              </p:par>
                              <p:par>
                                <p:cTn id="45" presetID="10" presetClass="entr" presetSubtype="0" fill="hold" grpId="0" nodeType="withEffect">
                                  <p:stCondLst>
                                    <p:cond delay="120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par>
                                <p:cTn id="48" presetID="10" presetClass="entr" presetSubtype="0" fill="hold" grpId="0" nodeType="withEffect">
                                  <p:stCondLst>
                                    <p:cond delay="140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par>
                                <p:cTn id="51" presetID="10" presetClass="entr" presetSubtype="0" fill="hold" grpId="0" nodeType="withEffect">
                                  <p:stCondLst>
                                    <p:cond delay="160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par>
                                <p:cTn id="54" presetID="10" presetClass="entr" presetSubtype="0" fill="hold" grpId="0" nodeType="withEffect">
                                  <p:stCondLst>
                                    <p:cond delay="180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500"/>
                                        <p:tgtEl>
                                          <p:spTgt spid="25"/>
                                        </p:tgtEl>
                                      </p:cBhvr>
                                    </p:animEffect>
                                  </p:childTnLst>
                                </p:cTn>
                              </p:par>
                              <p:par>
                                <p:cTn id="57" presetID="10" presetClass="entr" presetSubtype="0" fill="hold" grpId="0" nodeType="withEffect">
                                  <p:stCondLst>
                                    <p:cond delay="200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500"/>
                                        <p:tgtEl>
                                          <p:spTgt spid="27"/>
                                        </p:tgtEl>
                                      </p:cBhvr>
                                    </p:animEffect>
                                  </p:childTnLst>
                                </p:cTn>
                              </p:par>
                              <p:par>
                                <p:cTn id="60" presetID="10" presetClass="entr" presetSubtype="0" fill="hold" grpId="0" nodeType="withEffect">
                                  <p:stCondLst>
                                    <p:cond delay="220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par>
                                <p:cTn id="63" presetID="10" presetClass="entr" presetSubtype="0" fill="hold" grpId="0" nodeType="withEffect">
                                  <p:stCondLst>
                                    <p:cond delay="240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par>
                                <p:cTn id="66" presetID="10" presetClass="entr" presetSubtype="0" fill="hold" grpId="0" nodeType="withEffect">
                                  <p:stCondLst>
                                    <p:cond delay="260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500"/>
                                        <p:tgtEl>
                                          <p:spTgt spid="30"/>
                                        </p:tgtEl>
                                      </p:cBhvr>
                                    </p:animEffect>
                                  </p:childTnLst>
                                </p:cTn>
                              </p:par>
                              <p:par>
                                <p:cTn id="69" presetID="10" presetClass="entr" presetSubtype="0" fill="hold" grpId="0" nodeType="withEffect">
                                  <p:stCondLst>
                                    <p:cond delay="280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500"/>
                                        <p:tgtEl>
                                          <p:spTgt spid="32"/>
                                        </p:tgtEl>
                                      </p:cBhvr>
                                    </p:animEffect>
                                  </p:childTnLst>
                                </p:cTn>
                              </p:par>
                              <p:par>
                                <p:cTn id="72" presetID="10" presetClass="entr" presetSubtype="0" fill="hold" grpId="0" nodeType="withEffect">
                                  <p:stCondLst>
                                    <p:cond delay="300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00"/>
                                        <p:tgtEl>
                                          <p:spTgt spid="33"/>
                                        </p:tgtEl>
                                      </p:cBhvr>
                                    </p:animEffect>
                                  </p:childTnLst>
                                </p:cTn>
                              </p:par>
                              <p:par>
                                <p:cTn id="75" presetID="10" presetClass="entr" presetSubtype="0" fill="hold" grpId="0" nodeType="withEffect">
                                  <p:stCondLst>
                                    <p:cond delay="320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500"/>
                                        <p:tgtEl>
                                          <p:spTgt spid="34"/>
                                        </p:tgtEl>
                                      </p:cBhvr>
                                    </p:animEffect>
                                  </p:childTnLst>
                                </p:cTn>
                              </p:par>
                              <p:par>
                                <p:cTn id="78" presetID="10" presetClass="entr" presetSubtype="0" fill="hold" grpId="0" nodeType="withEffect">
                                  <p:stCondLst>
                                    <p:cond delay="340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00"/>
                                        <p:tgtEl>
                                          <p:spTgt spid="36"/>
                                        </p:tgtEl>
                                      </p:cBhvr>
                                    </p:animEffect>
                                  </p:childTnLst>
                                </p:cTn>
                              </p:par>
                              <p:par>
                                <p:cTn id="81" presetID="10" presetClass="entr" presetSubtype="0" fill="hold" grpId="0" nodeType="withEffect">
                                  <p:stCondLst>
                                    <p:cond delay="3600"/>
                                  </p:stCondLst>
                                  <p:childTnLst>
                                    <p:set>
                                      <p:cBhvr>
                                        <p:cTn id="79" dur="1" fill="hold">
                                          <p:stCondLst>
                                            <p:cond delay="0"/>
                                          </p:stCondLst>
                                        </p:cTn>
                                        <p:tgtEl>
                                          <p:spTgt spid="37"/>
                                        </p:tgtEl>
                                        <p:attrNameLst>
                                          <p:attrName>style.visibility</p:attrName>
                                        </p:attrNameLst>
                                      </p:cBhvr>
                                      <p:to>
                                        <p:strVal val="visible"/>
                                      </p:to>
                                    </p:set>
                                    <p:animEffect transition="in" filter="fade">
                                      <p:cBhvr>
                                        <p:cTn id="80" dur="500"/>
                                        <p:tgtEl>
                                          <p:spTgt spid="37"/>
                                        </p:tgtEl>
                                      </p:cBhvr>
                                    </p:animEffect>
                                  </p:childTnLst>
                                </p:cTn>
                              </p:par>
                              <p:par>
                                <p:cTn id="84" presetID="10" presetClass="entr" presetSubtype="0" fill="hold" grpId="0" nodeType="withEffect">
                                  <p:stCondLst>
                                    <p:cond delay="3800"/>
                                  </p:stCondLst>
                                  <p:childTnLst>
                                    <p:set>
                                      <p:cBhvr>
                                        <p:cTn id="82" dur="1" fill="hold">
                                          <p:stCondLst>
                                            <p:cond delay="0"/>
                                          </p:stCondLst>
                                        </p:cTn>
                                        <p:tgtEl>
                                          <p:spTgt spid="38"/>
                                        </p:tgtEl>
                                        <p:attrNameLst>
                                          <p:attrName>style.visibility</p:attrName>
                                        </p:attrNameLst>
                                      </p:cBhvr>
                                      <p:to>
                                        <p:strVal val="visible"/>
                                      </p:to>
                                    </p:set>
                                    <p:animEffect transition="in" filter="fade">
                                      <p:cBhvr>
                                        <p:cTn id="83" dur="500"/>
                                        <p:tgtEl>
                                          <p:spTgt spid="38"/>
                                        </p:tgtEl>
                                      </p:cBhvr>
                                    </p:animEffect>
                                  </p:childTnLst>
                                </p:cTn>
                              </p:par>
                              <p:par>
                                <p:cTn id="87" presetID="10" presetClass="entr" presetSubtype="0" fill="hold" grpId="0" nodeType="withEffect">
                                  <p:stCondLst>
                                    <p:cond delay="4000"/>
                                  </p:stCondLst>
                                  <p:childTnLst>
                                    <p:set>
                                      <p:cBhvr>
                                        <p:cTn id="85" dur="1" fill="hold">
                                          <p:stCondLst>
                                            <p:cond delay="0"/>
                                          </p:stCondLst>
                                        </p:cTn>
                                        <p:tgtEl>
                                          <p:spTgt spid="39"/>
                                        </p:tgtEl>
                                        <p:attrNameLst>
                                          <p:attrName>style.visibility</p:attrName>
                                        </p:attrNameLst>
                                      </p:cBhvr>
                                      <p:to>
                                        <p:strVal val="visible"/>
                                      </p:to>
                                    </p:set>
                                    <p:animEffect transition="in" filter="fade">
                                      <p:cBhvr>
                                        <p:cTn id="86" dur="500"/>
                                        <p:tgtEl>
                                          <p:spTgt spid="39"/>
                                        </p:tgtEl>
                                      </p:cBhvr>
                                    </p:animEffect>
                                  </p:childTnLst>
                                </p:cTn>
                              </p:par>
                              <p:par>
                                <p:cTn id="90" presetID="10" presetClass="entr" presetSubtype="0" fill="hold" grpId="0" nodeType="withEffect">
                                  <p:stCondLst>
                                    <p:cond delay="1200"/>
                                  </p:stCondLst>
                                  <p:childTnLst>
                                    <p:set>
                                      <p:cBhvr>
                                        <p:cTn id="88" dur="1" fill="hold">
                                          <p:stCondLst>
                                            <p:cond delay="0"/>
                                          </p:stCondLst>
                                        </p:cTn>
                                        <p:tgtEl>
                                          <p:spTgt spid="21"/>
                                        </p:tgtEl>
                                        <p:attrNameLst>
                                          <p:attrName>style.visibility</p:attrName>
                                        </p:attrNameLst>
                                      </p:cBhvr>
                                      <p:to>
                                        <p:strVal val="visible"/>
                                      </p:to>
                                    </p:set>
                                    <p:animEffect transition="in" filter="fade">
                                      <p:cBhvr>
                                        <p:cTn id="89" dur="500"/>
                                        <p:tgtEl>
                                          <p:spTgt spid="21"/>
                                        </p:tgtEl>
                                      </p:cBhvr>
                                    </p:animEffect>
                                  </p:childTnLst>
                                </p:cTn>
                              </p:par>
                              <p:par>
                                <p:cTn id="93" presetID="10" presetClass="entr" presetSubtype="0" fill="hold" grpId="0" nodeType="withEffect">
                                  <p:stCondLst>
                                    <p:cond delay="1200"/>
                                  </p:stCondLst>
                                  <p:childTnLst>
                                    <p:set>
                                      <p:cBhvr>
                                        <p:cTn id="91" dur="1" fill="hold">
                                          <p:stCondLst>
                                            <p:cond delay="0"/>
                                          </p:stCondLst>
                                        </p:cTn>
                                        <p:tgtEl>
                                          <p:spTgt spid="26"/>
                                        </p:tgtEl>
                                        <p:attrNameLst>
                                          <p:attrName>style.visibility</p:attrName>
                                        </p:attrNameLst>
                                      </p:cBhvr>
                                      <p:to>
                                        <p:strVal val="visible"/>
                                      </p:to>
                                    </p:set>
                                    <p:animEffect transition="in" filter="fade">
                                      <p:cBhvr>
                                        <p:cTn id="92" dur="500"/>
                                        <p:tgtEl>
                                          <p:spTgt spid="26"/>
                                        </p:tgtEl>
                                      </p:cBhvr>
                                    </p:animEffect>
                                  </p:childTnLst>
                                </p:cTn>
                              </p:par>
                              <p:par>
                                <p:cTn id="96" presetID="10" presetClass="entr" presetSubtype="0" fill="hold" grpId="0" nodeType="withEffect">
                                  <p:stCondLst>
                                    <p:cond delay="120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500"/>
                                        <p:tgtEl>
                                          <p:spTgt spid="31"/>
                                        </p:tgtEl>
                                      </p:cBhvr>
                                    </p:animEffect>
                                  </p:childTnLst>
                                </p:cTn>
                              </p:par>
                              <p:par>
                                <p:cTn id="99" presetID="10" presetClass="entr" presetSubtype="0" fill="hold" grpId="0" nodeType="withEffect">
                                  <p:stCondLst>
                                    <p:cond delay="1200"/>
                                  </p:stCondLst>
                                  <p:childTnLst>
                                    <p:set>
                                      <p:cBhvr>
                                        <p:cTn id="97" dur="1" fill="hold">
                                          <p:stCondLst>
                                            <p:cond delay="0"/>
                                          </p:stCondLst>
                                        </p:cTn>
                                        <p:tgtEl>
                                          <p:spTgt spid="35"/>
                                        </p:tgtEl>
                                        <p:attrNameLst>
                                          <p:attrName>style.visibility</p:attrName>
                                        </p:attrNameLst>
                                      </p:cBhvr>
                                      <p:to>
                                        <p:strVal val="visible"/>
                                      </p:to>
                                    </p:set>
                                    <p:animEffect transition="in" filter="fade">
                                      <p:cBhvr>
                                        <p:cTn id="98" dur="500"/>
                                        <p:tgtEl>
                                          <p:spTgt spid="35"/>
                                        </p:tgtEl>
                                      </p:cBhvr>
                                    </p:animEffect>
                                  </p:childTnLst>
                                </p:cTn>
                              </p:par>
                              <p:par>
                                <p:cTn id="102" presetID="10" presetClass="entr" presetSubtype="0" fill="hold" grpId="0" nodeType="withEffect">
                                  <p:stCondLst>
                                    <p:cond delay="1200"/>
                                  </p:stCondLst>
                                  <p:childTnLst>
                                    <p:set>
                                      <p:cBhvr>
                                        <p:cTn id="100" dur="1" fill="hold">
                                          <p:stCondLst>
                                            <p:cond delay="0"/>
                                          </p:stCondLst>
                                        </p:cTn>
                                        <p:tgtEl>
                                          <p:spTgt spid="40"/>
                                        </p:tgtEl>
                                        <p:attrNameLst>
                                          <p:attrName>style.visibility</p:attrName>
                                        </p:attrNameLst>
                                      </p:cBhvr>
                                      <p:to>
                                        <p:strVal val="visible"/>
                                      </p:to>
                                    </p:set>
                                    <p:animEffect transition="in" filter="fade">
                                      <p:cBhvr>
                                        <p:cTn id="101" dur="500"/>
                                        <p:tgtEl>
                                          <p:spTgt spid="40"/>
                                        </p:tgtEl>
                                      </p:cBhvr>
                                    </p:animEffect>
                                  </p:childTnLst>
                                </p:cTn>
                              </p:par>
                            </p:childTnLst>
                          </p:cTn>
                        </p:par>
                      </p:childTnLst>
                    </p:cTn>
                  </p:par>
                  <p:par>
                    <p:cTn id="103" fill="hold">
                      <p:stCondLst>
                        <p:cond delay="indefinite"/>
                      </p:stCondLst>
                      <p:childTnLst>
                        <p:par>
                          <p:cTn id="104" fill="hold">
                            <p:stCondLst>
                              <p:cond delay="0"/>
                            </p:stCondLst>
                            <p:childTnLst>
                              <p:par>
                                <p:cTn id="107" presetID="10" presetClass="entr" presetSubtype="0" fill="hold" grpId="0" nodeType="clickEffect">
                                  <p:stCondLst>
                                    <p:cond delay="0"/>
                                  </p:stCondLst>
                                  <p:childTnLst>
                                    <p:set>
                                      <p:cBhvr>
                                        <p:cTn id="105" dur="1" fill="hold">
                                          <p:stCondLst>
                                            <p:cond delay="0"/>
                                          </p:stCondLst>
                                        </p:cTn>
                                        <p:tgtEl>
                                          <p:spTgt spid="41"/>
                                        </p:tgtEl>
                                        <p:attrNameLst>
                                          <p:attrName>style.visibility</p:attrName>
                                        </p:attrNameLst>
                                      </p:cBhvr>
                                      <p:to>
                                        <p:strVal val="visible"/>
                                      </p:to>
                                    </p:set>
                                    <p:animEffect transition="in" filter="fade">
                                      <p:cBhvr>
                                        <p:cTn id="106" dur="500"/>
                                        <p:tgtEl>
                                          <p:spTgt spid="41"/>
                                        </p:tgtEl>
                                      </p:cBhvr>
                                    </p:animEffect>
                                  </p:childTnLst>
                                </p:cTn>
                              </p:par>
                              <p:par>
                                <p:cTn id="110" presetID="10" presetClass="entr" presetSubtype="0" fill="hold" grpId="0" nodeType="withEffect">
                                  <p:stCondLst>
                                    <p:cond delay="300"/>
                                  </p:stCondLst>
                                  <p:childTnLst>
                                    <p:set>
                                      <p:cBhvr>
                                        <p:cTn id="108" dur="1" fill="hold">
                                          <p:stCondLst>
                                            <p:cond delay="0"/>
                                          </p:stCondLst>
                                        </p:cTn>
                                        <p:tgtEl>
                                          <p:spTgt spid="42"/>
                                        </p:tgtEl>
                                        <p:attrNameLst>
                                          <p:attrName>style.visibility</p:attrName>
                                        </p:attrNameLst>
                                      </p:cBhvr>
                                      <p:to>
                                        <p:strVal val="visible"/>
                                      </p:to>
                                    </p:set>
                                    <p:animEffect transition="in" filter="fade">
                                      <p:cBhvr>
                                        <p:cTn id="109" dur="500"/>
                                        <p:tgtEl>
                                          <p:spTgt spid="42"/>
                                        </p:tgtEl>
                                      </p:cBhvr>
                                    </p:animEffect>
                                  </p:childTnLst>
                                </p:cTn>
                              </p:par>
                              <p:par>
                                <p:cTn id="113" presetID="10" presetClass="entr" presetSubtype="0" fill="hold" grpId="0" nodeType="withEffect">
                                  <p:stCondLst>
                                    <p:cond delay="60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P spid="34" grpId="0" animBg="1"/>
      <p:bldP spid="36" grpId="0" animBg="1"/>
      <p:bldP spid="37" grpId="0" animBg="1"/>
      <p:bldP spid="38" grpId="0" animBg="1"/>
      <p:bldP spid="39" grpId="0" animBg="1"/>
      <p:bldP spid="41" grpId="0" animBg="1"/>
      <p:bldP spid="42" grpId="0" animBg="1"/>
      <p:bldP spid="43"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9902952" cy="6858000"/>
          </a:xfrm>
          <a:prstGeom prst="rect">
            <a:avLst/>
          </a:prstGeom>
          <a:solidFill>
            <a:srgbClr val="F6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54864" cy="219456"/>
          </a:xfrm>
          <a:prstGeom prst="rect">
            <a:avLst/>
          </a:prstGeom>
          <a:solidFill>
            <a:srgbClr val="C69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457200"/>
            <a:ext cx="4572000" cy="310896"/>
          </a:xfrm>
          <a:prstGeom prst="rect">
            <a:avLst/>
          </a:prstGeom>
          <a:noFill/>
        </p:spPr>
        <p:txBody>
          <a:bodyPr wrap="square" lIns="0" rIns="0" tIns="0" bIns="0" anchor="ctr">
            <a:spAutoFit/>
          </a:bodyPr>
          <a:lstStyle/>
          <a:p>
            <a:pPr algn="l"/>
            <a:r>
              <a:rPr sz="1100" b="1">
                <a:solidFill>
                  <a:srgbClr val="C6986B"/>
                </a:solidFill>
                <a:latin typeface="Readex Pro"/>
                <a:cs typeface="Readex Pro"/>
                <a:ea typeface="Readex Pro"/>
              </a:rPr>
              <a:t>03 · TRAINING</a:t>
            </a:r>
          </a:p>
        </p:txBody>
      </p:sp>
      <p:sp>
        <p:nvSpPr>
          <p:cNvPr id="5" name="TextBox 4"/>
          <p:cNvSpPr txBox="1"/>
          <p:nvPr/>
        </p:nvSpPr>
        <p:spPr>
          <a:xfrm>
            <a:off x="594360" y="822960"/>
            <a:ext cx="8714232" cy="548640"/>
          </a:xfrm>
          <a:prstGeom prst="rect">
            <a:avLst/>
          </a:prstGeom>
          <a:noFill/>
        </p:spPr>
        <p:txBody>
          <a:bodyPr wrap="square" lIns="0" rIns="0" tIns="0" bIns="0" anchor="ctr">
            <a:spAutoFit/>
          </a:bodyPr>
          <a:lstStyle/>
          <a:p>
            <a:pPr algn="l"/>
            <a:r>
              <a:rPr sz="2800" b="1">
                <a:solidFill>
                  <a:srgbClr val="282824"/>
                </a:solidFill>
                <a:latin typeface="Readex Pro"/>
                <a:cs typeface="Readex Pro"/>
                <a:ea typeface="Readex Pro"/>
              </a:rPr>
              <a:t>Each model answered the last failure</a:t>
            </a:r>
          </a:p>
        </p:txBody>
      </p:sp>
      <p:pic>
        <p:nvPicPr>
          <p:cNvPr id="6" name="Samsung logo" descr="Samsung"/>
          <p:cNvPicPr>
            <a:picLocks noChangeAspect="1"/>
          </p:cNvPicPr>
          <p:nvPr/>
        </p:nvPicPr>
        <p:blipFill>
          <a:blip r:embed="rId2"/>
          <a:stretch>
            <a:fillRect/>
          </a:stretch>
        </p:blipFill>
        <p:spPr>
          <a:xfrm>
            <a:off x="594360" y="6327648"/>
            <a:ext cx="1051560" cy="161677"/>
          </a:xfrm>
          <a:prstGeom prst="rect">
            <a:avLst/>
          </a:prstGeom>
        </p:spPr>
      </p:pic>
      <p:sp>
        <p:nvSpPr>
          <p:cNvPr id="7" name="TextBox 6"/>
          <p:cNvSpPr txBox="1"/>
          <p:nvPr/>
        </p:nvSpPr>
        <p:spPr>
          <a:xfrm>
            <a:off x="1828800" y="6281928"/>
            <a:ext cx="4114800" cy="274320"/>
          </a:xfrm>
          <a:prstGeom prst="rect">
            <a:avLst/>
          </a:prstGeom>
          <a:noFill/>
        </p:spPr>
        <p:txBody>
          <a:bodyPr wrap="square" lIns="0" rIns="0" tIns="0" bIns="0" anchor="ctr">
            <a:spAutoFit/>
          </a:bodyPr>
          <a:lstStyle/>
          <a:p>
            <a:pPr algn="l"/>
            <a:r>
              <a:rPr sz="1000" b="0">
                <a:solidFill>
                  <a:srgbClr val="6F6B5E"/>
                </a:solidFill>
                <a:latin typeface="Readex Pro"/>
                <a:cs typeface="Readex Pro"/>
                <a:ea typeface="Readex Pro"/>
              </a:rPr>
              <a:t>Samsung Innovation Campus  ·  AI Course</a:t>
            </a:r>
          </a:p>
        </p:txBody>
      </p:sp>
      <p:sp>
        <p:nvSpPr>
          <p:cNvPr id="8" name="TextBox 7"/>
          <p:cNvSpPr txBox="1"/>
          <p:nvPr/>
        </p:nvSpPr>
        <p:spPr>
          <a:xfrm>
            <a:off x="8394192" y="6281928"/>
            <a:ext cx="914400" cy="274320"/>
          </a:xfrm>
          <a:prstGeom prst="rect">
            <a:avLst/>
          </a:prstGeom>
          <a:noFill/>
        </p:spPr>
        <p:txBody>
          <a:bodyPr wrap="square" lIns="0" rIns="0" tIns="0" bIns="0" anchor="ctr">
            <a:spAutoFit/>
          </a:bodyPr>
          <a:lstStyle/>
          <a:p>
            <a:pPr algn="r"/>
            <a:r>
              <a:rPr sz="1000" b="0">
                <a:solidFill>
                  <a:srgbClr val="6F6B5E"/>
                </a:solidFill>
                <a:latin typeface="Readex Pro"/>
                <a:cs typeface="Readex Pro"/>
                <a:ea typeface="Readex Pro"/>
              </a:rPr>
              <a:t>4 / 8</a:t>
            </a:r>
          </a:p>
        </p:txBody>
      </p:sp>
      <p:sp>
        <p:nvSpPr>
          <p:cNvPr id="9" name="TextBox 8"/>
          <p:cNvSpPr txBox="1"/>
          <p:nvPr/>
        </p:nvSpPr>
        <p:spPr>
          <a:xfrm>
            <a:off x="448056" y="1417320"/>
            <a:ext cx="2788920" cy="228600"/>
          </a:xfrm>
          <a:prstGeom prst="rect">
            <a:avLst/>
          </a:prstGeom>
          <a:noFill/>
        </p:spPr>
        <p:txBody>
          <a:bodyPr wrap="square" lIns="0" rIns="0" tIns="0" bIns="0" anchor="ctr">
            <a:spAutoFit/>
          </a:bodyPr>
          <a:lstStyle/>
          <a:p>
            <a:pPr algn="ctr"/>
            <a:r>
              <a:rPr sz="1000" b="0">
                <a:solidFill>
                  <a:srgbClr val="6F6B5E"/>
                </a:solidFill>
                <a:latin typeface="Readex Pro"/>
                <a:cs typeface="Readex Pro"/>
                <a:ea typeface="Readex Pro"/>
              </a:rPr>
              <a:t>AraT5v2 on SAMER</a:t>
            </a:r>
          </a:p>
        </p:txBody>
      </p:sp>
      <p:sp>
        <p:nvSpPr>
          <p:cNvPr id="10" name="Rounded Rectangle 9"/>
          <p:cNvSpPr/>
          <p:nvPr/>
        </p:nvSpPr>
        <p:spPr>
          <a:xfrm>
            <a:off x="448056" y="1691640"/>
            <a:ext cx="2788920" cy="502920"/>
          </a:xfrm>
          <a:prstGeom prst="roundRect">
            <a:avLst>
              <a:gd name="adj" fmla="val 21818"/>
            </a:avLst>
          </a:prstGeom>
          <a:solidFill>
            <a:srgbClr val="E6DFCC"/>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500" b="1">
                <a:solidFill>
                  <a:srgbClr val="282824"/>
                </a:solidFill>
                <a:latin typeface="Readex Pro"/>
                <a:cs typeface="Readex Pro"/>
                <a:ea typeface="Readex Pro"/>
              </a:rPr>
              <a:t>Model 1</a:t>
            </a:r>
          </a:p>
        </p:txBody>
      </p:sp>
      <p:sp>
        <p:nvSpPr>
          <p:cNvPr id="11" name="Rounded Rectangle 10"/>
          <p:cNvSpPr/>
          <p:nvPr/>
        </p:nvSpPr>
        <p:spPr>
          <a:xfrm>
            <a:off x="448056" y="2331720"/>
            <a:ext cx="2788920" cy="1005840"/>
          </a:xfrm>
          <a:prstGeom prst="roundRect">
            <a:avLst>
              <a:gd name="adj" fmla="val 14545"/>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 y="2377440"/>
            <a:ext cx="2642615" cy="914400"/>
          </a:xfrm>
          <a:prstGeom prst="rect">
            <a:avLst/>
          </a:prstGeom>
          <a:noFill/>
        </p:spPr>
        <p:txBody>
          <a:bodyPr wrap="square" lIns="0" rIns="0" tIns="0" bIns="0" anchor="ctr">
            <a:spAutoFit/>
          </a:bodyPr>
          <a:lstStyle/>
          <a:p>
            <a:pPr algn="ctr"/>
            <a:r>
              <a:rPr sz="1100" b="0">
                <a:solidFill>
                  <a:srgbClr val="4A4842"/>
                </a:solidFill>
                <a:latin typeface="Readex Pro"/>
                <a:cs typeface="Readex Pro"/>
                <a:ea typeface="Readex Pro"/>
              </a:rPr>
              <a:t>SAMER L5→L3,</a:t>
            </a:r>
          </a:p>
          <a:p>
            <a:pPr algn="ctr"/>
            <a:r>
              <a:rPr sz="1100" b="0">
                <a:solidFill>
                  <a:srgbClr val="4A4842"/>
                </a:solidFill>
                <a:latin typeface="Readex Pro"/>
                <a:cs typeface="Readex Pro"/>
                <a:ea typeface="Readex Pro"/>
              </a:rPr>
              <a:t>14,343 pairs</a:t>
            </a:r>
          </a:p>
        </p:txBody>
      </p:sp>
      <p:sp>
        <p:nvSpPr>
          <p:cNvPr id="13" name="Rounded Rectangle 12"/>
          <p:cNvSpPr/>
          <p:nvPr/>
        </p:nvSpPr>
        <p:spPr>
          <a:xfrm>
            <a:off x="448056" y="3474720"/>
            <a:ext cx="2788920" cy="1005840"/>
          </a:xfrm>
          <a:prstGeom prst="roundRect">
            <a:avLst>
              <a:gd name="adj" fmla="val 10909"/>
            </a:avLst>
          </a:prstGeom>
          <a:solidFill>
            <a:srgbClr val="F3E2DA"/>
          </a:solidFill>
          <a:ln w="15875">
            <a:solidFill>
              <a:srgbClr val="F3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 y="3520440"/>
            <a:ext cx="2642615" cy="914400"/>
          </a:xfrm>
          <a:prstGeom prst="rect">
            <a:avLst/>
          </a:prstGeom>
          <a:noFill/>
        </p:spPr>
        <p:txBody>
          <a:bodyPr wrap="square" lIns="0" rIns="0" tIns="0" bIns="0" anchor="ctr">
            <a:spAutoFit/>
          </a:bodyPr>
          <a:lstStyle/>
          <a:p>
            <a:pPr algn="ctr"/>
            <a:r>
              <a:rPr sz="1100" b="0">
                <a:solidFill>
                  <a:srgbClr val="B5533C"/>
                </a:solidFill>
                <a:latin typeface="Readex Pro"/>
                <a:cs typeface="Readex Pro"/>
                <a:ea typeface="Readex Pro"/>
              </a:rPr>
              <a:t>Copying scored higher.</a:t>
            </a:r>
          </a:p>
          <a:p>
            <a:pPr algn="ctr"/>
            <a:r>
              <a:rPr sz="1100" b="0">
                <a:solidFill>
                  <a:srgbClr val="B5533C"/>
                </a:solidFill>
                <a:latin typeface="Readex Pro"/>
                <a:cs typeface="Readex Pro"/>
                <a:ea typeface="Readex Pro"/>
              </a:rPr>
              <a:t>Swapped words, never restructured.</a:t>
            </a:r>
          </a:p>
        </p:txBody>
      </p:sp>
      <p:sp>
        <p:nvSpPr>
          <p:cNvPr id="15" name="TextBox 14"/>
          <p:cNvSpPr txBox="1"/>
          <p:nvPr/>
        </p:nvSpPr>
        <p:spPr>
          <a:xfrm>
            <a:off x="3557016" y="1417320"/>
            <a:ext cx="2788920" cy="228600"/>
          </a:xfrm>
          <a:prstGeom prst="rect">
            <a:avLst/>
          </a:prstGeom>
          <a:noFill/>
        </p:spPr>
        <p:txBody>
          <a:bodyPr wrap="square" lIns="0" rIns="0" tIns="0" bIns="0" anchor="ctr">
            <a:spAutoFit/>
          </a:bodyPr>
          <a:lstStyle/>
          <a:p>
            <a:pPr algn="ctr"/>
            <a:r>
              <a:rPr sz="1000" b="0">
                <a:solidFill>
                  <a:srgbClr val="6F6B5E"/>
                </a:solidFill>
                <a:latin typeface="Readex Pro"/>
                <a:cs typeface="Readex Pro"/>
                <a:ea typeface="Readex Pro"/>
              </a:rPr>
              <a:t>AraT5v2 and AraBART</a:t>
            </a:r>
          </a:p>
        </p:txBody>
      </p:sp>
      <p:sp>
        <p:nvSpPr>
          <p:cNvPr id="16" name="Rounded Rectangle 15"/>
          <p:cNvSpPr/>
          <p:nvPr/>
        </p:nvSpPr>
        <p:spPr>
          <a:xfrm>
            <a:off x="3557016" y="1691640"/>
            <a:ext cx="2788920" cy="502920"/>
          </a:xfrm>
          <a:prstGeom prst="roundRect">
            <a:avLst>
              <a:gd name="adj" fmla="val 21818"/>
            </a:avLst>
          </a:prstGeom>
          <a:solidFill>
            <a:srgbClr val="E6DFCC"/>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500" b="1">
                <a:solidFill>
                  <a:srgbClr val="282824"/>
                </a:solidFill>
                <a:latin typeface="Readex Pro"/>
                <a:cs typeface="Readex Pro"/>
                <a:ea typeface="Readex Pro"/>
              </a:rPr>
              <a:t>Model 2</a:t>
            </a:r>
          </a:p>
        </p:txBody>
      </p:sp>
      <p:sp>
        <p:nvSpPr>
          <p:cNvPr id="17" name="Rounded Rectangle 16"/>
          <p:cNvSpPr/>
          <p:nvPr/>
        </p:nvSpPr>
        <p:spPr>
          <a:xfrm>
            <a:off x="3557016" y="2331720"/>
            <a:ext cx="2788920" cy="1005840"/>
          </a:xfrm>
          <a:prstGeom prst="roundRect">
            <a:avLst>
              <a:gd name="adj" fmla="val 14545"/>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30168" y="2377440"/>
            <a:ext cx="2642615" cy="914400"/>
          </a:xfrm>
          <a:prstGeom prst="rect">
            <a:avLst/>
          </a:prstGeom>
          <a:noFill/>
        </p:spPr>
        <p:txBody>
          <a:bodyPr wrap="square" lIns="0" rIns="0" tIns="0" bIns="0" anchor="ctr">
            <a:spAutoFit/>
          </a:bodyPr>
          <a:lstStyle/>
          <a:p>
            <a:pPr algn="ctr"/>
            <a:r>
              <a:rPr sz="1100" b="0">
                <a:solidFill>
                  <a:srgbClr val="4A4842"/>
                </a:solidFill>
                <a:latin typeface="Readex Pro"/>
                <a:cs typeface="Readex Pro"/>
                <a:ea typeface="Readex Pro"/>
              </a:rPr>
              <a:t>SAMER + DAASI +</a:t>
            </a:r>
          </a:p>
          <a:p>
            <a:pPr algn="ctr"/>
            <a:r>
              <a:rPr sz="1100" b="0">
                <a:solidFill>
                  <a:srgbClr val="4A4842"/>
                </a:solidFill>
                <a:latin typeface="Readex Pro"/>
                <a:cs typeface="Readex Pro"/>
                <a:ea typeface="Readex Pro"/>
              </a:rPr>
              <a:t>meaning-filtered external</a:t>
            </a:r>
          </a:p>
        </p:txBody>
      </p:sp>
      <p:sp>
        <p:nvSpPr>
          <p:cNvPr id="19" name="Rounded Rectangle 18"/>
          <p:cNvSpPr/>
          <p:nvPr/>
        </p:nvSpPr>
        <p:spPr>
          <a:xfrm>
            <a:off x="3557016" y="3474720"/>
            <a:ext cx="2788920" cy="1005840"/>
          </a:xfrm>
          <a:prstGeom prst="roundRect">
            <a:avLst>
              <a:gd name="adj" fmla="val 10909"/>
            </a:avLst>
          </a:prstGeom>
          <a:solidFill>
            <a:srgbClr val="F3E2DA"/>
          </a:solidFill>
          <a:ln w="15875">
            <a:solidFill>
              <a:srgbClr val="F3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30168" y="3520440"/>
            <a:ext cx="2642615" cy="914400"/>
          </a:xfrm>
          <a:prstGeom prst="rect">
            <a:avLst/>
          </a:prstGeom>
          <a:noFill/>
        </p:spPr>
        <p:txBody>
          <a:bodyPr wrap="square" lIns="0" rIns="0" tIns="0" bIns="0" anchor="ctr">
            <a:spAutoFit/>
          </a:bodyPr>
          <a:lstStyle/>
          <a:p>
            <a:pPr algn="ctr"/>
            <a:r>
              <a:rPr sz="1100" b="0">
                <a:solidFill>
                  <a:srgbClr val="B5533C"/>
                </a:solidFill>
                <a:latin typeface="Readex Pro"/>
                <a:cs typeface="Readex Pro"/>
                <a:ea typeface="Readex Pro"/>
              </a:rPr>
              <a:t>Meaning kept only 0.59</a:t>
            </a:r>
          </a:p>
          <a:p>
            <a:pPr algn="ctr"/>
            <a:r>
              <a:rPr sz="1100" b="0">
                <a:solidFill>
                  <a:srgbClr val="B5533C"/>
                </a:solidFill>
                <a:latin typeface="Readex Pro"/>
                <a:cs typeface="Readex Pro"/>
                <a:ea typeface="Readex Pro"/>
              </a:rPr>
              <a:t>and 0.4.</a:t>
            </a:r>
          </a:p>
        </p:txBody>
      </p:sp>
      <p:cxnSp>
        <p:nvCxnSpPr>
          <p:cNvPr id="21" name="Connector 20"/>
          <p:cNvCxnSpPr/>
          <p:nvPr/>
        </p:nvCxnSpPr>
        <p:spPr>
          <a:xfrm>
            <a:off x="3282696" y="2834640"/>
            <a:ext cx="228600" cy="0"/>
          </a:xfrm>
          <a:prstGeom prst="line">
            <a:avLst/>
          </a:prstGeom>
          <a:ln w="31750">
            <a:solidFill>
              <a:srgbClr val="C6986B"/>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665976" y="1417320"/>
            <a:ext cx="2788920" cy="228600"/>
          </a:xfrm>
          <a:prstGeom prst="rect">
            <a:avLst/>
          </a:prstGeom>
          <a:noFill/>
        </p:spPr>
        <p:txBody>
          <a:bodyPr wrap="square" lIns="0" rIns="0" tIns="0" bIns="0" anchor="ctr">
            <a:spAutoFit/>
          </a:bodyPr>
          <a:lstStyle/>
          <a:p>
            <a:pPr algn="ctr"/>
            <a:r>
              <a:rPr sz="1000" b="0">
                <a:solidFill>
                  <a:srgbClr val="6F6B5E"/>
                </a:solidFill>
                <a:latin typeface="Readex Pro"/>
                <a:cs typeface="Readex Pro"/>
                <a:ea typeface="Readex Pro"/>
              </a:rPr>
              <a:t>AraT5v2 on corpus v1</a:t>
            </a:r>
          </a:p>
        </p:txBody>
      </p:sp>
      <p:sp>
        <p:nvSpPr>
          <p:cNvPr id="23" name="Rounded Rectangle 22"/>
          <p:cNvSpPr/>
          <p:nvPr/>
        </p:nvSpPr>
        <p:spPr>
          <a:xfrm>
            <a:off x="6665976" y="1691640"/>
            <a:ext cx="2788920" cy="502920"/>
          </a:xfrm>
          <a:prstGeom prst="roundRect">
            <a:avLst>
              <a:gd name="adj" fmla="val 21818"/>
            </a:avLst>
          </a:prstGeom>
          <a:solidFill>
            <a:srgbClr val="C6986B"/>
          </a:solidFill>
          <a:ln w="15875">
            <a:solidFill>
              <a:srgbClr val="C6986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500" b="1">
                <a:solidFill>
                  <a:srgbClr val="1A1A14"/>
                </a:solidFill>
                <a:latin typeface="Readex Pro"/>
                <a:cs typeface="Readex Pro"/>
                <a:ea typeface="Readex Pro"/>
              </a:rPr>
              <a:t>Model 3</a:t>
            </a:r>
          </a:p>
        </p:txBody>
      </p:sp>
      <p:sp>
        <p:nvSpPr>
          <p:cNvPr id="24" name="Rounded Rectangle 23"/>
          <p:cNvSpPr/>
          <p:nvPr/>
        </p:nvSpPr>
        <p:spPr>
          <a:xfrm>
            <a:off x="6665976" y="2331720"/>
            <a:ext cx="2788920" cy="1005840"/>
          </a:xfrm>
          <a:prstGeom prst="roundRect">
            <a:avLst>
              <a:gd name="adj" fmla="val 14545"/>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39128" y="2377440"/>
            <a:ext cx="2642615" cy="914400"/>
          </a:xfrm>
          <a:prstGeom prst="rect">
            <a:avLst/>
          </a:prstGeom>
          <a:noFill/>
        </p:spPr>
        <p:txBody>
          <a:bodyPr wrap="square" lIns="0" rIns="0" tIns="0" bIns="0" anchor="ctr">
            <a:spAutoFit/>
          </a:bodyPr>
          <a:lstStyle/>
          <a:p>
            <a:pPr algn="ctr"/>
            <a:r>
              <a:rPr sz="1100" b="0">
                <a:solidFill>
                  <a:srgbClr val="4A4842"/>
                </a:solidFill>
                <a:latin typeface="Readex Pro"/>
                <a:cs typeface="Readex Pro"/>
                <a:ea typeface="Readex Pro"/>
              </a:rPr>
              <a:t>corpus v1, 14,975 rows,</a:t>
            </a:r>
          </a:p>
          <a:p>
            <a:pPr algn="ctr"/>
            <a:r>
              <a:rPr sz="1100" b="0">
                <a:solidFill>
                  <a:srgbClr val="4A4842"/>
                </a:solidFill>
                <a:latin typeface="Readex Pro"/>
                <a:cs typeface="Readex Pro"/>
                <a:ea typeface="Readex Pro"/>
              </a:rPr>
              <a:t>+ code safety net</a:t>
            </a:r>
          </a:p>
        </p:txBody>
      </p:sp>
      <p:sp>
        <p:nvSpPr>
          <p:cNvPr id="26" name="Rounded Rectangle 25"/>
          <p:cNvSpPr/>
          <p:nvPr/>
        </p:nvSpPr>
        <p:spPr>
          <a:xfrm>
            <a:off x="6665976" y="3474720"/>
            <a:ext cx="2788920" cy="1005840"/>
          </a:xfrm>
          <a:prstGeom prst="roundRect">
            <a:avLst>
              <a:gd name="adj" fmla="val 10909"/>
            </a:avLst>
          </a:prstGeom>
          <a:solidFill>
            <a:srgbClr val="F3E2DA"/>
          </a:solidFill>
          <a:ln w="15875">
            <a:solidFill>
              <a:srgbClr val="F3E2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39128" y="3520440"/>
            <a:ext cx="2642615" cy="914400"/>
          </a:xfrm>
          <a:prstGeom prst="rect">
            <a:avLst/>
          </a:prstGeom>
          <a:noFill/>
        </p:spPr>
        <p:txBody>
          <a:bodyPr wrap="square" lIns="0" rIns="0" tIns="0" bIns="0" anchor="ctr">
            <a:spAutoFit/>
          </a:bodyPr>
          <a:lstStyle/>
          <a:p>
            <a:pPr algn="ctr"/>
            <a:r>
              <a:rPr sz="1100" b="0">
                <a:solidFill>
                  <a:srgbClr val="B5533C"/>
                </a:solidFill>
                <a:latin typeface="Readex Pro"/>
                <a:cs typeface="Readex Pro"/>
                <a:ea typeface="Readex Pro"/>
              </a:rPr>
              <a:t>Every number kept.</a:t>
            </a:r>
          </a:p>
          <a:p>
            <a:pPr algn="ctr"/>
            <a:r>
              <a:rPr sz="1100" b="0">
                <a:solidFill>
                  <a:srgbClr val="B5533C"/>
                </a:solidFill>
                <a:latin typeface="Readex Pro"/>
                <a:cs typeface="Readex Pro"/>
                <a:ea typeface="Readex Pro"/>
              </a:rPr>
              <a:t>Easy text 74% vs 48%.</a:t>
            </a:r>
          </a:p>
        </p:txBody>
      </p:sp>
      <p:cxnSp>
        <p:nvCxnSpPr>
          <p:cNvPr id="28" name="Connector 27"/>
          <p:cNvCxnSpPr/>
          <p:nvPr/>
        </p:nvCxnSpPr>
        <p:spPr>
          <a:xfrm>
            <a:off x="6391656" y="2834640"/>
            <a:ext cx="228600" cy="0"/>
          </a:xfrm>
          <a:prstGeom prst="line">
            <a:avLst/>
          </a:prstGeom>
          <a:ln w="31750">
            <a:solidFill>
              <a:srgbClr val="C6986B"/>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94360" y="4892040"/>
            <a:ext cx="5029200" cy="329184"/>
          </a:xfrm>
          <a:prstGeom prst="roundRect">
            <a:avLst>
              <a:gd name="adj" fmla="val 50000"/>
            </a:avLst>
          </a:prstGeom>
          <a:solidFill>
            <a:srgbClr val="EFE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100" b="1">
                <a:solidFill>
                  <a:srgbClr val="6F6B5E"/>
                </a:solidFill>
                <a:latin typeface="Readex Pro"/>
                <a:cs typeface="Readex Pro"/>
                <a:ea typeface="Readex Pro"/>
              </a:rPr>
              <a:t>Tried and dropped: MRT  ·  Gemma E2B teacher  ·  student DPO</a:t>
            </a:r>
          </a:p>
        </p:txBody>
      </p:sp>
      <p:sp>
        <p:nvSpPr>
          <p:cNvPr id="30" name="TextBox 29"/>
          <p:cNvSpPr txBox="1"/>
          <p:nvPr/>
        </p:nvSpPr>
        <p:spPr>
          <a:xfrm>
            <a:off x="5897880" y="4892040"/>
            <a:ext cx="3200400" cy="329184"/>
          </a:xfrm>
          <a:prstGeom prst="rect">
            <a:avLst/>
          </a:prstGeom>
          <a:noFill/>
        </p:spPr>
        <p:txBody>
          <a:bodyPr wrap="square" lIns="0" rIns="0" tIns="0" bIns="0" anchor="ctr">
            <a:spAutoFit/>
          </a:bodyPr>
          <a:lstStyle/>
          <a:p>
            <a:pPr algn="l"/>
            <a:r>
              <a:rPr sz="1000" b="0">
                <a:solidFill>
                  <a:srgbClr val="6F6B5E"/>
                </a:solidFill>
                <a:latin typeface="Readex Pro"/>
                <a:cs typeface="Readex Pro"/>
                <a:ea typeface="Readex Pro"/>
              </a:rPr>
              <a:t>DPO learned the judge's preferences,</a:t>
            </a:r>
          </a:p>
          <a:p>
            <a:pPr algn="l"/>
            <a:r>
              <a:rPr sz="1000" b="0">
                <a:solidFill>
                  <a:srgbClr val="6F6B5E"/>
                </a:solidFill>
                <a:latin typeface="Readex Pro"/>
                <a:cs typeface="Readex Pro"/>
                <a:ea typeface="Readex Pro"/>
              </a:rPr>
              <a:t>not meaning safety.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3"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6"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22" presetID="10"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7" presetID="22" presetClass="entr" presetSubtype="8"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left)">
                                      <p:cBhvr>
                                        <p:cTn id="26" dur="500"/>
                                        <p:tgtEl>
                                          <p:spTgt spid="21"/>
                                        </p:tgtEl>
                                      </p:cBhvr>
                                    </p:animEffect>
                                  </p:childTnLst>
                                </p:cTn>
                              </p:par>
                              <p:par>
                                <p:cTn id="30" presetID="10" presetClass="entr" presetSubtype="0" fill="hold" grpId="0" nodeType="withEffect">
                                  <p:stCondLst>
                                    <p:cond delay="40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3" presetID="10" presetClass="entr" presetSubtype="0" fill="hold" grpId="0" nodeType="withEffect">
                                  <p:stCondLst>
                                    <p:cond delay="40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6" presetID="10" presetClass="entr" presetSubtype="0" fill="hold" grpId="0" nodeType="withEffect">
                                  <p:stCondLst>
                                    <p:cond delay="40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9" presetID="10" presetClass="entr" presetSubtype="0" fill="hold" grpId="0" nodeType="withEffect">
                                  <p:stCondLst>
                                    <p:cond delay="40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42" presetID="10" presetClass="entr" presetSubtype="0" fill="hold" grpId="0" nodeType="withEffect">
                                  <p:stCondLst>
                                    <p:cond delay="40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5" presetID="10" presetClass="entr" presetSubtype="0" fill="hold" grpId="0" nodeType="withEffect">
                                  <p:stCondLst>
                                    <p:cond delay="40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50" presetID="22" presetClass="entr" presetSubtype="8"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left)">
                                      <p:cBhvr>
                                        <p:cTn id="49" dur="500"/>
                                        <p:tgtEl>
                                          <p:spTgt spid="28"/>
                                        </p:tgtEl>
                                      </p:cBhvr>
                                    </p:animEffect>
                                  </p:childTnLst>
                                </p:cTn>
                              </p:par>
                              <p:par>
                                <p:cTn id="53" presetID="10" presetClass="entr" presetSubtype="0" fill="hold" grpId="0" nodeType="withEffect">
                                  <p:stCondLst>
                                    <p:cond delay="4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6" presetID="10" presetClass="entr" presetSubtype="0" fill="hold" grpId="0" nodeType="withEffect">
                                  <p:stCondLst>
                                    <p:cond delay="40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9" presetID="10" presetClass="entr" presetSubtype="0" fill="hold" grpId="0" nodeType="withEffect">
                                  <p:stCondLst>
                                    <p:cond delay="40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62" presetID="10" presetClass="entr" presetSubtype="0" fill="hold" grpId="0" nodeType="withEffect">
                                  <p:stCondLst>
                                    <p:cond delay="40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par>
                                <p:cTn id="65" presetID="10" presetClass="entr" presetSubtype="0" fill="hold" grpId="0" nodeType="withEffect">
                                  <p:stCondLst>
                                    <p:cond delay="40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par>
                                <p:cTn id="68" presetID="10" presetClass="entr" presetSubtype="0" fill="hold" grpId="0" nodeType="withEffect">
                                  <p:stCondLst>
                                    <p:cond delay="40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500"/>
                                        <p:tgtEl>
                                          <p:spTgt spid="27"/>
                                        </p:tgtEl>
                                      </p:cBhvr>
                                    </p:animEffect>
                                  </p:childTnLst>
                                </p:cTn>
                              </p:par>
                            </p:childTnLst>
                          </p:cTn>
                        </p:par>
                      </p:childTnLst>
                    </p:cTn>
                  </p:par>
                  <p:par>
                    <p:cTn id="69" fill="hold">
                      <p:stCondLst>
                        <p:cond delay="indefinite"/>
                      </p:stCondLst>
                      <p:childTnLst>
                        <p:par>
                          <p:cTn id="70" fill="hold">
                            <p:stCondLst>
                              <p:cond delay="0"/>
                            </p:stCondLst>
                            <p:childTnLst>
                              <p:par>
                                <p:cTn id="73" presetID="10" presetClass="entr" presetSubtype="0"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500"/>
                                        <p:tgtEl>
                                          <p:spTgt spid="29"/>
                                        </p:tgtEl>
                                      </p:cBhvr>
                                    </p:animEffect>
                                  </p:childTnLst>
                                </p:cTn>
                              </p:par>
                              <p:par>
                                <p:cTn id="76" presetID="10" presetClass="entr" presetSubtype="0" fill="hold" grpId="0" nodeType="withEffect">
                                  <p:stCondLst>
                                    <p:cond delay="30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P spid="27" grpId="0" animBg="1"/>
      <p:bldP spid="29" grpId="0" animBg="1"/>
      <p:bldP spid="30"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9902952" cy="6858000"/>
          </a:xfrm>
          <a:prstGeom prst="rect">
            <a:avLst/>
          </a:prstGeom>
          <a:solidFill>
            <a:srgbClr val="F6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54864" cy="219456"/>
          </a:xfrm>
          <a:prstGeom prst="rect">
            <a:avLst/>
          </a:prstGeom>
          <a:solidFill>
            <a:srgbClr val="C69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457200"/>
            <a:ext cx="4572000" cy="310896"/>
          </a:xfrm>
          <a:prstGeom prst="rect">
            <a:avLst/>
          </a:prstGeom>
          <a:noFill/>
        </p:spPr>
        <p:txBody>
          <a:bodyPr wrap="square" lIns="0" rIns="0" tIns="0" bIns="0" anchor="ctr">
            <a:spAutoFit/>
          </a:bodyPr>
          <a:lstStyle/>
          <a:p>
            <a:pPr algn="l"/>
            <a:r>
              <a:rPr sz="1100" b="1">
                <a:solidFill>
                  <a:srgbClr val="C6986B"/>
                </a:solidFill>
                <a:latin typeface="Readex Pro"/>
                <a:cs typeface="Readex Pro"/>
                <a:ea typeface="Readex Pro"/>
              </a:rPr>
              <a:t>04 · BAYANBENCH</a:t>
            </a:r>
          </a:p>
        </p:txBody>
      </p:sp>
      <p:sp>
        <p:nvSpPr>
          <p:cNvPr id="5" name="TextBox 4"/>
          <p:cNvSpPr txBox="1"/>
          <p:nvPr/>
        </p:nvSpPr>
        <p:spPr>
          <a:xfrm>
            <a:off x="594360" y="822960"/>
            <a:ext cx="8714232" cy="548640"/>
          </a:xfrm>
          <a:prstGeom prst="rect">
            <a:avLst/>
          </a:prstGeom>
          <a:noFill/>
        </p:spPr>
        <p:txBody>
          <a:bodyPr wrap="square" lIns="0" rIns="0" tIns="0" bIns="0" anchor="ctr">
            <a:spAutoFit/>
          </a:bodyPr>
          <a:lstStyle/>
          <a:p>
            <a:pPr algn="l"/>
            <a:r>
              <a:rPr sz="2800" b="1">
                <a:solidFill>
                  <a:srgbClr val="282824"/>
                </a:solidFill>
                <a:latin typeface="Readex Pro"/>
                <a:cs typeface="Readex Pro"/>
                <a:ea typeface="Readex Pro"/>
              </a:rPr>
              <a:t>We checked our own yardstick</a:t>
            </a:r>
          </a:p>
        </p:txBody>
      </p:sp>
      <p:pic>
        <p:nvPicPr>
          <p:cNvPr id="6" name="Samsung logo" descr="Samsung"/>
          <p:cNvPicPr>
            <a:picLocks noChangeAspect="1"/>
          </p:cNvPicPr>
          <p:nvPr/>
        </p:nvPicPr>
        <p:blipFill>
          <a:blip r:embed="rId2"/>
          <a:stretch>
            <a:fillRect/>
          </a:stretch>
        </p:blipFill>
        <p:spPr>
          <a:xfrm>
            <a:off x="594360" y="6327648"/>
            <a:ext cx="1051560" cy="161677"/>
          </a:xfrm>
          <a:prstGeom prst="rect">
            <a:avLst/>
          </a:prstGeom>
        </p:spPr>
      </p:pic>
      <p:sp>
        <p:nvSpPr>
          <p:cNvPr id="7" name="TextBox 6"/>
          <p:cNvSpPr txBox="1"/>
          <p:nvPr/>
        </p:nvSpPr>
        <p:spPr>
          <a:xfrm>
            <a:off x="1828800" y="6281928"/>
            <a:ext cx="4114800" cy="274320"/>
          </a:xfrm>
          <a:prstGeom prst="rect">
            <a:avLst/>
          </a:prstGeom>
          <a:noFill/>
        </p:spPr>
        <p:txBody>
          <a:bodyPr wrap="square" lIns="0" rIns="0" tIns="0" bIns="0" anchor="ctr">
            <a:spAutoFit/>
          </a:bodyPr>
          <a:lstStyle/>
          <a:p>
            <a:pPr algn="l"/>
            <a:r>
              <a:rPr sz="1000" b="0">
                <a:solidFill>
                  <a:srgbClr val="6F6B5E"/>
                </a:solidFill>
                <a:latin typeface="Readex Pro"/>
                <a:cs typeface="Readex Pro"/>
                <a:ea typeface="Readex Pro"/>
              </a:rPr>
              <a:t>Samsung Innovation Campus  ·  AI Course</a:t>
            </a:r>
          </a:p>
        </p:txBody>
      </p:sp>
      <p:sp>
        <p:nvSpPr>
          <p:cNvPr id="8" name="TextBox 7"/>
          <p:cNvSpPr txBox="1"/>
          <p:nvPr/>
        </p:nvSpPr>
        <p:spPr>
          <a:xfrm>
            <a:off x="8394192" y="6281928"/>
            <a:ext cx="914400" cy="274320"/>
          </a:xfrm>
          <a:prstGeom prst="rect">
            <a:avLst/>
          </a:prstGeom>
          <a:noFill/>
        </p:spPr>
        <p:txBody>
          <a:bodyPr wrap="square" lIns="0" rIns="0" tIns="0" bIns="0" anchor="ctr">
            <a:spAutoFit/>
          </a:bodyPr>
          <a:lstStyle/>
          <a:p>
            <a:pPr algn="r"/>
            <a:r>
              <a:rPr sz="1000" b="0">
                <a:solidFill>
                  <a:srgbClr val="6F6B5E"/>
                </a:solidFill>
                <a:latin typeface="Readex Pro"/>
                <a:cs typeface="Readex Pro"/>
                <a:ea typeface="Readex Pro"/>
              </a:rPr>
              <a:t>5 / 8</a:t>
            </a:r>
          </a:p>
        </p:txBody>
      </p:sp>
      <p:sp>
        <p:nvSpPr>
          <p:cNvPr id="9" name="TextBox 8"/>
          <p:cNvSpPr txBox="1"/>
          <p:nvPr/>
        </p:nvSpPr>
        <p:spPr>
          <a:xfrm>
            <a:off x="594360" y="1417320"/>
            <a:ext cx="8714232" cy="320040"/>
          </a:xfrm>
          <a:prstGeom prst="rect">
            <a:avLst/>
          </a:prstGeom>
          <a:noFill/>
        </p:spPr>
        <p:txBody>
          <a:bodyPr wrap="square" lIns="0" rIns="0" tIns="0" bIns="0" anchor="ctr">
            <a:spAutoFit/>
          </a:bodyPr>
          <a:lstStyle/>
          <a:p>
            <a:pPr algn="l"/>
            <a:r>
              <a:rPr sz="1800" b="1">
                <a:solidFill>
                  <a:srgbClr val="282824"/>
                </a:solidFill>
                <a:latin typeface="Readex Pro"/>
                <a:cs typeface="Readex Pro"/>
                <a:ea typeface="Readex Pro"/>
              </a:rPr>
              <a:t>Copying is the baseline to beat</a:t>
            </a:r>
          </a:p>
        </p:txBody>
      </p:sp>
      <p:sp>
        <p:nvSpPr>
          <p:cNvPr id="10" name="TextBox 9"/>
          <p:cNvSpPr txBox="1"/>
          <p:nvPr/>
        </p:nvSpPr>
        <p:spPr>
          <a:xfrm>
            <a:off x="3703320" y="1581911"/>
            <a:ext cx="1188720" cy="256032"/>
          </a:xfrm>
          <a:prstGeom prst="rect">
            <a:avLst/>
          </a:prstGeom>
          <a:noFill/>
        </p:spPr>
        <p:txBody>
          <a:bodyPr wrap="square" lIns="0" rIns="0" tIns="0" bIns="0" anchor="ctr">
            <a:spAutoFit/>
          </a:bodyPr>
          <a:lstStyle/>
          <a:p>
            <a:pPr algn="ctr"/>
            <a:r>
              <a:rPr sz="1000" b="0">
                <a:solidFill>
                  <a:srgbClr val="6F6B5E"/>
                </a:solidFill>
                <a:latin typeface="Readex Pro"/>
                <a:cs typeface="Readex Pro"/>
                <a:ea typeface="Readex Pro"/>
              </a:rPr>
              <a:t>meaning kept</a:t>
            </a:r>
          </a:p>
        </p:txBody>
      </p:sp>
      <p:sp>
        <p:nvSpPr>
          <p:cNvPr id="11" name="TextBox 10"/>
          <p:cNvSpPr txBox="1"/>
          <p:nvPr/>
        </p:nvSpPr>
        <p:spPr>
          <a:xfrm>
            <a:off x="5029200" y="1581911"/>
            <a:ext cx="1554480" cy="256032"/>
          </a:xfrm>
          <a:prstGeom prst="rect">
            <a:avLst/>
          </a:prstGeom>
          <a:noFill/>
        </p:spPr>
        <p:txBody>
          <a:bodyPr wrap="square" lIns="0" rIns="0" tIns="0" bIns="0" anchor="ctr">
            <a:spAutoFit/>
          </a:bodyPr>
          <a:lstStyle/>
          <a:p>
            <a:pPr algn="ctr">
              <a:lnSpc>
                <a:spcPct val="90000"/>
              </a:lnSpc>
            </a:pPr>
            <a:r>
              <a:rPr sz="1000" b="0">
                <a:solidFill>
                  <a:srgbClr val="6F6B5E"/>
                </a:solidFill>
                <a:latin typeface="Readex Pro"/>
                <a:cs typeface="Readex Pro"/>
                <a:ea typeface="Readex Pro"/>
              </a:rPr>
              <a:t>words cut from</a:t>
            </a:r>
          </a:p>
          <a:p>
            <a:pPr algn="ctr">
              <a:lnSpc>
                <a:spcPct val="90000"/>
              </a:lnSpc>
            </a:pPr>
            <a:r>
              <a:rPr sz="1000" b="0">
                <a:solidFill>
                  <a:srgbClr val="6F6B5E"/>
                </a:solidFill>
                <a:latin typeface="Readex Pro"/>
                <a:cs typeface="Readex Pro"/>
                <a:ea typeface="Readex Pro"/>
              </a:rPr>
              <a:t>longest clause</a:t>
            </a:r>
          </a:p>
        </p:txBody>
      </p:sp>
      <p:sp>
        <p:nvSpPr>
          <p:cNvPr id="12" name="Rounded Rectangle 11"/>
          <p:cNvSpPr/>
          <p:nvPr/>
        </p:nvSpPr>
        <p:spPr>
          <a:xfrm>
            <a:off x="594360" y="1874519"/>
            <a:ext cx="6126480" cy="329184"/>
          </a:xfrm>
          <a:prstGeom prst="roundRect">
            <a:avLst>
              <a:gd name="adj" fmla="val 27777"/>
            </a:avLst>
          </a:prstGeom>
          <a:solidFill>
            <a:srgbClr val="EEDDC7"/>
          </a:solidFill>
          <a:ln w="15875">
            <a:solidFill>
              <a:srgbClr val="EEDD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1911095"/>
            <a:ext cx="2834640" cy="256032"/>
          </a:xfrm>
          <a:prstGeom prst="rect">
            <a:avLst/>
          </a:prstGeom>
          <a:noFill/>
        </p:spPr>
        <p:txBody>
          <a:bodyPr wrap="square" lIns="0" rIns="0" tIns="0" bIns="0" anchor="ctr">
            <a:spAutoFit/>
          </a:bodyPr>
          <a:lstStyle/>
          <a:p>
            <a:pPr algn="l"/>
            <a:r>
              <a:rPr sz="1200" b="1">
                <a:solidFill>
                  <a:srgbClr val="282824"/>
                </a:solidFill>
                <a:latin typeface="Readex Pro"/>
                <a:cs typeface="Readex Pro"/>
                <a:ea typeface="Readex Pro"/>
              </a:rPr>
              <a:t>Copy the input</a:t>
            </a:r>
          </a:p>
        </p:txBody>
      </p:sp>
      <p:sp>
        <p:nvSpPr>
          <p:cNvPr id="14" name="TextBox 13"/>
          <p:cNvSpPr txBox="1"/>
          <p:nvPr/>
        </p:nvSpPr>
        <p:spPr>
          <a:xfrm>
            <a:off x="3703320" y="1911095"/>
            <a:ext cx="1188720" cy="256032"/>
          </a:xfrm>
          <a:prstGeom prst="rect">
            <a:avLst/>
          </a:prstGeom>
          <a:noFill/>
        </p:spPr>
        <p:txBody>
          <a:bodyPr wrap="square" lIns="0" rIns="0" tIns="0" bIns="0" anchor="ctr">
            <a:spAutoFit/>
          </a:bodyPr>
          <a:lstStyle/>
          <a:p>
            <a:pPr algn="ctr"/>
            <a:r>
              <a:rPr sz="1200" b="1">
                <a:solidFill>
                  <a:srgbClr val="8A5E35"/>
                </a:solidFill>
                <a:latin typeface="Readex Pro"/>
                <a:cs typeface="Readex Pro"/>
                <a:ea typeface="Readex Pro"/>
              </a:rPr>
              <a:t>100%</a:t>
            </a:r>
          </a:p>
        </p:txBody>
      </p:sp>
      <p:sp>
        <p:nvSpPr>
          <p:cNvPr id="15" name="TextBox 14"/>
          <p:cNvSpPr txBox="1"/>
          <p:nvPr/>
        </p:nvSpPr>
        <p:spPr>
          <a:xfrm>
            <a:off x="5029200" y="1911095"/>
            <a:ext cx="1554480" cy="256032"/>
          </a:xfrm>
          <a:prstGeom prst="rect">
            <a:avLst/>
          </a:prstGeom>
          <a:noFill/>
        </p:spPr>
        <p:txBody>
          <a:bodyPr wrap="square" lIns="0" rIns="0" tIns="0" bIns="0" anchor="ctr">
            <a:spAutoFit/>
          </a:bodyPr>
          <a:lstStyle/>
          <a:p>
            <a:pPr algn="ctr"/>
            <a:r>
              <a:rPr sz="1200" b="1">
                <a:solidFill>
                  <a:srgbClr val="B5533C"/>
                </a:solidFill>
                <a:latin typeface="Readex Pro"/>
                <a:cs typeface="Readex Pro"/>
                <a:ea typeface="Readex Pro"/>
              </a:rPr>
              <a:t>0</a:t>
            </a:r>
          </a:p>
        </p:txBody>
      </p:sp>
      <p:sp>
        <p:nvSpPr>
          <p:cNvPr id="16" name="Rounded Rectangle 15"/>
          <p:cNvSpPr/>
          <p:nvPr/>
        </p:nvSpPr>
        <p:spPr>
          <a:xfrm>
            <a:off x="594360" y="2258568"/>
            <a:ext cx="6126480" cy="329184"/>
          </a:xfrm>
          <a:prstGeom prst="roundRect">
            <a:avLst>
              <a:gd name="adj" fmla="val 27777"/>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295144"/>
            <a:ext cx="2834640" cy="256032"/>
          </a:xfrm>
          <a:prstGeom prst="rect">
            <a:avLst/>
          </a:prstGeom>
          <a:noFill/>
        </p:spPr>
        <p:txBody>
          <a:bodyPr wrap="square" lIns="0" rIns="0" tIns="0" bIns="0" anchor="ctr">
            <a:spAutoFit/>
          </a:bodyPr>
          <a:lstStyle/>
          <a:p>
            <a:pPr algn="l"/>
            <a:r>
              <a:rPr sz="1200" b="0">
                <a:solidFill>
                  <a:srgbClr val="282824"/>
                </a:solidFill>
                <a:latin typeface="Readex Pro"/>
                <a:cs typeface="Readex Pro"/>
                <a:ea typeface="Readex Pro"/>
              </a:rPr>
              <a:t>v0.1</a:t>
            </a:r>
          </a:p>
        </p:txBody>
      </p:sp>
      <p:sp>
        <p:nvSpPr>
          <p:cNvPr id="18" name="TextBox 17"/>
          <p:cNvSpPr txBox="1"/>
          <p:nvPr/>
        </p:nvSpPr>
        <p:spPr>
          <a:xfrm>
            <a:off x="3703320" y="2295144"/>
            <a:ext cx="1188720" cy="256032"/>
          </a:xfrm>
          <a:prstGeom prst="rect">
            <a:avLst/>
          </a:prstGeom>
          <a:noFill/>
        </p:spPr>
        <p:txBody>
          <a:bodyPr wrap="square" lIns="0" rIns="0" tIns="0" bIns="0" anchor="ctr">
            <a:spAutoFit/>
          </a:bodyPr>
          <a:lstStyle/>
          <a:p>
            <a:pPr algn="ctr"/>
            <a:r>
              <a:rPr sz="1200" b="1">
                <a:solidFill>
                  <a:srgbClr val="8A5E35"/>
                </a:solidFill>
                <a:latin typeface="Readex Pro"/>
                <a:cs typeface="Readex Pro"/>
                <a:ea typeface="Readex Pro"/>
              </a:rPr>
              <a:t>76%</a:t>
            </a:r>
          </a:p>
        </p:txBody>
      </p:sp>
      <p:sp>
        <p:nvSpPr>
          <p:cNvPr id="19" name="TextBox 18"/>
          <p:cNvSpPr txBox="1"/>
          <p:nvPr/>
        </p:nvSpPr>
        <p:spPr>
          <a:xfrm>
            <a:off x="5029200" y="2295144"/>
            <a:ext cx="1554480" cy="256032"/>
          </a:xfrm>
          <a:prstGeom prst="rect">
            <a:avLst/>
          </a:prstGeom>
          <a:noFill/>
        </p:spPr>
        <p:txBody>
          <a:bodyPr wrap="square" lIns="0" rIns="0" tIns="0" bIns="0" anchor="ctr">
            <a:spAutoFit/>
          </a:bodyPr>
          <a:lstStyle/>
          <a:p>
            <a:pPr algn="ctr"/>
            <a:r>
              <a:rPr sz="1200" b="1">
                <a:solidFill>
                  <a:srgbClr val="B5533C"/>
                </a:solidFill>
                <a:latin typeface="Readex Pro"/>
                <a:cs typeface="Readex Pro"/>
                <a:ea typeface="Readex Pro"/>
              </a:rPr>
              <a:t>0</a:t>
            </a:r>
          </a:p>
        </p:txBody>
      </p:sp>
      <p:sp>
        <p:nvSpPr>
          <p:cNvPr id="20" name="Rounded Rectangle 19"/>
          <p:cNvSpPr/>
          <p:nvPr/>
        </p:nvSpPr>
        <p:spPr>
          <a:xfrm>
            <a:off x="594360" y="2642615"/>
            <a:ext cx="6126480" cy="329184"/>
          </a:xfrm>
          <a:prstGeom prst="roundRect">
            <a:avLst>
              <a:gd name="adj" fmla="val 27777"/>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679191"/>
            <a:ext cx="2834640" cy="256032"/>
          </a:xfrm>
          <a:prstGeom prst="rect">
            <a:avLst/>
          </a:prstGeom>
          <a:noFill/>
        </p:spPr>
        <p:txBody>
          <a:bodyPr wrap="square" lIns="0" rIns="0" tIns="0" bIns="0" anchor="ctr">
            <a:spAutoFit/>
          </a:bodyPr>
          <a:lstStyle/>
          <a:p>
            <a:pPr algn="l"/>
            <a:r>
              <a:rPr sz="1200" b="0">
                <a:solidFill>
                  <a:srgbClr val="282824"/>
                </a:solidFill>
                <a:latin typeface="Readex Pro"/>
                <a:cs typeface="Readex Pro"/>
                <a:ea typeface="Readex Pro"/>
              </a:rPr>
              <a:t>v0.2 (AraT5v2)</a:t>
            </a:r>
          </a:p>
        </p:txBody>
      </p:sp>
      <p:sp>
        <p:nvSpPr>
          <p:cNvPr id="22" name="TextBox 21"/>
          <p:cNvSpPr txBox="1"/>
          <p:nvPr/>
        </p:nvSpPr>
        <p:spPr>
          <a:xfrm>
            <a:off x="3703320" y="2679191"/>
            <a:ext cx="1188720" cy="256032"/>
          </a:xfrm>
          <a:prstGeom prst="rect">
            <a:avLst/>
          </a:prstGeom>
          <a:noFill/>
        </p:spPr>
        <p:txBody>
          <a:bodyPr wrap="square" lIns="0" rIns="0" tIns="0" bIns="0" anchor="ctr">
            <a:spAutoFit/>
          </a:bodyPr>
          <a:lstStyle/>
          <a:p>
            <a:pPr algn="ctr"/>
            <a:r>
              <a:rPr sz="1200" b="1">
                <a:solidFill>
                  <a:srgbClr val="8A5E35"/>
                </a:solidFill>
                <a:latin typeface="Readex Pro"/>
                <a:cs typeface="Readex Pro"/>
                <a:ea typeface="Readex Pro"/>
              </a:rPr>
              <a:t>68%</a:t>
            </a:r>
          </a:p>
        </p:txBody>
      </p:sp>
      <p:sp>
        <p:nvSpPr>
          <p:cNvPr id="23" name="TextBox 22"/>
          <p:cNvSpPr txBox="1"/>
          <p:nvPr/>
        </p:nvSpPr>
        <p:spPr>
          <a:xfrm>
            <a:off x="5029200" y="2679191"/>
            <a:ext cx="1554480" cy="256032"/>
          </a:xfrm>
          <a:prstGeom prst="rect">
            <a:avLst/>
          </a:prstGeom>
          <a:noFill/>
        </p:spPr>
        <p:txBody>
          <a:bodyPr wrap="square" lIns="0" rIns="0" tIns="0" bIns="0" anchor="ctr">
            <a:spAutoFit/>
          </a:bodyPr>
          <a:lstStyle/>
          <a:p>
            <a:pPr algn="ctr"/>
            <a:r>
              <a:rPr sz="1200" b="1">
                <a:solidFill>
                  <a:srgbClr val="8A5E35"/>
                </a:solidFill>
                <a:latin typeface="Readex Pro"/>
                <a:cs typeface="Readex Pro"/>
                <a:ea typeface="Readex Pro"/>
              </a:rPr>
              <a:t>4.5</a:t>
            </a:r>
          </a:p>
        </p:txBody>
      </p:sp>
      <p:sp>
        <p:nvSpPr>
          <p:cNvPr id="24" name="Rounded Rectangle 23"/>
          <p:cNvSpPr/>
          <p:nvPr/>
        </p:nvSpPr>
        <p:spPr>
          <a:xfrm>
            <a:off x="594360" y="3026663"/>
            <a:ext cx="6126480" cy="329184"/>
          </a:xfrm>
          <a:prstGeom prst="roundRect">
            <a:avLst>
              <a:gd name="adj" fmla="val 27777"/>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3063239"/>
            <a:ext cx="2834640" cy="256032"/>
          </a:xfrm>
          <a:prstGeom prst="rect">
            <a:avLst/>
          </a:prstGeom>
          <a:noFill/>
        </p:spPr>
        <p:txBody>
          <a:bodyPr wrap="square" lIns="0" rIns="0" tIns="0" bIns="0" anchor="ctr">
            <a:spAutoFit/>
          </a:bodyPr>
          <a:lstStyle/>
          <a:p>
            <a:pPr algn="l"/>
            <a:r>
              <a:rPr sz="1200" b="0">
                <a:solidFill>
                  <a:srgbClr val="282824"/>
                </a:solidFill>
                <a:latin typeface="Readex Pro"/>
                <a:cs typeface="Readex Pro"/>
                <a:ea typeface="Readex Pro"/>
              </a:rPr>
              <a:t>v0.2-Fast (AraBART)</a:t>
            </a:r>
          </a:p>
        </p:txBody>
      </p:sp>
      <p:sp>
        <p:nvSpPr>
          <p:cNvPr id="26" name="TextBox 25"/>
          <p:cNvSpPr txBox="1"/>
          <p:nvPr/>
        </p:nvSpPr>
        <p:spPr>
          <a:xfrm>
            <a:off x="3703320" y="3063239"/>
            <a:ext cx="1188720" cy="256032"/>
          </a:xfrm>
          <a:prstGeom prst="rect">
            <a:avLst/>
          </a:prstGeom>
          <a:noFill/>
        </p:spPr>
        <p:txBody>
          <a:bodyPr wrap="square" lIns="0" rIns="0" tIns="0" bIns="0" anchor="ctr">
            <a:spAutoFit/>
          </a:bodyPr>
          <a:lstStyle/>
          <a:p>
            <a:pPr algn="ctr"/>
            <a:r>
              <a:rPr sz="1200" b="1">
                <a:solidFill>
                  <a:srgbClr val="8A5E35"/>
                </a:solidFill>
                <a:latin typeface="Readex Pro"/>
                <a:cs typeface="Readex Pro"/>
                <a:ea typeface="Readex Pro"/>
              </a:rPr>
              <a:t>51%</a:t>
            </a:r>
          </a:p>
        </p:txBody>
      </p:sp>
      <p:sp>
        <p:nvSpPr>
          <p:cNvPr id="27" name="TextBox 26"/>
          <p:cNvSpPr txBox="1"/>
          <p:nvPr/>
        </p:nvSpPr>
        <p:spPr>
          <a:xfrm>
            <a:off x="5029200" y="3063239"/>
            <a:ext cx="1554480" cy="256032"/>
          </a:xfrm>
          <a:prstGeom prst="rect">
            <a:avLst/>
          </a:prstGeom>
          <a:noFill/>
        </p:spPr>
        <p:txBody>
          <a:bodyPr wrap="square" lIns="0" rIns="0" tIns="0" bIns="0" anchor="ctr">
            <a:spAutoFit/>
          </a:bodyPr>
          <a:lstStyle/>
          <a:p>
            <a:pPr algn="ctr"/>
            <a:r>
              <a:rPr sz="1200" b="1">
                <a:solidFill>
                  <a:srgbClr val="8A5E35"/>
                </a:solidFill>
                <a:latin typeface="Readex Pro"/>
                <a:cs typeface="Readex Pro"/>
                <a:ea typeface="Readex Pro"/>
              </a:rPr>
              <a:t>4.9</a:t>
            </a:r>
          </a:p>
        </p:txBody>
      </p:sp>
      <p:sp>
        <p:nvSpPr>
          <p:cNvPr id="28" name="Rounded Rectangle 27"/>
          <p:cNvSpPr/>
          <p:nvPr/>
        </p:nvSpPr>
        <p:spPr>
          <a:xfrm>
            <a:off x="594360" y="3410711"/>
            <a:ext cx="6126480" cy="329184"/>
          </a:xfrm>
          <a:prstGeom prst="roundRect">
            <a:avLst>
              <a:gd name="adj" fmla="val 27777"/>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3447287"/>
            <a:ext cx="2834640" cy="256032"/>
          </a:xfrm>
          <a:prstGeom prst="rect">
            <a:avLst/>
          </a:prstGeom>
          <a:noFill/>
        </p:spPr>
        <p:txBody>
          <a:bodyPr wrap="square" lIns="0" rIns="0" tIns="0" bIns="0" anchor="ctr">
            <a:spAutoFit/>
          </a:bodyPr>
          <a:lstStyle/>
          <a:p>
            <a:pPr algn="l"/>
            <a:r>
              <a:rPr sz="1200" b="1">
                <a:solidFill>
                  <a:srgbClr val="282824"/>
                </a:solidFill>
                <a:latin typeface="Readex Pro"/>
                <a:cs typeface="Readex Pro"/>
                <a:ea typeface="Readex Pro"/>
              </a:rPr>
              <a:t>v0.3</a:t>
            </a:r>
          </a:p>
        </p:txBody>
      </p:sp>
      <p:sp>
        <p:nvSpPr>
          <p:cNvPr id="30" name="TextBox 29"/>
          <p:cNvSpPr txBox="1"/>
          <p:nvPr/>
        </p:nvSpPr>
        <p:spPr>
          <a:xfrm>
            <a:off x="3703320" y="3447287"/>
            <a:ext cx="1188720" cy="256032"/>
          </a:xfrm>
          <a:prstGeom prst="rect">
            <a:avLst/>
          </a:prstGeom>
          <a:noFill/>
        </p:spPr>
        <p:txBody>
          <a:bodyPr wrap="square" lIns="0" rIns="0" tIns="0" bIns="0" anchor="ctr">
            <a:spAutoFit/>
          </a:bodyPr>
          <a:lstStyle/>
          <a:p>
            <a:pPr algn="ctr"/>
            <a:r>
              <a:rPr sz="1200" b="1">
                <a:solidFill>
                  <a:srgbClr val="8A5E35"/>
                </a:solidFill>
                <a:latin typeface="Readex Pro"/>
                <a:cs typeface="Readex Pro"/>
                <a:ea typeface="Readex Pro"/>
              </a:rPr>
              <a:t>69%</a:t>
            </a:r>
          </a:p>
        </p:txBody>
      </p:sp>
      <p:sp>
        <p:nvSpPr>
          <p:cNvPr id="31" name="TextBox 30"/>
          <p:cNvSpPr txBox="1"/>
          <p:nvPr/>
        </p:nvSpPr>
        <p:spPr>
          <a:xfrm>
            <a:off x="5029200" y="3447287"/>
            <a:ext cx="1554480" cy="256032"/>
          </a:xfrm>
          <a:prstGeom prst="rect">
            <a:avLst/>
          </a:prstGeom>
          <a:noFill/>
        </p:spPr>
        <p:txBody>
          <a:bodyPr wrap="square" lIns="0" rIns="0" tIns="0" bIns="0" anchor="ctr">
            <a:spAutoFit/>
          </a:bodyPr>
          <a:lstStyle/>
          <a:p>
            <a:pPr algn="ctr"/>
            <a:r>
              <a:rPr sz="1200" b="1">
                <a:solidFill>
                  <a:srgbClr val="8A5E35"/>
                </a:solidFill>
                <a:latin typeface="Readex Pro"/>
                <a:cs typeface="Readex Pro"/>
                <a:ea typeface="Readex Pro"/>
              </a:rPr>
              <a:t>9.5</a:t>
            </a:r>
          </a:p>
        </p:txBody>
      </p:sp>
      <p:sp>
        <p:nvSpPr>
          <p:cNvPr id="32" name="TextBox 31"/>
          <p:cNvSpPr txBox="1"/>
          <p:nvPr/>
        </p:nvSpPr>
        <p:spPr>
          <a:xfrm>
            <a:off x="594360" y="3904488"/>
            <a:ext cx="6126480" cy="256032"/>
          </a:xfrm>
          <a:prstGeom prst="rect">
            <a:avLst/>
          </a:prstGeom>
          <a:noFill/>
        </p:spPr>
        <p:txBody>
          <a:bodyPr wrap="square" lIns="0" rIns="0" tIns="0" bIns="0" anchor="ctr">
            <a:spAutoFit/>
          </a:bodyPr>
          <a:lstStyle/>
          <a:p>
            <a:pPr algn="l"/>
            <a:r>
              <a:rPr sz="950" b="0">
                <a:solidFill>
                  <a:srgbClr val="6F6B5E"/>
                </a:solidFill>
                <a:latin typeface="Readex Pro"/>
                <a:cs typeface="Readex Pro"/>
                <a:ea typeface="Readex Pro"/>
              </a:rPr>
              <a:t>test core items, as trained · words cut = longest clause, before minus after</a:t>
            </a:r>
          </a:p>
        </p:txBody>
      </p:sp>
      <p:sp>
        <p:nvSpPr>
          <p:cNvPr id="33" name="Rounded Rectangle 32"/>
          <p:cNvSpPr/>
          <p:nvPr/>
        </p:nvSpPr>
        <p:spPr>
          <a:xfrm>
            <a:off x="6903720" y="1828800"/>
            <a:ext cx="2377440" cy="1554480"/>
          </a:xfrm>
          <a:prstGeom prst="roundRect">
            <a:avLst>
              <a:gd name="adj" fmla="val 7058"/>
            </a:avLst>
          </a:prstGeom>
          <a:solidFill>
            <a:srgbClr val="EEDDC7"/>
          </a:solidFill>
          <a:ln w="15875">
            <a:solidFill>
              <a:srgbClr val="C69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03720" y="1965960"/>
            <a:ext cx="2377440" cy="502920"/>
          </a:xfrm>
          <a:prstGeom prst="rect">
            <a:avLst/>
          </a:prstGeom>
          <a:noFill/>
        </p:spPr>
        <p:txBody>
          <a:bodyPr wrap="square" lIns="0" rIns="0" tIns="0" bIns="0" anchor="ctr">
            <a:spAutoFit/>
          </a:bodyPr>
          <a:lstStyle/>
          <a:p>
            <a:pPr algn="ctr"/>
            <a:r>
              <a:rPr sz="3600" b="1">
                <a:solidFill>
                  <a:srgbClr val="8A5E35"/>
                </a:solidFill>
                <a:latin typeface="Readex Pro"/>
                <a:cs typeface="Readex Pro"/>
                <a:ea typeface="Readex Pro"/>
              </a:rPr>
              <a:t>1,981</a:t>
            </a:r>
          </a:p>
        </p:txBody>
      </p:sp>
      <p:sp>
        <p:nvSpPr>
          <p:cNvPr id="35" name="TextBox 34"/>
          <p:cNvSpPr txBox="1"/>
          <p:nvPr/>
        </p:nvSpPr>
        <p:spPr>
          <a:xfrm>
            <a:off x="6903720" y="2514600"/>
            <a:ext cx="2377440" cy="274320"/>
          </a:xfrm>
          <a:prstGeom prst="rect">
            <a:avLst/>
          </a:prstGeom>
          <a:noFill/>
        </p:spPr>
        <p:txBody>
          <a:bodyPr wrap="square" lIns="0" rIns="0" tIns="0" bIns="0" anchor="ctr">
            <a:spAutoFit/>
          </a:bodyPr>
          <a:lstStyle/>
          <a:p>
            <a:pPr algn="ctr"/>
            <a:r>
              <a:rPr sz="1200" b="0">
                <a:solidFill>
                  <a:srgbClr val="4A4842"/>
                </a:solidFill>
                <a:latin typeface="Readex Pro"/>
                <a:cs typeface="Readex Pro"/>
                <a:ea typeface="Readex Pro"/>
              </a:rPr>
              <a:t>items, split by document</a:t>
            </a:r>
          </a:p>
        </p:txBody>
      </p:sp>
      <p:sp>
        <p:nvSpPr>
          <p:cNvPr id="36" name="TextBox 35"/>
          <p:cNvSpPr txBox="1"/>
          <p:nvPr/>
        </p:nvSpPr>
        <p:spPr>
          <a:xfrm>
            <a:off x="6903720" y="2788920"/>
            <a:ext cx="2377440" cy="256032"/>
          </a:xfrm>
          <a:prstGeom prst="rect">
            <a:avLst/>
          </a:prstGeom>
          <a:noFill/>
        </p:spPr>
        <p:txBody>
          <a:bodyPr wrap="square" lIns="0" rIns="0" tIns="0" bIns="0" anchor="ctr">
            <a:spAutoFit/>
          </a:bodyPr>
          <a:lstStyle/>
          <a:p>
            <a:pPr algn="ctr"/>
            <a:r>
              <a:rPr sz="1100" b="0">
                <a:solidFill>
                  <a:srgbClr val="6F6B5E"/>
                </a:solidFill>
                <a:latin typeface="Readex Pro"/>
                <a:cs typeface="Readex Pro"/>
                <a:ea typeface="Readex Pro"/>
              </a:rPr>
              <a:t>731 dev · 1,250 test</a:t>
            </a:r>
          </a:p>
        </p:txBody>
      </p:sp>
      <p:sp>
        <p:nvSpPr>
          <p:cNvPr id="37" name="TextBox 36"/>
          <p:cNvSpPr txBox="1"/>
          <p:nvPr/>
        </p:nvSpPr>
        <p:spPr>
          <a:xfrm>
            <a:off x="6903720" y="3063240"/>
            <a:ext cx="2377440" cy="274320"/>
          </a:xfrm>
          <a:prstGeom prst="rect">
            <a:avLst/>
          </a:prstGeom>
          <a:noFill/>
        </p:spPr>
        <p:txBody>
          <a:bodyPr wrap="square" lIns="0" rIns="0" tIns="0" bIns="0" anchor="ctr">
            <a:spAutoFit/>
          </a:bodyPr>
          <a:lstStyle/>
          <a:p>
            <a:pPr algn="ctr"/>
            <a:r>
              <a:rPr sz="1300" b="1">
                <a:solidFill>
                  <a:srgbClr val="8A5E35"/>
                </a:solidFill>
                <a:latin typeface="Readex Pro"/>
                <a:cs typeface="Readex Pro"/>
                <a:ea typeface="Readex Pro"/>
              </a:rPr>
              <a:t>BayanBench v2</a:t>
            </a:r>
          </a:p>
        </p:txBody>
      </p:sp>
      <p:sp>
        <p:nvSpPr>
          <p:cNvPr id="38" name="Rounded Rectangle 37"/>
          <p:cNvSpPr/>
          <p:nvPr/>
        </p:nvSpPr>
        <p:spPr>
          <a:xfrm>
            <a:off x="6903720" y="3611880"/>
            <a:ext cx="2377440" cy="310896"/>
          </a:xfrm>
          <a:prstGeom prst="roundRect">
            <a:avLst>
              <a:gd name="adj" fmla="val 50000"/>
            </a:avLst>
          </a:prstGeom>
          <a:solidFill>
            <a:srgbClr val="EFE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100" b="0">
                <a:solidFill>
                  <a:srgbClr val="4A4842"/>
                </a:solidFill>
                <a:latin typeface="Readex Pro"/>
                <a:cs typeface="Readex Pro"/>
                <a:ea typeface="Readex Pro"/>
              </a:rPr>
              <a:t>original + rewrite</a:t>
            </a:r>
          </a:p>
        </p:txBody>
      </p:sp>
      <p:sp>
        <p:nvSpPr>
          <p:cNvPr id="39" name="Rounded Rectangle 38"/>
          <p:cNvSpPr/>
          <p:nvPr/>
        </p:nvSpPr>
        <p:spPr>
          <a:xfrm>
            <a:off x="6903720" y="4023360"/>
            <a:ext cx="2377440" cy="777240"/>
          </a:xfrm>
          <a:prstGeom prst="roundRect">
            <a:avLst>
              <a:gd name="adj" fmla="val 14117"/>
            </a:avLst>
          </a:prstGeom>
          <a:solidFill>
            <a:srgbClr val="EEDDC7"/>
          </a:solidFill>
          <a:ln w="15875">
            <a:solidFill>
              <a:srgbClr val="C698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03720" y="4114800"/>
            <a:ext cx="2377440" cy="292608"/>
          </a:xfrm>
          <a:prstGeom prst="rect">
            <a:avLst/>
          </a:prstGeom>
          <a:noFill/>
        </p:spPr>
        <p:txBody>
          <a:bodyPr wrap="square" lIns="0" rIns="0" tIns="0" bIns="0" anchor="ctr">
            <a:spAutoFit/>
          </a:bodyPr>
          <a:lstStyle/>
          <a:p>
            <a:pPr algn="ctr"/>
            <a:r>
              <a:rPr sz="1400" b="1">
                <a:solidFill>
                  <a:srgbClr val="8A5E35"/>
                </a:solidFill>
                <a:latin typeface="Readex Pro"/>
                <a:cs typeface="Readex Pro"/>
                <a:ea typeface="Readex Pro"/>
              </a:rPr>
              <a:t>Gemma 4 31B</a:t>
            </a:r>
          </a:p>
        </p:txBody>
      </p:sp>
      <p:sp>
        <p:nvSpPr>
          <p:cNvPr id="41" name="TextBox 40"/>
          <p:cNvSpPr txBox="1"/>
          <p:nvPr/>
        </p:nvSpPr>
        <p:spPr>
          <a:xfrm>
            <a:off x="6903720" y="4434840"/>
            <a:ext cx="2377440" cy="256032"/>
          </a:xfrm>
          <a:prstGeom prst="rect">
            <a:avLst/>
          </a:prstGeom>
          <a:noFill/>
        </p:spPr>
        <p:txBody>
          <a:bodyPr wrap="square" lIns="0" rIns="0" tIns="0" bIns="0" anchor="ctr">
            <a:spAutoFit/>
          </a:bodyPr>
          <a:lstStyle/>
          <a:p>
            <a:pPr algn="ctr"/>
            <a:r>
              <a:rPr sz="950" b="0">
                <a:solidFill>
                  <a:srgbClr val="6F6B5E"/>
                </a:solidFill>
                <a:latin typeface="Readex Pro"/>
                <a:cs typeface="Readex Pro"/>
                <a:ea typeface="Readex Pro"/>
              </a:rPr>
              <a:t>open model · reruns anywhere</a:t>
            </a:r>
          </a:p>
        </p:txBody>
      </p:sp>
      <p:sp>
        <p:nvSpPr>
          <p:cNvPr id="42" name="Rounded Rectangle 41"/>
          <p:cNvSpPr/>
          <p:nvPr/>
        </p:nvSpPr>
        <p:spPr>
          <a:xfrm>
            <a:off x="6903720" y="4937760"/>
            <a:ext cx="2377440" cy="310896"/>
          </a:xfrm>
          <a:prstGeom prst="roundRect">
            <a:avLst>
              <a:gd name="adj" fmla="val 50000"/>
            </a:avLst>
          </a:prstGeom>
          <a:solidFill>
            <a:srgbClr val="EFE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100" b="0">
                <a:solidFill>
                  <a:srgbClr val="4A4842"/>
                </a:solidFill>
                <a:latin typeface="Readex Pro"/>
                <a:cs typeface="Readex Pro"/>
                <a:ea typeface="Readex Pro"/>
              </a:rPr>
              <a:t>7 yes/no → P(yes)</a:t>
            </a:r>
          </a:p>
        </p:txBody>
      </p:sp>
      <p:sp>
        <p:nvSpPr>
          <p:cNvPr id="43" name="Rounded Rectangle 42"/>
          <p:cNvSpPr/>
          <p:nvPr/>
        </p:nvSpPr>
        <p:spPr>
          <a:xfrm>
            <a:off x="594360" y="4160520"/>
            <a:ext cx="2926080" cy="1417320"/>
          </a:xfrm>
          <a:prstGeom prst="roundRect">
            <a:avLst>
              <a:gd name="adj" fmla="val 10322"/>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4224528"/>
            <a:ext cx="2743200" cy="274320"/>
          </a:xfrm>
          <a:prstGeom prst="rect">
            <a:avLst/>
          </a:prstGeom>
          <a:noFill/>
        </p:spPr>
        <p:txBody>
          <a:bodyPr wrap="square" lIns="0" rIns="0" tIns="0" bIns="0" anchor="ctr">
            <a:spAutoFit/>
          </a:bodyPr>
          <a:lstStyle/>
          <a:p>
            <a:pPr algn="ctr"/>
            <a:r>
              <a:rPr sz="1200" b="1">
                <a:solidFill>
                  <a:srgbClr val="8A5E35"/>
                </a:solidFill>
                <a:latin typeface="Readex Pro"/>
                <a:cs typeface="Readex Pro"/>
                <a:ea typeface="Readex Pro"/>
              </a:rPr>
              <a:t>Meaning · 4 questions</a:t>
            </a:r>
          </a:p>
        </p:txBody>
      </p:sp>
      <p:sp>
        <p:nvSpPr>
          <p:cNvPr id="45" name="TextBox 44"/>
          <p:cNvSpPr txBox="1"/>
          <p:nvPr/>
        </p:nvSpPr>
        <p:spPr>
          <a:xfrm>
            <a:off x="685800" y="4526280"/>
            <a:ext cx="2743200" cy="960120"/>
          </a:xfrm>
          <a:prstGeom prst="rect">
            <a:avLst/>
          </a:prstGeom>
          <a:noFill/>
        </p:spPr>
        <p:txBody>
          <a:bodyPr wrap="square" lIns="0" rIns="0" tIns="0" bIns="0" anchor="ctr">
            <a:spAutoFit/>
          </a:bodyPr>
          <a:lstStyle/>
          <a:p>
            <a:pPr algn="l">
              <a:lnSpc>
                <a:spcPct val="95000"/>
              </a:lnSpc>
            </a:pPr>
            <a:r>
              <a:rPr sz="1000" b="0">
                <a:solidFill>
                  <a:srgbClr val="4A4842"/>
                </a:solidFill>
                <a:latin typeface="Readex Pro"/>
                <a:cs typeface="Readex Pro"/>
                <a:ea typeface="Readex Pro"/>
              </a:rPr>
              <a:t>same meaning?  kept = yes ≥ 0.5</a:t>
            </a:r>
          </a:p>
          <a:p>
            <a:pPr algn="l">
              <a:lnSpc>
                <a:spcPct val="95000"/>
              </a:lnSpc>
            </a:pPr>
            <a:r>
              <a:rPr sz="1000" b="0">
                <a:solidFill>
                  <a:srgbClr val="4A4842"/>
                </a:solidFill>
                <a:latin typeface="Readex Pro"/>
                <a:cs typeface="Readex Pro"/>
                <a:ea typeface="Readex Pro"/>
              </a:rPr>
              <a:t>and every number kept</a:t>
            </a:r>
          </a:p>
          <a:p>
            <a:pPr algn="l">
              <a:lnSpc>
                <a:spcPct val="95000"/>
              </a:lnSpc>
            </a:pPr>
            <a:r>
              <a:rPr sz="1000" b="0">
                <a:solidFill>
                  <a:srgbClr val="4A4842"/>
                </a:solidFill>
                <a:latin typeface="Readex Pro"/>
                <a:cs typeface="Readex Pro"/>
                <a:ea typeface="Readex Pro"/>
              </a:rPr>
              <a:t>adds a fact?  drops a fact?</a:t>
            </a:r>
          </a:p>
          <a:p>
            <a:pPr algn="l">
              <a:lnSpc>
                <a:spcPct val="95000"/>
              </a:lnSpc>
            </a:pPr>
            <a:r>
              <a:rPr sz="1000" b="0">
                <a:solidFill>
                  <a:srgbClr val="4A4842"/>
                </a:solidFill>
                <a:latin typeface="Readex Pro"/>
                <a:cs typeface="Readex Pro"/>
                <a:ea typeface="Readex Pro"/>
              </a:rPr>
              <a:t>contradicts?</a:t>
            </a:r>
          </a:p>
        </p:txBody>
      </p:sp>
      <p:sp>
        <p:nvSpPr>
          <p:cNvPr id="46" name="Rounded Rectangle 45"/>
          <p:cNvSpPr/>
          <p:nvPr/>
        </p:nvSpPr>
        <p:spPr>
          <a:xfrm>
            <a:off x="3749040" y="4160520"/>
            <a:ext cx="2926080" cy="1417320"/>
          </a:xfrm>
          <a:prstGeom prst="roundRect">
            <a:avLst>
              <a:gd name="adj" fmla="val 10322"/>
            </a:avLst>
          </a:prstGeom>
          <a:solidFill>
            <a:srgbClr val="EFE9D9"/>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40480" y="4224528"/>
            <a:ext cx="2743200" cy="274320"/>
          </a:xfrm>
          <a:prstGeom prst="rect">
            <a:avLst/>
          </a:prstGeom>
          <a:noFill/>
        </p:spPr>
        <p:txBody>
          <a:bodyPr wrap="square" lIns="0" rIns="0" tIns="0" bIns="0" anchor="ctr">
            <a:spAutoFit/>
          </a:bodyPr>
          <a:lstStyle/>
          <a:p>
            <a:pPr algn="ctr"/>
            <a:r>
              <a:rPr sz="1200" b="1">
                <a:solidFill>
                  <a:srgbClr val="6F6B5E"/>
                </a:solidFill>
                <a:latin typeface="Readex Pro"/>
                <a:cs typeface="Readex Pro"/>
                <a:ea typeface="Readex Pro"/>
              </a:rPr>
              <a:t>Quality · 3, diagnostic</a:t>
            </a:r>
          </a:p>
        </p:txBody>
      </p:sp>
      <p:sp>
        <p:nvSpPr>
          <p:cNvPr id="48" name="TextBox 47"/>
          <p:cNvSpPr txBox="1"/>
          <p:nvPr/>
        </p:nvSpPr>
        <p:spPr>
          <a:xfrm>
            <a:off x="3840480" y="4526280"/>
            <a:ext cx="2743200" cy="960120"/>
          </a:xfrm>
          <a:prstGeom prst="rect">
            <a:avLst/>
          </a:prstGeom>
          <a:noFill/>
        </p:spPr>
        <p:txBody>
          <a:bodyPr wrap="square" lIns="0" rIns="0" tIns="0" bIns="0" anchor="ctr">
            <a:spAutoFit/>
          </a:bodyPr>
          <a:lstStyle/>
          <a:p>
            <a:pPr algn="l">
              <a:lnSpc>
                <a:spcPct val="95000"/>
              </a:lnSpc>
            </a:pPr>
            <a:r>
              <a:rPr sz="1000" b="0">
                <a:solidFill>
                  <a:srgbClr val="6F6B5E"/>
                </a:solidFill>
                <a:latin typeface="Readex Pro"/>
                <a:cs typeface="Readex Pro"/>
                <a:ea typeface="Readex Pro"/>
              </a:rPr>
              <a:t>Arabic correct?  coherent?</a:t>
            </a:r>
          </a:p>
          <a:p>
            <a:pPr algn="l">
              <a:lnSpc>
                <a:spcPct val="95000"/>
              </a:lnSpc>
            </a:pPr>
            <a:r>
              <a:rPr sz="1000" b="0">
                <a:solidFill>
                  <a:srgbClr val="6F6B5E"/>
                </a:solidFill>
                <a:latin typeface="Readex Pro"/>
                <a:cs typeface="Readex Pro"/>
                <a:ea typeface="Readex Pro"/>
              </a:rPr>
              <a:t>easier to read?</a:t>
            </a:r>
          </a:p>
          <a:p>
            <a:pPr algn="l">
              <a:lnSpc>
                <a:spcPct val="95000"/>
              </a:lnSpc>
            </a:pPr>
            <a:r>
              <a:rPr sz="1000" b="0">
                <a:solidFill>
                  <a:srgbClr val="6F6B5E"/>
                </a:solidFill>
                <a:latin typeface="Readex Pro"/>
                <a:cs typeface="Readex Pro"/>
                <a:ea typeface="Readex Pro"/>
              </a:rPr>
              <a:t>people barely agree: never</a:t>
            </a:r>
          </a:p>
          <a:p>
            <a:pPr algn="l">
              <a:lnSpc>
                <a:spcPct val="95000"/>
              </a:lnSpc>
            </a:pPr>
            <a:r>
              <a:rPr sz="1000" b="0">
                <a:solidFill>
                  <a:srgbClr val="6F6B5E"/>
                </a:solidFill>
                <a:latin typeface="Readex Pro"/>
                <a:cs typeface="Readex Pro"/>
                <a:ea typeface="Readex Pro"/>
              </a:rPr>
              <a:t>used to decide</a:t>
            </a:r>
          </a:p>
        </p:txBody>
      </p:sp>
      <p:sp>
        <p:nvSpPr>
          <p:cNvPr id="49" name="TextBox 48"/>
          <p:cNvSpPr txBox="1"/>
          <p:nvPr/>
        </p:nvSpPr>
        <p:spPr>
          <a:xfrm>
            <a:off x="594360" y="5806440"/>
            <a:ext cx="2194560" cy="365760"/>
          </a:xfrm>
          <a:prstGeom prst="rect">
            <a:avLst/>
          </a:prstGeom>
          <a:noFill/>
        </p:spPr>
        <p:txBody>
          <a:bodyPr wrap="square" lIns="0" rIns="0" tIns="0" bIns="0" anchor="ctr">
            <a:spAutoFit/>
          </a:bodyPr>
          <a:lstStyle/>
          <a:p>
            <a:pPr algn="ctr"/>
            <a:r>
              <a:rPr sz="2200" b="1">
                <a:solidFill>
                  <a:srgbClr val="C6986B"/>
                </a:solidFill>
                <a:latin typeface="Readex Pro"/>
                <a:cs typeface="Readex Pro"/>
                <a:ea typeface="Readex Pro"/>
              </a:rPr>
              <a:t>AUC 0.85</a:t>
            </a:r>
          </a:p>
        </p:txBody>
      </p:sp>
      <p:sp>
        <p:nvSpPr>
          <p:cNvPr id="50" name="TextBox 49"/>
          <p:cNvSpPr txBox="1"/>
          <p:nvPr/>
        </p:nvSpPr>
        <p:spPr>
          <a:xfrm>
            <a:off x="2880360" y="5806440"/>
            <a:ext cx="3840480" cy="365760"/>
          </a:xfrm>
          <a:prstGeom prst="rect">
            <a:avLst/>
          </a:prstGeom>
          <a:noFill/>
        </p:spPr>
        <p:txBody>
          <a:bodyPr wrap="square" lIns="0" rIns="0" tIns="0" bIns="0" anchor="ctr">
            <a:spAutoFit/>
          </a:bodyPr>
          <a:lstStyle/>
          <a:p>
            <a:pPr algn="l"/>
            <a:r>
              <a:rPr sz="1100" b="0">
                <a:solidFill>
                  <a:srgbClr val="4A4842"/>
                </a:solidFill>
                <a:latin typeface="Readex Pro"/>
                <a:cs typeface="Readex Pro"/>
                <a:ea typeface="Readex Pro"/>
              </a:rPr>
              <a:t>scorer vs 6 human raters</a:t>
            </a:r>
          </a:p>
          <a:p>
            <a:pPr algn="l"/>
            <a:r>
              <a:rPr sz="1100" b="0">
                <a:solidFill>
                  <a:srgbClr val="4A4842"/>
                </a:solidFill>
                <a:latin typeface="Readex Pro"/>
                <a:cs typeface="Readex Pro"/>
                <a:ea typeface="Readex Pro"/>
              </a:rPr>
              <a:t>290 tasks</a:t>
            </a:r>
          </a:p>
        </p:txBody>
      </p:sp>
      <p:sp>
        <p:nvSpPr>
          <p:cNvPr id="51" name="Rounded Rectangle 50"/>
          <p:cNvSpPr/>
          <p:nvPr/>
        </p:nvSpPr>
        <p:spPr>
          <a:xfrm>
            <a:off x="6903720" y="5806440"/>
            <a:ext cx="2377440" cy="365760"/>
          </a:xfrm>
          <a:prstGeom prst="roundRect">
            <a:avLst>
              <a:gd name="adj" fmla="val 44999"/>
            </a:avLst>
          </a:prstGeom>
          <a:solidFill>
            <a:srgbClr val="EFE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000" b="0">
                <a:solidFill>
                  <a:srgbClr val="4A4842"/>
                </a:solidFill>
                <a:latin typeface="Readex Pro"/>
                <a:cs typeface="Readex Pro"/>
                <a:ea typeface="Readex Pro"/>
              </a:rPr>
              <a:t>reader with dyslexia: 17 easier / 9 same / 4 harder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6" presetID="10" presetClass="entr" presetSubtype="0" fill="hold" grpId="0" nodeType="withEffect">
                                  <p:stCondLst>
                                    <p:cond delay="40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9" presetID="10" presetClass="entr" presetSubtype="0" fill="hold" grpId="0" nodeType="withEffect">
                                  <p:stCondLst>
                                    <p:cond delay="52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22" presetID="10" presetClass="entr" presetSubtype="0" fill="hold" grpId="0" nodeType="withEffect">
                                  <p:stCondLst>
                                    <p:cond delay="64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5" presetID="10" presetClass="entr" presetSubtype="0" fill="hold" grpId="0" nodeType="withEffect">
                                  <p:stCondLst>
                                    <p:cond delay="76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8" presetID="10" presetClass="entr" presetSubtype="0" fill="hold" grpId="0" nodeType="withEffect">
                                  <p:stCondLst>
                                    <p:cond delay="88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31" presetID="10" presetClass="entr" presetSubtype="0" fill="hold" grpId="0" nodeType="withEffect">
                                  <p:stCondLst>
                                    <p:cond delay="100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4" presetID="10" presetClass="entr" presetSubtype="0" fill="hold" grpId="0" nodeType="withEffect">
                                  <p:stCondLst>
                                    <p:cond delay="112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7" presetID="10" presetClass="entr" presetSubtype="0" fill="hold" grpId="0" nodeType="withEffect">
                                  <p:stCondLst>
                                    <p:cond delay="124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40" presetID="10" presetClass="entr" presetSubtype="0" fill="hold" grpId="0" nodeType="withEffect">
                                  <p:stCondLst>
                                    <p:cond delay="136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3" presetID="10" presetClass="entr" presetSubtype="0" fill="hold" grpId="0" nodeType="withEffect">
                                  <p:stCondLst>
                                    <p:cond delay="148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6" presetID="10" presetClass="entr" presetSubtype="0" fill="hold" grpId="0" nodeType="withEffect">
                                  <p:stCondLst>
                                    <p:cond delay="160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9" presetID="10" presetClass="entr" presetSubtype="0" fill="hold" grpId="0" nodeType="withEffect">
                                  <p:stCondLst>
                                    <p:cond delay="172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52" presetID="10" presetClass="entr" presetSubtype="0" fill="hold" grpId="0" nodeType="withEffect">
                                  <p:stCondLst>
                                    <p:cond delay="184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5" presetID="10" presetClass="entr" presetSubtype="0" fill="hold" grpId="0" nodeType="withEffect">
                                  <p:stCondLst>
                                    <p:cond delay="196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8" presetID="10" presetClass="entr" presetSubtype="0" fill="hold" grpId="0" nodeType="withEffect">
                                  <p:stCondLst>
                                    <p:cond delay="208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par>
                                <p:cTn id="61" presetID="10" presetClass="entr" presetSubtype="0" fill="hold" grpId="0" nodeType="withEffect">
                                  <p:stCondLst>
                                    <p:cond delay="220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par>
                                <p:cTn id="64" presetID="10" presetClass="entr" presetSubtype="0" fill="hold" grpId="0" nodeType="withEffect">
                                  <p:stCondLst>
                                    <p:cond delay="232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par>
                                <p:cTn id="67" presetID="10" presetClass="entr" presetSubtype="0" fill="hold" grpId="0" nodeType="withEffect">
                                  <p:stCondLst>
                                    <p:cond delay="244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500"/>
                                        <p:tgtEl>
                                          <p:spTgt spid="29"/>
                                        </p:tgtEl>
                                      </p:cBhvr>
                                    </p:animEffect>
                                  </p:childTnLst>
                                </p:cTn>
                              </p:par>
                              <p:par>
                                <p:cTn id="70" presetID="10" presetClass="entr" presetSubtype="0" fill="hold" grpId="0" nodeType="withEffect">
                                  <p:stCondLst>
                                    <p:cond delay="256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par>
                                <p:cTn id="73" presetID="10" presetClass="entr" presetSubtype="0" fill="hold" grpId="0" nodeType="withEffect">
                                  <p:stCondLst>
                                    <p:cond delay="268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500"/>
                                        <p:tgtEl>
                                          <p:spTgt spid="31"/>
                                        </p:tgtEl>
                                      </p:cBhvr>
                                    </p:animEffect>
                                  </p:childTnLst>
                                </p:cTn>
                              </p:par>
                              <p:par>
                                <p:cTn id="76" presetID="10" presetClass="entr" presetSubtype="0" fill="hold" grpId="0" nodeType="withEffect">
                                  <p:stCondLst>
                                    <p:cond delay="110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500"/>
                                        <p:tgtEl>
                                          <p:spTgt spid="32"/>
                                        </p:tgtEl>
                                      </p:cBhvr>
                                    </p:animEffect>
                                  </p:childTnLst>
                                </p:cTn>
                              </p:par>
                            </p:childTnLst>
                          </p:cTn>
                        </p:par>
                      </p:childTnLst>
                    </p:cTn>
                  </p:par>
                  <p:par>
                    <p:cTn id="77" fill="hold">
                      <p:stCondLst>
                        <p:cond delay="indefinite"/>
                      </p:stCondLst>
                      <p:childTnLst>
                        <p:par>
                          <p:cTn id="78" fill="hold">
                            <p:stCondLst>
                              <p:cond delay="0"/>
                            </p:stCondLst>
                            <p:childTnLst>
                              <p:par>
                                <p:cTn id="81" presetID="10" presetClass="entr" presetSubtype="0" fill="hold" grpId="0" nodeType="click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500"/>
                                        <p:tgtEl>
                                          <p:spTgt spid="33"/>
                                        </p:tgtEl>
                                      </p:cBhvr>
                                    </p:animEffect>
                                  </p:childTnLst>
                                </p:cTn>
                              </p:par>
                              <p:par>
                                <p:cTn id="84" presetID="10" presetClass="entr" presetSubtype="0" fill="hold" grpId="0" nodeType="withEffect">
                                  <p:stCondLst>
                                    <p:cond delay="200"/>
                                  </p:stCondLst>
                                  <p:childTnLst>
                                    <p:set>
                                      <p:cBhvr>
                                        <p:cTn id="82" dur="1" fill="hold">
                                          <p:stCondLst>
                                            <p:cond delay="0"/>
                                          </p:stCondLst>
                                        </p:cTn>
                                        <p:tgtEl>
                                          <p:spTgt spid="34"/>
                                        </p:tgtEl>
                                        <p:attrNameLst>
                                          <p:attrName>style.visibility</p:attrName>
                                        </p:attrNameLst>
                                      </p:cBhvr>
                                      <p:to>
                                        <p:strVal val="visible"/>
                                      </p:to>
                                    </p:set>
                                    <p:animEffect transition="in" filter="fade">
                                      <p:cBhvr>
                                        <p:cTn id="83" dur="500"/>
                                        <p:tgtEl>
                                          <p:spTgt spid="34"/>
                                        </p:tgtEl>
                                      </p:cBhvr>
                                    </p:animEffect>
                                  </p:childTnLst>
                                </p:cTn>
                              </p:par>
                              <p:par>
                                <p:cTn id="87" presetID="10" presetClass="entr" presetSubtype="0" fill="hold" grpId="0" nodeType="withEffect">
                                  <p:stCondLst>
                                    <p:cond delay="35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500"/>
                                        <p:tgtEl>
                                          <p:spTgt spid="35"/>
                                        </p:tgtEl>
                                      </p:cBhvr>
                                    </p:animEffect>
                                  </p:childTnLst>
                                </p:cTn>
                              </p:par>
                              <p:par>
                                <p:cTn id="90" presetID="10" presetClass="entr" presetSubtype="0" fill="hold" grpId="0" nodeType="withEffect">
                                  <p:stCondLst>
                                    <p:cond delay="50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500"/>
                                        <p:tgtEl>
                                          <p:spTgt spid="36"/>
                                        </p:tgtEl>
                                      </p:cBhvr>
                                    </p:animEffect>
                                  </p:childTnLst>
                                </p:cTn>
                              </p:par>
                              <p:par>
                                <p:cTn id="93" presetID="10" presetClass="entr" presetSubtype="0" fill="hold" grpId="0" nodeType="withEffect">
                                  <p:stCondLst>
                                    <p:cond delay="650"/>
                                  </p:stCondLst>
                                  <p:childTnLst>
                                    <p:set>
                                      <p:cBhvr>
                                        <p:cTn id="91" dur="1" fill="hold">
                                          <p:stCondLst>
                                            <p:cond delay="0"/>
                                          </p:stCondLst>
                                        </p:cTn>
                                        <p:tgtEl>
                                          <p:spTgt spid="37"/>
                                        </p:tgtEl>
                                        <p:attrNameLst>
                                          <p:attrName>style.visibility</p:attrName>
                                        </p:attrNameLst>
                                      </p:cBhvr>
                                      <p:to>
                                        <p:strVal val="visible"/>
                                      </p:to>
                                    </p:set>
                                    <p:animEffect transition="in" filter="fade">
                                      <p:cBhvr>
                                        <p:cTn id="92" dur="500"/>
                                        <p:tgtEl>
                                          <p:spTgt spid="37"/>
                                        </p:tgtEl>
                                      </p:cBhvr>
                                    </p:animEffect>
                                  </p:childTnLst>
                                </p:cTn>
                              </p:par>
                            </p:childTnLst>
                          </p:cTn>
                        </p:par>
                      </p:childTnLst>
                    </p:cTn>
                  </p:par>
                  <p:par>
                    <p:cTn id="94" fill="hold">
                      <p:stCondLst>
                        <p:cond delay="indefinite"/>
                      </p:stCondLst>
                      <p:childTnLst>
                        <p:par>
                          <p:cTn id="95" fill="hold">
                            <p:stCondLst>
                              <p:cond delay="0"/>
                            </p:stCondLst>
                            <p:childTnLst>
                              <p:par>
                                <p:cTn id="98" presetID="10" presetClass="entr" presetSubtype="0" fill="hold" grpId="0" nodeType="clickEffect">
                                  <p:stCondLst>
                                    <p:cond delay="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500"/>
                                        <p:tgtEl>
                                          <p:spTgt spid="38"/>
                                        </p:tgtEl>
                                      </p:cBhvr>
                                    </p:animEffect>
                                  </p:childTnLst>
                                </p:cTn>
                              </p:par>
                              <p:par>
                                <p:cTn id="101" presetID="10" presetClass="entr" presetSubtype="0" fill="hold" grpId="0" nodeType="withEffect">
                                  <p:stCondLst>
                                    <p:cond delay="200"/>
                                  </p:stCondLst>
                                  <p:childTnLst>
                                    <p:set>
                                      <p:cBhvr>
                                        <p:cTn id="99" dur="1" fill="hold">
                                          <p:stCondLst>
                                            <p:cond delay="0"/>
                                          </p:stCondLst>
                                        </p:cTn>
                                        <p:tgtEl>
                                          <p:spTgt spid="39"/>
                                        </p:tgtEl>
                                        <p:attrNameLst>
                                          <p:attrName>style.visibility</p:attrName>
                                        </p:attrNameLst>
                                      </p:cBhvr>
                                      <p:to>
                                        <p:strVal val="visible"/>
                                      </p:to>
                                    </p:set>
                                    <p:animEffect transition="in" filter="fade">
                                      <p:cBhvr>
                                        <p:cTn id="100" dur="500"/>
                                        <p:tgtEl>
                                          <p:spTgt spid="39"/>
                                        </p:tgtEl>
                                      </p:cBhvr>
                                    </p:animEffect>
                                  </p:childTnLst>
                                </p:cTn>
                              </p:par>
                              <p:par>
                                <p:cTn id="104" presetID="10" presetClass="entr" presetSubtype="0" fill="hold" grpId="0" nodeType="withEffect">
                                  <p:stCondLst>
                                    <p:cond delay="300"/>
                                  </p:stCondLst>
                                  <p:childTnLst>
                                    <p:set>
                                      <p:cBhvr>
                                        <p:cTn id="102" dur="1" fill="hold">
                                          <p:stCondLst>
                                            <p:cond delay="0"/>
                                          </p:stCondLst>
                                        </p:cTn>
                                        <p:tgtEl>
                                          <p:spTgt spid="40"/>
                                        </p:tgtEl>
                                        <p:attrNameLst>
                                          <p:attrName>style.visibility</p:attrName>
                                        </p:attrNameLst>
                                      </p:cBhvr>
                                      <p:to>
                                        <p:strVal val="visible"/>
                                      </p:to>
                                    </p:set>
                                    <p:animEffect transition="in" filter="fade">
                                      <p:cBhvr>
                                        <p:cTn id="103" dur="500"/>
                                        <p:tgtEl>
                                          <p:spTgt spid="40"/>
                                        </p:tgtEl>
                                      </p:cBhvr>
                                    </p:animEffect>
                                  </p:childTnLst>
                                </p:cTn>
                              </p:par>
                              <p:par>
                                <p:cTn id="107" presetID="10" presetClass="entr" presetSubtype="0" fill="hold" grpId="0" nodeType="withEffect">
                                  <p:stCondLst>
                                    <p:cond delay="400"/>
                                  </p:stCondLst>
                                  <p:childTnLst>
                                    <p:set>
                                      <p:cBhvr>
                                        <p:cTn id="105" dur="1" fill="hold">
                                          <p:stCondLst>
                                            <p:cond delay="0"/>
                                          </p:stCondLst>
                                        </p:cTn>
                                        <p:tgtEl>
                                          <p:spTgt spid="41"/>
                                        </p:tgtEl>
                                        <p:attrNameLst>
                                          <p:attrName>style.visibility</p:attrName>
                                        </p:attrNameLst>
                                      </p:cBhvr>
                                      <p:to>
                                        <p:strVal val="visible"/>
                                      </p:to>
                                    </p:set>
                                    <p:animEffect transition="in" filter="fade">
                                      <p:cBhvr>
                                        <p:cTn id="106" dur="500"/>
                                        <p:tgtEl>
                                          <p:spTgt spid="41"/>
                                        </p:tgtEl>
                                      </p:cBhvr>
                                    </p:animEffect>
                                  </p:childTnLst>
                                </p:cTn>
                              </p:par>
                              <p:par>
                                <p:cTn id="110" presetID="10" presetClass="entr" presetSubtype="0" fill="hold" grpId="0" nodeType="withEffect">
                                  <p:stCondLst>
                                    <p:cond delay="500"/>
                                  </p:stCondLst>
                                  <p:childTnLst>
                                    <p:set>
                                      <p:cBhvr>
                                        <p:cTn id="108" dur="1" fill="hold">
                                          <p:stCondLst>
                                            <p:cond delay="0"/>
                                          </p:stCondLst>
                                        </p:cTn>
                                        <p:tgtEl>
                                          <p:spTgt spid="42"/>
                                        </p:tgtEl>
                                        <p:attrNameLst>
                                          <p:attrName>style.visibility</p:attrName>
                                        </p:attrNameLst>
                                      </p:cBhvr>
                                      <p:to>
                                        <p:strVal val="visible"/>
                                      </p:to>
                                    </p:set>
                                    <p:animEffect transition="in" filter="fade">
                                      <p:cBhvr>
                                        <p:cTn id="109" dur="500"/>
                                        <p:tgtEl>
                                          <p:spTgt spid="42"/>
                                        </p:tgtEl>
                                      </p:cBhvr>
                                    </p:animEffect>
                                  </p:childTnLst>
                                </p:cTn>
                              </p:par>
                              <p:par>
                                <p:cTn id="113" presetID="10" presetClass="entr" presetSubtype="0" fill="hold" grpId="0" nodeType="withEffect">
                                  <p:stCondLst>
                                    <p:cond delay="70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2" dur="500"/>
                                        <p:tgtEl>
                                          <p:spTgt spid="43"/>
                                        </p:tgtEl>
                                      </p:cBhvr>
                                    </p:animEffect>
                                  </p:childTnLst>
                                </p:cTn>
                              </p:par>
                              <p:par>
                                <p:cTn id="116" presetID="10" presetClass="entr" presetSubtype="0" fill="hold" grpId="0" nodeType="withEffect">
                                  <p:stCondLst>
                                    <p:cond delay="800"/>
                                  </p:stCondLst>
                                  <p:childTnLst>
                                    <p:set>
                                      <p:cBhvr>
                                        <p:cTn id="114" dur="1" fill="hold">
                                          <p:stCondLst>
                                            <p:cond delay="0"/>
                                          </p:stCondLst>
                                        </p:cTn>
                                        <p:tgtEl>
                                          <p:spTgt spid="44"/>
                                        </p:tgtEl>
                                        <p:attrNameLst>
                                          <p:attrName>style.visibility</p:attrName>
                                        </p:attrNameLst>
                                      </p:cBhvr>
                                      <p:to>
                                        <p:strVal val="visible"/>
                                      </p:to>
                                    </p:set>
                                    <p:animEffect transition="in" filter="fade">
                                      <p:cBhvr>
                                        <p:cTn id="115" dur="500"/>
                                        <p:tgtEl>
                                          <p:spTgt spid="44"/>
                                        </p:tgtEl>
                                      </p:cBhvr>
                                    </p:animEffect>
                                  </p:childTnLst>
                                </p:cTn>
                              </p:par>
                              <p:par>
                                <p:cTn id="119" presetID="10" presetClass="entr" presetSubtype="0" fill="hold" grpId="0" nodeType="withEffect">
                                  <p:stCondLst>
                                    <p:cond delay="900"/>
                                  </p:stCondLst>
                                  <p:childTnLst>
                                    <p:set>
                                      <p:cBhvr>
                                        <p:cTn id="117" dur="1" fill="hold">
                                          <p:stCondLst>
                                            <p:cond delay="0"/>
                                          </p:stCondLst>
                                        </p:cTn>
                                        <p:tgtEl>
                                          <p:spTgt spid="45"/>
                                        </p:tgtEl>
                                        <p:attrNameLst>
                                          <p:attrName>style.visibility</p:attrName>
                                        </p:attrNameLst>
                                      </p:cBhvr>
                                      <p:to>
                                        <p:strVal val="visible"/>
                                      </p:to>
                                    </p:set>
                                    <p:animEffect transition="in" filter="fade">
                                      <p:cBhvr>
                                        <p:cTn id="118" dur="500"/>
                                        <p:tgtEl>
                                          <p:spTgt spid="45"/>
                                        </p:tgtEl>
                                      </p:cBhvr>
                                    </p:animEffect>
                                  </p:childTnLst>
                                </p:cTn>
                              </p:par>
                              <p:par>
                                <p:cTn id="122" presetID="10" presetClass="entr" presetSubtype="0" fill="hold" grpId="0" nodeType="withEffect">
                                  <p:stCondLst>
                                    <p:cond delay="1000"/>
                                  </p:stCondLst>
                                  <p:childTnLst>
                                    <p:set>
                                      <p:cBhvr>
                                        <p:cTn id="120" dur="1" fill="hold">
                                          <p:stCondLst>
                                            <p:cond delay="0"/>
                                          </p:stCondLst>
                                        </p:cTn>
                                        <p:tgtEl>
                                          <p:spTgt spid="46"/>
                                        </p:tgtEl>
                                        <p:attrNameLst>
                                          <p:attrName>style.visibility</p:attrName>
                                        </p:attrNameLst>
                                      </p:cBhvr>
                                      <p:to>
                                        <p:strVal val="visible"/>
                                      </p:to>
                                    </p:set>
                                    <p:animEffect transition="in" filter="fade">
                                      <p:cBhvr>
                                        <p:cTn id="121" dur="500"/>
                                        <p:tgtEl>
                                          <p:spTgt spid="46"/>
                                        </p:tgtEl>
                                      </p:cBhvr>
                                    </p:animEffect>
                                  </p:childTnLst>
                                </p:cTn>
                              </p:par>
                              <p:par>
                                <p:cTn id="125" presetID="10" presetClass="entr" presetSubtype="0" fill="hold" grpId="0" nodeType="withEffect">
                                  <p:stCondLst>
                                    <p:cond delay="1100"/>
                                  </p:stCondLst>
                                  <p:childTnLst>
                                    <p:set>
                                      <p:cBhvr>
                                        <p:cTn id="123" dur="1" fill="hold">
                                          <p:stCondLst>
                                            <p:cond delay="0"/>
                                          </p:stCondLst>
                                        </p:cTn>
                                        <p:tgtEl>
                                          <p:spTgt spid="47"/>
                                        </p:tgtEl>
                                        <p:attrNameLst>
                                          <p:attrName>style.visibility</p:attrName>
                                        </p:attrNameLst>
                                      </p:cBhvr>
                                      <p:to>
                                        <p:strVal val="visible"/>
                                      </p:to>
                                    </p:set>
                                    <p:animEffect transition="in" filter="fade">
                                      <p:cBhvr>
                                        <p:cTn id="124" dur="500"/>
                                        <p:tgtEl>
                                          <p:spTgt spid="47"/>
                                        </p:tgtEl>
                                      </p:cBhvr>
                                    </p:animEffect>
                                  </p:childTnLst>
                                </p:cTn>
                              </p:par>
                              <p:par>
                                <p:cTn id="128" presetID="10" presetClass="entr" presetSubtype="0" fill="hold" grpId="0" nodeType="withEffect">
                                  <p:stCondLst>
                                    <p:cond delay="1200"/>
                                  </p:stCondLst>
                                  <p:childTnLst>
                                    <p:set>
                                      <p:cBhvr>
                                        <p:cTn id="126" dur="1" fill="hold">
                                          <p:stCondLst>
                                            <p:cond delay="0"/>
                                          </p:stCondLst>
                                        </p:cTn>
                                        <p:tgtEl>
                                          <p:spTgt spid="48"/>
                                        </p:tgtEl>
                                        <p:attrNameLst>
                                          <p:attrName>style.visibility</p:attrName>
                                        </p:attrNameLst>
                                      </p:cBhvr>
                                      <p:to>
                                        <p:strVal val="visible"/>
                                      </p:to>
                                    </p:set>
                                    <p:animEffect transition="in" filter="fade">
                                      <p:cBhvr>
                                        <p:cTn id="127" dur="500"/>
                                        <p:tgtEl>
                                          <p:spTgt spid="48"/>
                                        </p:tgtEl>
                                      </p:cBhvr>
                                    </p:animEffect>
                                  </p:childTnLst>
                                </p:cTn>
                              </p:par>
                            </p:childTnLst>
                          </p:cTn>
                        </p:par>
                      </p:childTnLst>
                    </p:cTn>
                  </p:par>
                  <p:par>
                    <p:cTn id="129" fill="hold">
                      <p:stCondLst>
                        <p:cond delay="indefinite"/>
                      </p:stCondLst>
                      <p:childTnLst>
                        <p:par>
                          <p:cTn id="130" fill="hold">
                            <p:stCondLst>
                              <p:cond delay="0"/>
                            </p:stCondLst>
                            <p:childTnLst>
                              <p:par>
                                <p:cTn id="133" presetID="10" presetClass="entr" presetSubtype="0" fill="hold" grpId="0" nodeType="clickEffect">
                                  <p:stCondLst>
                                    <p:cond delay="0"/>
                                  </p:stCondLst>
                                  <p:childTnLst>
                                    <p:set>
                                      <p:cBhvr>
                                        <p:cTn id="131" dur="1" fill="hold">
                                          <p:stCondLst>
                                            <p:cond delay="0"/>
                                          </p:stCondLst>
                                        </p:cTn>
                                        <p:tgtEl>
                                          <p:spTgt spid="49"/>
                                        </p:tgtEl>
                                        <p:attrNameLst>
                                          <p:attrName>style.visibility</p:attrName>
                                        </p:attrNameLst>
                                      </p:cBhvr>
                                      <p:to>
                                        <p:strVal val="visible"/>
                                      </p:to>
                                    </p:set>
                                    <p:animEffect transition="in" filter="fade">
                                      <p:cBhvr>
                                        <p:cTn id="132" dur="500"/>
                                        <p:tgtEl>
                                          <p:spTgt spid="49"/>
                                        </p:tgtEl>
                                      </p:cBhvr>
                                    </p:animEffect>
                                  </p:childTnLst>
                                </p:cTn>
                              </p:par>
                              <p:par>
                                <p:cTn id="136" presetID="10" presetClass="entr" presetSubtype="0" fill="hold" grpId="0" nodeType="withEffect">
                                  <p:stCondLst>
                                    <p:cond delay="250"/>
                                  </p:stCondLst>
                                  <p:childTnLst>
                                    <p:set>
                                      <p:cBhvr>
                                        <p:cTn id="134" dur="1" fill="hold">
                                          <p:stCondLst>
                                            <p:cond delay="0"/>
                                          </p:stCondLst>
                                        </p:cTn>
                                        <p:tgtEl>
                                          <p:spTgt spid="50"/>
                                        </p:tgtEl>
                                        <p:attrNameLst>
                                          <p:attrName>style.visibility</p:attrName>
                                        </p:attrNameLst>
                                      </p:cBhvr>
                                      <p:to>
                                        <p:strVal val="visible"/>
                                      </p:to>
                                    </p:set>
                                    <p:animEffect transition="in" filter="fade">
                                      <p:cBhvr>
                                        <p:cTn id="135" dur="500"/>
                                        <p:tgtEl>
                                          <p:spTgt spid="50"/>
                                        </p:tgtEl>
                                      </p:cBhvr>
                                    </p:animEffect>
                                  </p:childTnLst>
                                </p:cTn>
                              </p:par>
                              <p:par>
                                <p:cTn id="139" presetID="10" presetClass="entr" presetSubtype="0" fill="hold" grpId="0" nodeType="withEffect">
                                  <p:stCondLst>
                                    <p:cond delay="500"/>
                                  </p:stCondLst>
                                  <p:childTnLst>
                                    <p:set>
                                      <p:cBhvr>
                                        <p:cTn id="137" dur="1" fill="hold">
                                          <p:stCondLst>
                                            <p:cond delay="0"/>
                                          </p:stCondLst>
                                        </p:cTn>
                                        <p:tgtEl>
                                          <p:spTgt spid="51"/>
                                        </p:tgtEl>
                                        <p:attrNameLst>
                                          <p:attrName>style.visibility</p:attrName>
                                        </p:attrNameLst>
                                      </p:cBhvr>
                                      <p:to>
                                        <p:strVal val="visible"/>
                                      </p:to>
                                    </p:set>
                                    <p:animEffect transition="in" filter="fade">
                                      <p:cBhvr>
                                        <p:cTn id="138"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9902952" cy="6858000"/>
          </a:xfrm>
          <a:prstGeom prst="rect">
            <a:avLst/>
          </a:prstGeom>
          <a:solidFill>
            <a:srgbClr val="F6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54864" cy="219456"/>
          </a:xfrm>
          <a:prstGeom prst="rect">
            <a:avLst/>
          </a:prstGeom>
          <a:solidFill>
            <a:srgbClr val="C69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457200"/>
            <a:ext cx="4572000" cy="310896"/>
          </a:xfrm>
          <a:prstGeom prst="rect">
            <a:avLst/>
          </a:prstGeom>
          <a:noFill/>
        </p:spPr>
        <p:txBody>
          <a:bodyPr wrap="square" lIns="0" rIns="0" tIns="0" bIns="0" anchor="ctr">
            <a:spAutoFit/>
          </a:bodyPr>
          <a:lstStyle/>
          <a:p>
            <a:pPr algn="l"/>
            <a:r>
              <a:rPr sz="1100" b="1">
                <a:solidFill>
                  <a:srgbClr val="C6986B"/>
                </a:solidFill>
                <a:latin typeface="Readex Pro"/>
                <a:cs typeface="Readex Pro"/>
                <a:ea typeface="Readex Pro"/>
              </a:rPr>
              <a:t>05 · RESULTS</a:t>
            </a:r>
          </a:p>
        </p:txBody>
      </p:sp>
      <p:sp>
        <p:nvSpPr>
          <p:cNvPr id="5" name="TextBox 4"/>
          <p:cNvSpPr txBox="1"/>
          <p:nvPr/>
        </p:nvSpPr>
        <p:spPr>
          <a:xfrm>
            <a:off x="594360" y="822960"/>
            <a:ext cx="8714232" cy="548640"/>
          </a:xfrm>
          <a:prstGeom prst="rect">
            <a:avLst/>
          </a:prstGeom>
          <a:noFill/>
        </p:spPr>
        <p:txBody>
          <a:bodyPr wrap="square" lIns="0" rIns="0" tIns="0" bIns="0" anchor="ctr">
            <a:spAutoFit/>
          </a:bodyPr>
          <a:lstStyle/>
          <a:p>
            <a:pPr algn="l"/>
            <a:r>
              <a:rPr sz="2800" b="1">
                <a:solidFill>
                  <a:srgbClr val="282824"/>
                </a:solidFill>
                <a:latin typeface="Readex Pro"/>
                <a:cs typeface="Readex Pro"/>
                <a:ea typeface="Readex Pro"/>
              </a:rPr>
              <a:t>v0.3 is our best model</a:t>
            </a:r>
          </a:p>
        </p:txBody>
      </p:sp>
      <p:pic>
        <p:nvPicPr>
          <p:cNvPr id="6" name="Samsung logo" descr="Samsung"/>
          <p:cNvPicPr>
            <a:picLocks noChangeAspect="1"/>
          </p:cNvPicPr>
          <p:nvPr/>
        </p:nvPicPr>
        <p:blipFill>
          <a:blip r:embed="rId2"/>
          <a:stretch>
            <a:fillRect/>
          </a:stretch>
        </p:blipFill>
        <p:spPr>
          <a:xfrm>
            <a:off x="594360" y="6327648"/>
            <a:ext cx="1051560" cy="161677"/>
          </a:xfrm>
          <a:prstGeom prst="rect">
            <a:avLst/>
          </a:prstGeom>
        </p:spPr>
      </p:pic>
      <p:sp>
        <p:nvSpPr>
          <p:cNvPr id="7" name="TextBox 6"/>
          <p:cNvSpPr txBox="1"/>
          <p:nvPr/>
        </p:nvSpPr>
        <p:spPr>
          <a:xfrm>
            <a:off x="1828800" y="6281928"/>
            <a:ext cx="4114800" cy="274320"/>
          </a:xfrm>
          <a:prstGeom prst="rect">
            <a:avLst/>
          </a:prstGeom>
          <a:noFill/>
        </p:spPr>
        <p:txBody>
          <a:bodyPr wrap="square" lIns="0" rIns="0" tIns="0" bIns="0" anchor="ctr">
            <a:spAutoFit/>
          </a:bodyPr>
          <a:lstStyle/>
          <a:p>
            <a:pPr algn="l"/>
            <a:r>
              <a:rPr sz="1000" b="0">
                <a:solidFill>
                  <a:srgbClr val="6F6B5E"/>
                </a:solidFill>
                <a:latin typeface="Readex Pro"/>
                <a:cs typeface="Readex Pro"/>
                <a:ea typeface="Readex Pro"/>
              </a:rPr>
              <a:t>Samsung Innovation Campus  ·  AI Course</a:t>
            </a:r>
          </a:p>
        </p:txBody>
      </p:sp>
      <p:sp>
        <p:nvSpPr>
          <p:cNvPr id="8" name="TextBox 7"/>
          <p:cNvSpPr txBox="1"/>
          <p:nvPr/>
        </p:nvSpPr>
        <p:spPr>
          <a:xfrm>
            <a:off x="8394192" y="6281928"/>
            <a:ext cx="914400" cy="274320"/>
          </a:xfrm>
          <a:prstGeom prst="rect">
            <a:avLst/>
          </a:prstGeom>
          <a:noFill/>
        </p:spPr>
        <p:txBody>
          <a:bodyPr wrap="square" lIns="0" rIns="0" tIns="0" bIns="0" anchor="ctr">
            <a:spAutoFit/>
          </a:bodyPr>
          <a:lstStyle/>
          <a:p>
            <a:pPr algn="r"/>
            <a:r>
              <a:rPr sz="1000" b="0">
                <a:solidFill>
                  <a:srgbClr val="6F6B5E"/>
                </a:solidFill>
                <a:latin typeface="Readex Pro"/>
                <a:cs typeface="Readex Pro"/>
                <a:ea typeface="Readex Pro"/>
              </a:rPr>
              <a:t>6 / 8</a:t>
            </a:r>
          </a:p>
        </p:txBody>
      </p:sp>
      <p:cxnSp>
        <p:nvCxnSpPr>
          <p:cNvPr id="9" name="Connector 8"/>
          <p:cNvCxnSpPr/>
          <p:nvPr/>
        </p:nvCxnSpPr>
        <p:spPr>
          <a:xfrm>
            <a:off x="822960" y="4892040"/>
            <a:ext cx="4572000" cy="0"/>
          </a:xfrm>
          <a:prstGeom prst="line">
            <a:avLst/>
          </a:prstGeom>
          <a:ln w="19050">
            <a:solidFill>
              <a:srgbClr val="A29D8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22960" y="1508760"/>
            <a:ext cx="0" cy="3383280"/>
          </a:xfrm>
          <a:prstGeom prst="line">
            <a:avLst/>
          </a:prstGeom>
          <a:ln w="19050">
            <a:solidFill>
              <a:srgbClr val="A29D8C"/>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22960" y="5001768"/>
            <a:ext cx="4572000" cy="228600"/>
          </a:xfrm>
          <a:prstGeom prst="rect">
            <a:avLst/>
          </a:prstGeom>
          <a:noFill/>
        </p:spPr>
        <p:txBody>
          <a:bodyPr wrap="square" lIns="0" rIns="0" tIns="0" bIns="0" anchor="ctr">
            <a:spAutoFit/>
          </a:bodyPr>
          <a:lstStyle/>
          <a:p>
            <a:pPr algn="ctr"/>
            <a:r>
              <a:rPr sz="1100" b="0">
                <a:solidFill>
                  <a:srgbClr val="6F6B5E"/>
                </a:solidFill>
                <a:latin typeface="Readex Pro"/>
                <a:cs typeface="Readex Pro"/>
                <a:ea typeface="Readex Pro"/>
              </a:rPr>
              <a:t>meaning kept (%)  →</a:t>
            </a:r>
          </a:p>
        </p:txBody>
      </p:sp>
      <p:sp>
        <p:nvSpPr>
          <p:cNvPr id="12" name="TextBox 11"/>
          <p:cNvSpPr txBox="1"/>
          <p:nvPr/>
        </p:nvSpPr>
        <p:spPr>
          <a:xfrm>
            <a:off x="182880" y="3017520"/>
            <a:ext cx="1280160" cy="365760"/>
          </a:xfrm>
          <a:prstGeom prst="rect">
            <a:avLst/>
          </a:prstGeom>
          <a:noFill/>
        </p:spPr>
        <p:txBody>
          <a:bodyPr wrap="square" lIns="0" rIns="0" tIns="0" bIns="0" anchor="ctr">
            <a:spAutoFit/>
          </a:bodyPr>
          <a:lstStyle/>
          <a:p>
            <a:pPr algn="ctr"/>
            <a:r>
              <a:rPr sz="1100" b="0">
                <a:solidFill>
                  <a:srgbClr val="6F6B5E"/>
                </a:solidFill>
                <a:latin typeface="Readex Pro"/>
                <a:cs typeface="Readex Pro"/>
                <a:ea typeface="Readex Pro"/>
              </a:rPr>
              <a:t>clause words</a:t>
            </a:r>
          </a:p>
          <a:p>
            <a:pPr algn="ctr"/>
            <a:r>
              <a:rPr sz="1100" b="0">
                <a:solidFill>
                  <a:srgbClr val="6F6B5E"/>
                </a:solidFill>
                <a:latin typeface="Readex Pro"/>
                <a:cs typeface="Readex Pro"/>
                <a:ea typeface="Readex Pro"/>
              </a:rPr>
              <a:t>shorter  →</a:t>
            </a:r>
          </a:p>
        </p:txBody>
      </p:sp>
      <p:sp>
        <p:nvSpPr>
          <p:cNvPr id="13" name="Oval 12"/>
          <p:cNvSpPr/>
          <p:nvPr/>
        </p:nvSpPr>
        <p:spPr>
          <a:xfrm>
            <a:off x="4967804" y="4565903"/>
            <a:ext cx="201168" cy="201168"/>
          </a:xfrm>
          <a:prstGeom prst="ellipse">
            <a:avLst/>
          </a:prstGeom>
          <a:solidFill>
            <a:srgbClr val="A29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57016" y="3844137"/>
            <a:ext cx="201168" cy="201168"/>
          </a:xfrm>
          <a:prstGeom prst="ellipse">
            <a:avLst/>
          </a:prstGeom>
          <a:solidFill>
            <a:srgbClr val="8A5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40280" y="4091025"/>
            <a:ext cx="1371600" cy="228600"/>
          </a:xfrm>
          <a:prstGeom prst="rect">
            <a:avLst/>
          </a:prstGeom>
          <a:noFill/>
        </p:spPr>
        <p:txBody>
          <a:bodyPr wrap="square" lIns="0" rIns="0" tIns="0" bIns="0" anchor="ctr">
            <a:spAutoFit/>
          </a:bodyPr>
          <a:lstStyle/>
          <a:p>
            <a:pPr algn="ctr"/>
            <a:r>
              <a:rPr sz="1000" b="0">
                <a:solidFill>
                  <a:srgbClr val="4A4842"/>
                </a:solidFill>
                <a:latin typeface="Readex Pro"/>
                <a:cs typeface="Readex Pro"/>
                <a:ea typeface="Readex Pro"/>
              </a:rPr>
              <a:t>app-arat5 (today)</a:t>
            </a:r>
          </a:p>
        </p:txBody>
      </p:sp>
      <p:sp>
        <p:nvSpPr>
          <p:cNvPr id="16" name="Oval 15"/>
          <p:cNvSpPr/>
          <p:nvPr/>
        </p:nvSpPr>
        <p:spPr>
          <a:xfrm>
            <a:off x="3517827" y="2941929"/>
            <a:ext cx="201168" cy="201168"/>
          </a:xfrm>
          <a:prstGeom prst="ellipse">
            <a:avLst/>
          </a:prstGeom>
          <a:solidFill>
            <a:srgbClr val="6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518518" y="1994611"/>
            <a:ext cx="201168" cy="201168"/>
          </a:xfrm>
          <a:prstGeom prst="ellipse">
            <a:avLst/>
          </a:prstGeom>
          <a:solidFill>
            <a:srgbClr val="6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009067" y="2761487"/>
            <a:ext cx="201168" cy="201168"/>
          </a:xfrm>
          <a:prstGeom prst="ellipse">
            <a:avLst/>
          </a:prstGeom>
          <a:solidFill>
            <a:srgbClr val="8A5E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2331" y="2569463"/>
            <a:ext cx="1371600" cy="228600"/>
          </a:xfrm>
          <a:prstGeom prst="rect">
            <a:avLst/>
          </a:prstGeom>
          <a:noFill/>
        </p:spPr>
        <p:txBody>
          <a:bodyPr wrap="square" lIns="0" rIns="0" tIns="0" bIns="0" anchor="ctr">
            <a:spAutoFit/>
          </a:bodyPr>
          <a:lstStyle/>
          <a:p>
            <a:pPr algn="ctr"/>
            <a:r>
              <a:rPr sz="1000" b="0">
                <a:solidFill>
                  <a:srgbClr val="4A4842"/>
                </a:solidFill>
                <a:latin typeface="Readex Pro"/>
                <a:cs typeface="Readex Pro"/>
                <a:ea typeface="Readex Pro"/>
              </a:rPr>
              <a:t>app-arabart</a:t>
            </a:r>
          </a:p>
        </p:txBody>
      </p:sp>
      <p:sp>
        <p:nvSpPr>
          <p:cNvPr id="20" name="Oval 19"/>
          <p:cNvSpPr/>
          <p:nvPr/>
        </p:nvSpPr>
        <p:spPr>
          <a:xfrm>
            <a:off x="2067850" y="2941929"/>
            <a:ext cx="201168" cy="201168"/>
          </a:xfrm>
          <a:prstGeom prst="ellipse">
            <a:avLst/>
          </a:prstGeom>
          <a:solidFill>
            <a:srgbClr val="6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73044" y="1859279"/>
            <a:ext cx="201168" cy="201168"/>
          </a:xfrm>
          <a:prstGeom prst="ellipse">
            <a:avLst/>
          </a:prstGeom>
          <a:solidFill>
            <a:srgbClr val="6F6B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820885" y="2228697"/>
            <a:ext cx="274320" cy="274320"/>
          </a:xfrm>
          <a:prstGeom prst="ellipse">
            <a:avLst/>
          </a:prstGeom>
          <a:solidFill>
            <a:srgbClr val="B553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40725" y="2073249"/>
            <a:ext cx="1371600" cy="228600"/>
          </a:xfrm>
          <a:prstGeom prst="rect">
            <a:avLst/>
          </a:prstGeom>
          <a:noFill/>
        </p:spPr>
        <p:txBody>
          <a:bodyPr wrap="square" lIns="0" rIns="0" tIns="0" bIns="0" anchor="ctr">
            <a:spAutoFit/>
          </a:bodyPr>
          <a:lstStyle/>
          <a:p>
            <a:pPr algn="ctr"/>
            <a:r>
              <a:rPr sz="1000" b="1">
                <a:solidFill>
                  <a:srgbClr val="B5533C"/>
                </a:solidFill>
                <a:latin typeface="Readex Pro"/>
                <a:cs typeface="Readex Pro"/>
                <a:ea typeface="Readex Pro"/>
              </a:rPr>
              <a:t>model 3 + net</a:t>
            </a:r>
          </a:p>
        </p:txBody>
      </p:sp>
      <p:sp>
        <p:nvSpPr>
          <p:cNvPr id="24" name="TextBox 23"/>
          <p:cNvSpPr txBox="1"/>
          <p:nvPr/>
        </p:nvSpPr>
        <p:spPr>
          <a:xfrm>
            <a:off x="822960" y="5276088"/>
            <a:ext cx="4572000" cy="228600"/>
          </a:xfrm>
          <a:prstGeom prst="rect">
            <a:avLst/>
          </a:prstGeom>
          <a:noFill/>
        </p:spPr>
        <p:txBody>
          <a:bodyPr wrap="square" lIns="0" rIns="0" tIns="0" bIns="0" anchor="ctr">
            <a:spAutoFit/>
          </a:bodyPr>
          <a:lstStyle/>
          <a:p>
            <a:pPr algn="l"/>
            <a:r>
              <a:rPr sz="950" b="0">
                <a:solidFill>
                  <a:srgbClr val="6F6B5E"/>
                </a:solidFill>
                <a:latin typeface="Readex Pro"/>
                <a:cs typeface="Readex Pro"/>
                <a:ea typeface="Readex Pro"/>
              </a:rPr>
              <a:t>BayanBench v2 · test core · as trained</a:t>
            </a:r>
          </a:p>
        </p:txBody>
      </p:sp>
      <p:sp>
        <p:nvSpPr>
          <p:cNvPr id="25" name="Rounded Rectangle 24"/>
          <p:cNvSpPr/>
          <p:nvPr/>
        </p:nvSpPr>
        <p:spPr>
          <a:xfrm>
            <a:off x="5806440" y="1508760"/>
            <a:ext cx="3520440" cy="502920"/>
          </a:xfrm>
          <a:prstGeom prst="roundRect">
            <a:avLst>
              <a:gd name="adj" fmla="val 32727"/>
            </a:avLst>
          </a:prstGeom>
          <a:solidFill>
            <a:srgbClr val="EFE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100" b="0">
                <a:solidFill>
                  <a:srgbClr val="4A4842"/>
                </a:solidFill>
                <a:latin typeface="Readex Pro"/>
                <a:cs typeface="Readex Pro"/>
                <a:ea typeface="Readex Pro"/>
              </a:rPr>
              <a:t>the more it simplifies,</a:t>
            </a:r>
          </a:p>
          <a:p>
            <a:pPr algn="ctr"/>
            <a:r>
              <a:rPr sz="1100" b="0">
                <a:solidFill>
                  <a:srgbClr val="4A4842"/>
                </a:solidFill>
                <a:latin typeface="Readex Pro"/>
                <a:cs typeface="Readex Pro"/>
                <a:ea typeface="Readex Pro"/>
              </a:rPr>
              <a:t>the less meaning it keeps</a:t>
            </a:r>
          </a:p>
        </p:txBody>
      </p:sp>
      <p:sp>
        <p:nvSpPr>
          <p:cNvPr id="26" name="Rounded Rectangle 25"/>
          <p:cNvSpPr/>
          <p:nvPr/>
        </p:nvSpPr>
        <p:spPr>
          <a:xfrm>
            <a:off x="5806440" y="2148840"/>
            <a:ext cx="3520440" cy="502920"/>
          </a:xfrm>
          <a:prstGeom prst="roundRect">
            <a:avLst>
              <a:gd name="adj" fmla="val 32727"/>
            </a:avLst>
          </a:prstGeom>
          <a:solidFill>
            <a:srgbClr val="C698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200" b="1">
                <a:solidFill>
                  <a:srgbClr val="1A1A14"/>
                </a:solidFill>
                <a:latin typeface="Readex Pro"/>
                <a:cs typeface="Readex Pro"/>
                <a:ea typeface="Readex Pro"/>
              </a:rPr>
              <a:t>v0.3 keeps 82% meaning</a:t>
            </a:r>
          </a:p>
          <a:p>
            <a:pPr algn="ctr"/>
            <a:r>
              <a:rPr sz="1200" b="1">
                <a:solidFill>
                  <a:srgbClr val="1A1A14"/>
                </a:solidFill>
                <a:latin typeface="Readex Pro"/>
                <a:cs typeface="Readex Pro"/>
                <a:ea typeface="Readex Pro"/>
              </a:rPr>
              <a:t>and cuts 5.2 words</a:t>
            </a:r>
          </a:p>
        </p:txBody>
      </p:sp>
      <p:sp>
        <p:nvSpPr>
          <p:cNvPr id="27" name="Rounded Rectangle 26"/>
          <p:cNvSpPr/>
          <p:nvPr/>
        </p:nvSpPr>
        <p:spPr>
          <a:xfrm>
            <a:off x="5806440" y="2788920"/>
            <a:ext cx="3520440" cy="502920"/>
          </a:xfrm>
          <a:prstGeom prst="roundRect">
            <a:avLst>
              <a:gd name="adj" fmla="val 32727"/>
            </a:avLst>
          </a:prstGeom>
          <a:solidFill>
            <a:srgbClr val="EFE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100" b="0">
                <a:solidFill>
                  <a:srgbClr val="4A4842"/>
                </a:solidFill>
                <a:latin typeface="Readex Pro"/>
                <a:cs typeface="Readex Pro"/>
                <a:ea typeface="Readex Pro"/>
              </a:rPr>
              <a:t>the app's large model,</a:t>
            </a:r>
          </a:p>
          <a:p>
            <a:pPr algn="ctr"/>
            <a:r>
              <a:rPr sz="1100" b="0">
                <a:solidFill>
                  <a:srgbClr val="4A4842"/>
                </a:solidFill>
                <a:latin typeface="Readex Pro"/>
                <a:cs typeface="Readex Pro"/>
                <a:ea typeface="Readex Pro"/>
              </a:rPr>
              <a:t>four beams + safety net</a:t>
            </a:r>
          </a:p>
        </p:txBody>
      </p:sp>
      <p:sp>
        <p:nvSpPr>
          <p:cNvPr id="28" name="TextBox 27"/>
          <p:cNvSpPr txBox="1"/>
          <p:nvPr/>
        </p:nvSpPr>
        <p:spPr>
          <a:xfrm>
            <a:off x="594360" y="5074920"/>
            <a:ext cx="8714232" cy="256032"/>
          </a:xfrm>
          <a:prstGeom prst="rect">
            <a:avLst/>
          </a:prstGeom>
          <a:noFill/>
        </p:spPr>
        <p:txBody>
          <a:bodyPr wrap="square" lIns="0" rIns="0" tIns="0" bIns="0" anchor="ctr">
            <a:spAutoFit/>
          </a:bodyPr>
          <a:lstStyle/>
          <a:p>
            <a:pPr algn="l"/>
            <a:r>
              <a:rPr sz="1100" b="0">
                <a:solidFill>
                  <a:srgbClr val="6F6B5E"/>
                </a:solidFill>
                <a:latin typeface="Readex Pro"/>
                <a:cs typeface="Readex Pro"/>
                <a:ea typeface="Readex Pro"/>
              </a:rPr>
              <a:t>In the app: v0.3 minus v0.2, same text step · 95% intervals</a:t>
            </a:r>
          </a:p>
        </p:txBody>
      </p:sp>
      <p:sp>
        <p:nvSpPr>
          <p:cNvPr id="29" name="Rounded Rectangle 28"/>
          <p:cNvSpPr/>
          <p:nvPr/>
        </p:nvSpPr>
        <p:spPr>
          <a:xfrm>
            <a:off x="594360" y="5394960"/>
            <a:ext cx="6217920" cy="256032"/>
          </a:xfrm>
          <a:prstGeom prst="roundRect">
            <a:avLst>
              <a:gd name="adj" fmla="val 50000"/>
            </a:avLst>
          </a:prstGeom>
          <a:solidFill>
            <a:srgbClr val="EED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050" b="0">
                <a:solidFill>
                  <a:srgbClr val="8A5E35"/>
                </a:solidFill>
                <a:latin typeface="Readex Pro"/>
                <a:cs typeface="Readex Pro"/>
                <a:ea typeface="Readex Pro"/>
              </a:rPr>
              <a:t>+3.4 words cut from the longest clause</a:t>
            </a:r>
          </a:p>
        </p:txBody>
      </p:sp>
      <p:sp>
        <p:nvSpPr>
          <p:cNvPr id="30" name="Rounded Rectangle 29"/>
          <p:cNvSpPr/>
          <p:nvPr/>
        </p:nvSpPr>
        <p:spPr>
          <a:xfrm>
            <a:off x="594360" y="5687568"/>
            <a:ext cx="6217920" cy="256032"/>
          </a:xfrm>
          <a:prstGeom prst="roundRect">
            <a:avLst>
              <a:gd name="adj" fmla="val 50000"/>
            </a:avLst>
          </a:prstGeom>
          <a:solidFill>
            <a:srgbClr val="EED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050" b="0">
                <a:solidFill>
                  <a:srgbClr val="8A5E35"/>
                </a:solidFill>
                <a:latin typeface="Readex Pro"/>
                <a:cs typeface="Readex Pro"/>
                <a:ea typeface="Readex Pro"/>
              </a:rPr>
              <a:t>+0.24 hard words removed</a:t>
            </a:r>
          </a:p>
        </p:txBody>
      </p:sp>
      <p:sp>
        <p:nvSpPr>
          <p:cNvPr id="31" name="Rounded Rectangle 30"/>
          <p:cNvSpPr/>
          <p:nvPr/>
        </p:nvSpPr>
        <p:spPr>
          <a:xfrm>
            <a:off x="594360" y="5980176"/>
            <a:ext cx="6217920" cy="256032"/>
          </a:xfrm>
          <a:prstGeom prst="roundRect">
            <a:avLst>
              <a:gd name="adj" fmla="val 50000"/>
            </a:avLst>
          </a:prstGeom>
          <a:solidFill>
            <a:srgbClr val="EED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050" b="0">
                <a:solidFill>
                  <a:srgbClr val="8A5E35"/>
                </a:solidFill>
                <a:latin typeface="Readex Pro"/>
                <a:cs typeface="Readex Pro"/>
                <a:ea typeface="Readex Pro"/>
              </a:rPr>
              <a:t>-3 points meaning kept · not significant</a:t>
            </a:r>
          </a:p>
        </p:txBody>
      </p:sp>
      <p:sp>
        <p:nvSpPr>
          <p:cNvPr id="32" name="Rounded Rectangle 31"/>
          <p:cNvSpPr/>
          <p:nvPr/>
        </p:nvSpPr>
        <p:spPr>
          <a:xfrm>
            <a:off x="594360" y="6272784"/>
            <a:ext cx="6217920" cy="256032"/>
          </a:xfrm>
          <a:prstGeom prst="roundRect">
            <a:avLst>
              <a:gd name="adj" fmla="val 50000"/>
            </a:avLst>
          </a:prstGeom>
          <a:solidFill>
            <a:srgbClr val="EED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050" b="0">
                <a:solidFill>
                  <a:srgbClr val="8A5E35"/>
                </a:solidFill>
                <a:latin typeface="Readex Pro"/>
                <a:cs typeface="Readex Pro"/>
                <a:ea typeface="Readex Pro"/>
              </a:rPr>
              <a:t>+18 points more easy text unchanged · every number kept</a:t>
            </a:r>
          </a:p>
        </p:txBody>
      </p:sp>
      <p:sp>
        <p:nvSpPr>
          <p:cNvPr id="33" name="TextBox 32"/>
          <p:cNvSpPr txBox="1"/>
          <p:nvPr/>
        </p:nvSpPr>
        <p:spPr>
          <a:xfrm>
            <a:off x="594360" y="5989320"/>
            <a:ext cx="8714232" cy="256032"/>
          </a:xfrm>
          <a:prstGeom prst="rect">
            <a:avLst/>
          </a:prstGeom>
          <a:noFill/>
        </p:spPr>
        <p:txBody>
          <a:bodyPr wrap="square" lIns="0" rIns="0" tIns="0" bIns="0" anchor="ctr">
            <a:spAutoFit/>
          </a:bodyPr>
          <a:lstStyle/>
          <a:p>
            <a:pPr algn="ctr"/>
            <a:r>
              <a:rPr sz="1100" b="1">
                <a:solidFill>
                  <a:srgbClr val="282824"/>
                </a:solidFill>
                <a:latin typeface="Readex Pro"/>
                <a:cs typeface="Readex Pro"/>
                <a:ea typeface="Readex Pro"/>
              </a:rPr>
              <a:t>Blind rating, 18 sentences: v0.3 easier on 86% of changed outputs (v0.2 60%) · 8 of 8 votes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10" presetID="10"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6" presetID="10" presetClass="entr" presetSubtype="0" fill="hold" grpId="0" nodeType="withEffect">
                                  <p:stCondLst>
                                    <p:cond delay="20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9" presetID="10" presetClass="entr" presetSubtype="0" fill="hold" grpId="0" nodeType="withEffect">
                                  <p:stCondLst>
                                    <p:cond delay="50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22" presetID="10" presetClass="entr" presetSubtype="0" fill="hold" grpId="0" nodeType="withEffect">
                                  <p:stCondLst>
                                    <p:cond delay="65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5" presetID="10" presetClass="entr" presetSubtype="0" fill="hold" grpId="0" nodeType="withEffect">
                                  <p:stCondLst>
                                    <p:cond delay="80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8" presetID="10" presetClass="entr" presetSubtype="0" fill="hold" grpId="0" nodeType="withEffect">
                                  <p:stCondLst>
                                    <p:cond delay="95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31" presetID="10" presetClass="entr" presetSubtype="0" fill="hold" grpId="0" nodeType="withEffect">
                                  <p:stCondLst>
                                    <p:cond delay="110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4" presetID="10" presetClass="entr" presetSubtype="0" fill="hold" grpId="0" nodeType="withEffect">
                                  <p:stCondLst>
                                    <p:cond delay="125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7" presetID="10" presetClass="entr" presetSubtype="0" fill="hold" grpId="0" nodeType="withEffect">
                                  <p:stCondLst>
                                    <p:cond delay="140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40" presetID="10" presetClass="entr" presetSubtype="0" fill="hold" grpId="0" nodeType="withEffect">
                                  <p:stCondLst>
                                    <p:cond delay="155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3" presetID="10" presetClass="entr" presetSubtype="0" fill="hold" grpId="0" nodeType="withEffect">
                                  <p:stCondLst>
                                    <p:cond delay="170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par>
                                <p:cTn id="46" presetID="10" presetClass="entr" presetSubtype="0" fill="hold" grpId="0" nodeType="withEffect">
                                  <p:stCondLst>
                                    <p:cond delay="185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9" presetID="10" presetClass="entr" presetSubtype="0" fill="hold" grpId="0" nodeType="withEffect">
                                  <p:stCondLst>
                                    <p:cond delay="200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52" presetID="10" presetClass="entr" presetSubtype="0" fill="hold" grpId="0" nodeType="withEffect">
                                  <p:stCondLst>
                                    <p:cond delay="140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childTnLst>
                          </p:cTn>
                        </p:par>
                      </p:childTnLst>
                    </p:cTn>
                  </p:par>
                  <p:par>
                    <p:cTn id="53" fill="hold">
                      <p:stCondLst>
                        <p:cond delay="indefinite"/>
                      </p:stCondLst>
                      <p:childTnLst>
                        <p:par>
                          <p:cTn id="54" fill="hold">
                            <p:stCondLst>
                              <p:cond delay="0"/>
                            </p:stCondLst>
                            <p:childTnLst>
                              <p:par>
                                <p:cTn id="57" presetID="10" presetClass="entr" presetSubtype="0" fill="hold" grpId="0" nodeType="click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fade">
                                      <p:cBhvr>
                                        <p:cTn id="56" dur="500"/>
                                        <p:tgtEl>
                                          <p:spTgt spid="25"/>
                                        </p:tgtEl>
                                      </p:cBhvr>
                                    </p:animEffect>
                                  </p:childTnLst>
                                </p:cTn>
                              </p:par>
                              <p:par>
                                <p:cTn id="60" presetID="10" presetClass="entr" presetSubtype="0" fill="hold" grpId="0" nodeType="withEffect">
                                  <p:stCondLst>
                                    <p:cond delay="200"/>
                                  </p:stCondLst>
                                  <p:childTnLst>
                                    <p:set>
                                      <p:cBhvr>
                                        <p:cTn id="58" dur="1" fill="hold">
                                          <p:stCondLst>
                                            <p:cond delay="0"/>
                                          </p:stCondLst>
                                        </p:cTn>
                                        <p:tgtEl>
                                          <p:spTgt spid="26"/>
                                        </p:tgtEl>
                                        <p:attrNameLst>
                                          <p:attrName>style.visibility</p:attrName>
                                        </p:attrNameLst>
                                      </p:cBhvr>
                                      <p:to>
                                        <p:strVal val="visible"/>
                                      </p:to>
                                    </p:set>
                                    <p:animEffect transition="in" filter="fade">
                                      <p:cBhvr>
                                        <p:cTn id="59" dur="500"/>
                                        <p:tgtEl>
                                          <p:spTgt spid="26"/>
                                        </p:tgtEl>
                                      </p:cBhvr>
                                    </p:animEffect>
                                  </p:childTnLst>
                                </p:cTn>
                              </p:par>
                              <p:par>
                                <p:cTn id="63" presetID="10" presetClass="entr" presetSubtype="0" fill="hold" grpId="0" nodeType="withEffect">
                                  <p:stCondLst>
                                    <p:cond delay="400"/>
                                  </p:stCondLst>
                                  <p:childTnLst>
                                    <p:set>
                                      <p:cBhvr>
                                        <p:cTn id="61" dur="1" fill="hold">
                                          <p:stCondLst>
                                            <p:cond delay="0"/>
                                          </p:stCondLst>
                                        </p:cTn>
                                        <p:tgtEl>
                                          <p:spTgt spid="27"/>
                                        </p:tgtEl>
                                        <p:attrNameLst>
                                          <p:attrName>style.visibility</p:attrName>
                                        </p:attrNameLst>
                                      </p:cBhvr>
                                      <p:to>
                                        <p:strVal val="visible"/>
                                      </p:to>
                                    </p:set>
                                    <p:animEffect transition="in" filter="fade">
                                      <p:cBhvr>
                                        <p:cTn id="62" dur="500"/>
                                        <p:tgtEl>
                                          <p:spTgt spid="27"/>
                                        </p:tgtEl>
                                      </p:cBhvr>
                                    </p:animEffect>
                                  </p:childTnLst>
                                </p:cTn>
                              </p:par>
                            </p:childTnLst>
                          </p:cTn>
                        </p:par>
                      </p:childTnLst>
                    </p:cTn>
                  </p:par>
                  <p:par>
                    <p:cTn id="64" fill="hold">
                      <p:stCondLst>
                        <p:cond delay="indefinite"/>
                      </p:stCondLst>
                      <p:childTnLst>
                        <p:par>
                          <p:cTn id="65" fill="hold">
                            <p:stCondLst>
                              <p:cond delay="0"/>
                            </p:stCondLst>
                            <p:childTnLst>
                              <p:par>
                                <p:cTn id="68" presetID="10" presetClass="entr" presetSubtype="0" fill="hold" grpId="0"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par>
                                <p:cTn id="71" presetID="10" presetClass="entr" presetSubtype="0" fill="hold" grpId="0" nodeType="withEffect">
                                  <p:stCondLst>
                                    <p:cond delay="25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par>
                                <p:cTn id="74" presetID="10" presetClass="entr" presetSubtype="0" fill="hold" grpId="0" nodeType="withEffect">
                                  <p:stCondLst>
                                    <p:cond delay="43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par>
                                <p:cTn id="77" presetID="10" presetClass="entr" presetSubtype="0" fill="hold" grpId="0" nodeType="withEffect">
                                  <p:stCondLst>
                                    <p:cond delay="61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par>
                                <p:cTn id="80" presetID="10" presetClass="entr" presetSubtype="0" fill="hold" grpId="0" nodeType="withEffect">
                                  <p:stCondLst>
                                    <p:cond delay="79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500"/>
                                        <p:tgtEl>
                                          <p:spTgt spid="32"/>
                                        </p:tgtEl>
                                      </p:cBhvr>
                                    </p:animEffect>
                                  </p:childTnLst>
                                </p:cTn>
                              </p:par>
                            </p:childTnLst>
                          </p:cTn>
                        </p:par>
                      </p:childTnLst>
                    </p:cTn>
                  </p:par>
                  <p:par>
                    <p:cTn id="81" fill="hold">
                      <p:stCondLst>
                        <p:cond delay="indefinite"/>
                      </p:stCondLst>
                      <p:childTnLst>
                        <p:par>
                          <p:cTn id="82" fill="hold">
                            <p:stCondLst>
                              <p:cond delay="0"/>
                            </p:stCondLst>
                            <p:childTnLst>
                              <p:par>
                                <p:cTn id="85" presetID="10" presetClass="entr" presetSubtype="0" fill="hold" grpId="0" nodeType="click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9902952" cy="6858000"/>
          </a:xfrm>
          <a:prstGeom prst="rect">
            <a:avLst/>
          </a:prstGeom>
          <a:solidFill>
            <a:srgbClr val="F6F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502920"/>
            <a:ext cx="54864" cy="219456"/>
          </a:xfrm>
          <a:prstGeom prst="rect">
            <a:avLst/>
          </a:prstGeom>
          <a:solidFill>
            <a:srgbClr val="C69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0664" y="457200"/>
            <a:ext cx="4572000" cy="310896"/>
          </a:xfrm>
          <a:prstGeom prst="rect">
            <a:avLst/>
          </a:prstGeom>
          <a:noFill/>
        </p:spPr>
        <p:txBody>
          <a:bodyPr wrap="square" lIns="0" rIns="0" tIns="0" bIns="0" anchor="ctr">
            <a:spAutoFit/>
          </a:bodyPr>
          <a:lstStyle/>
          <a:p>
            <a:pPr algn="l"/>
            <a:r>
              <a:rPr sz="1100" b="1">
                <a:solidFill>
                  <a:srgbClr val="C6986B"/>
                </a:solidFill>
                <a:latin typeface="Readex Pro"/>
                <a:cs typeface="Readex Pro"/>
                <a:ea typeface="Readex Pro"/>
              </a:rPr>
              <a:t>06 · ON A PHONE</a:t>
            </a:r>
          </a:p>
        </p:txBody>
      </p:sp>
      <p:pic>
        <p:nvPicPr>
          <p:cNvPr id="5" name="Samsung logo" descr="Samsung"/>
          <p:cNvPicPr>
            <a:picLocks noChangeAspect="1"/>
          </p:cNvPicPr>
          <p:nvPr/>
        </p:nvPicPr>
        <p:blipFill>
          <a:blip r:embed="rId2"/>
          <a:stretch>
            <a:fillRect/>
          </a:stretch>
        </p:blipFill>
        <p:spPr>
          <a:xfrm>
            <a:off x="594360" y="6327648"/>
            <a:ext cx="1051560" cy="161677"/>
          </a:xfrm>
          <a:prstGeom prst="rect">
            <a:avLst/>
          </a:prstGeom>
        </p:spPr>
      </p:pic>
      <p:sp>
        <p:nvSpPr>
          <p:cNvPr id="6" name="TextBox 5"/>
          <p:cNvSpPr txBox="1"/>
          <p:nvPr/>
        </p:nvSpPr>
        <p:spPr>
          <a:xfrm>
            <a:off x="1828800" y="6281928"/>
            <a:ext cx="4114800" cy="274320"/>
          </a:xfrm>
          <a:prstGeom prst="rect">
            <a:avLst/>
          </a:prstGeom>
          <a:noFill/>
        </p:spPr>
        <p:txBody>
          <a:bodyPr wrap="square" lIns="0" rIns="0" tIns="0" bIns="0" anchor="ctr">
            <a:spAutoFit/>
          </a:bodyPr>
          <a:lstStyle/>
          <a:p>
            <a:pPr algn="l"/>
            <a:r>
              <a:rPr sz="1000" b="0">
                <a:solidFill>
                  <a:srgbClr val="6F6B5E"/>
                </a:solidFill>
                <a:latin typeface="Readex Pro"/>
                <a:cs typeface="Readex Pro"/>
                <a:ea typeface="Readex Pro"/>
              </a:rPr>
              <a:t>Samsung Innovation Campus  ·  AI Course</a:t>
            </a:r>
          </a:p>
        </p:txBody>
      </p:sp>
      <p:sp>
        <p:nvSpPr>
          <p:cNvPr id="7" name="TextBox 6"/>
          <p:cNvSpPr txBox="1"/>
          <p:nvPr/>
        </p:nvSpPr>
        <p:spPr>
          <a:xfrm>
            <a:off x="8394192" y="6281928"/>
            <a:ext cx="914400" cy="274320"/>
          </a:xfrm>
          <a:prstGeom prst="rect">
            <a:avLst/>
          </a:prstGeom>
          <a:noFill/>
        </p:spPr>
        <p:txBody>
          <a:bodyPr wrap="square" lIns="0" rIns="0" tIns="0" bIns="0" anchor="ctr">
            <a:spAutoFit/>
          </a:bodyPr>
          <a:lstStyle/>
          <a:p>
            <a:pPr algn="r"/>
            <a:r>
              <a:rPr sz="1000" b="0">
                <a:solidFill>
                  <a:srgbClr val="6F6B5E"/>
                </a:solidFill>
                <a:latin typeface="Readex Pro"/>
                <a:cs typeface="Readex Pro"/>
                <a:ea typeface="Readex Pro"/>
              </a:rPr>
              <a:t>7 / 8</a:t>
            </a:r>
          </a:p>
        </p:txBody>
      </p:sp>
      <p:sp>
        <p:nvSpPr>
          <p:cNvPr id="8" name="Rounded Rectangle 7"/>
          <p:cNvSpPr/>
          <p:nvPr/>
        </p:nvSpPr>
        <p:spPr>
          <a:xfrm>
            <a:off x="3200400" y="1280160"/>
            <a:ext cx="2560320" cy="4389120"/>
          </a:xfrm>
          <a:prstGeom prst="roundRect">
            <a:avLst>
              <a:gd name="adj" fmla="val 10000"/>
            </a:avLst>
          </a:prstGeom>
          <a:solidFill>
            <a:srgbClr val="1A1A14"/>
          </a:solidFill>
          <a:ln w="25400">
            <a:solidFill>
              <a:srgbClr val="A29D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37560" y="1417320"/>
            <a:ext cx="2286000" cy="4114800"/>
          </a:xfrm>
          <a:prstGeom prst="roundRect">
            <a:avLst>
              <a:gd name="adj" fmla="val 6000"/>
            </a:avLst>
          </a:prstGeom>
          <a:solidFill>
            <a:srgbClr val="EFE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66160" y="2103120"/>
            <a:ext cx="1828800" cy="1828800"/>
          </a:xfrm>
          <a:prstGeom prst="roundRect">
            <a:avLst>
              <a:gd name="adj" fmla="val 6000"/>
            </a:avLst>
          </a:prstGeom>
          <a:solidFill>
            <a:srgbClr val="E6DFCC"/>
          </a:solidFill>
          <a:ln w="15875">
            <a:solidFill>
              <a:srgbClr val="E6DF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2560320"/>
            <a:ext cx="1828800" cy="548640"/>
          </a:xfrm>
          <a:prstGeom prst="rect">
            <a:avLst/>
          </a:prstGeom>
          <a:noFill/>
        </p:spPr>
        <p:txBody>
          <a:bodyPr wrap="square" lIns="0" rIns="0" tIns="0" bIns="0" anchor="ctr">
            <a:spAutoFit/>
          </a:bodyPr>
          <a:lstStyle/>
          <a:p>
            <a:pPr algn="ctr"/>
            <a:r>
              <a:rPr sz="3600" b="0">
                <a:solidFill>
                  <a:srgbClr val="6F6B5E"/>
                </a:solidFill>
                <a:latin typeface="Readex Pro"/>
                <a:cs typeface="Readex Pro"/>
                <a:ea typeface="Readex Pro"/>
              </a:rPr>
              <a:t>▶</a:t>
            </a:r>
          </a:p>
        </p:txBody>
      </p:sp>
      <p:sp>
        <p:nvSpPr>
          <p:cNvPr id="12" name="TextBox 11"/>
          <p:cNvSpPr txBox="1"/>
          <p:nvPr/>
        </p:nvSpPr>
        <p:spPr>
          <a:xfrm>
            <a:off x="3566160" y="4069080"/>
            <a:ext cx="1828800" cy="274320"/>
          </a:xfrm>
          <a:prstGeom prst="rect">
            <a:avLst/>
          </a:prstGeom>
          <a:noFill/>
        </p:spPr>
        <p:txBody>
          <a:bodyPr wrap="square" lIns="0" rIns="0" tIns="0" bIns="0" anchor="ctr">
            <a:spAutoFit/>
          </a:bodyPr>
          <a:lstStyle/>
          <a:p>
            <a:pPr algn="ctr"/>
            <a:r>
              <a:rPr sz="1300" b="1">
                <a:solidFill>
                  <a:srgbClr val="4A4842"/>
                </a:solidFill>
                <a:latin typeface="Readex Pro"/>
                <a:cs typeface="Readex Pro"/>
                <a:ea typeface="Readex Pro"/>
              </a:rPr>
              <a:t>30 s recording</a:t>
            </a:r>
          </a:p>
        </p:txBody>
      </p:sp>
      <p:sp>
        <p:nvSpPr>
          <p:cNvPr id="13" name="TextBox 12"/>
          <p:cNvSpPr txBox="1"/>
          <p:nvPr/>
        </p:nvSpPr>
        <p:spPr>
          <a:xfrm>
            <a:off x="3337560" y="4434840"/>
            <a:ext cx="2286000" cy="320040"/>
          </a:xfrm>
          <a:prstGeom prst="rect">
            <a:avLst/>
          </a:prstGeom>
          <a:noFill/>
        </p:spPr>
        <p:txBody>
          <a:bodyPr wrap="square" lIns="0" rIns="0" tIns="0" bIns="0" anchor="ctr">
            <a:spAutoFit/>
          </a:bodyPr>
          <a:lstStyle/>
          <a:p>
            <a:pPr algn="ctr"/>
            <a:r>
              <a:rPr sz="1000" b="0">
                <a:solidFill>
                  <a:srgbClr val="6F6B5E"/>
                </a:solidFill>
                <a:latin typeface="Readex Pro"/>
                <a:cs typeface="Readex Pro"/>
                <a:ea typeface="Readex Pro"/>
              </a:rPr>
              <a:t>select → تبسيط → sheet → read aloud</a:t>
            </a:r>
          </a:p>
        </p:txBody>
      </p:sp>
      <p:sp>
        <p:nvSpPr>
          <p:cNvPr id="14" name="TextBox 13"/>
          <p:cNvSpPr txBox="1"/>
          <p:nvPr/>
        </p:nvSpPr>
        <p:spPr>
          <a:xfrm>
            <a:off x="6217920" y="1691640"/>
            <a:ext cx="3200400" cy="274320"/>
          </a:xfrm>
          <a:prstGeom prst="rect">
            <a:avLst/>
          </a:prstGeom>
          <a:noFill/>
        </p:spPr>
        <p:txBody>
          <a:bodyPr wrap="square" lIns="0" rIns="0" tIns="0" bIns="0" anchor="ctr">
            <a:spAutoFit/>
          </a:bodyPr>
          <a:lstStyle/>
          <a:p>
            <a:pPr algn="l"/>
            <a:r>
              <a:rPr sz="1400" b="1">
                <a:solidFill>
                  <a:srgbClr val="282824"/>
                </a:solidFill>
                <a:latin typeface="Readex Pro"/>
                <a:cs typeface="Readex Pro"/>
                <a:ea typeface="Readex Pro"/>
              </a:rPr>
              <a:t>What you are watching</a:t>
            </a:r>
          </a:p>
        </p:txBody>
      </p:sp>
      <p:sp>
        <p:nvSpPr>
          <p:cNvPr id="15" name="Rounded Rectangle 14"/>
          <p:cNvSpPr/>
          <p:nvPr/>
        </p:nvSpPr>
        <p:spPr>
          <a:xfrm>
            <a:off x="6217920" y="2148840"/>
            <a:ext cx="3108960" cy="347472"/>
          </a:xfrm>
          <a:prstGeom prst="roundRect">
            <a:avLst>
              <a:gd name="adj" fmla="val 47368"/>
            </a:avLst>
          </a:prstGeom>
          <a:solidFill>
            <a:srgbClr val="EFE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100" b="1">
                <a:solidFill>
                  <a:srgbClr val="4A4842"/>
                </a:solidFill>
                <a:latin typeface="Readex Pro"/>
                <a:cs typeface="Readex Pro"/>
                <a:ea typeface="Readex Pro"/>
              </a:rPr>
              <a:t>Text selected in a browser</a:t>
            </a:r>
          </a:p>
        </p:txBody>
      </p:sp>
      <p:sp>
        <p:nvSpPr>
          <p:cNvPr id="16" name="Rounded Rectangle 15"/>
          <p:cNvSpPr/>
          <p:nvPr/>
        </p:nvSpPr>
        <p:spPr>
          <a:xfrm>
            <a:off x="6217920" y="2624328"/>
            <a:ext cx="3108960" cy="347472"/>
          </a:xfrm>
          <a:prstGeom prst="roundRect">
            <a:avLst>
              <a:gd name="adj" fmla="val 47368"/>
            </a:avLst>
          </a:prstGeom>
          <a:solidFill>
            <a:srgbClr val="EFE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100" b="1">
                <a:solidFill>
                  <a:srgbClr val="4A4842"/>
                </a:solidFill>
                <a:latin typeface="Readex Pro"/>
                <a:cs typeface="Readex Pro"/>
                <a:ea typeface="Readex Pro"/>
              </a:rPr>
              <a:t>Tap تبسيط in the menu</a:t>
            </a:r>
          </a:p>
        </p:txBody>
      </p:sp>
      <p:sp>
        <p:nvSpPr>
          <p:cNvPr id="17" name="Rounded Rectangle 16"/>
          <p:cNvSpPr/>
          <p:nvPr/>
        </p:nvSpPr>
        <p:spPr>
          <a:xfrm>
            <a:off x="6217920" y="3099816"/>
            <a:ext cx="3108960" cy="347472"/>
          </a:xfrm>
          <a:prstGeom prst="roundRect">
            <a:avLst>
              <a:gd name="adj" fmla="val 47368"/>
            </a:avLst>
          </a:prstGeom>
          <a:solidFill>
            <a:srgbClr val="EFE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100" b="1">
                <a:solidFill>
                  <a:srgbClr val="4A4842"/>
                </a:solidFill>
                <a:latin typeface="Readex Pro"/>
                <a:cs typeface="Readex Pro"/>
                <a:ea typeface="Readex Pro"/>
              </a:rPr>
              <a:t>The sheet shows the simpler text</a:t>
            </a:r>
          </a:p>
        </p:txBody>
      </p:sp>
      <p:sp>
        <p:nvSpPr>
          <p:cNvPr id="18" name="Rounded Rectangle 17"/>
          <p:cNvSpPr/>
          <p:nvPr/>
        </p:nvSpPr>
        <p:spPr>
          <a:xfrm>
            <a:off x="6217920" y="3575304"/>
            <a:ext cx="3108960" cy="347472"/>
          </a:xfrm>
          <a:prstGeom prst="roundRect">
            <a:avLst>
              <a:gd name="adj" fmla="val 47368"/>
            </a:avLst>
          </a:prstGeom>
          <a:solidFill>
            <a:srgbClr val="EFE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100" b="1">
                <a:solidFill>
                  <a:srgbClr val="4A4842"/>
                </a:solidFill>
                <a:latin typeface="Readex Pro"/>
                <a:cs typeface="Readex Pro"/>
                <a:ea typeface="Readex Pro"/>
              </a:rPr>
              <a:t>and reads it aloud</a:t>
            </a:r>
          </a:p>
        </p:txBody>
      </p:sp>
      <p:sp>
        <p:nvSpPr>
          <p:cNvPr id="19" name="Rounded Rectangle 18"/>
          <p:cNvSpPr/>
          <p:nvPr/>
        </p:nvSpPr>
        <p:spPr>
          <a:xfrm>
            <a:off x="6217920" y="4050791"/>
            <a:ext cx="3108960" cy="347472"/>
          </a:xfrm>
          <a:prstGeom prst="roundRect">
            <a:avLst>
              <a:gd name="adj" fmla="val 47368"/>
            </a:avLst>
          </a:prstGeom>
          <a:solidFill>
            <a:srgbClr val="EEDDC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100" b="1">
                <a:solidFill>
                  <a:srgbClr val="8A5E35"/>
                </a:solidFill>
                <a:latin typeface="Readex Pro"/>
                <a:cs typeface="Readex Pro"/>
                <a:ea typeface="Readex Pro"/>
              </a:rPr>
              <a:t>The original is one tap away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8"/>
                                        </p:tgtEl>
                                        <p:attrNameLst>
                                          <p:attrName>style.visibility</p:attrName>
                                        </p:attrNameLst>
                                      </p:cBhvr>
                                      <p:to>
                                        <p:strVal val="visible"/>
                                      </p:to>
                                    </p:set>
                                    <p:animEffect transition="in" filter="fade">
                                      <p:cBhvr>
                                        <p:cTn id="6" dur="500"/>
                                        <p:tgtEl>
                                          <p:spTgt spid="8"/>
                                        </p:tgtEl>
                                      </p:cBhvr>
                                    </p:animEffect>
                                  </p:childTnLst>
                                </p:cTn>
                              </p:par>
                              <p:par>
                                <p:cTn id="10" presetID="10" presetClass="entr" presetSubtype="0" fill="hold" grpId="0" nodeType="withEffect">
                                  <p:stCondLst>
                                    <p:cond delay="20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500"/>
                                        <p:tgtEl>
                                          <p:spTgt spid="9"/>
                                        </p:tgtEl>
                                      </p:cBhvr>
                                    </p:animEffect>
                                  </p:childTnLst>
                                </p:cTn>
                              </p:par>
                              <p:par>
                                <p:cTn id="13" presetID="10" presetClass="entr" presetSubtype="0" fill="hold" grpId="0" nodeType="withEffect">
                                  <p:stCondLst>
                                    <p:cond delay="50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6" presetID="10" presetClass="entr" presetSubtype="0" fill="hold" grpId="0" nodeType="withEffect">
                                  <p:stCondLst>
                                    <p:cond delay="70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9" presetID="10" presetClass="entr" presetSubtype="0" fill="hold" grpId="0" nodeType="withEffect">
                                  <p:stCondLst>
                                    <p:cond delay="90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22" presetID="10" presetClass="entr" presetSubtype="0" fill="hold" grpId="0" nodeType="withEffect">
                                  <p:stCondLst>
                                    <p:cond delay="110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5" presetID="10" presetClass="entr" presetSubtype="0" fill="hold" grpId="0" nodeType="withEffect">
                                  <p:stCondLst>
                                    <p:cond delay="140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8" presetID="10" presetClass="entr" presetSubtype="0" fill="hold" grpId="0" nodeType="withEffect">
                                  <p:stCondLst>
                                    <p:cond delay="155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31" presetID="10" presetClass="entr" presetSubtype="0" fill="hold" grpId="0" nodeType="withEffect">
                                  <p:stCondLst>
                                    <p:cond delay="170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4" presetID="10" presetClass="entr" presetSubtype="0" fill="hold" grpId="0" nodeType="withEffect">
                                  <p:stCondLst>
                                    <p:cond delay="185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7" presetID="10" presetClass="entr" presetSubtype="0" fill="hold" grpId="0" nodeType="withEffect">
                                  <p:stCondLst>
                                    <p:cond delay="200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par>
                                <p:cTn id="40" presetID="10" presetClass="entr" presetSubtype="0" fill="hold" grpId="0" nodeType="withEffect">
                                  <p:stCondLst>
                                    <p:cond delay="215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9902952" cy="6858000"/>
          </a:xfrm>
          <a:prstGeom prst="rect">
            <a:avLst/>
          </a:prstGeom>
          <a:solidFill>
            <a:srgbClr val="1A1A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Samsung logo" descr="Samsung"/>
          <p:cNvPicPr>
            <a:picLocks noChangeAspect="1"/>
          </p:cNvPicPr>
          <p:nvPr/>
        </p:nvPicPr>
        <p:blipFill>
          <a:blip r:embed="rId2"/>
          <a:stretch>
            <a:fillRect/>
          </a:stretch>
        </p:blipFill>
        <p:spPr>
          <a:xfrm>
            <a:off x="594360" y="6327648"/>
            <a:ext cx="1051560" cy="161677"/>
          </a:xfrm>
          <a:prstGeom prst="rect">
            <a:avLst/>
          </a:prstGeom>
        </p:spPr>
      </p:pic>
      <p:sp>
        <p:nvSpPr>
          <p:cNvPr id="4" name="TextBox 3"/>
          <p:cNvSpPr txBox="1"/>
          <p:nvPr/>
        </p:nvSpPr>
        <p:spPr>
          <a:xfrm>
            <a:off x="1828800" y="6281928"/>
            <a:ext cx="4114800" cy="274320"/>
          </a:xfrm>
          <a:prstGeom prst="rect">
            <a:avLst/>
          </a:prstGeom>
          <a:noFill/>
        </p:spPr>
        <p:txBody>
          <a:bodyPr wrap="square" lIns="0" rIns="0" tIns="0" bIns="0" anchor="ctr">
            <a:spAutoFit/>
          </a:bodyPr>
          <a:lstStyle/>
          <a:p>
            <a:pPr algn="l"/>
            <a:r>
              <a:rPr sz="1000" b="0">
                <a:solidFill>
                  <a:srgbClr val="F2EFE2"/>
                </a:solidFill>
                <a:latin typeface="Readex Pro"/>
                <a:cs typeface="Readex Pro"/>
                <a:ea typeface="Readex Pro"/>
              </a:rPr>
              <a:t>Samsung Innovation Campus  ·  AI Course</a:t>
            </a:r>
          </a:p>
        </p:txBody>
      </p:sp>
      <p:sp>
        <p:nvSpPr>
          <p:cNvPr id="5" name="TextBox 4"/>
          <p:cNvSpPr txBox="1"/>
          <p:nvPr/>
        </p:nvSpPr>
        <p:spPr>
          <a:xfrm>
            <a:off x="8394192" y="6281928"/>
            <a:ext cx="914400" cy="274320"/>
          </a:xfrm>
          <a:prstGeom prst="rect">
            <a:avLst/>
          </a:prstGeom>
          <a:noFill/>
        </p:spPr>
        <p:txBody>
          <a:bodyPr wrap="square" lIns="0" rIns="0" tIns="0" bIns="0" anchor="ctr">
            <a:spAutoFit/>
          </a:bodyPr>
          <a:lstStyle/>
          <a:p>
            <a:pPr algn="r"/>
            <a:r>
              <a:rPr sz="1000" b="0">
                <a:solidFill>
                  <a:srgbClr val="F2EFE2"/>
                </a:solidFill>
                <a:latin typeface="Readex Pro"/>
                <a:cs typeface="Readex Pro"/>
                <a:ea typeface="Readex Pro"/>
              </a:rPr>
              <a:t>8 / 8</a:t>
            </a:r>
          </a:p>
        </p:txBody>
      </p:sp>
      <p:pic>
        <p:nvPicPr>
          <p:cNvPr id="6" name="Bayan logo" descr="Bayan logo"/>
          <p:cNvPicPr>
            <a:picLocks noChangeAspect="1"/>
          </p:cNvPicPr>
          <p:nvPr/>
        </p:nvPicPr>
        <p:blipFill>
          <a:blip r:embed="rId3"/>
          <a:stretch>
            <a:fillRect/>
          </a:stretch>
        </p:blipFill>
        <p:spPr>
          <a:xfrm>
            <a:off x="3168396" y="1143000"/>
            <a:ext cx="3566160" cy="1116654"/>
          </a:xfrm>
          <a:prstGeom prst="rect">
            <a:avLst/>
          </a:prstGeom>
        </p:spPr>
      </p:pic>
      <p:sp>
        <p:nvSpPr>
          <p:cNvPr id="7" name="TextBox 6"/>
          <p:cNvSpPr txBox="1"/>
          <p:nvPr/>
        </p:nvSpPr>
        <p:spPr>
          <a:xfrm>
            <a:off x="0" y="2926080"/>
            <a:ext cx="9902952" cy="640080"/>
          </a:xfrm>
          <a:prstGeom prst="rect">
            <a:avLst/>
          </a:prstGeom>
          <a:noFill/>
        </p:spPr>
        <p:txBody>
          <a:bodyPr wrap="square" lIns="0" rIns="0" tIns="0" bIns="0" anchor="ctr">
            <a:spAutoFit/>
          </a:bodyPr>
          <a:lstStyle/>
          <a:p>
            <a:pPr algn="ctr"/>
            <a:r>
              <a:rPr sz="3400" b="1">
                <a:solidFill>
                  <a:srgbClr val="F2EFE2"/>
                </a:solidFill>
                <a:latin typeface="Readex Pro"/>
                <a:cs typeface="Readex Pro"/>
                <a:ea typeface="Readex Pro"/>
              </a:rPr>
              <a:t>Simplify where you read.</a:t>
            </a:r>
          </a:p>
        </p:txBody>
      </p:sp>
      <p:sp>
        <p:nvSpPr>
          <p:cNvPr id="8" name="Rounded Rectangle 7"/>
          <p:cNvSpPr/>
          <p:nvPr/>
        </p:nvSpPr>
        <p:spPr>
          <a:xfrm>
            <a:off x="2286000" y="3840480"/>
            <a:ext cx="2560320" cy="365760"/>
          </a:xfrm>
          <a:prstGeom prst="roundRect">
            <a:avLst>
              <a:gd name="adj" fmla="val 44999"/>
            </a:avLst>
          </a:prstGeom>
          <a:solidFill>
            <a:srgbClr val="2626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200" b="0">
                <a:solidFill>
                  <a:srgbClr val="A29D8C"/>
                </a:solidFill>
                <a:latin typeface="Readex Pro"/>
                <a:cs typeface="Readex Pro"/>
                <a:ea typeface="Readex Pro"/>
              </a:rPr>
              <a:t>no reader has used Bayan yet</a:t>
            </a:r>
          </a:p>
        </p:txBody>
      </p:sp>
      <p:sp>
        <p:nvSpPr>
          <p:cNvPr id="9" name="Rounded Rectangle 8"/>
          <p:cNvSpPr/>
          <p:nvPr/>
        </p:nvSpPr>
        <p:spPr>
          <a:xfrm>
            <a:off x="5074920" y="3840480"/>
            <a:ext cx="2560320" cy="365760"/>
          </a:xfrm>
          <a:prstGeom prst="roundRect">
            <a:avLst>
              <a:gd name="adj" fmla="val 44999"/>
            </a:avLst>
          </a:prstGeom>
          <a:solidFill>
            <a:srgbClr val="2626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0" bIns="0"/>
          <a:lstStyle/>
          <a:p>
            <a:pPr algn="ctr"/>
            <a:r>
              <a:rPr sz="1200" b="0">
                <a:solidFill>
                  <a:srgbClr val="A29D8C"/>
                </a:solidFill>
                <a:latin typeface="Readex Pro"/>
                <a:cs typeface="Readex Pro"/>
                <a:ea typeface="Readex Pro"/>
              </a:rPr>
              <a:t>Arabic fluency is still a gap</a:t>
            </a:r>
          </a:p>
        </p:txBody>
      </p:sp>
      <p:sp>
        <p:nvSpPr>
          <p:cNvPr id="10" name="TextBox 9"/>
          <p:cNvSpPr txBox="1"/>
          <p:nvPr/>
        </p:nvSpPr>
        <p:spPr>
          <a:xfrm>
            <a:off x="0" y="4709160"/>
            <a:ext cx="9902952" cy="320040"/>
          </a:xfrm>
          <a:prstGeom prst="rect">
            <a:avLst/>
          </a:prstGeom>
          <a:noFill/>
        </p:spPr>
        <p:txBody>
          <a:bodyPr wrap="square" lIns="0" rIns="0" tIns="0" bIns="0" anchor="ctr">
            <a:spAutoFit/>
          </a:bodyPr>
          <a:lstStyle/>
          <a:p>
            <a:pPr algn="ctr"/>
            <a:r>
              <a:rPr sz="1300" b="0">
                <a:solidFill>
                  <a:srgbClr val="C6986B"/>
                </a:solidFill>
                <a:latin typeface="Readex Pro"/>
                <a:cs typeface="Readex Pro"/>
                <a:ea typeface="Readex Pro"/>
              </a:rPr>
              <a:t>Thank you  ·  Team Cogni  ·  Samsung Innovation Campus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par>
                                <p:cTn id="10" presetID="10" presetClass="entr" presetSubtype="0" fill="hold" grpId="0" nodeType="withEffect">
                                  <p:stCondLst>
                                    <p:cond delay="50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8" presetID="10" presetClass="entr" presetSubtype="0" fill="hold" grpId="0" nodeType="withEffect">
                                  <p:stCondLst>
                                    <p:cond delay="2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21" presetID="10" presetClass="entr" presetSubtype="0" fill="hold" grpId="0" nodeType="withEffect">
                                  <p:stCondLst>
                                    <p:cond delay="80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amsung">
      <a:majorFont>
        <a:latin typeface="Samsung Sharp Sans"/>
        <a:ea typeface="SamsungOneKorean 700"/>
        <a:cs typeface=""/>
      </a:majorFont>
      <a:minorFont>
        <a:latin typeface="SamsungOne 400"/>
        <a:ea typeface="SamsungOneKorean 400"/>
        <a:cs typeface=""/>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B971F96850C604FA9DD4A6FAA1D7E94" ma:contentTypeVersion="13" ma:contentTypeDescription="Create a new document." ma:contentTypeScope="" ma:versionID="94bb0226509be2894c83196f814f5ace">
  <xsd:schema xmlns:xsd="http://www.w3.org/2001/XMLSchema" xmlns:xs="http://www.w3.org/2001/XMLSchema" xmlns:p="http://schemas.microsoft.com/office/2006/metadata/properties" xmlns:ns2="5192ee0d-e524-4888-b581-1910cadcd210" xmlns:ns3="525df02f-3aee-47af-b2f3-c2ea8bcae9a6" targetNamespace="http://schemas.microsoft.com/office/2006/metadata/properties" ma:root="true" ma:fieldsID="eb19b1b986ba2b37eb36a9dd005ffe1c" ns2:_="" ns3:_="">
    <xsd:import namespace="5192ee0d-e524-4888-b581-1910cadcd210"/>
    <xsd:import namespace="525df02f-3aee-47af-b2f3-c2ea8bcae9a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BillingMetadata" minOccurs="0"/>
                <xsd:element ref="ns2:MediaServiceOCR" minOccurs="0"/>
                <xsd:element ref="ns2:com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92ee0d-e524-4888-b581-1910cadcd2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3ef62f9-2e07-484b-bd79-00aec90129fe" ma:termSetId="09814cd3-568e-fe90-9814-8d621ff8fb84" ma:anchorId="fba54fb3-c3e1-fe81-a776-ca4b69148c4d" ma:open="true" ma:isKeyword="false">
      <xsd:complexType>
        <xsd:sequence>
          <xsd:element ref="pc:Terms" minOccurs="0" maxOccurs="1"/>
        </xsd:sequence>
      </xsd:complex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OCR" ma:index="19" nillable="true" ma:displayName="Extracted Text" ma:internalName="MediaServiceOCR" ma:readOnly="true">
      <xsd:simpleType>
        <xsd:restriction base="dms:Note">
          <xsd:maxLength value="255"/>
        </xsd:restriction>
      </xsd:simpleType>
    </xsd:element>
    <xsd:element name="comment" ma:index="20" nillable="true" ma:displayName="comment" ma:format="Dropdown" ma:internalName="comme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25df02f-3aee-47af-b2f3-c2ea8bcae9a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f2df0d5-6bdf-4400-9605-4c2d2eede7e4}" ma:internalName="TaxCatchAll" ma:showField="CatchAllData" ma:web="525df02f-3aee-47af-b2f3-c2ea8bcae9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25df02f-3aee-47af-b2f3-c2ea8bcae9a6" xsi:nil="true"/>
    <lcf76f155ced4ddcb4097134ff3c332f xmlns="5192ee0d-e524-4888-b581-1910cadcd210">
      <Terms xmlns="http://schemas.microsoft.com/office/infopath/2007/PartnerControls"/>
    </lcf76f155ced4ddcb4097134ff3c332f>
    <comment xmlns="5192ee0d-e524-4888-b581-1910cadcd210" xsi:nil="true"/>
  </documentManagement>
</p:properties>
</file>

<file path=customXml/itemProps1.xml><?xml version="1.0" encoding="utf-8"?>
<ds:datastoreItem xmlns:ds="http://schemas.openxmlformats.org/officeDocument/2006/customXml" ds:itemID="{0A0357D8-C495-42E3-A0C0-6723B236FB34}"/>
</file>

<file path=customXml/itemProps2.xml><?xml version="1.0" encoding="utf-8"?>
<ds:datastoreItem xmlns:ds="http://schemas.openxmlformats.org/officeDocument/2006/customXml" ds:itemID="{F7A1BB24-B868-43EF-95F7-238FE3A157D5}"/>
</file>

<file path=customXml/itemProps3.xml><?xml version="1.0" encoding="utf-8"?>
<ds:datastoreItem xmlns:ds="http://schemas.openxmlformats.org/officeDocument/2006/customXml" ds:itemID="{83B4D1BC-3672-47C7-8E98-3D3B83A92BF9}"/>
</file>

<file path=docProps/app.xml><?xml version="1.0" encoding="utf-8"?>
<Properties xmlns="http://schemas.openxmlformats.org/officeDocument/2006/extended-properties" xmlns:vt="http://schemas.openxmlformats.org/officeDocument/2006/docPropsVTypes">
  <Template/>
  <TotalTime>4279</TotalTime>
  <Words>65</Words>
  <Application>Microsoft Office PowerPoint</Application>
  <PresentationFormat>사용자 지정</PresentationFormat>
  <Paragraphs>23</Paragraphs>
  <Slides>4</Slides>
  <Notes>0</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4</vt:i4>
      </vt:variant>
    </vt:vector>
  </HeadingPairs>
  <TitlesOfParts>
    <vt:vector size="14" baseType="lpstr">
      <vt:lpstr>SamsungOne 400</vt:lpstr>
      <vt:lpstr>Samsung Sharp Sans Bold</vt:lpstr>
      <vt:lpstr>Samsung Sharp Sans</vt:lpstr>
      <vt:lpstr>Calibri</vt:lpstr>
      <vt:lpstr>Arial</vt:lpstr>
      <vt:lpstr>Samsung Sharp Sans Medium</vt:lpstr>
      <vt:lpstr>맑은 고딕</vt:lpstr>
      <vt:lpstr>SamsungOne 700</vt:lpstr>
      <vt:lpstr>SamsungOne 400C</vt:lpstr>
      <vt:lpstr>Office Theme</vt:lpstr>
      <vt:lpstr>Project Name</vt:lpstr>
      <vt:lpstr>PowerPoint 프레젠테이션</vt:lpstr>
      <vt:lpstr>Slide Title</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in Python</dc:title>
  <dc:creator>Soon Yong Chang</dc:creator>
  <cp:lastModifiedBy>이 선우</cp:lastModifiedBy>
  <cp:revision>2081</cp:revision>
  <dcterms:created xsi:type="dcterms:W3CDTF">2019-07-06T14:12:49Z</dcterms:created>
  <dcterms:modified xsi:type="dcterms:W3CDTF">2025-12-26T06:30:13Z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0x010100EB971F96850C604FA9DD4A6FAA1D7E94</vt:lpwstr>
  </property>
</Properties>
</file>