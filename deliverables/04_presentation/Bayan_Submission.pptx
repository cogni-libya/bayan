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One pipeline carried every version. The sources pass a leakage check, then a meaning gate set at point eight five, then fine-tuning, then measuring on BayanBench.</a:t>
            </a:r>
          </a:p>
          <a:p/>
          <a:p>
            <a:r>
              <a:t>▶ Step 2 (step 2 (auto);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Five connected stages: sources, leakage check, meaning gate, fine-tune, measure)</a:t>
            </a:r>
          </a:p>
          <a:p>
            <a:r>
              <a:t>One pipeline carried every version. The sources pass a leakage check, then a meaning gate set at point eight five, then fine-tuning, then measuring on BayanBench.</a:t>
            </a:r>
          </a:p>
          <a:p/>
          <a:p>
            <a:r>
              <a:t>▶ Step 2 (step 2 (auto); A feedback loop closes back on the sources, carrying the three version findings)</a:t>
            </a:r>
          </a:p>
          <a:p>
            <a:r>
              <a:t>And the loop is the point: every measurement came back as the next version's data. v0.1 taught us that copying wins and the model only swaps words. v0.2 taught us that meaning breaks first. v0.3 rebuilt the data around those two findings, and it keeps meaning in eighty-two percent of outputs.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9</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9</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9</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9</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9</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THE PIPELINE</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Build, measure, learn</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9</a:t>
            </a:r>
          </a:p>
        </p:txBody>
      </p:sp>
      <p:sp>
        <p:nvSpPr>
          <p:cNvPr id="9" name="Rounded Rectangle 8"/>
          <p:cNvSpPr/>
          <p:nvPr/>
        </p:nvSpPr>
        <p:spPr>
          <a:xfrm>
            <a:off x="425196"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9204"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Source corpora</a:t>
            </a:r>
          </a:p>
        </p:txBody>
      </p:sp>
      <p:sp>
        <p:nvSpPr>
          <p:cNvPr id="11" name="TextBox 10"/>
          <p:cNvSpPr txBox="1"/>
          <p:nvPr/>
        </p:nvSpPr>
        <p:spPr>
          <a:xfrm>
            <a:off x="489204"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SAMER · DAASI ·</a:t>
            </a:r>
          </a:p>
          <a:p>
            <a:pPr algn="ctr">
              <a:lnSpc>
                <a:spcPct val="112000"/>
              </a:lnSpc>
            </a:pPr>
            <a:r>
              <a:rPr sz="1050" b="0">
                <a:solidFill>
                  <a:srgbClr val="4A4842"/>
                </a:solidFill>
                <a:latin typeface="Readex Pro"/>
                <a:cs typeface="Readex Pro"/>
                <a:ea typeface="Readex Pro"/>
              </a:rPr>
              <a:t>other datasets · BAREC</a:t>
            </a:r>
          </a:p>
        </p:txBody>
      </p:sp>
      <p:sp>
        <p:nvSpPr>
          <p:cNvPr id="12" name="Rounded Rectangle 11"/>
          <p:cNvSpPr/>
          <p:nvPr/>
        </p:nvSpPr>
        <p:spPr>
          <a:xfrm>
            <a:off x="2318004"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82012"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Leakage check</a:t>
            </a:r>
          </a:p>
        </p:txBody>
      </p:sp>
      <p:sp>
        <p:nvSpPr>
          <p:cNvPr id="14" name="TextBox 13"/>
          <p:cNvSpPr txBox="1"/>
          <p:nvPr/>
        </p:nvSpPr>
        <p:spPr>
          <a:xfrm>
            <a:off x="2382012"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exact + 5-gram ·</a:t>
            </a:r>
          </a:p>
          <a:p>
            <a:pPr algn="ctr">
              <a:lnSpc>
                <a:spcPct val="112000"/>
              </a:lnSpc>
            </a:pPr>
            <a:r>
              <a:rPr sz="1050" b="0">
                <a:solidFill>
                  <a:srgbClr val="4A4842"/>
                </a:solidFill>
                <a:latin typeface="Readex Pro"/>
                <a:cs typeface="Readex Pro"/>
                <a:ea typeface="Readex Pro"/>
              </a:rPr>
              <a:t>grouped split</a:t>
            </a:r>
          </a:p>
        </p:txBody>
      </p:sp>
      <p:cxnSp>
        <p:nvCxnSpPr>
          <p:cNvPr id="15" name="Connector 14"/>
          <p:cNvCxnSpPr/>
          <p:nvPr/>
        </p:nvCxnSpPr>
        <p:spPr>
          <a:xfrm>
            <a:off x="1952243" y="2715768"/>
            <a:ext cx="320041"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10812" y="2148840"/>
            <a:ext cx="1481328" cy="1143000"/>
          </a:xfrm>
          <a:prstGeom prst="roundRect">
            <a:avLst>
              <a:gd name="adj" fmla="val 8000"/>
            </a:avLst>
          </a:prstGeom>
          <a:solidFill>
            <a:srgbClr val="F3E2DA"/>
          </a:solidFill>
          <a:ln w="15875">
            <a:solidFill>
              <a:srgbClr val="B553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74820" y="2258568"/>
            <a:ext cx="1353312" cy="274320"/>
          </a:xfrm>
          <a:prstGeom prst="rect">
            <a:avLst/>
          </a:prstGeom>
          <a:noFill/>
        </p:spPr>
        <p:txBody>
          <a:bodyPr wrap="square" lIns="0" rIns="0" tIns="0" bIns="0" anchor="ctr">
            <a:spAutoFit/>
          </a:bodyPr>
          <a:lstStyle/>
          <a:p>
            <a:pPr algn="ctr"/>
            <a:r>
              <a:rPr sz="1200" b="1">
                <a:solidFill>
                  <a:srgbClr val="B5533C"/>
                </a:solidFill>
                <a:latin typeface="Readex Pro"/>
                <a:cs typeface="Readex Pro"/>
                <a:ea typeface="Readex Pro"/>
              </a:rPr>
              <a:t>Meaning gate</a:t>
            </a:r>
          </a:p>
        </p:txBody>
      </p:sp>
      <p:sp>
        <p:nvSpPr>
          <p:cNvPr id="18" name="TextBox 17"/>
          <p:cNvSpPr txBox="1"/>
          <p:nvPr/>
        </p:nvSpPr>
        <p:spPr>
          <a:xfrm>
            <a:off x="4274820"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Qwen judge ≥ 0.85</a:t>
            </a:r>
          </a:p>
          <a:p>
            <a:pPr algn="ctr">
              <a:lnSpc>
                <a:spcPct val="112000"/>
              </a:lnSpc>
            </a:pPr>
            <a:r>
              <a:rPr sz="1050" b="0">
                <a:solidFill>
                  <a:srgbClr val="4A4842"/>
                </a:solidFill>
                <a:latin typeface="Readex Pro"/>
                <a:cs typeface="Readex Pro"/>
                <a:ea typeface="Readex Pro"/>
              </a:rPr>
              <a:t>strength tags [S0]–[SA]</a:t>
            </a:r>
          </a:p>
        </p:txBody>
      </p:sp>
      <p:cxnSp>
        <p:nvCxnSpPr>
          <p:cNvPr id="19" name="Connector 18"/>
          <p:cNvCxnSpPr/>
          <p:nvPr/>
        </p:nvCxnSpPr>
        <p:spPr>
          <a:xfrm>
            <a:off x="3845052"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03620"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67628"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Fine-tune</a:t>
            </a:r>
          </a:p>
        </p:txBody>
      </p:sp>
      <p:sp>
        <p:nvSpPr>
          <p:cNvPr id="22" name="TextBox 21"/>
          <p:cNvSpPr txBox="1"/>
          <p:nvPr/>
        </p:nvSpPr>
        <p:spPr>
          <a:xfrm>
            <a:off x="6167628"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AraT5v2 · AraBART ·</a:t>
            </a:r>
          </a:p>
          <a:p>
            <a:pPr algn="ctr">
              <a:lnSpc>
                <a:spcPct val="112000"/>
              </a:lnSpc>
            </a:pPr>
            <a:r>
              <a:rPr sz="1050" b="0">
                <a:solidFill>
                  <a:srgbClr val="4A4842"/>
                </a:solidFill>
                <a:latin typeface="Readex Pro"/>
                <a:cs typeface="Readex Pro"/>
                <a:ea typeface="Readex Pro"/>
              </a:rPr>
              <a:t>int8 bundle → the phone</a:t>
            </a:r>
          </a:p>
        </p:txBody>
      </p:sp>
      <p:cxnSp>
        <p:nvCxnSpPr>
          <p:cNvPr id="23" name="Connector 22"/>
          <p:cNvCxnSpPr/>
          <p:nvPr/>
        </p:nvCxnSpPr>
        <p:spPr>
          <a:xfrm>
            <a:off x="5737860"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996428" y="2148840"/>
            <a:ext cx="1481328" cy="1143000"/>
          </a:xfrm>
          <a:prstGeom prst="roundRect">
            <a:avLst>
              <a:gd name="adj" fmla="val 800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60436" y="2258568"/>
            <a:ext cx="1353312" cy="274320"/>
          </a:xfrm>
          <a:prstGeom prst="rect">
            <a:avLst/>
          </a:prstGeom>
          <a:noFill/>
        </p:spPr>
        <p:txBody>
          <a:bodyPr wrap="square" lIns="0" rIns="0" tIns="0" bIns="0" anchor="ctr">
            <a:spAutoFit/>
          </a:bodyPr>
          <a:lstStyle/>
          <a:p>
            <a:pPr algn="ctr"/>
            <a:r>
              <a:rPr sz="1200" b="1">
                <a:solidFill>
                  <a:srgbClr val="282824"/>
                </a:solidFill>
                <a:latin typeface="Readex Pro"/>
                <a:cs typeface="Readex Pro"/>
                <a:ea typeface="Readex Pro"/>
              </a:rPr>
              <a:t>Measure</a:t>
            </a:r>
          </a:p>
        </p:txBody>
      </p:sp>
      <p:sp>
        <p:nvSpPr>
          <p:cNvPr id="26" name="TextBox 25"/>
          <p:cNvSpPr txBox="1"/>
          <p:nvPr/>
        </p:nvSpPr>
        <p:spPr>
          <a:xfrm>
            <a:off x="8060436" y="2606040"/>
            <a:ext cx="1353312" cy="621792"/>
          </a:xfrm>
          <a:prstGeom prst="rect">
            <a:avLst/>
          </a:prstGeom>
          <a:noFill/>
        </p:spPr>
        <p:txBody>
          <a:bodyPr wrap="square" lIns="0" rIns="0" tIns="0" bIns="0" anchor="ctr">
            <a:spAutoFit/>
          </a:bodyPr>
          <a:lstStyle/>
          <a:p>
            <a:pPr algn="ctr">
              <a:lnSpc>
                <a:spcPct val="112000"/>
              </a:lnSpc>
            </a:pPr>
            <a:r>
              <a:rPr sz="1050" b="0">
                <a:solidFill>
                  <a:srgbClr val="4A4842"/>
                </a:solidFill>
                <a:latin typeface="Readex Pro"/>
                <a:cs typeface="Readex Pro"/>
                <a:ea typeface="Readex Pro"/>
              </a:rPr>
              <a:t>BayanBench v2 ·</a:t>
            </a:r>
          </a:p>
          <a:p>
            <a:pPr algn="ctr">
              <a:lnSpc>
                <a:spcPct val="112000"/>
              </a:lnSpc>
            </a:pPr>
            <a:r>
              <a:rPr sz="1050" b="0">
                <a:solidFill>
                  <a:srgbClr val="4A4842"/>
                </a:solidFill>
                <a:latin typeface="Readex Pro"/>
                <a:cs typeface="Readex Pro"/>
                <a:ea typeface="Readex Pro"/>
              </a:rPr>
              <a:t>1,981 items, one scorer</a:t>
            </a:r>
          </a:p>
        </p:txBody>
      </p:sp>
      <p:cxnSp>
        <p:nvCxnSpPr>
          <p:cNvPr id="27" name="Connector 26"/>
          <p:cNvCxnSpPr/>
          <p:nvPr/>
        </p:nvCxnSpPr>
        <p:spPr>
          <a:xfrm>
            <a:off x="7630668" y="2715768"/>
            <a:ext cx="320040"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737092" y="3291840"/>
            <a:ext cx="0" cy="146304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1165860" y="4754880"/>
            <a:ext cx="7571232" cy="0"/>
          </a:xfrm>
          <a:prstGeom prst="line">
            <a:avLst/>
          </a:prstGeom>
          <a:ln w="31750">
            <a:solidFill>
              <a:srgbClr val="8A5E3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165860" y="3291840"/>
            <a:ext cx="0" cy="1463040"/>
          </a:xfrm>
          <a:prstGeom prst="line">
            <a:avLst/>
          </a:prstGeom>
          <a:ln w="31750">
            <a:solidFill>
              <a:srgbClr val="8A5E35"/>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906" y="4617720"/>
            <a:ext cx="3206496"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v0.1 · copying wins: 65% unchanged</a:t>
            </a:r>
          </a:p>
        </p:txBody>
      </p:sp>
      <p:sp>
        <p:nvSpPr>
          <p:cNvPr id="32" name="Rounded Rectangle 31"/>
          <p:cNvSpPr/>
          <p:nvPr/>
        </p:nvSpPr>
        <p:spPr>
          <a:xfrm>
            <a:off x="3726942" y="4617720"/>
            <a:ext cx="2869692"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v0.2 · meaning kept 60% / 40%</a:t>
            </a:r>
          </a:p>
        </p:txBody>
      </p:sp>
      <p:sp>
        <p:nvSpPr>
          <p:cNvPr id="33" name="Rounded Rectangle 32"/>
          <p:cNvSpPr/>
          <p:nvPr/>
        </p:nvSpPr>
        <p:spPr>
          <a:xfrm>
            <a:off x="7126986" y="4617720"/>
            <a:ext cx="2575560" cy="347472"/>
          </a:xfrm>
          <a:prstGeom prst="roundRect">
            <a:avLst>
              <a:gd name="adj" fmla="val 2368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1">
                <a:solidFill>
                  <a:srgbClr val="8A5E35"/>
                </a:solidFill>
                <a:latin typeface="Readex Pro"/>
                <a:cs typeface="Readex Pro"/>
                <a:ea typeface="Readex Pro"/>
              </a:rPr>
              <a:t>v0.3 · kept 82% (was 79%)</a:t>
            </a:r>
          </a:p>
        </p:txBody>
      </p:sp>
      <p:sp>
        <p:nvSpPr>
          <p:cNvPr id="34" name="TextBox 33"/>
          <p:cNvSpPr txBox="1"/>
          <p:nvPr/>
        </p:nvSpPr>
        <p:spPr>
          <a:xfrm>
            <a:off x="566928" y="5349240"/>
            <a:ext cx="8769096" cy="2743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learn · each finding became the next version's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9</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9</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9</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07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8 / 9</a:t>
            </a:r>
          </a:p>
        </p:txBody>
      </p:sp>
      <p:sp>
        <p:nvSpPr>
          <p:cNvPr id="8" name="Rounded Rectangle 7"/>
          <p:cNvSpPr/>
          <p:nvPr/>
        </p:nvSpPr>
        <p:spPr>
          <a:xfrm>
            <a:off x="6958963" y="1481328"/>
            <a:ext cx="2377060" cy="4846320"/>
          </a:xfrm>
          <a:prstGeom prst="roundRect">
            <a:avLst>
              <a:gd name="adj" fmla="val 10001"/>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Demo video" descr="Bayan demo: select Arabic text, tap Simplify, read aloud">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068691" y="1591056"/>
            <a:ext cx="2157604" cy="4626864"/>
          </a:xfrm>
          <a:prstGeom prst="rect">
            <a:avLst/>
          </a:prstGeom>
        </p:spPr>
      </p:pic>
      <p:sp>
        <p:nvSpPr>
          <p:cNvPr id="10" name="TextBox 9"/>
          <p:cNvSpPr txBox="1"/>
          <p:nvPr/>
        </p:nvSpPr>
        <p:spPr>
          <a:xfrm>
            <a:off x="566928" y="2468880"/>
            <a:ext cx="5934835" cy="502920"/>
          </a:xfrm>
          <a:prstGeom prst="rect">
            <a:avLst/>
          </a:prstGeom>
          <a:noFill/>
        </p:spPr>
        <p:txBody>
          <a:bodyPr wrap="square" lIns="0" rIns="0" tIns="0" bIns="0" anchor="ctr">
            <a:spAutoFit/>
          </a:bodyPr>
          <a:lstStyle/>
          <a:p>
            <a:pPr algn="l"/>
            <a:r>
              <a:rPr sz="3000" b="1">
                <a:solidFill>
                  <a:srgbClr val="282824"/>
                </a:solidFill>
                <a:latin typeface="Readex Pro"/>
                <a:cs typeface="Readex Pro"/>
                <a:ea typeface="Readex Pro"/>
              </a:rPr>
              <a:t>What the app does</a:t>
            </a:r>
          </a:p>
        </p:txBody>
      </p:sp>
      <p:sp>
        <p:nvSpPr>
          <p:cNvPr id="11" name="TextBox 10"/>
          <p:cNvSpPr txBox="1"/>
          <p:nvPr/>
        </p:nvSpPr>
        <p:spPr>
          <a:xfrm>
            <a:off x="566928" y="3154680"/>
            <a:ext cx="5934835" cy="1463040"/>
          </a:xfrm>
          <a:prstGeom prst="rect">
            <a:avLst/>
          </a:prstGeom>
          <a:noFill/>
        </p:spPr>
        <p:txBody>
          <a:bodyPr wrap="square" lIns="0" rIns="0" tIns="0" bIns="0" anchor="ctr">
            <a:spAutoFit/>
          </a:bodyPr>
          <a:lstStyle/>
          <a:p>
            <a:pPr algn="l">
              <a:lnSpc>
                <a:spcPct val="125000"/>
              </a:lnSpc>
            </a:pPr>
            <a:r>
              <a:rPr sz="1800" b="0">
                <a:solidFill>
                  <a:srgbClr val="4A4842"/>
                </a:solidFill>
                <a:latin typeface="Readex Pro"/>
                <a:cs typeface="Readex Pro"/>
                <a:ea typeface="Readex Pro"/>
              </a:rPr>
              <a:t>Select Arabic text in any app.</a:t>
            </a:r>
          </a:p>
          <a:p>
            <a:pPr algn="l">
              <a:lnSpc>
                <a:spcPct val="125000"/>
              </a:lnSpc>
            </a:pPr>
            <a:r>
              <a:rPr sz="1800" b="0">
                <a:solidFill>
                  <a:srgbClr val="4A4842"/>
                </a:solidFill>
                <a:latin typeface="Readex Pro"/>
                <a:cs typeface="Readex Pro"/>
                <a:ea typeface="Readex Pro"/>
              </a:rPr>
              <a:t>Tap تبسيط. Bayan simplifies it</a:t>
            </a:r>
          </a:p>
          <a:p>
            <a:pPr algn="l">
              <a:lnSpc>
                <a:spcPct val="125000"/>
              </a:lnSpc>
            </a:pPr>
            <a:r>
              <a:rPr sz="1800" b="0">
                <a:solidFill>
                  <a:srgbClr val="4A4842"/>
                </a:solidFill>
                <a:latin typeface="Readex Pro"/>
                <a:cs typeface="Readex Pro"/>
                <a:ea typeface="Readex Pro"/>
              </a:rPr>
              <a:t>and reads it aloud.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timing>
    <p:tnLst>
      <p:par>
        <p:cTn id="1" dur="indefinite" restart="never" nodeType="tmRoot">
          <p:childTnLst>
            <p:video>
              <p:cMediaNode vol="80000">
                <p:cTn id="2" fill="hold" display="0">
                  <p:stCondLst>
                    <p:cond delay="0"/>
                  </p:stCondLst>
                </p:cTn>
                <p:tgtEl>
                  <p:spTgt spid="9"/>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9</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9 / 9</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