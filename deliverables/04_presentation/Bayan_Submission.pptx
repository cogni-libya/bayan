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8</a:t>
            </a:r>
          </a:p>
        </p:txBody>
      </p:sp>
      <p:pic>
        <p:nvPicPr>
          <p:cNvPr id="6" name="Bayan logo" descr="Bayan logo"/>
          <p:cNvPicPr>
            <a:picLocks noChangeAspect="1"/>
          </p:cNvPicPr>
          <p:nvPr/>
        </p:nvPicPr>
        <p:blipFill>
          <a:blip r:embed="rId3"/>
          <a:stretch>
            <a:fillRect/>
          </a:stretch>
        </p:blipFill>
        <p:spPr>
          <a:xfrm>
            <a:off x="3534156" y="804672"/>
            <a:ext cx="2834640" cy="1592713"/>
          </a:xfrm>
          <a:prstGeom prst="rect">
            <a:avLst/>
          </a:prstGeom>
        </p:spPr>
      </p:pic>
      <p:sp>
        <p:nvSpPr>
          <p:cNvPr id="7" name="TextBox 6"/>
          <p:cNvSpPr txBox="1"/>
          <p:nvPr/>
        </p:nvSpPr>
        <p:spPr>
          <a:xfrm>
            <a:off x="0" y="3794760"/>
            <a:ext cx="9902952" cy="777240"/>
          </a:xfrm>
          <a:prstGeom prst="rect">
            <a:avLst/>
          </a:prstGeom>
          <a:noFill/>
        </p:spPr>
        <p:txBody>
          <a:bodyPr wrap="square" lIns="0" rIns="0" tIns="0" bIns="0" anchor="ctr">
            <a:spAutoFit/>
          </a:bodyPr>
          <a:lstStyle/>
          <a:p>
            <a:pPr algn="ctr"/>
            <a:r>
              <a:rPr sz="5600" b="1">
                <a:solidFill>
                  <a:srgbClr val="F2EFE2"/>
                </a:solidFill>
                <a:latin typeface="Readex Pro"/>
                <a:cs typeface="Readex Pro"/>
                <a:ea typeface="Readex Pro"/>
              </a:rPr>
              <a:t>Bayan</a:t>
            </a:r>
          </a:p>
        </p:txBody>
      </p:sp>
      <p:sp>
        <p:nvSpPr>
          <p:cNvPr id="8" name="TextBox 7"/>
          <p:cNvSpPr txBox="1"/>
          <p:nvPr/>
        </p:nvSpPr>
        <p:spPr>
          <a:xfrm>
            <a:off x="0" y="4617720"/>
            <a:ext cx="9902952" cy="384048"/>
          </a:xfrm>
          <a:prstGeom prst="rect">
            <a:avLst/>
          </a:prstGeom>
          <a:noFill/>
        </p:spPr>
        <p:txBody>
          <a:bodyPr wrap="square" lIns="0" rIns="0" tIns="0" bIns="0" anchor="ctr">
            <a:spAutoFit/>
          </a:bodyPr>
          <a:lstStyle/>
          <a:p>
            <a:pPr algn="ctr"/>
            <a:r>
              <a:rPr sz="2000" b="0">
                <a:solidFill>
                  <a:srgbClr val="F2EFE2"/>
                </a:solidFill>
                <a:latin typeface="Readex Pro"/>
                <a:cs typeface="Readex Pro"/>
                <a:ea typeface="Readex Pro"/>
              </a:rPr>
              <a:t>Simplify Arabic where you read</a:t>
            </a:r>
          </a:p>
        </p:txBody>
      </p:sp>
      <p:sp>
        <p:nvSpPr>
          <p:cNvPr id="9" name="TextBox 8"/>
          <p:cNvSpPr txBox="1"/>
          <p:nvPr/>
        </p:nvSpPr>
        <p:spPr>
          <a:xfrm>
            <a:off x="0" y="5047488"/>
            <a:ext cx="9902952" cy="292608"/>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5486400"/>
            <a:ext cx="9902952" cy="310896"/>
          </a:xfrm>
          <a:prstGeom prst="rect">
            <a:avLst/>
          </a:prstGeom>
          <a:noFill/>
        </p:spPr>
        <p:txBody>
          <a:bodyPr wrap="square" lIns="0" rIns="0" tIns="0" bIns="0" anchor="ctr">
            <a:spAutoFit/>
          </a:bodyPr>
          <a:lstStyle/>
          <a:p>
            <a:pPr algn="ctr"/>
            <a:r>
              <a:rPr sz="1500" b="1">
                <a:solidFill>
                  <a:srgbClr val="C6986B"/>
                </a:solidFill>
                <a:latin typeface="Readex Pro"/>
                <a:cs typeface="Readex Pro"/>
                <a:ea typeface="Readex Pro"/>
              </a:rPr>
              <a:t>Team Cogni</a:t>
            </a:r>
          </a:p>
        </p:txBody>
      </p:sp>
      <p:sp>
        <p:nvSpPr>
          <p:cNvPr id="11" name="TextBox 10"/>
          <p:cNvSpPr txBox="1"/>
          <p:nvPr/>
        </p:nvSpPr>
        <p:spPr>
          <a:xfrm>
            <a:off x="566928" y="5833872"/>
            <a:ext cx="8769096" cy="256032"/>
          </a:xfrm>
          <a:prstGeom prst="rect">
            <a:avLst/>
          </a:prstGeom>
          <a:noFill/>
        </p:spPr>
        <p:txBody>
          <a:bodyPr wrap="square" lIns="0" rIns="0" tIns="0" bIns="0" anchor="ctr">
            <a:spAutoFit/>
          </a:bodyPr>
          <a:lstStyle/>
          <a:p>
            <a:pPr algn="ctr"/>
            <a:r>
              <a:rPr sz="10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TextBox 8"/>
          <p:cNvSpPr txBox="1"/>
          <p:nvPr/>
        </p:nvSpPr>
        <p:spPr>
          <a:xfrm>
            <a:off x="566928" y="1691640"/>
            <a:ext cx="3200400" cy="1051560"/>
          </a:xfrm>
          <a:prstGeom prst="rect">
            <a:avLst/>
          </a:prstGeom>
          <a:noFill/>
        </p:spPr>
        <p:txBody>
          <a:bodyPr wrap="square" lIns="0" rIns="0" tIns="0" bIns="0" anchor="ctr">
            <a:spAutoFit/>
          </a:bodyPr>
          <a:lstStyle/>
          <a:p>
            <a:pPr algn="ctr"/>
            <a:r>
              <a:rPr sz="8400" b="0">
                <a:solidFill>
                  <a:srgbClr val="C6986B"/>
                </a:solidFill>
                <a:latin typeface="Readex Pro"/>
                <a:cs typeface="Readex Pro"/>
                <a:ea typeface="Readex Pro"/>
              </a:rPr>
              <a:t>11%</a:t>
            </a:r>
          </a:p>
        </p:txBody>
      </p:sp>
      <p:sp>
        <p:nvSpPr>
          <p:cNvPr id="10" name="TextBox 9"/>
          <p:cNvSpPr txBox="1"/>
          <p:nvPr/>
        </p:nvSpPr>
        <p:spPr>
          <a:xfrm>
            <a:off x="566928" y="2788920"/>
            <a:ext cx="3200400" cy="685800"/>
          </a:xfrm>
          <a:prstGeom prst="rect">
            <a:avLst/>
          </a:prstGeom>
          <a:noFill/>
        </p:spPr>
        <p:txBody>
          <a:bodyPr wrap="square" lIns="0" rIns="0" tIns="0" bIns="0" anchor="ctr">
            <a:spAutoFit/>
          </a:bodyPr>
          <a:lstStyle/>
          <a:p>
            <a:pPr algn="ctr">
              <a:lnSpc>
                <a:spcPct val="105000"/>
              </a:lnSpc>
            </a:pPr>
            <a:r>
              <a:rPr sz="1500" b="0">
                <a:solidFill>
                  <a:srgbClr val="4A4842"/>
                </a:solidFill>
                <a:latin typeface="Readex Pro"/>
                <a:cs typeface="Readex Pro"/>
                <a:ea typeface="Readex Pro"/>
              </a:rPr>
              <a:t>of Arab primary-school children</a:t>
            </a:r>
          </a:p>
          <a:p>
            <a:pPr algn="ctr">
              <a:lnSpc>
                <a:spcPct val="105000"/>
              </a:lnSpc>
            </a:pPr>
            <a:r>
              <a:rPr sz="1500" b="0">
                <a:solidFill>
                  <a:srgbClr val="4A4842"/>
                </a:solidFill>
                <a:latin typeface="Readex Pro"/>
                <a:cs typeface="Readex Pro"/>
                <a:ea typeface="Readex Pro"/>
              </a:rPr>
              <a:t>have developmental dyslexia</a:t>
            </a:r>
          </a:p>
        </p:txBody>
      </p:sp>
      <p:sp>
        <p:nvSpPr>
          <p:cNvPr id="11" name="Rectangle 10"/>
          <p:cNvSpPr/>
          <p:nvPr/>
        </p:nvSpPr>
        <p:spPr>
          <a:xfrm>
            <a:off x="1069848" y="36393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9576" y="3611880"/>
            <a:ext cx="5943600" cy="201168"/>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Al-Dakhil 2024 · 18 studies, N = 30,243</a:t>
            </a:r>
          </a:p>
        </p:txBody>
      </p:sp>
      <p:sp>
        <p:nvSpPr>
          <p:cNvPr id="13" name="Rounded Rectangle 12"/>
          <p:cNvSpPr/>
          <p:nvPr/>
        </p:nvSpPr>
        <p:spPr>
          <a:xfrm>
            <a:off x="4069080" y="1572768"/>
            <a:ext cx="525780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1737360"/>
            <a:ext cx="5257800" cy="86868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5" name="TextBox 14"/>
          <p:cNvSpPr txBox="1"/>
          <p:nvPr/>
        </p:nvSpPr>
        <p:spPr>
          <a:xfrm>
            <a:off x="4069080" y="2651760"/>
            <a:ext cx="5257800"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6" name="Connector 15"/>
          <p:cNvCxnSpPr/>
          <p:nvPr/>
        </p:nvCxnSpPr>
        <p:spPr>
          <a:xfrm flipH="1">
            <a:off x="514350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6626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18" name="TextBox 17"/>
          <p:cNvSpPr txBox="1"/>
          <p:nvPr/>
        </p:nvSpPr>
        <p:spPr>
          <a:xfrm>
            <a:off x="436626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9" name="Connector 18"/>
          <p:cNvCxnSpPr/>
          <p:nvPr/>
        </p:nvCxnSpPr>
        <p:spPr>
          <a:xfrm>
            <a:off x="6697980" y="2990088"/>
            <a:ext cx="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2074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1" name="TextBox 20"/>
          <p:cNvSpPr txBox="1"/>
          <p:nvPr/>
        </p:nvSpPr>
        <p:spPr>
          <a:xfrm>
            <a:off x="592074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2" name="Connector 21"/>
          <p:cNvCxnSpPr/>
          <p:nvPr/>
        </p:nvCxnSpPr>
        <p:spPr>
          <a:xfrm>
            <a:off x="669798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7522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4" name="TextBox 23"/>
          <p:cNvSpPr txBox="1"/>
          <p:nvPr/>
        </p:nvSpPr>
        <p:spPr>
          <a:xfrm>
            <a:off x="747522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Rounded Rectangle 8"/>
          <p:cNvSpPr/>
          <p:nvPr/>
        </p:nvSpPr>
        <p:spPr>
          <a:xfrm>
            <a:off x="566928" y="1737360"/>
            <a:ext cx="4343400" cy="3977639"/>
          </a:xfrm>
          <a:prstGeom prst="roundRect">
            <a:avLst>
              <a:gd name="adj" fmla="val 367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38528"/>
            <a:ext cx="4343400" cy="347472"/>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What helps</a:t>
            </a:r>
          </a:p>
        </p:txBody>
      </p:sp>
      <p:sp>
        <p:nvSpPr>
          <p:cNvPr id="11" name="TextBox 10"/>
          <p:cNvSpPr txBox="1"/>
          <p:nvPr/>
        </p:nvSpPr>
        <p:spPr>
          <a:xfrm>
            <a:off x="886968" y="2606039"/>
            <a:ext cx="3703320" cy="2103120"/>
          </a:xfrm>
          <a:prstGeom prst="rect">
            <a:avLst/>
          </a:prstGeom>
          <a:noFill/>
        </p:spPr>
        <p:txBody>
          <a:bodyPr wrap="square" lIns="0" rIns="0" tIns="0" bIns="0" anchor="ctr">
            <a:spAutoFit/>
          </a:bodyPr>
          <a:lstStyle/>
          <a:p>
            <a:pPr algn="ctr">
              <a:lnSpc>
                <a:spcPct val="115000"/>
              </a:lnSpc>
            </a:pPr>
            <a:r>
              <a:rPr sz="1500" b="0">
                <a:solidFill>
                  <a:srgbClr val="4A4842"/>
                </a:solidFill>
                <a:latin typeface="Readex Pro"/>
                <a:cs typeface="Readex Pro"/>
                <a:ea typeface="Readex Pro"/>
              </a:rPr>
              <a:t>Splitting long clauses into</a:t>
            </a:r>
          </a:p>
          <a:p>
            <a:pPr algn="ctr">
              <a:lnSpc>
                <a:spcPct val="115000"/>
              </a:lnSpc>
            </a:pPr>
            <a:r>
              <a:rPr sz="1500" b="0">
                <a:solidFill>
                  <a:srgbClr val="4A4842"/>
                </a:solidFill>
                <a:latin typeface="Readex Pro"/>
                <a:cs typeface="Readex Pro"/>
                <a:ea typeface="Readex Pro"/>
              </a:rPr>
              <a:t>short sentences: read faster,</a:t>
            </a:r>
          </a:p>
          <a:p>
            <a:pPr algn="ctr">
              <a:lnSpc>
                <a:spcPct val="115000"/>
              </a:lnSpc>
            </a:pPr>
            <a:r>
              <a:rPr sz="1500" b="0">
                <a:solidFill>
                  <a:srgbClr val="4A4842"/>
                </a:solidFill>
                <a:latin typeface="Readex Pro"/>
                <a:cs typeface="Readex Pro"/>
                <a:ea typeface="Readex Pro"/>
              </a:rPr>
              <a:t>understood better, most by</a:t>
            </a:r>
          </a:p>
          <a:p>
            <a:pPr algn="ctr">
              <a:lnSpc>
                <a:spcPct val="115000"/>
              </a:lnSpc>
            </a:pPr>
            <a:r>
              <a:rPr sz="1500" b="0">
                <a:solidFill>
                  <a:srgbClr val="4A4842"/>
                </a:solidFill>
                <a:latin typeface="Readex Pro"/>
                <a:cs typeface="Readex Pro"/>
                <a:ea typeface="Readex Pro"/>
              </a:rPr>
              <a:t>the weakest readers.</a:t>
            </a:r>
          </a:p>
        </p:txBody>
      </p:sp>
      <p:sp>
        <p:nvSpPr>
          <p:cNvPr id="12" name="Rectangle 11"/>
          <p:cNvSpPr/>
          <p:nvPr/>
        </p:nvSpPr>
        <p:spPr>
          <a:xfrm>
            <a:off x="1069848" y="52395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52120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Javourey-Bonnet 2022</a:t>
            </a:r>
          </a:p>
        </p:txBody>
      </p:sp>
      <p:sp>
        <p:nvSpPr>
          <p:cNvPr id="14" name="Rounded Rectangle 13"/>
          <p:cNvSpPr/>
          <p:nvPr/>
        </p:nvSpPr>
        <p:spPr>
          <a:xfrm>
            <a:off x="5230368" y="1737360"/>
            <a:ext cx="4343400" cy="3977639"/>
          </a:xfrm>
          <a:prstGeom prst="roundRect">
            <a:avLst>
              <a:gd name="adj" fmla="val 32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938528"/>
            <a:ext cx="4343400" cy="347472"/>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Bayan's scope</a:t>
            </a:r>
          </a:p>
        </p:txBody>
      </p:sp>
      <p:sp>
        <p:nvSpPr>
          <p:cNvPr id="16" name="Rounded Rectangle 15"/>
          <p:cNvSpPr/>
          <p:nvPr/>
        </p:nvSpPr>
        <p:spPr>
          <a:xfrm>
            <a:off x="6034658" y="2788920"/>
            <a:ext cx="2734818" cy="397764"/>
          </a:xfrm>
          <a:prstGeom prst="roundRect">
            <a:avLst>
              <a:gd name="adj" fmla="val 2068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we reduce reading load</a:t>
            </a:r>
          </a:p>
        </p:txBody>
      </p:sp>
      <p:sp>
        <p:nvSpPr>
          <p:cNvPr id="17" name="Rounded Rectangle 16"/>
          <p:cNvSpPr/>
          <p:nvPr/>
        </p:nvSpPr>
        <p:spPr>
          <a:xfrm>
            <a:off x="5963284" y="3429000"/>
            <a:ext cx="2877566" cy="381000"/>
          </a:xfrm>
          <a:prstGeom prst="roundRect">
            <a:avLst>
              <a:gd name="adj" fmla="val 2159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long clauses · hard words</a:t>
            </a:r>
          </a:p>
        </p:txBody>
      </p:sp>
      <p:sp>
        <p:nvSpPr>
          <p:cNvPr id="18" name="Rounded Rectangle 17"/>
          <p:cNvSpPr/>
          <p:nvPr/>
        </p:nvSpPr>
        <p:spPr>
          <a:xfrm>
            <a:off x="5513958" y="4069079"/>
            <a:ext cx="3776218"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tashkeel is a setting · no reader claim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Rounded Rectangle 8"/>
          <p:cNvSpPr/>
          <p:nvPr/>
        </p:nvSpPr>
        <p:spPr>
          <a:xfrm>
            <a:off x="56692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SAMER · human-written</a:t>
            </a:r>
          </a:p>
        </p:txBody>
      </p:sp>
      <p:sp>
        <p:nvSpPr>
          <p:cNvPr id="11" name="Rounded Rectangle 10"/>
          <p:cNvSpPr/>
          <p:nvPr/>
        </p:nvSpPr>
        <p:spPr>
          <a:xfrm>
            <a:off x="1501203" y="2743200"/>
            <a:ext cx="2474849"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novels, short sentences</a:t>
            </a:r>
          </a:p>
        </p:txBody>
      </p:sp>
      <p:sp>
        <p:nvSpPr>
          <p:cNvPr id="12" name="Rounded Rectangle 11"/>
          <p:cNvSpPr/>
          <p:nvPr/>
        </p:nvSpPr>
        <p:spPr>
          <a:xfrm>
            <a:off x="1388109" y="3520440"/>
            <a:ext cx="2701036"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42–49% of pairs unchanged</a:t>
            </a:r>
          </a:p>
        </p:txBody>
      </p:sp>
      <p:sp>
        <p:nvSpPr>
          <p:cNvPr id="13" name="Rounded Rectangle 12"/>
          <p:cNvSpPr/>
          <p:nvPr/>
        </p:nvSpPr>
        <p:spPr>
          <a:xfrm>
            <a:off x="827881" y="4297680"/>
            <a:ext cx="3821493" cy="339090"/>
          </a:xfrm>
          <a:prstGeom prst="roundRect">
            <a:avLst>
              <a:gd name="adj" fmla="val 2426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length ratio 1.00: swaps words, never splits</a:t>
            </a:r>
          </a:p>
        </p:txBody>
      </p:sp>
      <p:sp>
        <p:nvSpPr>
          <p:cNvPr id="14" name="Rounded Rectangle 13"/>
          <p:cNvSpPr/>
          <p:nvPr/>
        </p:nvSpPr>
        <p:spPr>
          <a:xfrm>
            <a:off x="523036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Other sources · LLM-written</a:t>
            </a:r>
          </a:p>
        </p:txBody>
      </p:sp>
      <p:sp>
        <p:nvSpPr>
          <p:cNvPr id="16" name="Rounded Rectangle 15"/>
          <p:cNvSpPr/>
          <p:nvPr/>
        </p:nvSpPr>
        <p:spPr>
          <a:xfrm>
            <a:off x="5931852" y="2743200"/>
            <a:ext cx="29404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many targets are summaries</a:t>
            </a:r>
          </a:p>
        </p:txBody>
      </p:sp>
      <p:sp>
        <p:nvSpPr>
          <p:cNvPr id="17" name="Rounded Rectangle 16"/>
          <p:cNvSpPr/>
          <p:nvPr/>
        </p:nvSpPr>
        <p:spPr>
          <a:xfrm>
            <a:off x="5823711" y="3520440"/>
            <a:ext cx="3156712"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they drop facts, delete options</a:t>
            </a:r>
          </a:p>
        </p:txBody>
      </p:sp>
      <p:sp>
        <p:nvSpPr>
          <p:cNvPr id="18" name="Rounded Rectangle 17"/>
          <p:cNvSpPr/>
          <p:nvPr/>
        </p:nvSpPr>
        <p:spPr>
          <a:xfrm>
            <a:off x="5684202" y="4297680"/>
            <a:ext cx="34357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after a meaning filter: 6,888 pairs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corpus v0, our first synthetic data</a:t>
            </a:r>
          </a:p>
        </p:txBody>
      </p:sp>
      <p:sp>
        <p:nvSpPr>
          <p:cNvPr id="10" name="Rounded Rectangle 9"/>
          <p:cNvSpPr/>
          <p:nvPr/>
        </p:nvSpPr>
        <p:spPr>
          <a:xfrm>
            <a:off x="7452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DeepSeek: 5 candidates</a:t>
            </a:r>
          </a:p>
          <a:p>
            <a:pPr algn="ctr"/>
            <a:r>
              <a:rPr sz="1200" b="0">
                <a:solidFill>
                  <a:srgbClr val="4A4842"/>
                </a:solidFill>
                <a:latin typeface="Readex Pro"/>
                <a:cs typeface="Readex Pro"/>
                <a:ea typeface="Readex Pro"/>
              </a:rPr>
              <a:t>per source</a:t>
            </a:r>
          </a:p>
        </p:txBody>
      </p:sp>
      <p:sp>
        <p:nvSpPr>
          <p:cNvPr id="11" name="Rounded Rectangle 10"/>
          <p:cNvSpPr/>
          <p:nvPr/>
        </p:nvSpPr>
        <p:spPr>
          <a:xfrm>
            <a:off x="37170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LLM equivalence</a:t>
            </a:r>
          </a:p>
          <a:p>
            <a:pPr algn="ctr"/>
            <a:r>
              <a:rPr sz="1200" b="0">
                <a:solidFill>
                  <a:srgbClr val="4A4842"/>
                </a:solidFill>
                <a:latin typeface="Readex Pro"/>
                <a:cs typeface="Readex Pro"/>
                <a:ea typeface="Readex Pro"/>
              </a:rPr>
              <a:t>validator</a:t>
            </a:r>
          </a:p>
        </p:txBody>
      </p:sp>
      <p:cxnSp>
        <p:nvCxnSpPr>
          <p:cNvPr id="12" name="Connector 11"/>
          <p:cNvCxnSpPr/>
          <p:nvPr/>
        </p:nvCxnSpPr>
        <p:spPr>
          <a:xfrm>
            <a:off x="32141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888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CAMeL readability</a:t>
            </a:r>
          </a:p>
          <a:p>
            <a:pPr algn="ctr"/>
            <a:r>
              <a:rPr sz="1200" b="0">
                <a:solidFill>
                  <a:srgbClr val="4A4842"/>
                </a:solidFill>
                <a:latin typeface="Readex Pro"/>
                <a:cs typeface="Readex Pro"/>
                <a:ea typeface="Readex Pro"/>
              </a:rPr>
              <a:t>gate</a:t>
            </a:r>
          </a:p>
        </p:txBody>
      </p:sp>
      <p:cxnSp>
        <p:nvCxnSpPr>
          <p:cNvPr id="14" name="Connector 13"/>
          <p:cNvCxnSpPr/>
          <p:nvPr/>
        </p:nvCxnSpPr>
        <p:spPr>
          <a:xfrm>
            <a:off x="61859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2971800"/>
            <a:ext cx="8769096" cy="347472"/>
          </a:xfrm>
          <a:prstGeom prst="rect">
            <a:avLst/>
          </a:prstGeom>
          <a:noFill/>
        </p:spPr>
        <p:txBody>
          <a:bodyPr wrap="square" lIns="0" rIns="0" tIns="0" bIns="0" anchor="ctr">
            <a:spAutoFit/>
          </a:bodyPr>
          <a:lstStyle/>
          <a:p>
            <a:pPr algn="l"/>
            <a:r>
              <a:rPr sz="1700" b="1">
                <a:solidFill>
                  <a:srgbClr val="282824"/>
                </a:solidFill>
                <a:latin typeface="Readex Pro"/>
                <a:cs typeface="Readex Pro"/>
                <a:ea typeface="Readex Pro"/>
              </a:rPr>
              <a:t>What the audit found</a:t>
            </a:r>
          </a:p>
        </p:txBody>
      </p:sp>
      <p:sp>
        <p:nvSpPr>
          <p:cNvPr id="16" name="Rounded Rectangle 15"/>
          <p:cNvSpPr/>
          <p:nvPr/>
        </p:nvSpPr>
        <p:spPr>
          <a:xfrm>
            <a:off x="566928" y="3401568"/>
            <a:ext cx="2659761"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57% of rows had tashkeel</a:t>
            </a:r>
          </a:p>
        </p:txBody>
      </p:sp>
      <p:sp>
        <p:nvSpPr>
          <p:cNvPr id="17" name="Rounded Rectangle 16"/>
          <p:cNvSpPr/>
          <p:nvPr/>
        </p:nvSpPr>
        <p:spPr>
          <a:xfrm>
            <a:off x="566928" y="3877056"/>
            <a:ext cx="448576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63% of cut-off sources were simply completed</a:t>
            </a:r>
          </a:p>
        </p:txBody>
      </p:sp>
      <p:sp>
        <p:nvSpPr>
          <p:cNvPr id="18" name="Rounded Rectangle 17"/>
          <p:cNvSpPr/>
          <p:nvPr/>
        </p:nvSpPr>
        <p:spPr>
          <a:xfrm>
            <a:off x="566928" y="4352544"/>
            <a:ext cx="3843528"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only 43% of pairs were 2+ levels easier</a:t>
            </a:r>
          </a:p>
        </p:txBody>
      </p:sp>
      <p:sp>
        <p:nvSpPr>
          <p:cNvPr id="19" name="Rounded Rectangle 18"/>
          <p:cNvSpPr/>
          <p:nvPr/>
        </p:nvSpPr>
        <p:spPr>
          <a:xfrm>
            <a:off x="566928" y="5029200"/>
            <a:ext cx="7021067"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validator accepted 34% of planted added sentences · we trained nothing on v0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FROM THE SOURCE</a:t>
            </a:r>
          </a:p>
        </p:txBody>
      </p:sp>
      <p:sp>
        <p:nvSpPr>
          <p:cNvPr id="10" name="Rounded Rectangle 9"/>
          <p:cNvSpPr/>
          <p:nvPr/>
        </p:nvSpPr>
        <p:spPr>
          <a:xfrm>
            <a:off x="56692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BAREC train + dev</a:t>
            </a:r>
          </a:p>
        </p:txBody>
      </p:sp>
      <p:sp>
        <p:nvSpPr>
          <p:cNvPr id="12" name="TextBox 11"/>
          <p:cNvSpPr txBox="1"/>
          <p:nvPr/>
        </p:nvSpPr>
        <p:spPr>
          <a:xfrm>
            <a:off x="67665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test never enters</a:t>
            </a:r>
          </a:p>
        </p:txBody>
      </p:sp>
      <p:sp>
        <p:nvSpPr>
          <p:cNvPr id="13" name="Rounded Rectangle 12"/>
          <p:cNvSpPr/>
          <p:nvPr/>
        </p:nvSpPr>
        <p:spPr>
          <a:xfrm>
            <a:off x="56692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strip tashkeel and tatweel</a:t>
            </a:r>
          </a:p>
        </p:txBody>
      </p:sp>
      <p:sp>
        <p:nvSpPr>
          <p:cNvPr id="15" name="TextBox 14"/>
          <p:cNvSpPr txBox="1"/>
          <p:nvPr/>
        </p:nvSpPr>
        <p:spPr>
          <a:xfrm>
            <a:off x="67665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every text</a:t>
            </a:r>
          </a:p>
        </p:txBody>
      </p:sp>
      <p:cxnSp>
        <p:nvCxnSpPr>
          <p:cNvPr id="16" name="Connector 15"/>
          <p:cNvCxnSpPr/>
          <p:nvPr/>
        </p:nvCxnSpPr>
        <p:spPr>
          <a:xfrm>
            <a:off x="2738628"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route each source</a:t>
            </a:r>
          </a:p>
        </p:txBody>
      </p:sp>
      <p:sp>
        <p:nvSpPr>
          <p:cNvPr id="19" name="TextBox 18"/>
          <p:cNvSpPr txBox="1"/>
          <p:nvPr/>
        </p:nvSpPr>
        <p:spPr>
          <a:xfrm>
            <a:off x="67665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protected · short · hard  →  23,221 hard</a:t>
            </a:r>
          </a:p>
        </p:txBody>
      </p:sp>
      <p:cxnSp>
        <p:nvCxnSpPr>
          <p:cNvPr id="20" name="Connector 19"/>
          <p:cNvCxnSpPr/>
          <p:nvPr/>
        </p:nvCxnSpPr>
        <p:spPr>
          <a:xfrm>
            <a:off x="2738628"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INTO THE CORPUS</a:t>
            </a:r>
          </a:p>
        </p:txBody>
      </p:sp>
      <p:sp>
        <p:nvSpPr>
          <p:cNvPr id="22" name="Rounded Rectangle 21"/>
          <p:cNvSpPr/>
          <p:nvPr/>
        </p:nvSpPr>
        <p:spPr>
          <a:xfrm>
            <a:off x="523036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009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Gemma 4 31B writes candidates</a:t>
            </a:r>
          </a:p>
        </p:txBody>
      </p:sp>
      <p:sp>
        <p:nvSpPr>
          <p:cNvPr id="24" name="TextBox 23"/>
          <p:cNvSpPr txBox="1"/>
          <p:nvPr/>
        </p:nvSpPr>
        <p:spPr>
          <a:xfrm>
            <a:off x="534009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hard band only  →  23,205 responses</a:t>
            </a:r>
          </a:p>
        </p:txBody>
      </p:sp>
      <p:sp>
        <p:nvSpPr>
          <p:cNvPr id="25" name="Rounded Rectangle 24"/>
          <p:cNvSpPr/>
          <p:nvPr/>
        </p:nvSpPr>
        <p:spPr>
          <a:xfrm>
            <a:off x="523036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code gates</a:t>
            </a:r>
          </a:p>
        </p:txBody>
      </p:sp>
      <p:sp>
        <p:nvSpPr>
          <p:cNvPr id="27" name="TextBox 26"/>
          <p:cNvSpPr txBox="1"/>
          <p:nvPr/>
        </p:nvSpPr>
        <p:spPr>
          <a:xfrm>
            <a:off x="534009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numbers · quotes · options</a:t>
            </a:r>
          </a:p>
        </p:txBody>
      </p:sp>
      <p:cxnSp>
        <p:nvCxnSpPr>
          <p:cNvPr id="28" name="Connector 27"/>
          <p:cNvCxnSpPr/>
          <p:nvPr/>
        </p:nvCxnSpPr>
        <p:spPr>
          <a:xfrm>
            <a:off x="7402067"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23036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readability + meaning gates</a:t>
            </a:r>
          </a:p>
        </p:txBody>
      </p:sp>
      <p:sp>
        <p:nvSpPr>
          <p:cNvPr id="31" name="TextBox 30"/>
          <p:cNvSpPr txBox="1"/>
          <p:nvPr/>
        </p:nvSpPr>
        <p:spPr>
          <a:xfrm>
            <a:off x="534009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 2 levels · meaning gate  →  10,693 accepted</a:t>
            </a:r>
          </a:p>
        </p:txBody>
      </p:sp>
      <p:cxnSp>
        <p:nvCxnSpPr>
          <p:cNvPr id="32" name="Connector 31"/>
          <p:cNvCxnSpPr/>
          <p:nvPr/>
        </p:nvCxnSpPr>
        <p:spPr>
          <a:xfrm>
            <a:off x="7402067"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554480"/>
            <a:ext cx="8769096" cy="27432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from the source  →  into the corpus</a:t>
            </a:r>
          </a:p>
        </p:txBody>
      </p:sp>
      <p:sp>
        <p:nvSpPr>
          <p:cNvPr id="10" name="Rounded Rectangle 9"/>
          <p:cNvSpPr/>
          <p:nvPr/>
        </p:nvSpPr>
        <p:spPr>
          <a:xfrm>
            <a:off x="566928" y="2148840"/>
            <a:ext cx="4663440" cy="1143000"/>
          </a:xfrm>
          <a:prstGeom prst="roundRect">
            <a:avLst>
              <a:gd name="adj" fmla="val 9600"/>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13432"/>
            <a:ext cx="4663440" cy="502920"/>
          </a:xfrm>
          <a:prstGeom prst="rect">
            <a:avLst/>
          </a:prstGeom>
          <a:noFill/>
        </p:spPr>
        <p:txBody>
          <a:bodyPr wrap="square" lIns="0" rIns="0" tIns="0" bIns="0" anchor="ctr">
            <a:spAutoFit/>
          </a:bodyPr>
          <a:lstStyle/>
          <a:p>
            <a:pPr algn="ctr"/>
            <a:r>
              <a:rPr sz="3000" b="1">
                <a:solidFill>
                  <a:srgbClr val="8A5E35"/>
                </a:solidFill>
                <a:latin typeface="Readex Pro"/>
                <a:cs typeface="Readex Pro"/>
                <a:ea typeface="Readex Pro"/>
              </a:rPr>
              <a:t>14,975 rows</a:t>
            </a:r>
          </a:p>
        </p:txBody>
      </p:sp>
      <p:sp>
        <p:nvSpPr>
          <p:cNvPr id="12" name="TextBox 11"/>
          <p:cNvSpPr txBox="1"/>
          <p:nvPr/>
        </p:nvSpPr>
        <p:spPr>
          <a:xfrm>
            <a:off x="566928" y="2862072"/>
            <a:ext cx="4663440" cy="27432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0 rule violations · 0 leakage vs BAREC test</a:t>
            </a:r>
          </a:p>
        </p:txBody>
      </p:sp>
      <p:sp>
        <p:nvSpPr>
          <p:cNvPr id="13" name="Rounded Rectangle 12"/>
          <p:cNvSpPr/>
          <p:nvPr/>
        </p:nvSpPr>
        <p:spPr>
          <a:xfrm>
            <a:off x="5596128" y="2331720"/>
            <a:ext cx="2827782" cy="615696"/>
          </a:xfrm>
          <a:prstGeom prst="roundRect">
            <a:avLst>
              <a:gd name="adj" fmla="val 1336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blind audit of 1,039 pairs:</a:t>
            </a:r>
          </a:p>
          <a:p>
            <a:pPr algn="ctr"/>
            <a:r>
              <a:rPr sz="1400" b="0">
                <a:solidFill>
                  <a:srgbClr val="4A4842"/>
                </a:solidFill>
                <a:latin typeface="Readex Pro"/>
                <a:cs typeface="Readex Pro"/>
                <a:ea typeface="Readex Pro"/>
              </a:rPr>
              <a:t>1.7% meaning changed</a:t>
            </a:r>
          </a:p>
        </p:txBody>
      </p:sp>
      <p:sp>
        <p:nvSpPr>
          <p:cNvPr id="14" name="Rounded Rectangle 13"/>
          <p:cNvSpPr/>
          <p:nvPr/>
        </p:nvSpPr>
        <p:spPr>
          <a:xfrm>
            <a:off x="1920493" y="3977639"/>
            <a:ext cx="6061964" cy="381000"/>
          </a:xfrm>
          <a:prstGeom prst="roundRect">
            <a:avLst>
              <a:gd name="adj" fmla="val 21599"/>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every gate in corpus v1 exists because of a failure we saw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cxnSp>
        <p:nvCxnSpPr>
          <p:cNvPr id="14" name="Connector 13"/>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6" name="Rounded Rectangle 15"/>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7" name="Rounded Rectangle 16"/>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8" name="Rounded Rectangle 17"/>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
        <p:nvSpPr>
          <p:cNvPr id="14" name="TextBox 13"/>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5" name="Rounded Rectangle 14"/>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6" name="Rounded Rectangle 15"/>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7" name="Rounded Rectangle 16"/>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cxnSp>
        <p:nvCxnSpPr>
          <p:cNvPr id="19" name="Connector 18"/>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4885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corpus v1</a:t>
            </a:r>
          </a:p>
        </p:txBody>
      </p:sp>
      <p:sp>
        <p:nvSpPr>
          <p:cNvPr id="21" name="Rounded Rectangle 20"/>
          <p:cNvSpPr/>
          <p:nvPr/>
        </p:nvSpPr>
        <p:spPr>
          <a:xfrm>
            <a:off x="6848856" y="2221991"/>
            <a:ext cx="2788920" cy="475488"/>
          </a:xfrm>
          <a:prstGeom prst="roundRect">
            <a:avLst>
              <a:gd name="adj" fmla="val 1923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1A1A14"/>
                </a:solidFill>
                <a:latin typeface="Readex Pro"/>
                <a:cs typeface="Readex Pro"/>
                <a:ea typeface="Readex Pro"/>
              </a:rPr>
              <a:t>v0.3</a:t>
            </a:r>
          </a:p>
        </p:txBody>
      </p:sp>
      <p:sp>
        <p:nvSpPr>
          <p:cNvPr id="22" name="Rounded Rectangle 21"/>
          <p:cNvSpPr/>
          <p:nvPr/>
        </p:nvSpPr>
        <p:spPr>
          <a:xfrm>
            <a:off x="684885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corpus v1, 14,975 rows,</a:t>
            </a:r>
          </a:p>
          <a:p>
            <a:pPr algn="ctr"/>
            <a:r>
              <a:rPr sz="1200" b="0">
                <a:solidFill>
                  <a:srgbClr val="4A4842"/>
                </a:solidFill>
                <a:latin typeface="Readex Pro"/>
                <a:cs typeface="Readex Pro"/>
                <a:ea typeface="Readex Pro"/>
              </a:rPr>
              <a:t>no tag</a:t>
            </a:r>
          </a:p>
        </p:txBody>
      </p:sp>
      <p:sp>
        <p:nvSpPr>
          <p:cNvPr id="23" name="Rounded Rectangle 22"/>
          <p:cNvSpPr/>
          <p:nvPr/>
        </p:nvSpPr>
        <p:spPr>
          <a:xfrm>
            <a:off x="684885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858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Our best: cuts 9.5 words from the</a:t>
            </a:r>
          </a:p>
          <a:p>
            <a:pPr algn="ctr">
              <a:lnSpc>
                <a:spcPct val="108000"/>
              </a:lnSpc>
            </a:pPr>
            <a:r>
              <a:rPr sz="1150" b="0">
                <a:solidFill>
                  <a:srgbClr val="B5533C"/>
                </a:solidFill>
                <a:latin typeface="Readex Pro"/>
                <a:cs typeface="Readex Pro"/>
                <a:ea typeface="Readex Pro"/>
              </a:rPr>
              <a:t>longest clause vs 4.5, with about</a:t>
            </a:r>
          </a:p>
          <a:p>
            <a:pPr algn="ctr">
              <a:lnSpc>
                <a:spcPct val="108000"/>
              </a:lnSpc>
            </a:pPr>
            <a:r>
              <a:rPr sz="1150" b="0">
                <a:solidFill>
                  <a:srgbClr val="B5533C"/>
                </a:solidFill>
                <a:latin typeface="Readex Pro"/>
                <a:cs typeface="Readex Pro"/>
                <a:ea typeface="Readex Pro"/>
              </a:rPr>
              <a:t>the same meaning (vs v0.2, no tag).</a:t>
            </a:r>
          </a:p>
        </p:txBody>
      </p:sp>
      <p:cxnSp>
        <p:nvCxnSpPr>
          <p:cNvPr id="25" name="Connector 24"/>
          <p:cNvCxnSpPr/>
          <p:nvPr/>
        </p:nvCxnSpPr>
        <p:spPr>
          <a:xfrm>
            <a:off x="640080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532120"/>
            <a:ext cx="1463040" cy="256032"/>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Tried and dropped:</a:t>
            </a:r>
          </a:p>
        </p:txBody>
      </p:sp>
      <p:sp>
        <p:nvSpPr>
          <p:cNvPr id="27" name="Rounded Rectangle 26"/>
          <p:cNvSpPr/>
          <p:nvPr/>
        </p:nvSpPr>
        <p:spPr>
          <a:xfrm>
            <a:off x="2075688" y="5513832"/>
            <a:ext cx="1375155"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student DPO</a:t>
            </a:r>
          </a:p>
        </p:txBody>
      </p:sp>
      <p:sp>
        <p:nvSpPr>
          <p:cNvPr id="28" name="Rounded Rectangle 27"/>
          <p:cNvSpPr/>
          <p:nvPr/>
        </p:nvSpPr>
        <p:spPr>
          <a:xfrm>
            <a:off x="3661155" y="5513832"/>
            <a:ext cx="2026158"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minimum-risk training</a:t>
            </a:r>
          </a:p>
        </p:txBody>
      </p:sp>
      <p:sp>
        <p:nvSpPr>
          <p:cNvPr id="29" name="Rounded Rectangle 28"/>
          <p:cNvSpPr/>
          <p:nvPr/>
        </p:nvSpPr>
        <p:spPr>
          <a:xfrm>
            <a:off x="5897626" y="5513832"/>
            <a:ext cx="1552574"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fluency retrain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481328"/>
            <a:ext cx="6035040" cy="384048"/>
          </a:xfrm>
          <a:prstGeom prst="rect">
            <a:avLst/>
          </a:prstGeom>
          <a:noFill/>
        </p:spPr>
        <p:txBody>
          <a:bodyPr wrap="square" lIns="0" rIns="0" tIns="0" bIns="0" anchor="ctr">
            <a:spAutoFit/>
          </a:bodyPr>
          <a:lstStyle/>
          <a:p>
            <a:pPr algn="l"/>
            <a:r>
              <a:rPr sz="2000" b="1">
                <a:solidFill>
                  <a:srgbClr val="282824"/>
                </a:solidFill>
                <a:latin typeface="Readex Pro"/>
                <a:cs typeface="Readex Pro"/>
                <a:ea typeface="Readex Pro"/>
              </a:rPr>
              <a:t>Copying is the baseline to beat</a:t>
            </a:r>
          </a:p>
        </p:txBody>
      </p:sp>
      <p:sp>
        <p:nvSpPr>
          <p:cNvPr id="10" name="TextBox 9"/>
          <p:cNvSpPr txBox="1"/>
          <p:nvPr/>
        </p:nvSpPr>
        <p:spPr>
          <a:xfrm>
            <a:off x="3675887" y="1938528"/>
            <a:ext cx="1188720" cy="25603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meaning kept</a:t>
            </a:r>
          </a:p>
        </p:txBody>
      </p:sp>
      <p:sp>
        <p:nvSpPr>
          <p:cNvPr id="11" name="TextBox 10"/>
          <p:cNvSpPr txBox="1"/>
          <p:nvPr/>
        </p:nvSpPr>
        <p:spPr>
          <a:xfrm>
            <a:off x="5001768" y="1938528"/>
            <a:ext cx="1554480" cy="256032"/>
          </a:xfrm>
          <a:prstGeom prst="rect">
            <a:avLst/>
          </a:prstGeom>
          <a:noFill/>
        </p:spPr>
        <p:txBody>
          <a:bodyPr wrap="square" lIns="0" rIns="0" tIns="0" bIns="0" anchor="ctr">
            <a:spAutoFit/>
          </a:bodyPr>
          <a:lstStyle/>
          <a:p>
            <a:pPr algn="ctr">
              <a:lnSpc>
                <a:spcPct val="95000"/>
              </a:lnSpc>
            </a:pPr>
            <a:r>
              <a:rPr sz="1050" b="0">
                <a:solidFill>
                  <a:srgbClr val="6F6B5E"/>
                </a:solidFill>
                <a:latin typeface="Readex Pro"/>
                <a:cs typeface="Readex Pro"/>
                <a:ea typeface="Readex Pro"/>
              </a:rPr>
              <a:t>words cut from</a:t>
            </a:r>
          </a:p>
          <a:p>
            <a:pPr algn="ctr">
              <a:lnSpc>
                <a:spcPct val="95000"/>
              </a:lnSpc>
            </a:pPr>
            <a:r>
              <a:rPr sz="1050" b="0">
                <a:solidFill>
                  <a:srgbClr val="6F6B5E"/>
                </a:solidFill>
                <a:latin typeface="Readex Pro"/>
                <a:cs typeface="Readex Pro"/>
                <a:ea typeface="Readex Pro"/>
              </a:rPr>
              <a:t>the longest clause</a:t>
            </a:r>
          </a:p>
        </p:txBody>
      </p:sp>
      <p:sp>
        <p:nvSpPr>
          <p:cNvPr id="12" name="Rounded Rectangle 11"/>
          <p:cNvSpPr/>
          <p:nvPr/>
        </p:nvSpPr>
        <p:spPr>
          <a:xfrm>
            <a:off x="566928" y="2286000"/>
            <a:ext cx="6126480" cy="402336"/>
          </a:xfrm>
          <a:prstGeom prst="roundRect">
            <a:avLst>
              <a:gd name="adj" fmla="val 1818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40864"/>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Copy the input</a:t>
            </a:r>
          </a:p>
        </p:txBody>
      </p:sp>
      <p:sp>
        <p:nvSpPr>
          <p:cNvPr id="14" name="TextBox 13"/>
          <p:cNvSpPr txBox="1"/>
          <p:nvPr/>
        </p:nvSpPr>
        <p:spPr>
          <a:xfrm>
            <a:off x="3675887" y="2340864"/>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100%</a:t>
            </a:r>
          </a:p>
        </p:txBody>
      </p:sp>
      <p:sp>
        <p:nvSpPr>
          <p:cNvPr id="15" name="TextBox 14"/>
          <p:cNvSpPr txBox="1"/>
          <p:nvPr/>
        </p:nvSpPr>
        <p:spPr>
          <a:xfrm>
            <a:off x="5001768" y="2340864"/>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16" name="Rounded Rectangle 15"/>
          <p:cNvSpPr/>
          <p:nvPr/>
        </p:nvSpPr>
        <p:spPr>
          <a:xfrm>
            <a:off x="566928" y="2761488"/>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16352"/>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v0.1</a:t>
            </a:r>
          </a:p>
        </p:txBody>
      </p:sp>
      <p:sp>
        <p:nvSpPr>
          <p:cNvPr id="18" name="TextBox 17"/>
          <p:cNvSpPr txBox="1"/>
          <p:nvPr/>
        </p:nvSpPr>
        <p:spPr>
          <a:xfrm>
            <a:off x="3675887" y="2816352"/>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76%</a:t>
            </a:r>
          </a:p>
        </p:txBody>
      </p:sp>
      <p:sp>
        <p:nvSpPr>
          <p:cNvPr id="19" name="TextBox 18"/>
          <p:cNvSpPr txBox="1"/>
          <p:nvPr/>
        </p:nvSpPr>
        <p:spPr>
          <a:xfrm>
            <a:off x="5001768" y="2816352"/>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20" name="Rounded Rectangle 19"/>
          <p:cNvSpPr/>
          <p:nvPr/>
        </p:nvSpPr>
        <p:spPr>
          <a:xfrm>
            <a:off x="566928" y="3236976"/>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91840"/>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 (AraT5v2)</a:t>
            </a:r>
          </a:p>
        </p:txBody>
      </p:sp>
      <p:sp>
        <p:nvSpPr>
          <p:cNvPr id="22" name="TextBox 21"/>
          <p:cNvSpPr txBox="1"/>
          <p:nvPr/>
        </p:nvSpPr>
        <p:spPr>
          <a:xfrm>
            <a:off x="3675887" y="3291840"/>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68%</a:t>
            </a:r>
          </a:p>
        </p:txBody>
      </p:sp>
      <p:sp>
        <p:nvSpPr>
          <p:cNvPr id="23" name="TextBox 22"/>
          <p:cNvSpPr txBox="1"/>
          <p:nvPr/>
        </p:nvSpPr>
        <p:spPr>
          <a:xfrm>
            <a:off x="5001768" y="3291840"/>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4.5</a:t>
            </a:r>
          </a:p>
        </p:txBody>
      </p:sp>
      <p:sp>
        <p:nvSpPr>
          <p:cNvPr id="24" name="Rounded Rectangle 23"/>
          <p:cNvSpPr/>
          <p:nvPr/>
        </p:nvSpPr>
        <p:spPr>
          <a:xfrm>
            <a:off x="566928" y="3712464"/>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 (AraBART)</a:t>
            </a:r>
          </a:p>
        </p:txBody>
      </p:sp>
      <p:sp>
        <p:nvSpPr>
          <p:cNvPr id="26" name="TextBox 25"/>
          <p:cNvSpPr txBox="1"/>
          <p:nvPr/>
        </p:nvSpPr>
        <p:spPr>
          <a:xfrm>
            <a:off x="3675887" y="3767328"/>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51%</a:t>
            </a:r>
          </a:p>
        </p:txBody>
      </p:sp>
      <p:sp>
        <p:nvSpPr>
          <p:cNvPr id="27" name="TextBox 26"/>
          <p:cNvSpPr txBox="1"/>
          <p:nvPr/>
        </p:nvSpPr>
        <p:spPr>
          <a:xfrm>
            <a:off x="5001768" y="3767328"/>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4.9</a:t>
            </a:r>
          </a:p>
        </p:txBody>
      </p:sp>
      <p:sp>
        <p:nvSpPr>
          <p:cNvPr id="28" name="Rounded Rectangle 27"/>
          <p:cNvSpPr/>
          <p:nvPr/>
        </p:nvSpPr>
        <p:spPr>
          <a:xfrm>
            <a:off x="566928" y="4187952"/>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242816"/>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30" name="TextBox 29"/>
          <p:cNvSpPr txBox="1"/>
          <p:nvPr/>
        </p:nvSpPr>
        <p:spPr>
          <a:xfrm>
            <a:off x="3675887" y="4242816"/>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69%</a:t>
            </a:r>
          </a:p>
        </p:txBody>
      </p:sp>
      <p:sp>
        <p:nvSpPr>
          <p:cNvPr id="31" name="TextBox 30"/>
          <p:cNvSpPr txBox="1"/>
          <p:nvPr/>
        </p:nvSpPr>
        <p:spPr>
          <a:xfrm>
            <a:off x="5001768" y="4242816"/>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9.5</a:t>
            </a:r>
          </a:p>
        </p:txBody>
      </p:sp>
      <p:sp>
        <p:nvSpPr>
          <p:cNvPr id="32" name="TextBox 31"/>
          <p:cNvSpPr txBox="1"/>
          <p:nvPr/>
        </p:nvSpPr>
        <p:spPr>
          <a:xfrm>
            <a:off x="566928" y="4892040"/>
            <a:ext cx="6126480" cy="384048"/>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test core items, as trained (float, greedy) · the shipped app model with four beams is on the results slide</a:t>
            </a:r>
          </a:p>
        </p:txBody>
      </p:sp>
      <p:sp>
        <p:nvSpPr>
          <p:cNvPr id="33" name="Rounded Rectangle 32"/>
          <p:cNvSpPr/>
          <p:nvPr/>
        </p:nvSpPr>
        <p:spPr>
          <a:xfrm>
            <a:off x="7013448" y="2286000"/>
            <a:ext cx="2331720" cy="2606040"/>
          </a:xfrm>
          <a:prstGeom prst="roundRect">
            <a:avLst>
              <a:gd name="adj" fmla="val 4705"/>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2606040"/>
            <a:ext cx="2331720" cy="548640"/>
          </a:xfrm>
          <a:prstGeom prst="rect">
            <a:avLst/>
          </a:prstGeom>
          <a:noFill/>
        </p:spPr>
        <p:txBody>
          <a:bodyPr wrap="square" lIns="0" rIns="0" tIns="0" bIns="0" anchor="ctr">
            <a:spAutoFit/>
          </a:bodyPr>
          <a:lstStyle/>
          <a:p>
            <a:pPr algn="ctr"/>
            <a:r>
              <a:rPr sz="3200" b="1">
                <a:solidFill>
                  <a:srgbClr val="8A5E35"/>
                </a:solidFill>
                <a:latin typeface="Readex Pro"/>
                <a:cs typeface="Readex Pro"/>
                <a:ea typeface="Readex Pro"/>
              </a:rPr>
              <a:t>1,981</a:t>
            </a:r>
          </a:p>
        </p:txBody>
      </p:sp>
      <p:sp>
        <p:nvSpPr>
          <p:cNvPr id="35" name="TextBox 34"/>
          <p:cNvSpPr txBox="1"/>
          <p:nvPr/>
        </p:nvSpPr>
        <p:spPr>
          <a:xfrm>
            <a:off x="7013448" y="3246120"/>
            <a:ext cx="2331720" cy="256032"/>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items, split by document</a:t>
            </a:r>
          </a:p>
        </p:txBody>
      </p:sp>
      <p:sp>
        <p:nvSpPr>
          <p:cNvPr id="36" name="TextBox 35"/>
          <p:cNvSpPr txBox="1"/>
          <p:nvPr/>
        </p:nvSpPr>
        <p:spPr>
          <a:xfrm>
            <a:off x="7013448" y="3611880"/>
            <a:ext cx="233172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731 dev · 1,250 test</a:t>
            </a:r>
          </a:p>
        </p:txBody>
      </p:sp>
      <p:sp>
        <p:nvSpPr>
          <p:cNvPr id="37" name="TextBox 36"/>
          <p:cNvSpPr txBox="1"/>
          <p:nvPr/>
        </p:nvSpPr>
        <p:spPr>
          <a:xfrm>
            <a:off x="7013448" y="4434840"/>
            <a:ext cx="2331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BayanBench v2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301752" y="1659636"/>
            <a:ext cx="2212848"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original + rewrite</a:t>
            </a:r>
          </a:p>
        </p:txBody>
      </p:sp>
      <p:sp>
        <p:nvSpPr>
          <p:cNvPr id="10" name="Rounded Rectangle 9"/>
          <p:cNvSpPr/>
          <p:nvPr/>
        </p:nvSpPr>
        <p:spPr>
          <a:xfrm>
            <a:off x="3265322" y="1440180"/>
            <a:ext cx="2651760" cy="868680"/>
          </a:xfrm>
          <a:prstGeom prst="roundRect">
            <a:avLst>
              <a:gd name="adj" fmla="val 12631"/>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65322" y="1568195"/>
            <a:ext cx="2651760" cy="310896"/>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Gemma 4 31B</a:t>
            </a:r>
          </a:p>
        </p:txBody>
      </p:sp>
      <p:sp>
        <p:nvSpPr>
          <p:cNvPr id="12" name="TextBox 11"/>
          <p:cNvSpPr txBox="1"/>
          <p:nvPr/>
        </p:nvSpPr>
        <p:spPr>
          <a:xfrm>
            <a:off x="3265322" y="1915667"/>
            <a:ext cx="26517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open model · reruns anywhere</a:t>
            </a:r>
          </a:p>
        </p:txBody>
      </p:sp>
      <p:sp>
        <p:nvSpPr>
          <p:cNvPr id="13" name="Rounded Rectangle 12"/>
          <p:cNvSpPr/>
          <p:nvPr/>
        </p:nvSpPr>
        <p:spPr>
          <a:xfrm>
            <a:off x="6492240" y="1676095"/>
            <a:ext cx="3277209"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7 yes/no questions → P(yes)</a:t>
            </a:r>
          </a:p>
        </p:txBody>
      </p:sp>
      <p:cxnSp>
        <p:nvCxnSpPr>
          <p:cNvPr id="14" name="Connector 13"/>
          <p:cNvCxnSpPr/>
          <p:nvPr/>
        </p:nvCxnSpPr>
        <p:spPr>
          <a:xfrm>
            <a:off x="2587752" y="1874519"/>
            <a:ext cx="604418"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90234" y="1874519"/>
            <a:ext cx="428854"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Meaning · 4 questions</a:t>
            </a:r>
          </a:p>
        </p:txBody>
      </p:sp>
      <p:sp>
        <p:nvSpPr>
          <p:cNvPr id="18" name="Rounded Rectangle 17"/>
          <p:cNvSpPr/>
          <p:nvPr/>
        </p:nvSpPr>
        <p:spPr>
          <a:xfrm>
            <a:off x="694944" y="3218688"/>
            <a:ext cx="4178807" cy="530352"/>
          </a:xfrm>
          <a:prstGeom prst="roundRect">
            <a:avLst>
              <a:gd name="adj" fmla="val 15517"/>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1">
                <a:solidFill>
                  <a:srgbClr val="1A1A14"/>
                </a:solidFill>
                <a:latin typeface="Readex Pro"/>
                <a:cs typeface="Readex Pro"/>
                <a:ea typeface="Readex Pro"/>
              </a:rPr>
              <a:t>same meaning?  kept = yes ≥ 0.5 and every number kept</a:t>
            </a:r>
          </a:p>
        </p:txBody>
      </p:sp>
      <p:sp>
        <p:nvSpPr>
          <p:cNvPr id="19" name="Rounded Rectangle 18"/>
          <p:cNvSpPr/>
          <p:nvPr/>
        </p:nvSpPr>
        <p:spPr>
          <a:xfrm>
            <a:off x="694944"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adds a fact?</a:t>
            </a:r>
          </a:p>
        </p:txBody>
      </p:sp>
      <p:sp>
        <p:nvSpPr>
          <p:cNvPr id="20" name="Rounded Rectangle 19"/>
          <p:cNvSpPr/>
          <p:nvPr/>
        </p:nvSpPr>
        <p:spPr>
          <a:xfrm>
            <a:off x="694944"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drops a fact?</a:t>
            </a:r>
          </a:p>
        </p:txBody>
      </p:sp>
      <p:sp>
        <p:nvSpPr>
          <p:cNvPr id="21" name="Rounded Rectangle 20"/>
          <p:cNvSpPr/>
          <p:nvPr/>
        </p:nvSpPr>
        <p:spPr>
          <a:xfrm>
            <a:off x="694944" y="513892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contradicts?</a:t>
            </a:r>
          </a:p>
        </p:txBody>
      </p:sp>
      <p:sp>
        <p:nvSpPr>
          <p:cNvPr id="22" name="Rounded Rectangle 21"/>
          <p:cNvSpPr/>
          <p:nvPr/>
        </p:nvSpPr>
        <p:spPr>
          <a:xfrm>
            <a:off x="5321807"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7"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Quality · 3 questions, diagnostic</a:t>
            </a:r>
          </a:p>
        </p:txBody>
      </p:sp>
      <p:sp>
        <p:nvSpPr>
          <p:cNvPr id="24" name="Rounded Rectangle 23"/>
          <p:cNvSpPr/>
          <p:nvPr/>
        </p:nvSpPr>
        <p:spPr>
          <a:xfrm>
            <a:off x="5449823" y="321868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Arabic correct?</a:t>
            </a:r>
          </a:p>
        </p:txBody>
      </p:sp>
      <p:sp>
        <p:nvSpPr>
          <p:cNvPr id="25" name="Rounded Rectangle 24"/>
          <p:cNvSpPr/>
          <p:nvPr/>
        </p:nvSpPr>
        <p:spPr>
          <a:xfrm>
            <a:off x="5449823"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coherent?</a:t>
            </a:r>
          </a:p>
        </p:txBody>
      </p:sp>
      <p:sp>
        <p:nvSpPr>
          <p:cNvPr id="26" name="Rounded Rectangle 25"/>
          <p:cNvSpPr/>
          <p:nvPr/>
        </p:nvSpPr>
        <p:spPr>
          <a:xfrm>
            <a:off x="5449823"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easier to read?</a:t>
            </a:r>
          </a:p>
        </p:txBody>
      </p:sp>
      <p:sp>
        <p:nvSpPr>
          <p:cNvPr id="27" name="TextBox 26"/>
          <p:cNvSpPr txBox="1"/>
          <p:nvPr/>
        </p:nvSpPr>
        <p:spPr>
          <a:xfrm>
            <a:off x="5504688" y="5934455"/>
            <a:ext cx="4069079" cy="256032"/>
          </a:xfrm>
          <a:prstGeom prst="rect">
            <a:avLst/>
          </a:prstGeom>
          <a:noFill/>
        </p:spPr>
        <p:txBody>
          <a:bodyPr wrap="square" lIns="0" rIns="0" tIns="0" bIns="0" anchor="ctr">
            <a:spAutoFit/>
          </a:bodyPr>
          <a:lstStyle/>
          <a:p>
            <a:pPr algn="ctr"/>
            <a:r>
              <a:rPr sz="950" b="0">
                <a:solidFill>
                  <a:srgbClr val="6F6B5E"/>
                </a:solidFill>
                <a:latin typeface="Readex Pro"/>
                <a:cs typeface="Readex Pro"/>
                <a:ea typeface="Readex Pro"/>
              </a:rPr>
              <a:t>people barely agree on these: never used to decide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35661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Meaning</a:t>
            </a:r>
          </a:p>
        </p:txBody>
      </p:sp>
      <p:sp>
        <p:nvSpPr>
          <p:cNvPr id="11" name="TextBox 10"/>
          <p:cNvSpPr txBox="1"/>
          <p:nvPr/>
        </p:nvSpPr>
        <p:spPr>
          <a:xfrm>
            <a:off x="58521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still say the same thing?</a:t>
            </a:r>
          </a:p>
          <a:p>
            <a:pPr algn="ctr">
              <a:lnSpc>
                <a:spcPct val="110000"/>
              </a:lnSpc>
            </a:pPr>
            <a:r>
              <a:rPr sz="1300" b="0">
                <a:solidFill>
                  <a:srgbClr val="4A4842"/>
                </a:solidFill>
                <a:latin typeface="Readex Pro"/>
                <a:cs typeface="Readex Pro"/>
                <a:ea typeface="Readex Pro"/>
              </a:rPr>
              <a:t>Same meaning, every number intact.</a:t>
            </a:r>
          </a:p>
        </p:txBody>
      </p:sp>
      <p:sp>
        <p:nvSpPr>
          <p:cNvPr id="12" name="Rounded Rectangle 11"/>
          <p:cNvSpPr/>
          <p:nvPr/>
        </p:nvSpPr>
        <p:spPr>
          <a:xfrm>
            <a:off x="511149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Simpler</a:t>
            </a:r>
          </a:p>
        </p:txBody>
      </p:sp>
      <p:sp>
        <p:nvSpPr>
          <p:cNvPr id="14" name="TextBox 13"/>
          <p:cNvSpPr txBox="1"/>
          <p:nvPr/>
        </p:nvSpPr>
        <p:spPr>
          <a:xfrm>
            <a:off x="534009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Are long clauses shorter?</a:t>
            </a:r>
          </a:p>
          <a:p>
            <a:pPr algn="ctr">
              <a:lnSpc>
                <a:spcPct val="110000"/>
              </a:lnSpc>
            </a:pPr>
            <a:r>
              <a:rPr sz="1300" b="0">
                <a:solidFill>
                  <a:srgbClr val="4A4842"/>
                </a:solidFill>
                <a:latin typeface="Readex Pro"/>
                <a:cs typeface="Readex Pro"/>
                <a:ea typeface="Readex Pro"/>
              </a:rPr>
              <a:t>Words cut from the longest clause.</a:t>
            </a:r>
          </a:p>
        </p:txBody>
      </p:sp>
      <p:sp>
        <p:nvSpPr>
          <p:cNvPr id="15" name="Rounded Rectangle 14"/>
          <p:cNvSpPr/>
          <p:nvPr/>
        </p:nvSpPr>
        <p:spPr>
          <a:xfrm>
            <a:off x="35661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Restraint</a:t>
            </a:r>
          </a:p>
        </p:txBody>
      </p:sp>
      <p:sp>
        <p:nvSpPr>
          <p:cNvPr id="17" name="TextBox 16"/>
          <p:cNvSpPr txBox="1"/>
          <p:nvPr/>
        </p:nvSpPr>
        <p:spPr>
          <a:xfrm>
            <a:off x="58521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leave alone what should</a:t>
            </a:r>
          </a:p>
          <a:p>
            <a:pPr algn="ctr">
              <a:lnSpc>
                <a:spcPct val="110000"/>
              </a:lnSpc>
            </a:pPr>
            <a:r>
              <a:rPr sz="1300" b="0">
                <a:solidFill>
                  <a:srgbClr val="4A4842"/>
                </a:solidFill>
                <a:latin typeface="Readex Pro"/>
                <a:cs typeface="Readex Pro"/>
                <a:ea typeface="Readex Pro"/>
              </a:rPr>
              <a:t>stay? Easy text, scripture.</a:t>
            </a:r>
          </a:p>
        </p:txBody>
      </p:sp>
      <p:sp>
        <p:nvSpPr>
          <p:cNvPr id="18" name="Rounded Rectangle 17"/>
          <p:cNvSpPr/>
          <p:nvPr/>
        </p:nvSpPr>
        <p:spPr>
          <a:xfrm>
            <a:off x="511149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149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Copying rate</a:t>
            </a:r>
          </a:p>
        </p:txBody>
      </p:sp>
      <p:sp>
        <p:nvSpPr>
          <p:cNvPr id="20" name="TextBox 19"/>
          <p:cNvSpPr txBox="1"/>
          <p:nvPr/>
        </p:nvSpPr>
        <p:spPr>
          <a:xfrm>
            <a:off x="534009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How often is the text returned unchanged?</a:t>
            </a:r>
          </a:p>
          <a:p>
            <a:pPr algn="ctr">
              <a:lnSpc>
                <a:spcPct val="110000"/>
              </a:lnSpc>
            </a:pPr>
            <a:r>
              <a:rPr sz="1300" b="0">
                <a:solidFill>
                  <a:srgbClr val="4A4842"/>
                </a:solidFill>
                <a:latin typeface="Readex Pro"/>
                <a:cs typeface="Readex Pro"/>
                <a:ea typeface="Readex Pro"/>
              </a:rPr>
              <a:t>A copy counts as perfect meaning,</a:t>
            </a:r>
          </a:p>
          <a:p>
            <a:pPr algn="ctr">
              <a:lnSpc>
                <a:spcPct val="110000"/>
              </a:lnSpc>
            </a:pPr>
            <a:r>
              <a:rPr sz="1300" b="0">
                <a:solidFill>
                  <a:srgbClr val="4A4842"/>
                </a:solidFill>
                <a:latin typeface="Readex Pro"/>
                <a:cs typeface="Readex Pro"/>
                <a:ea typeface="Readex Pro"/>
              </a:rPr>
              <a:t>so we report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828800"/>
            <a:ext cx="2926080" cy="868680"/>
          </a:xfrm>
          <a:prstGeom prst="rect">
            <a:avLst/>
          </a:prstGeom>
          <a:noFill/>
        </p:spPr>
        <p:txBody>
          <a:bodyPr wrap="square" lIns="0" rIns="0" tIns="0" bIns="0" anchor="ctr">
            <a:spAutoFit/>
          </a:bodyPr>
          <a:lstStyle/>
          <a:p>
            <a:pPr algn="ctr"/>
            <a:r>
              <a:rPr sz="6000" b="0">
                <a:solidFill>
                  <a:srgbClr val="C6986B"/>
                </a:solidFill>
                <a:latin typeface="Readex Pro"/>
                <a:cs typeface="Readex Pro"/>
                <a:ea typeface="Readex Pro"/>
              </a:rPr>
              <a:t>0.85</a:t>
            </a:r>
          </a:p>
        </p:txBody>
      </p:sp>
      <p:sp>
        <p:nvSpPr>
          <p:cNvPr id="10" name="TextBox 9"/>
          <p:cNvSpPr txBox="1"/>
          <p:nvPr/>
        </p:nvSpPr>
        <p:spPr>
          <a:xfrm>
            <a:off x="566928" y="2788920"/>
            <a:ext cx="292608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scorer vs human raters (AUC)</a:t>
            </a:r>
          </a:p>
        </p:txBody>
      </p:sp>
      <p:sp>
        <p:nvSpPr>
          <p:cNvPr id="11" name="TextBox 10"/>
          <p:cNvSpPr txBox="1"/>
          <p:nvPr/>
        </p:nvSpPr>
        <p:spPr>
          <a:xfrm>
            <a:off x="566928" y="3108960"/>
            <a:ext cx="292608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6 raters · 290 tasks</a:t>
            </a:r>
          </a:p>
        </p:txBody>
      </p:sp>
      <p:sp>
        <p:nvSpPr>
          <p:cNvPr id="12" name="Rounded Rectangle 11"/>
          <p:cNvSpPr/>
          <p:nvPr/>
        </p:nvSpPr>
        <p:spPr>
          <a:xfrm>
            <a:off x="566928" y="3657600"/>
            <a:ext cx="304596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catches 42 of 51 changed outputs</a:t>
            </a:r>
          </a:p>
        </p:txBody>
      </p:sp>
      <p:sp>
        <p:nvSpPr>
          <p:cNvPr id="13" name="Rounded Rectangle 12"/>
          <p:cNvSpPr/>
          <p:nvPr/>
        </p:nvSpPr>
        <p:spPr>
          <a:xfrm>
            <a:off x="566928" y="4160520"/>
            <a:ext cx="325043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fails 53 of 194 people kept: stricter</a:t>
            </a:r>
          </a:p>
        </p:txBody>
      </p:sp>
      <p:sp>
        <p:nvSpPr>
          <p:cNvPr id="14" name="Rounded Rectangle 13"/>
          <p:cNvSpPr/>
          <p:nvPr/>
        </p:nvSpPr>
        <p:spPr>
          <a:xfrm>
            <a:off x="566928" y="4663440"/>
            <a:ext cx="2604897"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raters barely agree on ease</a:t>
            </a:r>
          </a:p>
        </p:txBody>
      </p:sp>
      <p:sp>
        <p:nvSpPr>
          <p:cNvPr id="15" name="Rounded Rectangle 14"/>
          <p:cNvSpPr/>
          <p:nvPr/>
        </p:nvSpPr>
        <p:spPr>
          <a:xfrm>
            <a:off x="4087368" y="1691640"/>
            <a:ext cx="5248656" cy="3977639"/>
          </a:xfrm>
          <a:prstGeom prst="roundRect">
            <a:avLst>
              <a:gd name="adj" fmla="val 275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0248" y="2011680"/>
            <a:ext cx="4882896" cy="777240"/>
          </a:xfrm>
          <a:prstGeom prst="rect">
            <a:avLst/>
          </a:prstGeom>
          <a:noFill/>
        </p:spPr>
        <p:txBody>
          <a:bodyPr wrap="square" lIns="0" rIns="0" tIns="0" bIns="0" anchor="ctr">
            <a:spAutoFit/>
          </a:bodyPr>
          <a:lstStyle/>
          <a:p>
            <a:pPr algn="ctr">
              <a:lnSpc>
                <a:spcPct val="105000"/>
              </a:lnSpc>
            </a:pPr>
            <a:r>
              <a:rPr sz="2000" b="1">
                <a:solidFill>
                  <a:srgbClr val="8A5E35"/>
                </a:solidFill>
                <a:latin typeface="Readex Pro"/>
                <a:cs typeface="Readex Pro"/>
                <a:ea typeface="Readex Pro"/>
              </a:rPr>
              <a:t>A reader with dyslexia</a:t>
            </a:r>
          </a:p>
          <a:p>
            <a:pPr algn="ctr">
              <a:lnSpc>
                <a:spcPct val="105000"/>
              </a:lnSpc>
            </a:pPr>
            <a:r>
              <a:rPr sz="2000" b="1">
                <a:solidFill>
                  <a:srgbClr val="8A5E35"/>
                </a:solidFill>
                <a:latin typeface="Readex Pro"/>
                <a:cs typeface="Readex Pro"/>
                <a:ea typeface="Readex Pro"/>
              </a:rPr>
              <a:t>rated 30 outputs</a:t>
            </a:r>
          </a:p>
        </p:txBody>
      </p:sp>
      <p:sp>
        <p:nvSpPr>
          <p:cNvPr id="17" name="Rectangle 16"/>
          <p:cNvSpPr/>
          <p:nvPr/>
        </p:nvSpPr>
        <p:spPr>
          <a:xfrm>
            <a:off x="4544568" y="3291840"/>
            <a:ext cx="2456078" cy="5029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3931920"/>
            <a:ext cx="2456078"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17 easier</a:t>
            </a:r>
          </a:p>
        </p:txBody>
      </p:sp>
      <p:sp>
        <p:nvSpPr>
          <p:cNvPr id="19" name="Rectangle 18"/>
          <p:cNvSpPr/>
          <p:nvPr/>
        </p:nvSpPr>
        <p:spPr>
          <a:xfrm>
            <a:off x="7000646" y="3291840"/>
            <a:ext cx="1300276" cy="50292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0646" y="3931920"/>
            <a:ext cx="1300276"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9 same</a:t>
            </a:r>
          </a:p>
        </p:txBody>
      </p:sp>
      <p:sp>
        <p:nvSpPr>
          <p:cNvPr id="21" name="Rectangle 20"/>
          <p:cNvSpPr/>
          <p:nvPr/>
        </p:nvSpPr>
        <p:spPr>
          <a:xfrm>
            <a:off x="8300923" y="3291840"/>
            <a:ext cx="577900" cy="50292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0923" y="3931920"/>
            <a:ext cx="57790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4 harder</a:t>
            </a:r>
          </a:p>
        </p:txBody>
      </p:sp>
      <p:sp>
        <p:nvSpPr>
          <p:cNvPr id="23" name="TextBox 22"/>
          <p:cNvSpPr txBox="1"/>
          <p:nvPr/>
        </p:nvSpPr>
        <p:spPr>
          <a:xfrm>
            <a:off x="4087368" y="5166359"/>
            <a:ext cx="5248656"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 sample of one, not a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cxnSp>
        <p:nvCxnSpPr>
          <p:cNvPr id="9" name="Connector 8"/>
          <p:cNvCxnSpPr/>
          <p:nvPr/>
        </p:nvCxnSpPr>
        <p:spPr>
          <a:xfrm>
            <a:off x="2331720" y="5029200"/>
            <a:ext cx="4434839" cy="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31720" y="1783080"/>
            <a:ext cx="0" cy="324612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31720" y="5138928"/>
            <a:ext cx="443484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meaning kept (%)  →</a:t>
            </a:r>
          </a:p>
        </p:txBody>
      </p:sp>
      <p:sp>
        <p:nvSpPr>
          <p:cNvPr id="12" name="TextBox 11"/>
          <p:cNvSpPr txBox="1"/>
          <p:nvPr/>
        </p:nvSpPr>
        <p:spPr>
          <a:xfrm rot="16200000">
            <a:off x="393191" y="3278123"/>
            <a:ext cx="31089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simplification: words cut from the longest clause  →</a:t>
            </a:r>
          </a:p>
        </p:txBody>
      </p:sp>
      <p:sp>
        <p:nvSpPr>
          <p:cNvPr id="13" name="Oval 12"/>
          <p:cNvSpPr/>
          <p:nvPr/>
        </p:nvSpPr>
        <p:spPr>
          <a:xfrm>
            <a:off x="6365747" y="4686523"/>
            <a:ext cx="210312" cy="210312"/>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9112" y="4375627"/>
            <a:ext cx="1243584"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Copy the input</a:t>
            </a:r>
          </a:p>
        </p:txBody>
      </p:sp>
      <p:sp>
        <p:nvSpPr>
          <p:cNvPr id="15" name="Oval 14"/>
          <p:cNvSpPr/>
          <p:nvPr/>
        </p:nvSpPr>
        <p:spPr>
          <a:xfrm>
            <a:off x="4946599" y="468652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58969" y="4969987"/>
            <a:ext cx="385572"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v0.1</a:t>
            </a:r>
          </a:p>
        </p:txBody>
      </p:sp>
      <p:sp>
        <p:nvSpPr>
          <p:cNvPr id="17" name="Oval 16"/>
          <p:cNvSpPr/>
          <p:nvPr/>
        </p:nvSpPr>
        <p:spPr>
          <a:xfrm>
            <a:off x="5100340" y="393437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274" y="4217837"/>
            <a:ext cx="1266443"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v0.2 in the app</a:t>
            </a:r>
          </a:p>
        </p:txBody>
      </p:sp>
      <p:sp>
        <p:nvSpPr>
          <p:cNvPr id="19" name="Oval 18"/>
          <p:cNvSpPr/>
          <p:nvPr/>
        </p:nvSpPr>
        <p:spPr>
          <a:xfrm>
            <a:off x="4491288" y="290511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47272" y="2891399"/>
            <a:ext cx="1052576"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(no tag)</a:t>
            </a:r>
          </a:p>
        </p:txBody>
      </p:sp>
      <p:sp>
        <p:nvSpPr>
          <p:cNvPr id="21" name="Oval 20"/>
          <p:cNvSpPr/>
          <p:nvPr/>
        </p:nvSpPr>
        <p:spPr>
          <a:xfrm>
            <a:off x="3970934" y="2192552"/>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0974" y="2178836"/>
            <a:ext cx="822070"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 tag</a:t>
            </a:r>
          </a:p>
        </p:txBody>
      </p:sp>
      <p:sp>
        <p:nvSpPr>
          <p:cNvPr id="23" name="Oval 22"/>
          <p:cNvSpPr/>
          <p:nvPr/>
        </p:nvSpPr>
        <p:spPr>
          <a:xfrm>
            <a:off x="3491971" y="2746768"/>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69671" y="2435872"/>
            <a:ext cx="1454912"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(no tag)</a:t>
            </a:r>
          </a:p>
        </p:txBody>
      </p:sp>
      <p:sp>
        <p:nvSpPr>
          <p:cNvPr id="25" name="Oval 24"/>
          <p:cNvSpPr/>
          <p:nvPr/>
        </p:nvSpPr>
        <p:spPr>
          <a:xfrm>
            <a:off x="2823789" y="203420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16741" y="1723309"/>
            <a:ext cx="1224407"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 tag</a:t>
            </a:r>
          </a:p>
        </p:txBody>
      </p:sp>
      <p:sp>
        <p:nvSpPr>
          <p:cNvPr id="27" name="Oval 26"/>
          <p:cNvSpPr/>
          <p:nvPr/>
        </p:nvSpPr>
        <p:spPr>
          <a:xfrm>
            <a:off x="5150510" y="2477131"/>
            <a:ext cx="512064" cy="512064"/>
          </a:xfrm>
          <a:prstGeom prst="ellipse">
            <a:avLst/>
          </a:prstGeom>
          <a:noFill/>
          <a:ln w="2222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60238" y="2586859"/>
            <a:ext cx="292608" cy="29260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2574" y="2614291"/>
            <a:ext cx="1364361" cy="237744"/>
          </a:xfrm>
          <a:prstGeom prst="rect">
            <a:avLst/>
          </a:prstGeom>
          <a:noFill/>
        </p:spPr>
        <p:txBody>
          <a:bodyPr wrap="square" lIns="0" rIns="0" tIns="0" bIns="0" anchor="ctr">
            <a:spAutoFit/>
          </a:bodyPr>
          <a:lstStyle/>
          <a:p>
            <a:pPr algn="l"/>
            <a:r>
              <a:rPr sz="1300" b="1">
                <a:solidFill>
                  <a:srgbClr val="B5533C"/>
                </a:solidFill>
                <a:latin typeface="Readex Pro"/>
                <a:cs typeface="Readex Pro"/>
                <a:ea typeface="Readex Pro"/>
              </a:rPr>
              <a:t>v0.3 in the app</a:t>
            </a:r>
          </a:p>
        </p:txBody>
      </p:sp>
      <p:sp>
        <p:nvSpPr>
          <p:cNvPr id="30" name="Rectangle 29"/>
          <p:cNvSpPr/>
          <p:nvPr/>
        </p:nvSpPr>
        <p:spPr>
          <a:xfrm>
            <a:off x="2423160" y="551383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32888" y="548640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BayanBench v2, test core items</a:t>
            </a:r>
          </a:p>
        </p:txBody>
      </p:sp>
      <p:sp>
        <p:nvSpPr>
          <p:cNvPr id="32" name="Rounded Rectangle 31"/>
          <p:cNvSpPr/>
          <p:nvPr/>
        </p:nvSpPr>
        <p:spPr>
          <a:xfrm>
            <a:off x="7178040" y="1874519"/>
            <a:ext cx="2157984" cy="635508"/>
          </a:xfrm>
          <a:prstGeom prst="roundRect">
            <a:avLst>
              <a:gd name="adj" fmla="val 14388"/>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8A5E35"/>
                </a:solidFill>
                <a:latin typeface="Readex Pro"/>
                <a:cs typeface="Readex Pro"/>
                <a:ea typeface="Readex Pro"/>
              </a:rPr>
              <a:t>the more it simplifies,</a:t>
            </a:r>
          </a:p>
          <a:p>
            <a:pPr algn="ctr"/>
            <a:r>
              <a:rPr sz="1350" b="1">
                <a:solidFill>
                  <a:srgbClr val="8A5E35"/>
                </a:solidFill>
                <a:latin typeface="Readex Pro"/>
                <a:cs typeface="Readex Pro"/>
                <a:ea typeface="Readex Pro"/>
              </a:rPr>
              <a:t>the less meaning it keeps, obviously</a:t>
            </a:r>
          </a:p>
        </p:txBody>
      </p:sp>
      <p:sp>
        <p:nvSpPr>
          <p:cNvPr id="33" name="Rounded Rectangle 32"/>
          <p:cNvSpPr/>
          <p:nvPr/>
        </p:nvSpPr>
        <p:spPr>
          <a:xfrm>
            <a:off x="7178040" y="2711196"/>
            <a:ext cx="2157984" cy="861822"/>
          </a:xfrm>
          <a:prstGeom prst="roundRect">
            <a:avLst>
              <a:gd name="adj" fmla="val 1061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1A1A14"/>
                </a:solidFill>
                <a:latin typeface="Readex Pro"/>
                <a:cs typeface="Readex Pro"/>
                <a:ea typeface="Readex Pro"/>
              </a:rPr>
              <a:t>v0.3 keeps the most meaning (82%)</a:t>
            </a:r>
          </a:p>
          <a:p>
            <a:pPr algn="ctr"/>
            <a:r>
              <a:rPr sz="1350" b="1">
                <a:solidFill>
                  <a:srgbClr val="1A1A14"/>
                </a:solidFill>
                <a:latin typeface="Readex Pro"/>
                <a:cs typeface="Readex Pro"/>
                <a:ea typeface="Readex Pro"/>
              </a:rPr>
              <a:t>and still cuts 5.2 words off</a:t>
            </a:r>
          </a:p>
          <a:p>
            <a:pPr algn="ctr"/>
            <a:r>
              <a:rPr sz="1350" b="1">
                <a:solidFill>
                  <a:srgbClr val="1A1A14"/>
                </a:solidFill>
                <a:latin typeface="Readex Pro"/>
                <a:cs typeface="Readex Pro"/>
                <a:ea typeface="Readex Pro"/>
              </a:rPr>
              <a:t>the longest clause</a:t>
            </a:r>
          </a:p>
        </p:txBody>
      </p:sp>
      <p:sp>
        <p:nvSpPr>
          <p:cNvPr id="34" name="Rounded Rectangle 33"/>
          <p:cNvSpPr/>
          <p:nvPr/>
        </p:nvSpPr>
        <p:spPr>
          <a:xfrm>
            <a:off x="7178040" y="3774185"/>
            <a:ext cx="2157984" cy="601980"/>
          </a:xfrm>
          <a:prstGeom prst="roundRect">
            <a:avLst>
              <a:gd name="adj" fmla="val 151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v0.3 is the app's large model,</a:t>
            </a:r>
          </a:p>
          <a:p>
            <a:pPr algn="ctr"/>
            <a:r>
              <a:rPr sz="1250" b="0">
                <a:solidFill>
                  <a:srgbClr val="4A4842"/>
                </a:solidFill>
                <a:latin typeface="Readex Pro"/>
                <a:cs typeface="Readex Pro"/>
                <a:ea typeface="Readex Pro"/>
              </a:rPr>
              <a:t>decoded with four beams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In the app: v0.3 minus v0.2, same text step · 95% intervals</a:t>
            </a:r>
          </a:p>
        </p:txBody>
      </p:sp>
      <p:sp>
        <p:nvSpPr>
          <p:cNvPr id="10" name="TextBox 9"/>
          <p:cNvSpPr txBox="1"/>
          <p:nvPr/>
        </p:nvSpPr>
        <p:spPr>
          <a:xfrm>
            <a:off x="566928" y="2057400"/>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words cut from the longest clause</a:t>
            </a:r>
          </a:p>
        </p:txBody>
      </p:sp>
      <p:cxnSp>
        <p:nvCxnSpPr>
          <p:cNvPr id="11" name="Connector 10"/>
          <p:cNvCxnSpPr/>
          <p:nvPr/>
        </p:nvCxnSpPr>
        <p:spPr>
          <a:xfrm>
            <a:off x="3520440" y="2203704"/>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2080" y="2084831"/>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8736" y="2203704"/>
            <a:ext cx="563880"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097524" y="2130552"/>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3448" y="2075688"/>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+3.4</a:t>
            </a:r>
          </a:p>
        </p:txBody>
      </p:sp>
      <p:sp>
        <p:nvSpPr>
          <p:cNvPr id="16" name="TextBox 15"/>
          <p:cNvSpPr txBox="1"/>
          <p:nvPr/>
        </p:nvSpPr>
        <p:spPr>
          <a:xfrm>
            <a:off x="566928" y="2715768"/>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hard words removed</a:t>
            </a:r>
          </a:p>
        </p:txBody>
      </p:sp>
      <p:cxnSp>
        <p:nvCxnSpPr>
          <p:cNvPr id="17" name="Connector 16"/>
          <p:cNvCxnSpPr/>
          <p:nvPr/>
        </p:nvCxnSpPr>
        <p:spPr>
          <a:xfrm>
            <a:off x="3520440" y="2862072"/>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2743199"/>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4154" y="2862072"/>
            <a:ext cx="888111"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53912" y="2788920"/>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13448" y="2734056"/>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+0.24</a:t>
            </a:r>
          </a:p>
        </p:txBody>
      </p:sp>
      <p:sp>
        <p:nvSpPr>
          <p:cNvPr id="22" name="TextBox 21"/>
          <p:cNvSpPr txBox="1"/>
          <p:nvPr/>
        </p:nvSpPr>
        <p:spPr>
          <a:xfrm>
            <a:off x="566928" y="3374136"/>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reading levels lowered</a:t>
            </a:r>
          </a:p>
        </p:txBody>
      </p:sp>
      <p:cxnSp>
        <p:nvCxnSpPr>
          <p:cNvPr id="23" name="Connector 22"/>
          <p:cNvCxnSpPr/>
          <p:nvPr/>
        </p:nvCxnSpPr>
        <p:spPr>
          <a:xfrm>
            <a:off x="3520440" y="3520440"/>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12080" y="3401568"/>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212080" y="3520440"/>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590032" y="3447288"/>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392424"/>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+0.08</a:t>
            </a:r>
          </a:p>
        </p:txBody>
      </p:sp>
      <p:sp>
        <p:nvSpPr>
          <p:cNvPr id="28" name="TextBox 27"/>
          <p:cNvSpPr txBox="1"/>
          <p:nvPr/>
        </p:nvSpPr>
        <p:spPr>
          <a:xfrm>
            <a:off x="566928" y="4032504"/>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meaning kept (points): not significant</a:t>
            </a:r>
          </a:p>
        </p:txBody>
      </p:sp>
      <p:cxnSp>
        <p:nvCxnSpPr>
          <p:cNvPr id="29" name="Connector 28"/>
          <p:cNvCxnSpPr/>
          <p:nvPr/>
        </p:nvCxnSpPr>
        <p:spPr>
          <a:xfrm>
            <a:off x="3520440" y="4178808"/>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12080" y="4059936"/>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22648" y="4178808"/>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800600" y="4105656"/>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050791"/>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a:t>
            </a:r>
          </a:p>
        </p:txBody>
      </p:sp>
      <p:sp>
        <p:nvSpPr>
          <p:cNvPr id="34" name="Rounded Rectangle 33"/>
          <p:cNvSpPr/>
          <p:nvPr/>
        </p:nvSpPr>
        <p:spPr>
          <a:xfrm>
            <a:off x="1871535" y="5029200"/>
            <a:ext cx="6159881"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+18 points more easy text unchanged · every number kept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329184"/>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Blind rating by the team: 18 sentences</a:t>
            </a:r>
          </a:p>
        </p:txBody>
      </p:sp>
      <p:sp>
        <p:nvSpPr>
          <p:cNvPr id="10" name="TextBox 9"/>
          <p:cNvSpPr txBox="1"/>
          <p:nvPr/>
        </p:nvSpPr>
        <p:spPr>
          <a:xfrm>
            <a:off x="566928" y="1874519"/>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outputs the system changed, rated easier to read</a:t>
            </a:r>
          </a:p>
        </p:txBody>
      </p:sp>
      <p:sp>
        <p:nvSpPr>
          <p:cNvPr id="11" name="TextBox 10"/>
          <p:cNvSpPr txBox="1"/>
          <p:nvPr/>
        </p:nvSpPr>
        <p:spPr>
          <a:xfrm>
            <a:off x="566928" y="2423160"/>
            <a:ext cx="109728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12" name="Rectangle 11"/>
          <p:cNvSpPr/>
          <p:nvPr/>
        </p:nvSpPr>
        <p:spPr>
          <a:xfrm>
            <a:off x="1801368" y="2441448"/>
            <a:ext cx="4403750" cy="347472"/>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4846" y="2423160"/>
            <a:ext cx="731520" cy="292608"/>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86%</a:t>
            </a:r>
          </a:p>
        </p:txBody>
      </p:sp>
      <p:sp>
        <p:nvSpPr>
          <p:cNvPr id="14" name="TextBox 13"/>
          <p:cNvSpPr txBox="1"/>
          <p:nvPr/>
        </p:nvSpPr>
        <p:spPr>
          <a:xfrm>
            <a:off x="566928" y="2990088"/>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a:t>
            </a:r>
          </a:p>
        </p:txBody>
      </p:sp>
      <p:sp>
        <p:nvSpPr>
          <p:cNvPr id="15" name="Rectangle 14"/>
          <p:cNvSpPr/>
          <p:nvPr/>
        </p:nvSpPr>
        <p:spPr>
          <a:xfrm>
            <a:off x="1801368" y="3008376"/>
            <a:ext cx="3072384"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2990088"/>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60%</a:t>
            </a:r>
          </a:p>
        </p:txBody>
      </p:sp>
      <p:sp>
        <p:nvSpPr>
          <p:cNvPr id="17" name="TextBox 16"/>
          <p:cNvSpPr txBox="1"/>
          <p:nvPr/>
        </p:nvSpPr>
        <p:spPr>
          <a:xfrm>
            <a:off x="566928" y="3557015"/>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a:t>
            </a:r>
          </a:p>
        </p:txBody>
      </p:sp>
      <p:sp>
        <p:nvSpPr>
          <p:cNvPr id="18" name="Rectangle 17"/>
          <p:cNvSpPr/>
          <p:nvPr/>
        </p:nvSpPr>
        <p:spPr>
          <a:xfrm>
            <a:off x="1801368" y="3575303"/>
            <a:ext cx="2304287"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5384" y="3557015"/>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45%</a:t>
            </a:r>
          </a:p>
        </p:txBody>
      </p:sp>
      <p:sp>
        <p:nvSpPr>
          <p:cNvPr id="20" name="Rounded Rectangle 19"/>
          <p:cNvSpPr/>
          <p:nvPr/>
        </p:nvSpPr>
        <p:spPr>
          <a:xfrm>
            <a:off x="1576578" y="4343400"/>
            <a:ext cx="6749795"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meaning kept in 96% of ratings (v0.2: 96%, v0.2-Fast: 92%) · none rated harder</a:t>
            </a:r>
          </a:p>
        </p:txBody>
      </p:sp>
      <p:sp>
        <p:nvSpPr>
          <p:cNvPr id="21" name="Rounded Rectangle 20"/>
          <p:cNvSpPr/>
          <p:nvPr/>
        </p:nvSpPr>
        <p:spPr>
          <a:xfrm>
            <a:off x="3008248" y="4892040"/>
            <a:ext cx="3886454"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8 of 8 team votes chose v0.3 over v0.2</a:t>
            </a:r>
          </a:p>
        </p:txBody>
      </p:sp>
      <p:sp>
        <p:nvSpPr>
          <p:cNvPr id="22" name="Rounded Rectangle 21"/>
          <p:cNvSpPr/>
          <p:nvPr/>
        </p:nvSpPr>
        <p:spPr>
          <a:xfrm>
            <a:off x="990917" y="5440680"/>
            <a:ext cx="7921116"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the reader with dyslexia chose v0.3 in 4 of 4 comparisons · 18 sentences: a direction, not a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ON A PHONE</a:t>
            </a:r>
          </a:p>
        </p:txBody>
      </p:sp>
      <p:pic>
        <p:nvPicPr>
          <p:cNvPr id="5"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6" name="TextBox 5"/>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8</a:t>
            </a:r>
          </a:p>
        </p:txBody>
      </p:sp>
      <p:sp>
        <p:nvSpPr>
          <p:cNvPr id="8" name="Rounded Rectangle 7"/>
          <p:cNvSpPr/>
          <p:nvPr/>
        </p:nvSpPr>
        <p:spPr>
          <a:xfrm>
            <a:off x="7034479" y="1481328"/>
            <a:ext cx="2301544" cy="4846320"/>
          </a:xfrm>
          <a:prstGeom prst="roundRect">
            <a:avLst>
              <a:gd name="adj" fmla="val 10329"/>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Demo video" descr="Bayan demo: select Arabic text, tap Simplify, read aloud">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7144207" y="1591056"/>
            <a:ext cx="2082088" cy="4626864"/>
          </a:xfrm>
          <a:prstGeom prst="rect">
            <a:avLst/>
          </a:prstGeom>
        </p:spPr>
      </p:pic>
      <p:sp>
        <p:nvSpPr>
          <p:cNvPr id="10" name="TextBox 9"/>
          <p:cNvSpPr txBox="1"/>
          <p:nvPr/>
        </p:nvSpPr>
        <p:spPr>
          <a:xfrm>
            <a:off x="566928" y="2468880"/>
            <a:ext cx="6010351" cy="502920"/>
          </a:xfrm>
          <a:prstGeom prst="rect">
            <a:avLst/>
          </a:prstGeom>
          <a:noFill/>
        </p:spPr>
        <p:txBody>
          <a:bodyPr wrap="square" lIns="0" rIns="0" tIns="0" bIns="0" anchor="ctr">
            <a:spAutoFit/>
          </a:bodyPr>
          <a:lstStyle/>
          <a:p>
            <a:pPr algn="l"/>
            <a:r>
              <a:rPr sz="3000" b="1">
                <a:solidFill>
                  <a:srgbClr val="282824"/>
                </a:solidFill>
                <a:latin typeface="Readex Pro"/>
                <a:cs typeface="Readex Pro"/>
                <a:ea typeface="Readex Pro"/>
              </a:rPr>
              <a:t>What the app does</a:t>
            </a:r>
          </a:p>
        </p:txBody>
      </p:sp>
      <p:sp>
        <p:nvSpPr>
          <p:cNvPr id="11" name="TextBox 10"/>
          <p:cNvSpPr txBox="1"/>
          <p:nvPr/>
        </p:nvSpPr>
        <p:spPr>
          <a:xfrm>
            <a:off x="566928" y="3154680"/>
            <a:ext cx="6010351" cy="1463040"/>
          </a:xfrm>
          <a:prstGeom prst="rect">
            <a:avLst/>
          </a:prstGeom>
          <a:noFill/>
        </p:spPr>
        <p:txBody>
          <a:bodyPr wrap="square" lIns="0" rIns="0" tIns="0" bIns="0" anchor="ctr">
            <a:spAutoFit/>
          </a:bodyPr>
          <a:lstStyle/>
          <a:p>
            <a:pPr algn="l">
              <a:lnSpc>
                <a:spcPct val="125000"/>
              </a:lnSpc>
            </a:pPr>
            <a:r>
              <a:rPr sz="1800" b="0">
                <a:solidFill>
                  <a:srgbClr val="4A4842"/>
                </a:solidFill>
                <a:latin typeface="Readex Pro"/>
                <a:cs typeface="Readex Pro"/>
                <a:ea typeface="Readex Pro"/>
              </a:rPr>
              <a:t>Select Arabic text in any app.</a:t>
            </a:r>
          </a:p>
          <a:p>
            <a:pPr algn="l">
              <a:lnSpc>
                <a:spcPct val="125000"/>
              </a:lnSpc>
            </a:pPr>
            <a:r>
              <a:rPr sz="1800" b="0">
                <a:solidFill>
                  <a:srgbClr val="4A4842"/>
                </a:solidFill>
                <a:latin typeface="Readex Pro"/>
                <a:cs typeface="Readex Pro"/>
                <a:ea typeface="Readex Pro"/>
              </a:rPr>
              <a:t>Tap تبسيط. Bayan simplifies it</a:t>
            </a:r>
          </a:p>
          <a:p>
            <a:pPr algn="l">
              <a:lnSpc>
                <a:spcPct val="125000"/>
              </a:lnSpc>
            </a:pPr>
            <a:r>
              <a:rPr sz="1800" b="0">
                <a:solidFill>
                  <a:srgbClr val="4A4842"/>
                </a:solidFill>
                <a:latin typeface="Readex Pro"/>
                <a:cs typeface="Readex Pro"/>
                <a:ea typeface="Readex Pro"/>
              </a:rPr>
              <a:t>and reads it aloud.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timing>
    <p:tnLst>
      <p:par>
        <p:cTn id="1" dur="indefinite" restart="never" nodeType="tmRoot">
          <p:childTnLst>
            <p:video>
              <p:cMediaNode vol="80000">
                <p:cTn id="2" fill="hold" display="0">
                  <p:stCondLst>
                    <p:cond delay="0"/>
                  </p:stCondLst>
                </p:cTn>
                <p:tgtEl>
                  <p:spTgt spid="9"/>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pic>
        <p:nvPicPr>
          <p:cNvPr id="6" name="Bayan logo" descr="Bayan logo"/>
          <p:cNvPicPr>
            <a:picLocks noChangeAspect="1"/>
          </p:cNvPicPr>
          <p:nvPr/>
        </p:nvPicPr>
        <p:blipFill>
          <a:blip r:embed="rId3"/>
          <a:stretch>
            <a:fillRect/>
          </a:stretch>
        </p:blipFill>
        <p:spPr>
          <a:xfrm>
            <a:off x="3808476" y="1600200"/>
            <a:ext cx="2286000" cy="1284446"/>
          </a:xfrm>
          <a:prstGeom prst="rect">
            <a:avLst/>
          </a:prstGeom>
        </p:spPr>
      </p:pic>
      <p:sp>
        <p:nvSpPr>
          <p:cNvPr id="7" name="TextBox 6"/>
          <p:cNvSpPr txBox="1"/>
          <p:nvPr/>
        </p:nvSpPr>
        <p:spPr>
          <a:xfrm>
            <a:off x="0" y="3977639"/>
            <a:ext cx="9902952" cy="594360"/>
          </a:xfrm>
          <a:prstGeom prst="rect">
            <a:avLst/>
          </a:prstGeom>
          <a:noFill/>
        </p:spPr>
        <p:txBody>
          <a:bodyPr wrap="square" lIns="0" rIns="0" tIns="0" bIns="0" anchor="ctr">
            <a:spAutoFit/>
          </a:bodyPr>
          <a:lstStyle/>
          <a:p>
            <a:pPr algn="ctr"/>
            <a:r>
              <a:rPr sz="3000" b="1">
                <a:solidFill>
                  <a:srgbClr val="F2EFE2"/>
                </a:solidFill>
                <a:latin typeface="Readex Pro"/>
                <a:cs typeface="Readex Pro"/>
                <a:ea typeface="Readex Pro"/>
              </a:rPr>
              <a:t>Simplify where you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sp>
        <p:nvSpPr>
          <p:cNvPr id="6" name="TextBox 5"/>
          <p:cNvSpPr txBox="1"/>
          <p:nvPr/>
        </p:nvSpPr>
        <p:spPr>
          <a:xfrm>
            <a:off x="0" y="1691640"/>
            <a:ext cx="9902952" cy="502920"/>
          </a:xfrm>
          <a:prstGeom prst="rect">
            <a:avLst/>
          </a:prstGeom>
          <a:noFill/>
        </p:spPr>
        <p:txBody>
          <a:bodyPr wrap="square" lIns="0" rIns="0" tIns="0" bIns="0" anchor="ctr">
            <a:spAutoFit/>
          </a:bodyPr>
          <a:lstStyle/>
          <a:p>
            <a:pPr algn="ctr"/>
            <a:r>
              <a:rPr sz="2800" b="1">
                <a:solidFill>
                  <a:srgbClr val="F2EFE2"/>
                </a:solidFill>
                <a:latin typeface="Readex Pro"/>
                <a:cs typeface="Readex Pro"/>
                <a:ea typeface="Readex Pro"/>
              </a:rPr>
              <a:t>Simplify where you read.</a:t>
            </a:r>
          </a:p>
        </p:txBody>
      </p:sp>
      <p:sp>
        <p:nvSpPr>
          <p:cNvPr id="7" name="Rounded Rectangle 6"/>
          <p:cNvSpPr/>
          <p:nvPr/>
        </p:nvSpPr>
        <p:spPr>
          <a:xfrm>
            <a:off x="2318956" y="2606040"/>
            <a:ext cx="5265039"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no reader has used Bayan; one reader rated 30 outputs</a:t>
            </a:r>
          </a:p>
        </p:txBody>
      </p:sp>
      <p:sp>
        <p:nvSpPr>
          <p:cNvPr id="8" name="Rounded Rectangle 7"/>
          <p:cNvSpPr/>
          <p:nvPr/>
        </p:nvSpPr>
        <p:spPr>
          <a:xfrm>
            <a:off x="3236912" y="3172968"/>
            <a:ext cx="342912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our scorer is stricter than people</a:t>
            </a:r>
          </a:p>
        </p:txBody>
      </p:sp>
      <p:sp>
        <p:nvSpPr>
          <p:cNvPr id="9" name="Rounded Rectangle 8"/>
          <p:cNvSpPr/>
          <p:nvPr/>
        </p:nvSpPr>
        <p:spPr>
          <a:xfrm>
            <a:off x="2642552" y="3739896"/>
            <a:ext cx="461784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the comparison with people covers 18 sentences</a:t>
            </a:r>
          </a:p>
        </p:txBody>
      </p:sp>
      <p:sp>
        <p:nvSpPr>
          <p:cNvPr id="10" name="TextBox 9"/>
          <p:cNvSpPr txBox="1"/>
          <p:nvPr/>
        </p:nvSpPr>
        <p:spPr>
          <a:xfrm>
            <a:off x="0" y="4617720"/>
            <a:ext cx="9902952" cy="329184"/>
          </a:xfrm>
          <a:prstGeom prst="rect">
            <a:avLst/>
          </a:prstGeom>
          <a:noFill/>
        </p:spPr>
        <p:txBody>
          <a:bodyPr wrap="square" lIns="0" rIns="0" tIns="0" bIns="0" anchor="ctr">
            <a:spAutoFit/>
          </a:bodyPr>
          <a:lstStyle/>
          <a:p>
            <a:pPr algn="ctr"/>
            <a:r>
              <a:rPr sz="1500" b="0">
                <a:solidFill>
                  <a:srgbClr val="C6986B"/>
                </a:solidFill>
                <a:latin typeface="Readex Pro"/>
                <a:cs typeface="Readex Pro"/>
                <a:ea typeface="Readex Pro"/>
              </a:rPr>
              <a:t>Next: a reading study with more readers.</a:t>
            </a:r>
          </a:p>
        </p:txBody>
      </p:sp>
      <p:sp>
        <p:nvSpPr>
          <p:cNvPr id="11" name="TextBox 10"/>
          <p:cNvSpPr txBox="1"/>
          <p:nvPr/>
        </p:nvSpPr>
        <p:spPr>
          <a:xfrm>
            <a:off x="0" y="5074920"/>
            <a:ext cx="9902952" cy="274320"/>
          </a:xfrm>
          <a:prstGeom prst="rect">
            <a:avLst/>
          </a:prstGeom>
          <a:noFill/>
        </p:spPr>
        <p:txBody>
          <a:bodyPr wrap="square" lIns="0" rIns="0" tIns="0" bIns="0" anchor="ctr">
            <a:spAutoFit/>
          </a:bodyPr>
          <a:lstStyle/>
          <a:p>
            <a:pPr algn="ctr"/>
            <a:r>
              <a:rPr sz="1200" b="0">
                <a:solidFill>
                  <a:srgbClr val="A29D8C"/>
                </a:solidFill>
                <a:latin typeface="Readex Pro"/>
                <a:cs typeface="Readex Pro"/>
                <a:ea typeface="Readex Pro"/>
              </a:rPr>
              <a:t>Thank you  ·  Team Cogni  ·  Samsung Innovation Campus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