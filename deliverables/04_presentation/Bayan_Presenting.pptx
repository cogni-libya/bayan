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media27.mp4" ContentType="video/mp4"/>
  <Override PartName="/ppt/media/image5.jpeg" ContentType="image/jpeg"/>
  <Override PartName="/ppt/media/image50.png" ContentType="image/png"/>
  <Override PartName="/ppt/media/image26.png" ContentType="image/png"/>
  <Override PartName="/ppt/media/media45.mp4" ContentType="video/mp4"/>
  <Override PartName="/ppt/media/media25.mp4" ContentType="video/mp4"/>
  <Override PartName="/ppt/media/image24.png" ContentType="image/png"/>
  <Override PartName="/ppt/media/media43.mp4" ContentType="video/mp4"/>
  <Override PartName="/ppt/media/media23.mp4" ContentType="video/mp4"/>
  <Override PartName="/ppt/media/image22.png" ContentType="image/png"/>
  <Override PartName="/ppt/media/media41.mp4" ContentType="video/mp4"/>
  <Override PartName="/ppt/media/image20.png" ContentType="image/png"/>
  <Override PartName="/ppt/media/image18.png" ContentType="image/png"/>
  <Override PartName="/ppt/media/media37.mp4" ContentType="video/mp4"/>
  <Override PartName="/ppt/media/media17.mp4" ContentType="video/mp4"/>
  <Override PartName="/ppt/media/image4.jpeg" ContentType="image/jpeg"/>
  <Override PartName="/ppt/media/image40.png" ContentType="image/png"/>
  <Override PartName="/ppt/media/image14.png" ContentType="image/png"/>
  <Override PartName="/ppt/media/media33.mp4" ContentType="video/mp4"/>
  <Override PartName="/ppt/media/image1.jpeg" ContentType="image/jpeg"/>
  <Override PartName="/ppt/media/image10.png" ContentType="image/png"/>
  <Override PartName="/ppt/media/media15.mp4" ContentType="video/mp4"/>
  <Override PartName="/ppt/media/image2.png" ContentType="image/png"/>
  <Override PartName="/ppt/media/image34.png" ContentType="image/png"/>
  <Override PartName="/ppt/media/media53.mp4" ContentType="video/mp4"/>
  <Override PartName="/ppt/media/media21.mp4" ContentType="video/mp4"/>
  <Override PartName="/ppt/media/image7.png" ContentType="image/png"/>
  <Override PartName="/ppt/media/media19.mp4" ContentType="video/mp4"/>
  <Override PartName="/ppt/media/image42.png" ContentType="image/png"/>
  <Override PartName="/ppt/media/media39.mp4" ContentType="video/mp4"/>
  <Override PartName="/ppt/media/media13.mp4" ContentType="video/mp4"/>
  <Override PartName="/ppt/media/image44.png" ContentType="image/png"/>
  <Override PartName="/ppt/media/media49.mp4" ContentType="video/mp4"/>
  <Override PartName="/ppt/media/image54.png" ContentType="image/png"/>
  <Override PartName="/ppt/media/media51.mp4" ContentType="video/mp4"/>
  <Override PartName="/ppt/media/image32.png" ContentType="image/png"/>
  <Override PartName="/ppt/media/image56.png" ContentType="image/png"/>
  <Override PartName="/ppt/media/image36.png" ContentType="image/png"/>
  <Override PartName="/ppt/media/media55.mp4" ContentType="video/mp4"/>
  <Override PartName="/ppt/media/image46.png" ContentType="image/png"/>
  <Override PartName="/ppt/media/image58.png" ContentType="image/png"/>
  <Override PartName="/ppt/media/media31.mp4" ContentType="video/mp4"/>
  <Override PartName="/ppt/media/image12.png" ContentType="image/png"/>
  <Override PartName="/ppt/media/media11.mp4" ContentType="video/mp4"/>
  <Override PartName="/ppt/media/image48.png" ContentType="image/png"/>
  <Override PartName="/ppt/media/image9.jpeg" ContentType="image/jpeg"/>
  <Override PartName="/ppt/media/media47.mp4" ContentType="video/mp4"/>
  <Override PartName="/ppt/media/image28.png" ContentType="image/png"/>
  <Override PartName="/ppt/media/media35.mp4" ContentType="video/mp4"/>
  <Override PartName="/ppt/media/image16.png" ContentType="image/png"/>
  <Override PartName="/ppt/media/media29.mp4" ContentType="video/mp4"/>
  <Override PartName="/ppt/media/image52.png" ContentType="image/png"/>
  <Override PartName="/ppt/media/image30.png" ContentType="image/png"/>
  <Override PartName="/ppt/media/image3.jpeg" ContentType="image/jpeg"/>
  <Override PartName="/ppt/media/image38.png" ContentType="image/png"/>
  <Override PartName="/ppt/media/image8.jpeg" ContentType="image/jpeg"/>
  <Override PartName="/ppt/media/media57.mp4" ContentType="video/mp4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990282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4ED825E-9A51-47FC-B622-10F8807B3E0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1] Step 1 of 1 (The logo draws itself, then the title and team appear)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Hello everyone, we are Team Cogni. This is Bayan: an Android tool that makes hard Arabic easier to read for people with dyslexia, entirely on the phone. I cover the idea, the verdict and the data; my colleague covers the training.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D1019C6-DF3E-47A9-91AA-22876251788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1] Step 1 of 3 (11% counts up)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About eleven percent of Arab primary-school children have developmental dyslexia.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9F043DF-A920-43FB-868F-C4D9F07BEA0F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3 (</a:t>
            </a:r>
            <a:r>
              <a:rPr b="0" lang="ar-SA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كتب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splits into three readings)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Arabic makes reading harder in three ways. First, short vowels are not written: these three letters can be kataba, he wrote; kutiba, it was written; or kutub, books.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9A7B795-CDFF-43BC-9BC2-5825AE0A640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3 (Two barrier chips appear)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Second, prefixes and suffixes fuse into long words. Third, clauses chain into sentences longer than working memory.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D0E54A-2826-48BB-BF12-303DF83997A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1] Step 1 of 3 (Table: who writes the rewrites, and how often a sentence is split)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What already exists? Four public corpora, and they almost never split a long sentence: zero percent of SAMER pairs, two to four percent of Baseet, eight percent of DAASI.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D85FEEE-79DF-40B2-B6F1-F074D9314643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3 (Red row: Made for dyslexia: no, no, no, no)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None of them is made for dyslexia.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7CE1EA-70FD-4D95-9683-B5A5994933F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3 (Conclusion line)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 deployed Arabic dyslexia tool simplifies text, and no open corpus fits. So we built our own data, our own models, and our own benchmark.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077C91-60D2-42CD-AE9E-8A2CB9B9ACD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1] Step 1 of 3 (Three options A, B, C)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Our verdict. A Chrome extension is desktop-first, but people read on phones. A standalone app makes the reader copy, paste, and leave what they were reading.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04BD45-3D56-41C9-94D4-0D513EE4F1B3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3 (Phone demo: text is selected, the menu shows </a:t>
            </a:r>
            <a:r>
              <a:rPr b="0" lang="ar-SA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تبسيط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a result sheet slides up)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 Bayan is an Android plugin. Select hard text in any app, tap tabseet, which means simplify, and a sheet shows the simpler text and reads it aloud.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EEE537-34CC-4F18-80CE-4B94709A110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3 (Option B is highlighted; on-device, offline, 250 MB chips)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decided on the twentieth of September. Everything runs on the phone, offline: the reader's text never leaves it, in about two hundred fifty megabytes.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C4B7F6C-CEA2-4F41-B4A6-E11E015070AD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1] Step 1 of 3 (9.3% appears)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Before training, we audited the public data. Nine point three percent of Baseet overlapped our locked test sets, so every training file now passes a leakage gate.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2269DA3-E2A1-40B0-ACF8-1612D23757B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3 (Stacked bar of 22,733 pairs with the legend)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Our training set has twenty-two thousand seven hundred thirty-three pairs, each tagged with its source style. We keep SAMER's unchanged pairs, so the model learns when not to edit.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8AE63B9-0AC5-4789-B122-E89C1C62D48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3 (Meaning-filter line)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LLM-written Baseet pairs get in only through a meaning filter calibrated on human-verified rewrites. My colleague will show what we trained on it.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69B520-DF41-4629-A8F2-6D9C8827AF74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2] Step 1 of 3 (Recipe card: one script, identical data, 10 epochs, fp16, seed 42)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One recipe for every model: same script, same data, a fixed seed, and checkpoints chosen on rows a human changed.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72C8F5-1861-4D0A-ADAB-5DA3027EDF1D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3 (Three bars: AraT5v2, AraBART, HPLT T5)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Two architectures. AraT5v2 has three hundred sixty-eight million parameters; AraBART one hundred thirty-nine million, two point six times smaller, so it is our on-device contender. HPLT T5 is held in reserve.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89A12F-C737-4C1B-807A-FCF2D5F2E3D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3 (46% line)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Nearly half of AraT5v2 is two embedding tables, so shrinking its vocabulary matters for the phone.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0A5235-2E61-4BCF-97D8-A4C66D766CCF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2] Step 1 of 2 (Left chart: all rows. Copy 77.50, Model 1 75.88. Text: Copying wins?)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Model 1 first looked like a failure. On all test rows, copying scores seventy-seven point five and our model seventy-five point nine. But half these sentences need no change, so doing nothing scores well.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862F590-E9F6-4160-B4F0-C6F576BB7AB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2 (Right chart: changed rows. Copy 56.06, Model 1 61.83)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On the rows a human changed, copying scores fifty-six point one and Model 1 sixty-one point eight: nearly six points better, with the greedy decoding the phone uses. But it mostly made one-word edits.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6F0C2E-4A52-44A0-B48A-A5420E8F108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2] Step 1 of 4 (Lesson 1 and its fix)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Model 2 answers each lesson. One: Model 1 rewarded doing nothing, so we keep every unchanged pair and choose checkpoints on changed rows.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2312909-9247-4CE5-93DB-DB955CAD107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4 (Lesson 2 and its fix)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Two: SAMER teaches word swaps, so we add everyday and educational text, through the meaning filter.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42DB4C-2B20-4AF9-BA85-1B9F2E23F2F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3 of 4 (Lesson 3 and its fix)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Three: one strength fits no one, so every source carries a tag.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41ED446-6DB7-410F-A17F-4A6C7AE476D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4 of 4 (Five tags [S0] to [SA]; the sun marks the default, [S2])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Zero is minimal, one light, two medium, the default we score, three strong, A everyday. Each tag is meant to become the reader's strength setting.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E6F2492-81D9-4351-9F1F-9D9FEB36FB83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[Speaker 2] Step 1 of 2 (Logo and 'Simplify where you read.')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Bayan: simplify where you read.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A5FBBD-C46F-4F40-BCB4-BB669550C62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1200240" y="1143000"/>
            <a:ext cx="4457520" cy="3085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Step 2 of 2 (Next: does it work? Three chips, then the SIC slogan)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Next: does it work? BayanBench, our benchmark for the reader's task; tests on a real phone; and evidence from readers with dyslexia. Thank you, and thanks to Samsung Innovation Campus. Questions welcome.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5CF0429-5347-44AF-A9A3-0D83F953090F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10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 of 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0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1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53238416-BC96-49B9-B638-090718362F00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슬라이드 번호 개체 틀 15"/>
          <p:cNvSpPr/>
          <p:nvPr/>
        </p:nvSpPr>
        <p:spPr>
          <a:xfrm>
            <a:off x="6846840" y="6498000"/>
            <a:ext cx="234900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Project Name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ody"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2" descr=""/>
          <p:cNvPicPr/>
          <p:nvPr/>
        </p:nvPicPr>
        <p:blipFill>
          <a:blip r:embed="rId2"/>
          <a:stretch/>
        </p:blipFill>
        <p:spPr>
          <a:xfrm>
            <a:off x="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Freeform 5"/>
          <p:cNvSpPr/>
          <p:nvPr/>
        </p:nvSpPr>
        <p:spPr>
          <a:xfrm>
            <a:off x="449640" y="450000"/>
            <a:ext cx="1281600" cy="197640"/>
          </a:xfrm>
          <a:custGeom>
            <a:avLst/>
            <a:gdLst>
              <a:gd name="textAreaLeft" fmla="*/ 0 w 1281600"/>
              <a:gd name="textAreaRight" fmla="*/ 1281960 w 1281600"/>
              <a:gd name="textAreaTop" fmla="*/ 0 h 197640"/>
              <a:gd name="textAreaBottom" fmla="*/ 198000 h 197640"/>
              <a:gd name="GluePoint1X" fmla="*/ 82 w 2179"/>
              <a:gd name="GluePoint1Y" fmla="*/ 74 h 334"/>
              <a:gd name="GluePoint2X" fmla="*/ 140 w 2179"/>
              <a:gd name="GluePoint2Y" fmla="*/ 82 h 334"/>
              <a:gd name="GluePoint3X" fmla="*/ 218 w 2179"/>
              <a:gd name="GluePoint3Y" fmla="*/ 101 h 334"/>
              <a:gd name="GluePoint4X" fmla="*/ 112 w 2179"/>
              <a:gd name="GluePoint4Y" fmla="*/ 0 h 334"/>
              <a:gd name="GluePoint5X" fmla="*/ 4 w 2179"/>
              <a:gd name="GluePoint5Y" fmla="*/ 112 h 334"/>
              <a:gd name="GluePoint6X" fmla="*/ 145 w 2179"/>
              <a:gd name="GluePoint6Y" fmla="*/ 257 h 334"/>
              <a:gd name="GluePoint7X" fmla="*/ 84 w 2179"/>
              <a:gd name="GluePoint7Y" fmla="*/ 250 h 334"/>
              <a:gd name="GluePoint8X" fmla="*/ 0 w 2179"/>
              <a:gd name="GluePoint8Y" fmla="*/ 220 h 334"/>
              <a:gd name="GluePoint9X" fmla="*/ 113 w 2179"/>
              <a:gd name="GluePoint9Y" fmla="*/ 334 h 334"/>
              <a:gd name="GluePoint10X" fmla="*/ 223 w 2179"/>
              <a:gd name="GluePoint10Y" fmla="*/ 212 h 334"/>
              <a:gd name="GluePoint11X" fmla="*/ 1096 w 2179"/>
              <a:gd name="GluePoint11Y" fmla="*/ 91 h 334"/>
              <a:gd name="GluePoint12X" fmla="*/ 1124 w 2179"/>
              <a:gd name="GluePoint12Y" fmla="*/ 54 h 334"/>
              <a:gd name="GluePoint13X" fmla="*/ 1152 w 2179"/>
              <a:gd name="GluePoint13Y" fmla="*/ 102 h 334"/>
              <a:gd name="GluePoint14X" fmla="*/ 1229 w 2179"/>
              <a:gd name="GluePoint14Y" fmla="*/ 80 h 334"/>
              <a:gd name="GluePoint15X" fmla="*/ 1017 w 2179"/>
              <a:gd name="GluePoint15Y" fmla="*/ 71 h 334"/>
              <a:gd name="GluePoint16X" fmla="*/ 1157 w 2179"/>
              <a:gd name="GluePoint16Y" fmla="*/ 233 h 334"/>
              <a:gd name="GluePoint17X" fmla="*/ 1128 w 2179"/>
              <a:gd name="GluePoint17Y" fmla="*/ 277 h 334"/>
              <a:gd name="GluePoint18X" fmla="*/ 1097 w 2179"/>
              <a:gd name="GluePoint18Y" fmla="*/ 219 h 334"/>
              <a:gd name="GluePoint19X" fmla="*/ 1014 w 2179"/>
              <a:gd name="GluePoint19Y" fmla="*/ 243 h 334"/>
              <a:gd name="GluePoint20X" fmla="*/ 1235 w 2179"/>
              <a:gd name="GluePoint20Y" fmla="*/ 262 h 334"/>
              <a:gd name="GluePoint21X" fmla="*/ 1096 w 2179"/>
              <a:gd name="GluePoint21Y" fmla="*/ 91 h 334"/>
              <a:gd name="GluePoint22X" fmla="*/ 1730 w 2179"/>
              <a:gd name="GluePoint22Y" fmla="*/ 10 h 334"/>
              <a:gd name="GluePoint23X" fmla="*/ 1614 w 2179"/>
              <a:gd name="GluePoint23Y" fmla="*/ 319 h 334"/>
              <a:gd name="GluePoint24X" fmla="*/ 1686 w 2179"/>
              <a:gd name="GluePoint24Y" fmla="*/ 60 h 334"/>
              <a:gd name="GluePoint25X" fmla="*/ 1876 w 2179"/>
              <a:gd name="GluePoint25Y" fmla="*/ 319 h 334"/>
              <a:gd name="GluePoint26X" fmla="*/ 1799 w 2179"/>
              <a:gd name="GluePoint26Y" fmla="*/ 10 h 334"/>
              <a:gd name="GluePoint27X" fmla="*/ 333 w 2179"/>
              <a:gd name="GluePoint27Y" fmla="*/ 10 h 334"/>
              <a:gd name="GluePoint28X" fmla="*/ 360 w 2179"/>
              <a:gd name="GluePoint28Y" fmla="*/ 322 h 334"/>
              <a:gd name="GluePoint29X" fmla="*/ 446 w 2179"/>
              <a:gd name="GluePoint29Y" fmla="*/ 322 h 334"/>
              <a:gd name="GluePoint30X" fmla="*/ 472 w 2179"/>
              <a:gd name="GluePoint30Y" fmla="*/ 10 h 334"/>
              <a:gd name="GluePoint31X" fmla="*/ 804 w 2179"/>
              <a:gd name="GluePoint31Y" fmla="*/ 10 h 334"/>
              <a:gd name="GluePoint32X" fmla="*/ 725 w 2179"/>
              <a:gd name="GluePoint32Y" fmla="*/ 10 h 334"/>
              <a:gd name="GluePoint33X" fmla="*/ 592 w 2179"/>
              <a:gd name="GluePoint33Y" fmla="*/ 322 h 334"/>
              <a:gd name="GluePoint34X" fmla="*/ 671 w 2179"/>
              <a:gd name="GluePoint34Y" fmla="*/ 33 h 334"/>
              <a:gd name="GluePoint35X" fmla="*/ 804 w 2179"/>
              <a:gd name="GluePoint35Y" fmla="*/ 322 h 334"/>
              <a:gd name="GluePoint36X" fmla="*/ 860 w 2179"/>
              <a:gd name="GluePoint36Y" fmla="*/ 322 h 334"/>
              <a:gd name="GluePoint37X" fmla="*/ 931 w 2179"/>
              <a:gd name="GluePoint37Y" fmla="*/ 10 h 334"/>
              <a:gd name="GluePoint38X" fmla="*/ 1528 w 2179"/>
              <a:gd name="GluePoint38Y" fmla="*/ 10 h 334"/>
              <a:gd name="GluePoint39X" fmla="*/ 1449 w 2179"/>
              <a:gd name="GluePoint39Y" fmla="*/ 241 h 334"/>
              <a:gd name="GluePoint40X" fmla="*/ 1418 w 2179"/>
              <a:gd name="GluePoint40Y" fmla="*/ 275 h 334"/>
              <a:gd name="GluePoint41X" fmla="*/ 1388 w 2179"/>
              <a:gd name="GluePoint41Y" fmla="*/ 241 h 334"/>
              <a:gd name="GluePoint42X" fmla="*/ 1309 w 2179"/>
              <a:gd name="GluePoint42Y" fmla="*/ 10 h 334"/>
              <a:gd name="GluePoint43X" fmla="*/ 1310 w 2179"/>
              <a:gd name="GluePoint43Y" fmla="*/ 254 h 334"/>
              <a:gd name="GluePoint44X" fmla="*/ 1527 w 2179"/>
              <a:gd name="GluePoint44Y" fmla="*/ 254 h 334"/>
              <a:gd name="GluePoint45X" fmla="*/ 1528 w 2179"/>
              <a:gd name="GluePoint45Y" fmla="*/ 10 h 334"/>
              <a:gd name="GluePoint46X" fmla="*/ 2069 w 2179"/>
              <a:gd name="GluePoint46Y" fmla="*/ 192 h 334"/>
              <a:gd name="GluePoint47X" fmla="*/ 2101 w 2179"/>
              <a:gd name="GluePoint47Y" fmla="*/ 237 h 334"/>
              <a:gd name="GluePoint48X" fmla="*/ 2068 w 2179"/>
              <a:gd name="GluePoint48Y" fmla="*/ 272 h 334"/>
              <a:gd name="GluePoint49X" fmla="*/ 2035 w 2179"/>
              <a:gd name="GluePoint49Y" fmla="*/ 237 h 334"/>
              <a:gd name="GluePoint50X" fmla="*/ 2037 w 2179"/>
              <a:gd name="GluePoint50Y" fmla="*/ 80 h 334"/>
              <a:gd name="GluePoint51X" fmla="*/ 2099 w 2179"/>
              <a:gd name="GluePoint51Y" fmla="*/ 80 h 334"/>
              <a:gd name="GluePoint52X" fmla="*/ 2100 w 2179"/>
              <a:gd name="GluePoint52Y" fmla="*/ 110 h 334"/>
              <a:gd name="GluePoint53X" fmla="*/ 2178 w 2179"/>
              <a:gd name="GluePoint53Y" fmla="*/ 99 h 334"/>
              <a:gd name="GluePoint54X" fmla="*/ 2068 w 2179"/>
              <a:gd name="GluePoint54Y" fmla="*/ 2 h 334"/>
              <a:gd name="GluePoint55X" fmla="*/ 1958 w 2179"/>
              <a:gd name="GluePoint55Y" fmla="*/ 99 h 334"/>
              <a:gd name="GluePoint56X" fmla="*/ 1959 w 2179"/>
              <a:gd name="GluePoint56Y" fmla="*/ 251 h 334"/>
              <a:gd name="GluePoint57X" fmla="*/ 2178 w 2179"/>
              <a:gd name="GluePoint57Y" fmla="*/ 251 h 334"/>
              <a:gd name="GluePoint58X" fmla="*/ 2179 w 2179"/>
              <a:gd name="GluePoint58Y" fmla="*/ 147 h 33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</a:cxnLst>
            <a:rect l="textAreaLeft" t="textAreaTop" r="textAreaRight" b="textAreaBottom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914040">
              <a:lnSpc>
                <a:spcPct val="100000"/>
              </a:lnSpc>
              <a:tabLst>
                <a:tab algn="l" pos="0"/>
              </a:tabLst>
            </a:pPr>
            <a:endParaRPr b="0" lang="en-US" sz="1960" strike="noStrike" u="none">
              <a:solidFill>
                <a:schemeClr val="dk1"/>
              </a:solidFill>
              <a:effectLst/>
              <a:uFillTx/>
              <a:latin typeface="SamsungOne 400"/>
              <a:ea typeface="SamsungOneKorean 400"/>
            </a:endParaRPr>
          </a:p>
        </p:txBody>
      </p:sp>
      <p:pic>
        <p:nvPicPr>
          <p:cNvPr id="6" name="그림 7" descr=""/>
          <p:cNvPicPr/>
          <p:nvPr/>
        </p:nvPicPr>
        <p:blipFill>
          <a:blip r:embed="rId3"/>
          <a:stretch/>
        </p:blipFill>
        <p:spPr>
          <a:xfrm>
            <a:off x="4265640" y="6141240"/>
            <a:ext cx="1371240" cy="44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ront Cover"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8" descr=""/>
          <p:cNvPicPr/>
          <p:nvPr/>
        </p:nvPicPr>
        <p:blipFill>
          <a:blip r:embed="rId2"/>
          <a:stretch/>
        </p:blipFill>
        <p:spPr>
          <a:xfrm>
            <a:off x="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Freeform 5"/>
          <p:cNvSpPr/>
          <p:nvPr/>
        </p:nvSpPr>
        <p:spPr>
          <a:xfrm>
            <a:off x="449640" y="450000"/>
            <a:ext cx="1281600" cy="197640"/>
          </a:xfrm>
          <a:custGeom>
            <a:avLst/>
            <a:gdLst>
              <a:gd name="textAreaLeft" fmla="*/ 0 w 1281600"/>
              <a:gd name="textAreaRight" fmla="*/ 1281960 w 1281600"/>
              <a:gd name="textAreaTop" fmla="*/ 0 h 197640"/>
              <a:gd name="textAreaBottom" fmla="*/ 198000 h 197640"/>
              <a:gd name="GluePoint1X" fmla="*/ 82 w 2179"/>
              <a:gd name="GluePoint1Y" fmla="*/ 74 h 334"/>
              <a:gd name="GluePoint2X" fmla="*/ 140 w 2179"/>
              <a:gd name="GluePoint2Y" fmla="*/ 82 h 334"/>
              <a:gd name="GluePoint3X" fmla="*/ 218 w 2179"/>
              <a:gd name="GluePoint3Y" fmla="*/ 101 h 334"/>
              <a:gd name="GluePoint4X" fmla="*/ 112 w 2179"/>
              <a:gd name="GluePoint4Y" fmla="*/ 0 h 334"/>
              <a:gd name="GluePoint5X" fmla="*/ 4 w 2179"/>
              <a:gd name="GluePoint5Y" fmla="*/ 112 h 334"/>
              <a:gd name="GluePoint6X" fmla="*/ 145 w 2179"/>
              <a:gd name="GluePoint6Y" fmla="*/ 257 h 334"/>
              <a:gd name="GluePoint7X" fmla="*/ 84 w 2179"/>
              <a:gd name="GluePoint7Y" fmla="*/ 250 h 334"/>
              <a:gd name="GluePoint8X" fmla="*/ 0 w 2179"/>
              <a:gd name="GluePoint8Y" fmla="*/ 220 h 334"/>
              <a:gd name="GluePoint9X" fmla="*/ 113 w 2179"/>
              <a:gd name="GluePoint9Y" fmla="*/ 334 h 334"/>
              <a:gd name="GluePoint10X" fmla="*/ 223 w 2179"/>
              <a:gd name="GluePoint10Y" fmla="*/ 212 h 334"/>
              <a:gd name="GluePoint11X" fmla="*/ 1096 w 2179"/>
              <a:gd name="GluePoint11Y" fmla="*/ 91 h 334"/>
              <a:gd name="GluePoint12X" fmla="*/ 1124 w 2179"/>
              <a:gd name="GluePoint12Y" fmla="*/ 54 h 334"/>
              <a:gd name="GluePoint13X" fmla="*/ 1152 w 2179"/>
              <a:gd name="GluePoint13Y" fmla="*/ 102 h 334"/>
              <a:gd name="GluePoint14X" fmla="*/ 1229 w 2179"/>
              <a:gd name="GluePoint14Y" fmla="*/ 80 h 334"/>
              <a:gd name="GluePoint15X" fmla="*/ 1017 w 2179"/>
              <a:gd name="GluePoint15Y" fmla="*/ 71 h 334"/>
              <a:gd name="GluePoint16X" fmla="*/ 1157 w 2179"/>
              <a:gd name="GluePoint16Y" fmla="*/ 233 h 334"/>
              <a:gd name="GluePoint17X" fmla="*/ 1128 w 2179"/>
              <a:gd name="GluePoint17Y" fmla="*/ 277 h 334"/>
              <a:gd name="GluePoint18X" fmla="*/ 1097 w 2179"/>
              <a:gd name="GluePoint18Y" fmla="*/ 219 h 334"/>
              <a:gd name="GluePoint19X" fmla="*/ 1014 w 2179"/>
              <a:gd name="GluePoint19Y" fmla="*/ 243 h 334"/>
              <a:gd name="GluePoint20X" fmla="*/ 1235 w 2179"/>
              <a:gd name="GluePoint20Y" fmla="*/ 262 h 334"/>
              <a:gd name="GluePoint21X" fmla="*/ 1096 w 2179"/>
              <a:gd name="GluePoint21Y" fmla="*/ 91 h 334"/>
              <a:gd name="GluePoint22X" fmla="*/ 1730 w 2179"/>
              <a:gd name="GluePoint22Y" fmla="*/ 10 h 334"/>
              <a:gd name="GluePoint23X" fmla="*/ 1614 w 2179"/>
              <a:gd name="GluePoint23Y" fmla="*/ 319 h 334"/>
              <a:gd name="GluePoint24X" fmla="*/ 1686 w 2179"/>
              <a:gd name="GluePoint24Y" fmla="*/ 60 h 334"/>
              <a:gd name="GluePoint25X" fmla="*/ 1876 w 2179"/>
              <a:gd name="GluePoint25Y" fmla="*/ 319 h 334"/>
              <a:gd name="GluePoint26X" fmla="*/ 1799 w 2179"/>
              <a:gd name="GluePoint26Y" fmla="*/ 10 h 334"/>
              <a:gd name="GluePoint27X" fmla="*/ 333 w 2179"/>
              <a:gd name="GluePoint27Y" fmla="*/ 10 h 334"/>
              <a:gd name="GluePoint28X" fmla="*/ 360 w 2179"/>
              <a:gd name="GluePoint28Y" fmla="*/ 322 h 334"/>
              <a:gd name="GluePoint29X" fmla="*/ 446 w 2179"/>
              <a:gd name="GluePoint29Y" fmla="*/ 322 h 334"/>
              <a:gd name="GluePoint30X" fmla="*/ 472 w 2179"/>
              <a:gd name="GluePoint30Y" fmla="*/ 10 h 334"/>
              <a:gd name="GluePoint31X" fmla="*/ 804 w 2179"/>
              <a:gd name="GluePoint31Y" fmla="*/ 10 h 334"/>
              <a:gd name="GluePoint32X" fmla="*/ 725 w 2179"/>
              <a:gd name="GluePoint32Y" fmla="*/ 10 h 334"/>
              <a:gd name="GluePoint33X" fmla="*/ 592 w 2179"/>
              <a:gd name="GluePoint33Y" fmla="*/ 322 h 334"/>
              <a:gd name="GluePoint34X" fmla="*/ 671 w 2179"/>
              <a:gd name="GluePoint34Y" fmla="*/ 33 h 334"/>
              <a:gd name="GluePoint35X" fmla="*/ 804 w 2179"/>
              <a:gd name="GluePoint35Y" fmla="*/ 322 h 334"/>
              <a:gd name="GluePoint36X" fmla="*/ 860 w 2179"/>
              <a:gd name="GluePoint36Y" fmla="*/ 322 h 334"/>
              <a:gd name="GluePoint37X" fmla="*/ 931 w 2179"/>
              <a:gd name="GluePoint37Y" fmla="*/ 10 h 334"/>
              <a:gd name="GluePoint38X" fmla="*/ 1528 w 2179"/>
              <a:gd name="GluePoint38Y" fmla="*/ 10 h 334"/>
              <a:gd name="GluePoint39X" fmla="*/ 1449 w 2179"/>
              <a:gd name="GluePoint39Y" fmla="*/ 241 h 334"/>
              <a:gd name="GluePoint40X" fmla="*/ 1418 w 2179"/>
              <a:gd name="GluePoint40Y" fmla="*/ 275 h 334"/>
              <a:gd name="GluePoint41X" fmla="*/ 1388 w 2179"/>
              <a:gd name="GluePoint41Y" fmla="*/ 241 h 334"/>
              <a:gd name="GluePoint42X" fmla="*/ 1309 w 2179"/>
              <a:gd name="GluePoint42Y" fmla="*/ 10 h 334"/>
              <a:gd name="GluePoint43X" fmla="*/ 1310 w 2179"/>
              <a:gd name="GluePoint43Y" fmla="*/ 254 h 334"/>
              <a:gd name="GluePoint44X" fmla="*/ 1527 w 2179"/>
              <a:gd name="GluePoint44Y" fmla="*/ 254 h 334"/>
              <a:gd name="GluePoint45X" fmla="*/ 1528 w 2179"/>
              <a:gd name="GluePoint45Y" fmla="*/ 10 h 334"/>
              <a:gd name="GluePoint46X" fmla="*/ 2069 w 2179"/>
              <a:gd name="GluePoint46Y" fmla="*/ 192 h 334"/>
              <a:gd name="GluePoint47X" fmla="*/ 2101 w 2179"/>
              <a:gd name="GluePoint47Y" fmla="*/ 237 h 334"/>
              <a:gd name="GluePoint48X" fmla="*/ 2068 w 2179"/>
              <a:gd name="GluePoint48Y" fmla="*/ 272 h 334"/>
              <a:gd name="GluePoint49X" fmla="*/ 2035 w 2179"/>
              <a:gd name="GluePoint49Y" fmla="*/ 237 h 334"/>
              <a:gd name="GluePoint50X" fmla="*/ 2037 w 2179"/>
              <a:gd name="GluePoint50Y" fmla="*/ 80 h 334"/>
              <a:gd name="GluePoint51X" fmla="*/ 2099 w 2179"/>
              <a:gd name="GluePoint51Y" fmla="*/ 80 h 334"/>
              <a:gd name="GluePoint52X" fmla="*/ 2100 w 2179"/>
              <a:gd name="GluePoint52Y" fmla="*/ 110 h 334"/>
              <a:gd name="GluePoint53X" fmla="*/ 2178 w 2179"/>
              <a:gd name="GluePoint53Y" fmla="*/ 99 h 334"/>
              <a:gd name="GluePoint54X" fmla="*/ 2068 w 2179"/>
              <a:gd name="GluePoint54Y" fmla="*/ 2 h 334"/>
              <a:gd name="GluePoint55X" fmla="*/ 1958 w 2179"/>
              <a:gd name="GluePoint55Y" fmla="*/ 99 h 334"/>
              <a:gd name="GluePoint56X" fmla="*/ 1959 w 2179"/>
              <a:gd name="GluePoint56Y" fmla="*/ 251 h 334"/>
              <a:gd name="GluePoint57X" fmla="*/ 2178 w 2179"/>
              <a:gd name="GluePoint57Y" fmla="*/ 251 h 334"/>
              <a:gd name="GluePoint58X" fmla="*/ 2179 w 2179"/>
              <a:gd name="GluePoint58Y" fmla="*/ 147 h 33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</a:cxnLst>
            <a:rect l="textAreaLeft" t="textAreaTop" r="textAreaRight" b="textAreaBottom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914040">
              <a:lnSpc>
                <a:spcPct val="100000"/>
              </a:lnSpc>
              <a:tabLst>
                <a:tab algn="l" pos="0"/>
              </a:tabLst>
            </a:pPr>
            <a:endParaRPr b="0" lang="en-US" sz="1960" strike="noStrike" u="none">
              <a:solidFill>
                <a:schemeClr val="dk1"/>
              </a:solidFill>
              <a:effectLst/>
              <a:uFillTx/>
              <a:latin typeface="SamsungOne 400"/>
              <a:ea typeface="SamsungOneKorean 400"/>
            </a:endParaRPr>
          </a:p>
        </p:txBody>
      </p:sp>
      <p:pic>
        <p:nvPicPr>
          <p:cNvPr id="9" name="그림 9" descr=""/>
          <p:cNvPicPr/>
          <p:nvPr/>
        </p:nvPicPr>
        <p:blipFill>
          <a:blip r:embed="rId3"/>
          <a:stretch/>
        </p:blipFill>
        <p:spPr>
          <a:xfrm>
            <a:off x="4265640" y="6141240"/>
            <a:ext cx="1371240" cy="44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직사각형 133"/>
          <p:cNvSpPr/>
          <p:nvPr/>
        </p:nvSpPr>
        <p:spPr>
          <a:xfrm>
            <a:off x="990000" y="4320000"/>
            <a:ext cx="5832000" cy="36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rgbClr val="1428a0"/>
                </a:solidFill>
                <a:effectLst/>
                <a:uFillTx/>
                <a:latin typeface="Samsung Sharp Sans"/>
                <a:ea typeface="Samsung Sharp Sans"/>
              </a:rPr>
              <a:t>Artificial Intelligence Course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직사각형 7"/>
          <p:cNvSpPr/>
          <p:nvPr/>
        </p:nvSpPr>
        <p:spPr>
          <a:xfrm>
            <a:off x="724680" y="4320000"/>
            <a:ext cx="53640" cy="35964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Calibri"/>
              <a:ea typeface="맑은 고딕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body"/>
          </p:nvPr>
        </p:nvSpPr>
        <p:spPr>
          <a:xfrm>
            <a:off x="720000" y="3551760"/>
            <a:ext cx="6837480" cy="21610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"/>
                <a:ea typeface="Samsung Sharp Sans"/>
              </a:rPr>
              <a:t>Team Name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title"/>
          </p:nvPr>
        </p:nvSpPr>
        <p:spPr>
          <a:xfrm>
            <a:off x="720000" y="1710000"/>
            <a:ext cx="5220720" cy="14634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Project</a:t>
            </a: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 </a:t>
            </a:r>
            <a:br>
              <a:rPr sz="4800"/>
            </a:b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Name</a:t>
            </a:r>
            <a:endParaRPr b="0" lang="en-US" sz="4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able of Content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" descr=""/>
          <p:cNvPicPr/>
          <p:nvPr/>
        </p:nvPicPr>
        <p:blipFill>
          <a:blip r:embed="rId2"/>
          <a:stretch/>
        </p:blipFill>
        <p:spPr>
          <a:xfrm>
            <a:off x="-144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5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16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1DF30E42-B3C5-4FC0-8518-C3181952FBEB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직사각형 133"/>
          <p:cNvSpPr/>
          <p:nvPr/>
        </p:nvSpPr>
        <p:spPr>
          <a:xfrm>
            <a:off x="990000" y="4157640"/>
            <a:ext cx="3562920" cy="322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2100" strike="noStrike" u="none">
                <a:solidFill>
                  <a:srgbClr val="1428a0"/>
                </a:solidFill>
                <a:effectLst/>
                <a:uFillTx/>
                <a:latin typeface="Samsung Sharp Sans"/>
                <a:ea typeface="Samsung Sharp Sans"/>
              </a:rPr>
              <a:t>AI Course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직사각형 8"/>
          <p:cNvSpPr/>
          <p:nvPr/>
        </p:nvSpPr>
        <p:spPr>
          <a:xfrm>
            <a:off x="720000" y="2095200"/>
            <a:ext cx="59760" cy="175896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Calibri"/>
              <a:ea typeface="맑은 고딕"/>
            </a:endParaRPr>
          </a:p>
        </p:txBody>
      </p:sp>
      <p:sp>
        <p:nvSpPr>
          <p:cNvPr id="20" name="직사각형 9"/>
          <p:cNvSpPr/>
          <p:nvPr/>
        </p:nvSpPr>
        <p:spPr>
          <a:xfrm>
            <a:off x="720000" y="4157640"/>
            <a:ext cx="59760" cy="32292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Calibri"/>
              <a:ea typeface="맑은 고딕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90000" y="2095200"/>
            <a:ext cx="5220720" cy="13410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Project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 </a:t>
            </a:r>
            <a:br>
              <a:rPr sz="4400"/>
            </a:b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Samsung Sharp Sans"/>
                <a:ea typeface="Samsung Sharp Sans"/>
              </a:rPr>
              <a:t>Name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990000" y="3577680"/>
            <a:ext cx="6837480" cy="21610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"/>
                <a:ea typeface="Samsung Sharp Sans"/>
              </a:rPr>
              <a:t>Team Name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able of 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4" descr=""/>
          <p:cNvPicPr/>
          <p:nvPr/>
        </p:nvPicPr>
        <p:blipFill>
          <a:blip r:embed="rId2"/>
          <a:stretch/>
        </p:blipFill>
        <p:spPr>
          <a:xfrm>
            <a:off x="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4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25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BCBB702A-84E2-4C88-B953-FC0109860A08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49640" y="1440000"/>
            <a:ext cx="8541000" cy="48816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32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Samsung Sharp Sans"/>
                <a:ea typeface="Samsung Sharp Sans"/>
              </a:rPr>
              <a:t>Slide Title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49640" y="450000"/>
            <a:ext cx="323640" cy="3600000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Samsung Sharp Sans Medium"/>
                <a:ea typeface="Samsung Sharp Sans Medium"/>
              </a:rPr>
              <a:t>No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89840" y="450000"/>
            <a:ext cx="6837480" cy="21610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Samsung Sharp Sans Bold"/>
                <a:ea typeface="Samsung Sharp Sans Bold"/>
              </a:rPr>
              <a:t>Subtitle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9112680" y="480600"/>
            <a:ext cx="340200" cy="3441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>
                    <a:lumMod val="85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00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8740800" y="480600"/>
            <a:ext cx="467640" cy="3441456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t">
            <a:sp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>
                    <a:lumMod val="85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UNIT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body"/>
          </p:nvPr>
        </p:nvSpPr>
        <p:spPr>
          <a:xfrm>
            <a:off x="522360" y="2221560"/>
            <a:ext cx="8055000" cy="91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7840" indent="-177840" defTabSz="914040">
              <a:lnSpc>
                <a:spcPts val="1800"/>
              </a:lnSpc>
              <a:spcBef>
                <a:spcPts val="1001"/>
              </a:spcBef>
              <a:buSzPct val="104974"/>
              <a:buBlip>
                <a:blip r:embed="rId3"/>
              </a:buBlip>
            </a:pPr>
            <a:r>
              <a:rPr b="0" lang="en-US" sz="1400" strike="noStrike" u="none">
                <a:solidFill>
                  <a:srgbClr val="262626"/>
                </a:solidFill>
                <a:effectLst/>
                <a:uFillTx/>
                <a:latin typeface="SamsungOne 400"/>
                <a:ea typeface="SamsungOne 400"/>
              </a:rPr>
              <a:t>Level1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1" marL="360360" indent="-182520" defTabSz="914040">
              <a:lnSpc>
                <a:spcPts val="1800"/>
              </a:lnSpc>
              <a:spcBef>
                <a:spcPts val="499"/>
              </a:spcBef>
              <a:buSzPct val="100000"/>
              <a:buBlip>
                <a:blip r:embed="rId4"/>
              </a:buBlip>
              <a:tabLst>
                <a:tab algn="l" pos="447480"/>
              </a:tabLst>
            </a:pPr>
            <a:r>
              <a:rPr b="0" lang="en-US" sz="1300" strike="noStrike" u="none">
                <a:solidFill>
                  <a:srgbClr val="262626"/>
                </a:solidFill>
                <a:effectLst/>
                <a:uFillTx/>
                <a:latin typeface="SamsungOne 400"/>
                <a:ea typeface="SamsungOne 400"/>
              </a:rPr>
              <a:t>Level2</a:t>
            </a:r>
            <a:endParaRPr b="0" lang="en-US" sz="13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indent="0" defTabSz="914040">
              <a:lnSpc>
                <a:spcPts val="1800"/>
              </a:lnSpc>
              <a:spcBef>
                <a:spcPts val="499"/>
              </a:spcBef>
              <a:buNone/>
              <a:tabLst>
                <a:tab algn="l" pos="447480"/>
              </a:tabLst>
            </a:pPr>
            <a:endParaRPr b="0" lang="en-US" sz="13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indent="0" defTabSz="843840">
              <a:lnSpc>
                <a:spcPct val="90000"/>
              </a:lnSpc>
              <a:spcBef>
                <a:spcPts val="462"/>
              </a:spcBef>
              <a:buNone/>
              <a:tabLst>
                <a:tab algn="l" pos="447480"/>
              </a:tabLst>
            </a:pPr>
            <a:endParaRPr b="0" lang="en-US" sz="13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indent="0" defTabSz="914040">
              <a:lnSpc>
                <a:spcPts val="1800"/>
              </a:lnSpc>
              <a:spcBef>
                <a:spcPts val="499"/>
              </a:spcBef>
              <a:buNone/>
              <a:tabLst>
                <a:tab algn="l" pos="447480"/>
              </a:tabLst>
            </a:pPr>
            <a:endParaRPr b="0" lang="en-US" sz="13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33" name="슬라이드 번호 개체 틀 15"/>
          <p:cNvSpPr/>
          <p:nvPr/>
        </p:nvSpPr>
        <p:spPr>
          <a:xfrm>
            <a:off x="6846840" y="6498000"/>
            <a:ext cx="234900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Project Name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able of 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4" descr=""/>
          <p:cNvPicPr/>
          <p:nvPr/>
        </p:nvPicPr>
        <p:blipFill>
          <a:blip r:embed="rId2"/>
          <a:stretch/>
        </p:blipFill>
        <p:spPr>
          <a:xfrm>
            <a:off x="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5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36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DAB8DF6F-8B33-4BE9-BED2-28300F29B471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슬라이드 번호 개체 틀 15"/>
          <p:cNvSpPr/>
          <p:nvPr/>
        </p:nvSpPr>
        <p:spPr>
          <a:xfrm>
            <a:off x="6846840" y="6498000"/>
            <a:ext cx="234900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Project Name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able of Content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림 1" descr=""/>
          <p:cNvPicPr/>
          <p:nvPr/>
        </p:nvPicPr>
        <p:blipFill>
          <a:blip r:embed="rId2"/>
          <a:stretch/>
        </p:blipFill>
        <p:spPr>
          <a:xfrm>
            <a:off x="-144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0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41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3FD5B770-3DD9-45DC-B9BF-C32F06C4599E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able of Conten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그림 2" descr=""/>
          <p:cNvPicPr/>
          <p:nvPr/>
        </p:nvPicPr>
        <p:blipFill>
          <a:blip r:embed="rId2"/>
          <a:stretch/>
        </p:blipFill>
        <p:spPr>
          <a:xfrm>
            <a:off x="0" y="0"/>
            <a:ext cx="990252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4" name="직선 연결선 11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45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19D785F2-AB49-403E-80D2-F7F8FD76F0C3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슬라이드 번호 개체 틀 15"/>
          <p:cNvSpPr/>
          <p:nvPr/>
        </p:nvSpPr>
        <p:spPr>
          <a:xfrm>
            <a:off x="6846840" y="6498000"/>
            <a:ext cx="234900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Project Name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직선 연결선 9"/>
          <p:cNvCxnSpPr/>
          <p:nvPr/>
        </p:nvCxnSpPr>
        <p:spPr>
          <a:xfrm>
            <a:off x="449280" y="6424920"/>
            <a:ext cx="9001080" cy="360"/>
          </a:xfrm>
          <a:prstGeom prst="straightConnector1">
            <a:avLst/>
          </a:prstGeom>
          <a:ln>
            <a:solidFill>
              <a:srgbClr val="ffffff">
                <a:lumMod val="75000"/>
              </a:srgbClr>
            </a:solidFill>
          </a:ln>
        </p:spPr>
      </p:cxnSp>
      <p:sp>
        <p:nvSpPr>
          <p:cNvPr id="49" name="슬라이드 번호 개체 틀 15"/>
          <p:cNvSpPr/>
          <p:nvPr/>
        </p:nvSpPr>
        <p:spPr>
          <a:xfrm>
            <a:off x="8836200" y="6498000"/>
            <a:ext cx="61344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  <a:tabLst>
                <a:tab algn="l" pos="0"/>
              </a:tabLst>
            </a:pPr>
            <a:fld id="{754F6003-A000-4430-B8D3-3344BF42E91F}" type="slidenum"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One 400"/>
                <a:ea typeface="SamsungOne 400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직사각형 7"/>
          <p:cNvSpPr/>
          <p:nvPr/>
        </p:nvSpPr>
        <p:spPr>
          <a:xfrm>
            <a:off x="449640" y="6498000"/>
            <a:ext cx="2888280" cy="168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Bold"/>
                <a:ea typeface="Samsung Sharp Sans Bold"/>
              </a:rPr>
              <a:t>Samsung Innovation Campus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직선 연결선 6"/>
          <p:cNvCxnSpPr/>
          <p:nvPr/>
        </p:nvCxnSpPr>
        <p:spPr>
          <a:xfrm>
            <a:off x="449280" y="900000"/>
            <a:ext cx="9001080" cy="360"/>
          </a:xfrm>
          <a:prstGeom prst="straightConnector1">
            <a:avLst/>
          </a:prstGeom>
          <a:ln w="15875">
            <a:solidFill>
              <a:srgbClr val="0924a5"/>
            </a:solidFill>
          </a:ln>
        </p:spPr>
      </p:cxnSp>
      <p:sp>
        <p:nvSpPr>
          <p:cNvPr id="52" name="슬라이드 번호 개체 틀 15"/>
          <p:cNvSpPr/>
          <p:nvPr/>
        </p:nvSpPr>
        <p:spPr>
          <a:xfrm>
            <a:off x="6846840" y="6498000"/>
            <a:ext cx="2349000" cy="13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algn="r" defTabSz="91404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amsung Sharp Sans Medium"/>
                <a:ea typeface="Samsung Sharp Sans Medium"/>
              </a:rPr>
              <a:t>Project Name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2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21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SamsungOne 400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SamsungOne 400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a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그림 2" descr=""/>
          <p:cNvPicPr/>
          <p:nvPr/>
        </p:nvPicPr>
        <p:blipFill>
          <a:blip r:embed="rId2"/>
          <a:stretch/>
        </p:blipFill>
        <p:spPr>
          <a:xfrm>
            <a:off x="0" y="4320"/>
            <a:ext cx="9899280" cy="685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직사각형 1"/>
          <p:cNvSpPr/>
          <p:nvPr/>
        </p:nvSpPr>
        <p:spPr>
          <a:xfrm>
            <a:off x="0" y="0"/>
            <a:ext cx="9899280" cy="6857640"/>
          </a:xfrm>
          <a:prstGeom prst="rect">
            <a:avLst/>
          </a:prstGeom>
          <a:solidFill>
            <a:srgbClr val="1428a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960" strike="noStrike" u="none">
              <a:solidFill>
                <a:schemeClr val="lt1"/>
              </a:solidFill>
              <a:effectLst/>
              <a:uFillTx/>
              <a:latin typeface="SamsungOne 400"/>
              <a:ea typeface="SamsungOneKorean 400"/>
            </a:endParaRPr>
          </a:p>
        </p:txBody>
      </p:sp>
      <p:sp>
        <p:nvSpPr>
          <p:cNvPr id="57" name="직사각형 6"/>
          <p:cNvSpPr/>
          <p:nvPr/>
        </p:nvSpPr>
        <p:spPr>
          <a:xfrm>
            <a:off x="449640" y="5677200"/>
            <a:ext cx="9000360" cy="7304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t">
            <a:sp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91404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SamsungOne 400C"/>
                <a:ea typeface="SamsungOne 400"/>
              </a:rPr>
              <a:t>ⓒ</a:t>
            </a: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SamsungOne 400C"/>
                <a:ea typeface="SamsungOne 400C"/>
              </a:rPr>
              <a:t>2025 SAMSUNG. All rights reserved.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  <a:spcBef>
                <a:spcPts val="601"/>
              </a:spcBef>
              <a:tabLst>
                <a:tab algn="l" pos="0"/>
              </a:tabLst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SamsungOne 400C"/>
                <a:ea typeface="SamsungOne 400C"/>
              </a:rPr>
              <a:t>Samsung Electronics Corporate Citizenship Office holds the copyright of book.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SamsungOne 400C"/>
                <a:ea typeface="SamsungOne 400C"/>
              </a:rPr>
              <a:t>This book is a literary property protected by copyright law so reprint and reproduction without permission are prohibited. 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SamsungOne 400C"/>
                <a:ea typeface="SamsungOne 400C"/>
              </a:rPr>
              <a:t>To use this book other than the curriculum of Samsung Innovation Campus or to use the entire or part of this book, you must receive written consent from copyright holder.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그림 3" descr=""/>
          <p:cNvPicPr/>
          <p:nvPr/>
        </p:nvPicPr>
        <p:blipFill>
          <a:blip r:embed="rId3"/>
          <a:stretch/>
        </p:blipFill>
        <p:spPr>
          <a:xfrm>
            <a:off x="3711960" y="3022920"/>
            <a:ext cx="2475720" cy="81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Freeform 5"/>
          <p:cNvSpPr/>
          <p:nvPr/>
        </p:nvSpPr>
        <p:spPr>
          <a:xfrm>
            <a:off x="449640" y="450000"/>
            <a:ext cx="1290240" cy="197640"/>
          </a:xfrm>
          <a:custGeom>
            <a:avLst/>
            <a:gdLst>
              <a:gd name="textAreaLeft" fmla="*/ 0 w 1290240"/>
              <a:gd name="textAreaRight" fmla="*/ 1290600 w 1290240"/>
              <a:gd name="textAreaTop" fmla="*/ 0 h 197640"/>
              <a:gd name="textAreaBottom" fmla="*/ 198000 h 197640"/>
              <a:gd name="GluePoint1X" fmla="*/ 82 w 2179"/>
              <a:gd name="GluePoint1Y" fmla="*/ 74 h 334"/>
              <a:gd name="GluePoint2X" fmla="*/ 140 w 2179"/>
              <a:gd name="GluePoint2Y" fmla="*/ 82 h 334"/>
              <a:gd name="GluePoint3X" fmla="*/ 218 w 2179"/>
              <a:gd name="GluePoint3Y" fmla="*/ 101 h 334"/>
              <a:gd name="GluePoint4X" fmla="*/ 112 w 2179"/>
              <a:gd name="GluePoint4Y" fmla="*/ 0 h 334"/>
              <a:gd name="GluePoint5X" fmla="*/ 4 w 2179"/>
              <a:gd name="GluePoint5Y" fmla="*/ 112 h 334"/>
              <a:gd name="GluePoint6X" fmla="*/ 145 w 2179"/>
              <a:gd name="GluePoint6Y" fmla="*/ 257 h 334"/>
              <a:gd name="GluePoint7X" fmla="*/ 84 w 2179"/>
              <a:gd name="GluePoint7Y" fmla="*/ 250 h 334"/>
              <a:gd name="GluePoint8X" fmla="*/ 0 w 2179"/>
              <a:gd name="GluePoint8Y" fmla="*/ 220 h 334"/>
              <a:gd name="GluePoint9X" fmla="*/ 113 w 2179"/>
              <a:gd name="GluePoint9Y" fmla="*/ 334 h 334"/>
              <a:gd name="GluePoint10X" fmla="*/ 223 w 2179"/>
              <a:gd name="GluePoint10Y" fmla="*/ 212 h 334"/>
              <a:gd name="GluePoint11X" fmla="*/ 1096 w 2179"/>
              <a:gd name="GluePoint11Y" fmla="*/ 91 h 334"/>
              <a:gd name="GluePoint12X" fmla="*/ 1124 w 2179"/>
              <a:gd name="GluePoint12Y" fmla="*/ 54 h 334"/>
              <a:gd name="GluePoint13X" fmla="*/ 1152 w 2179"/>
              <a:gd name="GluePoint13Y" fmla="*/ 102 h 334"/>
              <a:gd name="GluePoint14X" fmla="*/ 1229 w 2179"/>
              <a:gd name="GluePoint14Y" fmla="*/ 80 h 334"/>
              <a:gd name="GluePoint15X" fmla="*/ 1017 w 2179"/>
              <a:gd name="GluePoint15Y" fmla="*/ 71 h 334"/>
              <a:gd name="GluePoint16X" fmla="*/ 1157 w 2179"/>
              <a:gd name="GluePoint16Y" fmla="*/ 233 h 334"/>
              <a:gd name="GluePoint17X" fmla="*/ 1128 w 2179"/>
              <a:gd name="GluePoint17Y" fmla="*/ 277 h 334"/>
              <a:gd name="GluePoint18X" fmla="*/ 1097 w 2179"/>
              <a:gd name="GluePoint18Y" fmla="*/ 219 h 334"/>
              <a:gd name="GluePoint19X" fmla="*/ 1014 w 2179"/>
              <a:gd name="GluePoint19Y" fmla="*/ 243 h 334"/>
              <a:gd name="GluePoint20X" fmla="*/ 1235 w 2179"/>
              <a:gd name="GluePoint20Y" fmla="*/ 262 h 334"/>
              <a:gd name="GluePoint21X" fmla="*/ 1096 w 2179"/>
              <a:gd name="GluePoint21Y" fmla="*/ 91 h 334"/>
              <a:gd name="GluePoint22X" fmla="*/ 1730 w 2179"/>
              <a:gd name="GluePoint22Y" fmla="*/ 10 h 334"/>
              <a:gd name="GluePoint23X" fmla="*/ 1614 w 2179"/>
              <a:gd name="GluePoint23Y" fmla="*/ 319 h 334"/>
              <a:gd name="GluePoint24X" fmla="*/ 1686 w 2179"/>
              <a:gd name="GluePoint24Y" fmla="*/ 60 h 334"/>
              <a:gd name="GluePoint25X" fmla="*/ 1876 w 2179"/>
              <a:gd name="GluePoint25Y" fmla="*/ 319 h 334"/>
              <a:gd name="GluePoint26X" fmla="*/ 1799 w 2179"/>
              <a:gd name="GluePoint26Y" fmla="*/ 10 h 334"/>
              <a:gd name="GluePoint27X" fmla="*/ 333 w 2179"/>
              <a:gd name="GluePoint27Y" fmla="*/ 10 h 334"/>
              <a:gd name="GluePoint28X" fmla="*/ 360 w 2179"/>
              <a:gd name="GluePoint28Y" fmla="*/ 322 h 334"/>
              <a:gd name="GluePoint29X" fmla="*/ 446 w 2179"/>
              <a:gd name="GluePoint29Y" fmla="*/ 322 h 334"/>
              <a:gd name="GluePoint30X" fmla="*/ 472 w 2179"/>
              <a:gd name="GluePoint30Y" fmla="*/ 10 h 334"/>
              <a:gd name="GluePoint31X" fmla="*/ 804 w 2179"/>
              <a:gd name="GluePoint31Y" fmla="*/ 10 h 334"/>
              <a:gd name="GluePoint32X" fmla="*/ 725 w 2179"/>
              <a:gd name="GluePoint32Y" fmla="*/ 10 h 334"/>
              <a:gd name="GluePoint33X" fmla="*/ 592 w 2179"/>
              <a:gd name="GluePoint33Y" fmla="*/ 322 h 334"/>
              <a:gd name="GluePoint34X" fmla="*/ 671 w 2179"/>
              <a:gd name="GluePoint34Y" fmla="*/ 33 h 334"/>
              <a:gd name="GluePoint35X" fmla="*/ 804 w 2179"/>
              <a:gd name="GluePoint35Y" fmla="*/ 322 h 334"/>
              <a:gd name="GluePoint36X" fmla="*/ 860 w 2179"/>
              <a:gd name="GluePoint36Y" fmla="*/ 322 h 334"/>
              <a:gd name="GluePoint37X" fmla="*/ 931 w 2179"/>
              <a:gd name="GluePoint37Y" fmla="*/ 10 h 334"/>
              <a:gd name="GluePoint38X" fmla="*/ 1528 w 2179"/>
              <a:gd name="GluePoint38Y" fmla="*/ 10 h 334"/>
              <a:gd name="GluePoint39X" fmla="*/ 1449 w 2179"/>
              <a:gd name="GluePoint39Y" fmla="*/ 241 h 334"/>
              <a:gd name="GluePoint40X" fmla="*/ 1418 w 2179"/>
              <a:gd name="GluePoint40Y" fmla="*/ 275 h 334"/>
              <a:gd name="GluePoint41X" fmla="*/ 1388 w 2179"/>
              <a:gd name="GluePoint41Y" fmla="*/ 241 h 334"/>
              <a:gd name="GluePoint42X" fmla="*/ 1309 w 2179"/>
              <a:gd name="GluePoint42Y" fmla="*/ 10 h 334"/>
              <a:gd name="GluePoint43X" fmla="*/ 1310 w 2179"/>
              <a:gd name="GluePoint43Y" fmla="*/ 254 h 334"/>
              <a:gd name="GluePoint44X" fmla="*/ 1527 w 2179"/>
              <a:gd name="GluePoint44Y" fmla="*/ 254 h 334"/>
              <a:gd name="GluePoint45X" fmla="*/ 1528 w 2179"/>
              <a:gd name="GluePoint45Y" fmla="*/ 10 h 334"/>
              <a:gd name="GluePoint46X" fmla="*/ 2069 w 2179"/>
              <a:gd name="GluePoint46Y" fmla="*/ 192 h 334"/>
              <a:gd name="GluePoint47X" fmla="*/ 2101 w 2179"/>
              <a:gd name="GluePoint47Y" fmla="*/ 237 h 334"/>
              <a:gd name="GluePoint48X" fmla="*/ 2068 w 2179"/>
              <a:gd name="GluePoint48Y" fmla="*/ 272 h 334"/>
              <a:gd name="GluePoint49X" fmla="*/ 2035 w 2179"/>
              <a:gd name="GluePoint49Y" fmla="*/ 237 h 334"/>
              <a:gd name="GluePoint50X" fmla="*/ 2037 w 2179"/>
              <a:gd name="GluePoint50Y" fmla="*/ 80 h 334"/>
              <a:gd name="GluePoint51X" fmla="*/ 2099 w 2179"/>
              <a:gd name="GluePoint51Y" fmla="*/ 80 h 334"/>
              <a:gd name="GluePoint52X" fmla="*/ 2100 w 2179"/>
              <a:gd name="GluePoint52Y" fmla="*/ 110 h 334"/>
              <a:gd name="GluePoint53X" fmla="*/ 2178 w 2179"/>
              <a:gd name="GluePoint53Y" fmla="*/ 99 h 334"/>
              <a:gd name="GluePoint54X" fmla="*/ 2068 w 2179"/>
              <a:gd name="GluePoint54Y" fmla="*/ 2 h 334"/>
              <a:gd name="GluePoint55X" fmla="*/ 1958 w 2179"/>
              <a:gd name="GluePoint55Y" fmla="*/ 99 h 334"/>
              <a:gd name="GluePoint56X" fmla="*/ 1959 w 2179"/>
              <a:gd name="GluePoint56Y" fmla="*/ 251 h 334"/>
              <a:gd name="GluePoint57X" fmla="*/ 2178 w 2179"/>
              <a:gd name="GluePoint57Y" fmla="*/ 251 h 334"/>
              <a:gd name="GluePoint58X" fmla="*/ 2179 w 2179"/>
              <a:gd name="GluePoint58Y" fmla="*/ 147 h 33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</a:cxnLst>
            <a:rect l="textAreaLeft" t="textAreaTop" r="textAreaRight" b="textAreaBottom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  <a:scene3d>
              <a:camera prst="orthographicFront"/>
              <a:lightRig dir="t" rig="threePt"/>
            </a:scene3d>
            <a:sp3d>
              <a:bevelT w="0" h="6350"/>
            </a:sp3d>
          </a:bodyPr>
          <a:p>
            <a:pPr defTabSz="914040">
              <a:lnSpc>
                <a:spcPct val="100000"/>
              </a:lnSpc>
              <a:tabLst>
                <a:tab algn="l" pos="0"/>
              </a:tabLst>
            </a:pPr>
            <a:endParaRPr b="0" lang="en-US" sz="1960" strike="noStrike" u="none">
              <a:solidFill>
                <a:schemeClr val="dk1"/>
              </a:solidFill>
              <a:effectLst/>
              <a:uFillTx/>
              <a:latin typeface="SamsungOne 400"/>
              <a:ea typeface="SamsungOneKorean 400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video" Target="../media/media11.mp4"/><Relationship Id="rId2" Type="http://schemas.microsoft.com/office/2007/relationships/media" Target="../media/media11.mp4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video" Target="../media/media13.mp4"/><Relationship Id="rId2" Type="http://schemas.microsoft.com/office/2007/relationships/media" Target="../media/media13.mp4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video" Target="../media/media15.mp4"/><Relationship Id="rId2" Type="http://schemas.microsoft.com/office/2007/relationships/media" Target="../media/media15.mp4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video" Target="../media/media17.mp4"/><Relationship Id="rId2" Type="http://schemas.microsoft.com/office/2007/relationships/media" Target="../media/media17.mp4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video" Target="../media/media19.mp4"/><Relationship Id="rId2" Type="http://schemas.microsoft.com/office/2007/relationships/media" Target="../media/media19.mp4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video" Target="../media/media21.mp4"/><Relationship Id="rId2" Type="http://schemas.microsoft.com/office/2007/relationships/media" Target="../media/media21.mp4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video" Target="../media/media23.mp4"/><Relationship Id="rId2" Type="http://schemas.microsoft.com/office/2007/relationships/media" Target="../media/media23.mp4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video" Target="../media/media25.mp4"/><Relationship Id="rId2" Type="http://schemas.microsoft.com/office/2007/relationships/media" Target="../media/media25.mp4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video" Target="../media/media27.mp4"/><Relationship Id="rId2" Type="http://schemas.microsoft.com/office/2007/relationships/media" Target="../media/media27.mp4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video" Target="../media/media29.mp4"/><Relationship Id="rId2" Type="http://schemas.microsoft.com/office/2007/relationships/media" Target="../media/media29.mp4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video" Target="../media/media31.mp4"/><Relationship Id="rId2" Type="http://schemas.microsoft.com/office/2007/relationships/media" Target="../media/media31.mp4"/><Relationship Id="rId3" Type="http://schemas.openxmlformats.org/officeDocument/2006/relationships/image" Target="../media/image32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video" Target="../media/media33.mp4"/><Relationship Id="rId2" Type="http://schemas.microsoft.com/office/2007/relationships/media" Target="../media/media33.mp4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video" Target="../media/media35.mp4"/><Relationship Id="rId2" Type="http://schemas.microsoft.com/office/2007/relationships/media" Target="../media/media35.mp4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video" Target="../media/media37.mp4"/><Relationship Id="rId2" Type="http://schemas.microsoft.com/office/2007/relationships/media" Target="../media/media37.mp4"/><Relationship Id="rId3" Type="http://schemas.openxmlformats.org/officeDocument/2006/relationships/image" Target="../media/image38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video" Target="../media/media39.mp4"/><Relationship Id="rId2" Type="http://schemas.microsoft.com/office/2007/relationships/media" Target="../media/media39.mp4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video" Target="../media/media41.mp4"/><Relationship Id="rId2" Type="http://schemas.microsoft.com/office/2007/relationships/media" Target="../media/media41.mp4"/><Relationship Id="rId3" Type="http://schemas.openxmlformats.org/officeDocument/2006/relationships/image" Target="../media/image42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video" Target="../media/media43.mp4"/><Relationship Id="rId2" Type="http://schemas.microsoft.com/office/2007/relationships/media" Target="../media/media43.mp4"/><Relationship Id="rId3" Type="http://schemas.openxmlformats.org/officeDocument/2006/relationships/image" Target="../media/image44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video" Target="../media/media45.mp4"/><Relationship Id="rId2" Type="http://schemas.microsoft.com/office/2007/relationships/media" Target="../media/media45.mp4"/><Relationship Id="rId3" Type="http://schemas.openxmlformats.org/officeDocument/2006/relationships/image" Target="../media/image4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video" Target="../media/media47.mp4"/><Relationship Id="rId2" Type="http://schemas.microsoft.com/office/2007/relationships/media" Target="../media/media47.mp4"/><Relationship Id="rId3" Type="http://schemas.openxmlformats.org/officeDocument/2006/relationships/image" Target="../media/image48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video" Target="../media/media49.mp4"/><Relationship Id="rId2" Type="http://schemas.microsoft.com/office/2007/relationships/media" Target="../media/media49.mp4"/><Relationship Id="rId3" Type="http://schemas.openxmlformats.org/officeDocument/2006/relationships/image" Target="../media/image50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video" Target="../media/media51.mp4"/><Relationship Id="rId2" Type="http://schemas.microsoft.com/office/2007/relationships/media" Target="../media/media51.mp4"/><Relationship Id="rId3" Type="http://schemas.openxmlformats.org/officeDocument/2006/relationships/image" Target="../media/image52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video" Target="../media/media53.mp4"/><Relationship Id="rId2" Type="http://schemas.microsoft.com/office/2007/relationships/media" Target="../media/media53.mp4"/><Relationship Id="rId3" Type="http://schemas.openxmlformats.org/officeDocument/2006/relationships/image" Target="../media/image54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video" Target="../media/media55.mp4"/><Relationship Id="rId2" Type="http://schemas.microsoft.com/office/2007/relationships/media" Target="../media/media55.mp4"/><Relationship Id="rId3" Type="http://schemas.openxmlformats.org/officeDocument/2006/relationships/image" Target="../media/image56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video" Target="../media/media57.mp4"/><Relationship Id="rId2" Type="http://schemas.microsoft.com/office/2007/relationships/media" Target="../media/media57.mp4"/><Relationship Id="rId3" Type="http://schemas.openxmlformats.org/officeDocument/2006/relationships/image" Target="../media/image58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" descr="Cover: Bayan, on-device Arabic text simplification for readers with dyslexia, Team Cogni, Samsung logo (step 1 of 1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6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" descr="About 11% of Arab primary-school children have dyslexia; the word كتب has three readings (step 1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6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" descr="About 11% of Arab primary-school children have dyslexia; the word كتب has three readings (step 2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3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68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" descr="About 11% of Arab primary-school children have dyslexia; the word كتب has three readings (step 3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4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6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" descr="Table comparing SAMER, BAREC, Baseet and DAASI: none is made for dyslexia (step 1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5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" descr="Table comparing SAMER, BAREC, Baseet and DAASI: none is made for dyslexia (step 2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6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1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" descr="Table comparing SAMER, BAREC, Baseet and DAASI: none is made for dyslexia (step 3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7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" descr="Three product options; the Android plugin in the text-selection menu is chosen (step 1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8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" descr="Three product options; the Android plugin in the text-selection menu is chosen (step 2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9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" descr="Three product options; the Android plugin in the text-selection menu is chosen (step 3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0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" descr="9.3% of Baseet overlapped the locked test sets; the 22,733-pair training set by source tag (step 1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1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6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" descr="9.3% of Baseet overlapped the locked test sets; the 22,733-pair training set by source tag (step 2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2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" descr="9.3% of Baseet overlapped the locked test sets; the 22,733-pair training set by source tag (step 3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3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8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" descr="AraT5v2 (368M), AraBART (139M) and HPLT T5 (about 294M, reserve) trained with one shared recipe (step 1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4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7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" descr="AraT5v2 (368M), AraBART (139M) and HPLT T5 (about 294M, reserve) trained with one shared recipe (step 2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5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0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" descr="AraT5v2 (368M), AraBART (139M) and HPLT T5 (about 294M, reserve) trained with one shared recipe (step 3 of 3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6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1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SARI on human-changed rows: copy the input 56.06, Model 1 61.83 (step 1 of 2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7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" descr="SARI on human-changed rows: copy the input 56.06, Model 1 61.83 (step 2 of 2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8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" descr="Model 2 changes: keep unchanged pairs, add filtered everyday text, add strength tags S0 to SA (step 1 of 4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19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4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" descr="Model 2 changes: keep unchanged pairs, add filtered everyday text, add strength tags S0 to SA (step 2 of 4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0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5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" descr="Model 2 changes: keep unchanged pairs, add filtered everyday text, add strength tags S0 to SA (step 3 of 4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1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6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" descr="Model 2 changes: keep unchanged pairs, add filtered everyday text, add strength tags S0 to SA (step 4 of 4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2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7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" descr="Simplify where you read. Next: BayanBench, a real phone, readers with dyslexia (step 1 of 2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3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" descr="Simplify where you read. Next: BayanBench, a real phone, readers with dyslexia (step 2 of 2)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90252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p14:dur="0"/>
    </mc:Choice>
    <mc:Fallback>
      <p:transition/>
    </mc:Fallback>
  </mc:AlternateContent>
  <p:timing>
    <p:tnLst>
      <p:par>
        <p:cTn id="24" dur="indefinite" restart="never" nodeType="tmRoot">
          <p:childTnLst>
            <p:video>
              <p:cMediaNode>
                <p:cTn>
                  <p:stCondLst>
                    <p:cond delay="indefinite"/>
                  </p:stCondLst>
                </p:cTn>
                <p:tgtEl>
                  <p:spTgt spid="89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amsung">
      <a:majorFont>
        <a:latin typeface="Samsung Sharp Sans" pitchFamily="0" charset="1"/>
        <a:ea typeface="SamsungOneKorean 700" pitchFamily="0" charset="1"/>
        <a:cs typeface=""/>
      </a:majorFont>
      <a:minorFont>
        <a:latin typeface="SamsungOne 400" pitchFamily="0" charset="1"/>
        <a:ea typeface="SamsungOneKorean 400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B971F96850C604FA9DD4A6FAA1D7E94" ma:contentTypeVersion="13" ma:contentTypeDescription="Create a new document." ma:contentTypeScope="" ma:versionID="94bb0226509be2894c83196f814f5ace">
  <xsd:schema xmlns:xsd="http://www.w3.org/2001/XMLSchema" xmlns:xs="http://www.w3.org/2001/XMLSchema" xmlns:p="http://schemas.microsoft.com/office/2006/metadata/properties" xmlns:ns2="5192ee0d-e524-4888-b581-1910cadcd210" xmlns:ns3="525df02f-3aee-47af-b2f3-c2ea8bcae9a6" targetNamespace="http://schemas.microsoft.com/office/2006/metadata/properties" ma:root="true" ma:fieldsID="eb19b1b986ba2b37eb36a9dd005ffe1c" ns2:_="" ns3:_="">
    <xsd:import namespace="5192ee0d-e524-4888-b581-1910cadcd210"/>
    <xsd:import namespace="525df02f-3aee-47af-b2f3-c2ea8bcae9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BillingMetadata" minOccurs="0"/>
                <xsd:element ref="ns2:MediaServiceOCR" minOccurs="0"/>
                <xsd:element ref="ns2:comm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92ee0d-e524-4888-b581-1910cadcd2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33ef62f9-2e07-484b-bd79-00aec90129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comment" ma:index="20" nillable="true" ma:displayName="comment" ma:format="Dropdown" ma:internalName="comment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5df02f-3aee-47af-b2f3-c2ea8bcae9a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f2df0d5-6bdf-4400-9605-4c2d2eede7e4}" ma:internalName="TaxCatchAll" ma:showField="CatchAllData" ma:web="525df02f-3aee-47af-b2f3-c2ea8bcae9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25df02f-3aee-47af-b2f3-c2ea8bcae9a6" xsi:nil="true"/>
    <lcf76f155ced4ddcb4097134ff3c332f xmlns="5192ee0d-e524-4888-b581-1910cadcd210">
      <Terms xmlns="http://schemas.microsoft.com/office/infopath/2007/PartnerControls"/>
    </lcf76f155ced4ddcb4097134ff3c332f>
    <comment xmlns="5192ee0d-e524-4888-b581-1910cadcd210" xsi:nil="true"/>
  </documentManagement>
</p:properties>
</file>

<file path=customXml/itemProps1.xml><?xml version="1.0" encoding="utf-8"?>
<ds:datastoreItem xmlns:ds="http://schemas.openxmlformats.org/officeDocument/2006/customXml" ds:itemID="{0A0357D8-C495-42E3-A0C0-6723B236FB34}"/>
</file>

<file path=customXml/itemProps2.xml><?xml version="1.0" encoding="utf-8"?>
<ds:datastoreItem xmlns:ds="http://schemas.openxmlformats.org/officeDocument/2006/customXml" ds:itemID="{F7A1BB24-B868-43EF-95F7-238FE3A157D5}"/>
</file>

<file path=customXml/itemProps3.xml><?xml version="1.0" encoding="utf-8"?>
<ds:datastoreItem xmlns:ds="http://schemas.openxmlformats.org/officeDocument/2006/customXml" ds:itemID="{83B4D1BC-3672-47C7-8E98-3D3B83A92BF9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4352</TotalTime>
  <Application>LibreOffice/25.2.7.2$Linux_X86_64 LibreOffice_project/520$Build-2</Application>
  <AppVersion>15.0000</AppVersion>
  <Words>65</Words>
  <Paragraphs>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2019-07-06T14:12:49Z</dcterms:created>
  <dc:creator>Soon Yong Chang</dc:creator>
  <dc:description/>
  <dc:language>en-US</dc:language>
  <cp:lastModifiedBy/>
  <dcterms:modified xsi:type="dcterms:W3CDTF">2026-09-30T20:17:40Z</dcterms:modified>
  <cp:revision>2082</cp:revision>
  <dc:subject/>
  <dc:title>Programming in Python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0x010100EB971F96850C604FA9DD4A6FAA1D7E94</vt:lpwstr>
  </property>
  <property fmtid="{D5CDD505-2E9C-101B-9397-08002B2CF9AE}" pid="3" name="PresentationFormat">
    <vt:lpwstr>사용자 지정</vt:lpwstr>
  </property>
  <property fmtid="{D5CDD505-2E9C-101B-9397-08002B2CF9AE}" pid="4" name="Slides">
    <vt:i4>4</vt:i4>
  </property>
</Properties>
</file>