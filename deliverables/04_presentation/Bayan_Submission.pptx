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Five connected stages: sources, leakage check, meaning gate, fine-tune, measure)</a:t>
            </a:r>
          </a:p>
          <a:p>
            <a:r>
              <a:t>Those three versions came out of one pipeline. Sources pass a leakage check, then a meaning gate set at point eight five, then fine-tuning, then BayanBench.</a:t>
            </a:r>
          </a:p>
          <a:p/>
          <a:p>
            <a:r>
              <a:t>▶ Step 2 (step 2 (auto); A feedback loop closes back on the sources, carrying the three version findings)</a:t>
            </a:r>
          </a:p>
          <a:p>
            <a:r>
              <a:t>And the loop is the point. v0.1 taught us that copying wins. v0.2 taught us that meaning breaks first. Each finding became the next version's data, and v0.3 keeps meaning in eighty-two percent of outputs. Next: how we trust that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Five connected stages: sources, leakage check, meaning gate, fine-tune, measure)</a:t>
            </a:r>
          </a:p>
          <a:p>
            <a:r>
              <a:t>Those three versions came out of one pipeline. Sources pass a leakage check, then a meaning gate set at point eight five, then fine-tuning, then BayanBench.</a:t>
            </a:r>
          </a:p>
          <a:p/>
          <a:p>
            <a:r>
              <a:t>▶ Step 2 (step 2 (auto); A feedback loop closes back on the sources, carrying the three version findings)</a:t>
            </a:r>
          </a:p>
          <a:p>
            <a:r>
              <a:t>And the loop is the point. v0.1 taught us that copying wins. v0.2 taught us that meaning breaks first. Each finding became the next version's data, and v0.3 keeps meaning in eighty-two percent of outputs. Next: how we trust that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9</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9</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106984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9576" y="3611880"/>
            <a:ext cx="5943600" cy="20116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9</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513958" y="4069079"/>
            <a:ext cx="3776218"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tashkeel is a setting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9</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9</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9</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9</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9</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9</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9</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THE PIPELINE</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Build, measure, learn</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9</a:t>
            </a:r>
          </a:p>
        </p:txBody>
      </p:sp>
      <p:sp>
        <p:nvSpPr>
          <p:cNvPr id="9" name="Rounded Rectangle 8"/>
          <p:cNvSpPr/>
          <p:nvPr/>
        </p:nvSpPr>
        <p:spPr>
          <a:xfrm>
            <a:off x="425196"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Source corpora</a:t>
            </a:r>
          </a:p>
        </p:txBody>
      </p:sp>
      <p:sp>
        <p:nvSpPr>
          <p:cNvPr id="11" name="TextBox 10"/>
          <p:cNvSpPr txBox="1"/>
          <p:nvPr/>
        </p:nvSpPr>
        <p:spPr>
          <a:xfrm>
            <a:off x="489204"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SAMER · DAASI ·</a:t>
            </a:r>
          </a:p>
          <a:p>
            <a:pPr algn="ctr">
              <a:lnSpc>
                <a:spcPct val="112000"/>
              </a:lnSpc>
            </a:pPr>
            <a:r>
              <a:rPr sz="1050" b="0">
                <a:solidFill>
                  <a:srgbClr val="4A4842"/>
                </a:solidFill>
                <a:latin typeface="Readex Pro"/>
                <a:cs typeface="Readex Pro"/>
                <a:ea typeface="Readex Pro"/>
              </a:rPr>
              <a:t>other datasets · BAREC</a:t>
            </a:r>
          </a:p>
        </p:txBody>
      </p:sp>
      <p:sp>
        <p:nvSpPr>
          <p:cNvPr id="12" name="Rounded Rectangle 11"/>
          <p:cNvSpPr/>
          <p:nvPr/>
        </p:nvSpPr>
        <p:spPr>
          <a:xfrm>
            <a:off x="2318004"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82012"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Leakage check</a:t>
            </a:r>
          </a:p>
        </p:txBody>
      </p:sp>
      <p:sp>
        <p:nvSpPr>
          <p:cNvPr id="14" name="TextBox 13"/>
          <p:cNvSpPr txBox="1"/>
          <p:nvPr/>
        </p:nvSpPr>
        <p:spPr>
          <a:xfrm>
            <a:off x="2382012"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exact + 5-gram ·</a:t>
            </a:r>
          </a:p>
          <a:p>
            <a:pPr algn="ctr">
              <a:lnSpc>
                <a:spcPct val="112000"/>
              </a:lnSpc>
            </a:pPr>
            <a:r>
              <a:rPr sz="1050" b="0">
                <a:solidFill>
                  <a:srgbClr val="4A4842"/>
                </a:solidFill>
                <a:latin typeface="Readex Pro"/>
                <a:cs typeface="Readex Pro"/>
                <a:ea typeface="Readex Pro"/>
              </a:rPr>
              <a:t>grouped split</a:t>
            </a:r>
          </a:p>
        </p:txBody>
      </p:sp>
      <p:cxnSp>
        <p:nvCxnSpPr>
          <p:cNvPr id="15" name="Connector 14"/>
          <p:cNvCxnSpPr/>
          <p:nvPr/>
        </p:nvCxnSpPr>
        <p:spPr>
          <a:xfrm>
            <a:off x="1952243" y="2715768"/>
            <a:ext cx="320041"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10812"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4820"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Meaning gate</a:t>
            </a:r>
          </a:p>
        </p:txBody>
      </p:sp>
      <p:sp>
        <p:nvSpPr>
          <p:cNvPr id="18" name="TextBox 17"/>
          <p:cNvSpPr txBox="1"/>
          <p:nvPr/>
        </p:nvSpPr>
        <p:spPr>
          <a:xfrm>
            <a:off x="4274820"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Qwen judge ≥ 0.85</a:t>
            </a:r>
          </a:p>
          <a:p>
            <a:pPr algn="ctr">
              <a:lnSpc>
                <a:spcPct val="112000"/>
              </a:lnSpc>
            </a:pPr>
            <a:r>
              <a:rPr sz="1050" b="0">
                <a:solidFill>
                  <a:srgbClr val="4A4842"/>
                </a:solidFill>
                <a:latin typeface="Readex Pro"/>
                <a:cs typeface="Readex Pro"/>
                <a:ea typeface="Readex Pro"/>
              </a:rPr>
              <a:t>strength tags [S0]–[SA]</a:t>
            </a:r>
          </a:p>
        </p:txBody>
      </p:sp>
      <p:cxnSp>
        <p:nvCxnSpPr>
          <p:cNvPr id="19" name="Connector 18"/>
          <p:cNvCxnSpPr/>
          <p:nvPr/>
        </p:nvCxnSpPr>
        <p:spPr>
          <a:xfrm>
            <a:off x="3845052"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03620"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Fine-tune</a:t>
            </a:r>
          </a:p>
        </p:txBody>
      </p:sp>
      <p:sp>
        <p:nvSpPr>
          <p:cNvPr id="22" name="TextBox 21"/>
          <p:cNvSpPr txBox="1"/>
          <p:nvPr/>
        </p:nvSpPr>
        <p:spPr>
          <a:xfrm>
            <a:off x="6167628"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AraT5v2 · AraBART ·</a:t>
            </a:r>
          </a:p>
          <a:p>
            <a:pPr algn="ctr">
              <a:lnSpc>
                <a:spcPct val="112000"/>
              </a:lnSpc>
            </a:pPr>
            <a:r>
              <a:rPr sz="1050" b="0">
                <a:solidFill>
                  <a:srgbClr val="4A4842"/>
                </a:solidFill>
                <a:latin typeface="Readex Pro"/>
                <a:cs typeface="Readex Pro"/>
                <a:ea typeface="Readex Pro"/>
              </a:rPr>
              <a:t>int8 bundle → the phone</a:t>
            </a:r>
          </a:p>
        </p:txBody>
      </p:sp>
      <p:cxnSp>
        <p:nvCxnSpPr>
          <p:cNvPr id="23" name="Connector 22"/>
          <p:cNvCxnSpPr/>
          <p:nvPr/>
        </p:nvCxnSpPr>
        <p:spPr>
          <a:xfrm>
            <a:off x="5737860"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996428"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0436"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Measure</a:t>
            </a:r>
          </a:p>
        </p:txBody>
      </p:sp>
      <p:sp>
        <p:nvSpPr>
          <p:cNvPr id="26" name="TextBox 25"/>
          <p:cNvSpPr txBox="1"/>
          <p:nvPr/>
        </p:nvSpPr>
        <p:spPr>
          <a:xfrm>
            <a:off x="8060436"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BayanBench v2 ·</a:t>
            </a:r>
          </a:p>
          <a:p>
            <a:pPr algn="ctr">
              <a:lnSpc>
                <a:spcPct val="112000"/>
              </a:lnSpc>
            </a:pPr>
            <a:r>
              <a:rPr sz="1050" b="0">
                <a:solidFill>
                  <a:srgbClr val="4A4842"/>
                </a:solidFill>
                <a:latin typeface="Readex Pro"/>
                <a:cs typeface="Readex Pro"/>
                <a:ea typeface="Readex Pro"/>
              </a:rPr>
              <a:t>1,981 items, one scorer</a:t>
            </a:r>
          </a:p>
        </p:txBody>
      </p:sp>
      <p:cxnSp>
        <p:nvCxnSpPr>
          <p:cNvPr id="27" name="Connector 26"/>
          <p:cNvCxnSpPr/>
          <p:nvPr/>
        </p:nvCxnSpPr>
        <p:spPr>
          <a:xfrm>
            <a:off x="7630668"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THE PIPELINE</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Build, measure, learn</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9</a:t>
            </a:r>
          </a:p>
        </p:txBody>
      </p:sp>
      <p:sp>
        <p:nvSpPr>
          <p:cNvPr id="9" name="Rounded Rectangle 8"/>
          <p:cNvSpPr/>
          <p:nvPr/>
        </p:nvSpPr>
        <p:spPr>
          <a:xfrm>
            <a:off x="425196"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Source corpora</a:t>
            </a:r>
          </a:p>
        </p:txBody>
      </p:sp>
      <p:sp>
        <p:nvSpPr>
          <p:cNvPr id="11" name="TextBox 10"/>
          <p:cNvSpPr txBox="1"/>
          <p:nvPr/>
        </p:nvSpPr>
        <p:spPr>
          <a:xfrm>
            <a:off x="489204"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SAMER · DAASI ·</a:t>
            </a:r>
          </a:p>
          <a:p>
            <a:pPr algn="ctr">
              <a:lnSpc>
                <a:spcPct val="112000"/>
              </a:lnSpc>
            </a:pPr>
            <a:r>
              <a:rPr sz="1050" b="0">
                <a:solidFill>
                  <a:srgbClr val="4A4842"/>
                </a:solidFill>
                <a:latin typeface="Readex Pro"/>
                <a:cs typeface="Readex Pro"/>
                <a:ea typeface="Readex Pro"/>
              </a:rPr>
              <a:t>other datasets · BAREC</a:t>
            </a:r>
          </a:p>
        </p:txBody>
      </p:sp>
      <p:sp>
        <p:nvSpPr>
          <p:cNvPr id="12" name="Rounded Rectangle 11"/>
          <p:cNvSpPr/>
          <p:nvPr/>
        </p:nvSpPr>
        <p:spPr>
          <a:xfrm>
            <a:off x="2318004"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82012"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Leakage check</a:t>
            </a:r>
          </a:p>
        </p:txBody>
      </p:sp>
      <p:sp>
        <p:nvSpPr>
          <p:cNvPr id="14" name="TextBox 13"/>
          <p:cNvSpPr txBox="1"/>
          <p:nvPr/>
        </p:nvSpPr>
        <p:spPr>
          <a:xfrm>
            <a:off x="2382012"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exact + 5-gram ·</a:t>
            </a:r>
          </a:p>
          <a:p>
            <a:pPr algn="ctr">
              <a:lnSpc>
                <a:spcPct val="112000"/>
              </a:lnSpc>
            </a:pPr>
            <a:r>
              <a:rPr sz="1050" b="0">
                <a:solidFill>
                  <a:srgbClr val="4A4842"/>
                </a:solidFill>
                <a:latin typeface="Readex Pro"/>
                <a:cs typeface="Readex Pro"/>
                <a:ea typeface="Readex Pro"/>
              </a:rPr>
              <a:t>grouped split</a:t>
            </a:r>
          </a:p>
        </p:txBody>
      </p:sp>
      <p:cxnSp>
        <p:nvCxnSpPr>
          <p:cNvPr id="15" name="Connector 14"/>
          <p:cNvCxnSpPr/>
          <p:nvPr/>
        </p:nvCxnSpPr>
        <p:spPr>
          <a:xfrm>
            <a:off x="1952243" y="2715768"/>
            <a:ext cx="320041"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10812"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4820"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Meaning gate</a:t>
            </a:r>
          </a:p>
        </p:txBody>
      </p:sp>
      <p:sp>
        <p:nvSpPr>
          <p:cNvPr id="18" name="TextBox 17"/>
          <p:cNvSpPr txBox="1"/>
          <p:nvPr/>
        </p:nvSpPr>
        <p:spPr>
          <a:xfrm>
            <a:off x="4274820"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Qwen judge ≥ 0.85</a:t>
            </a:r>
          </a:p>
          <a:p>
            <a:pPr algn="ctr">
              <a:lnSpc>
                <a:spcPct val="112000"/>
              </a:lnSpc>
            </a:pPr>
            <a:r>
              <a:rPr sz="1050" b="0">
                <a:solidFill>
                  <a:srgbClr val="4A4842"/>
                </a:solidFill>
                <a:latin typeface="Readex Pro"/>
                <a:cs typeface="Readex Pro"/>
                <a:ea typeface="Readex Pro"/>
              </a:rPr>
              <a:t>strength tags [S0]–[SA]</a:t>
            </a:r>
          </a:p>
        </p:txBody>
      </p:sp>
      <p:cxnSp>
        <p:nvCxnSpPr>
          <p:cNvPr id="19" name="Connector 18"/>
          <p:cNvCxnSpPr/>
          <p:nvPr/>
        </p:nvCxnSpPr>
        <p:spPr>
          <a:xfrm>
            <a:off x="3845052"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03620"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Fine-tune</a:t>
            </a:r>
          </a:p>
        </p:txBody>
      </p:sp>
      <p:sp>
        <p:nvSpPr>
          <p:cNvPr id="22" name="TextBox 21"/>
          <p:cNvSpPr txBox="1"/>
          <p:nvPr/>
        </p:nvSpPr>
        <p:spPr>
          <a:xfrm>
            <a:off x="6167628"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AraT5v2 · AraBART ·</a:t>
            </a:r>
          </a:p>
          <a:p>
            <a:pPr algn="ctr">
              <a:lnSpc>
                <a:spcPct val="112000"/>
              </a:lnSpc>
            </a:pPr>
            <a:r>
              <a:rPr sz="1050" b="0">
                <a:solidFill>
                  <a:srgbClr val="4A4842"/>
                </a:solidFill>
                <a:latin typeface="Readex Pro"/>
                <a:cs typeface="Readex Pro"/>
                <a:ea typeface="Readex Pro"/>
              </a:rPr>
              <a:t>int8 bundle → the phone</a:t>
            </a:r>
          </a:p>
        </p:txBody>
      </p:sp>
      <p:cxnSp>
        <p:nvCxnSpPr>
          <p:cNvPr id="23" name="Connector 22"/>
          <p:cNvCxnSpPr/>
          <p:nvPr/>
        </p:nvCxnSpPr>
        <p:spPr>
          <a:xfrm>
            <a:off x="5737860"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996428"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0436"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Measure</a:t>
            </a:r>
          </a:p>
        </p:txBody>
      </p:sp>
      <p:sp>
        <p:nvSpPr>
          <p:cNvPr id="26" name="TextBox 25"/>
          <p:cNvSpPr txBox="1"/>
          <p:nvPr/>
        </p:nvSpPr>
        <p:spPr>
          <a:xfrm>
            <a:off x="8060436"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BayanBench v2 ·</a:t>
            </a:r>
          </a:p>
          <a:p>
            <a:pPr algn="ctr">
              <a:lnSpc>
                <a:spcPct val="112000"/>
              </a:lnSpc>
            </a:pPr>
            <a:r>
              <a:rPr sz="1050" b="0">
                <a:solidFill>
                  <a:srgbClr val="4A4842"/>
                </a:solidFill>
                <a:latin typeface="Readex Pro"/>
                <a:cs typeface="Readex Pro"/>
                <a:ea typeface="Readex Pro"/>
              </a:rPr>
              <a:t>1,981 items, one scorer</a:t>
            </a:r>
          </a:p>
        </p:txBody>
      </p:sp>
      <p:cxnSp>
        <p:nvCxnSpPr>
          <p:cNvPr id="27" name="Connector 26"/>
          <p:cNvCxnSpPr/>
          <p:nvPr/>
        </p:nvCxnSpPr>
        <p:spPr>
          <a:xfrm>
            <a:off x="7630668"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737092" y="3291840"/>
            <a:ext cx="0" cy="1463040"/>
          </a:xfrm>
          <a:prstGeom prst="line">
            <a:avLst/>
          </a:prstGeom>
          <a:ln w="31750">
            <a:solidFill>
              <a:srgbClr val="8A5E3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165860" y="4754880"/>
            <a:ext cx="7571232" cy="0"/>
          </a:xfrm>
          <a:prstGeom prst="line">
            <a:avLst/>
          </a:prstGeom>
          <a:ln w="31750">
            <a:solidFill>
              <a:srgbClr val="8A5E3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165860" y="3291840"/>
            <a:ext cx="0" cy="1463040"/>
          </a:xfrm>
          <a:prstGeom prst="line">
            <a:avLst/>
          </a:prstGeom>
          <a:ln w="31750">
            <a:solidFill>
              <a:srgbClr val="8A5E35"/>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906" y="4617720"/>
            <a:ext cx="3206496"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v0.1 · copying wins: 65% unchanged</a:t>
            </a:r>
          </a:p>
        </p:txBody>
      </p:sp>
      <p:sp>
        <p:nvSpPr>
          <p:cNvPr id="32" name="Rounded Rectangle 31"/>
          <p:cNvSpPr/>
          <p:nvPr/>
        </p:nvSpPr>
        <p:spPr>
          <a:xfrm>
            <a:off x="3726942" y="4617720"/>
            <a:ext cx="2869692"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v0.2 · meaning kept 60% / 40%</a:t>
            </a:r>
          </a:p>
        </p:txBody>
      </p:sp>
      <p:sp>
        <p:nvSpPr>
          <p:cNvPr id="33" name="Rounded Rectangle 32"/>
          <p:cNvSpPr/>
          <p:nvPr/>
        </p:nvSpPr>
        <p:spPr>
          <a:xfrm>
            <a:off x="7126986" y="4617720"/>
            <a:ext cx="2575560"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v0.3 · kept 82% (was 79%)</a:t>
            </a:r>
          </a:p>
        </p:txBody>
      </p:sp>
      <p:sp>
        <p:nvSpPr>
          <p:cNvPr id="34" name="TextBox 33"/>
          <p:cNvSpPr txBox="1"/>
          <p:nvPr/>
        </p:nvSpPr>
        <p:spPr>
          <a:xfrm>
            <a:off x="566928" y="5349240"/>
            <a:ext cx="8769096" cy="2743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learn · each finding became the next version's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9</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384048"/>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(float, greedy) · the shipped app model with four beams is on the results slide</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9</a:t>
            </a:r>
          </a:p>
        </p:txBody>
      </p:sp>
      <p:sp>
        <p:nvSpPr>
          <p:cNvPr id="9" name="Rounded Rectangle 8"/>
          <p:cNvSpPr/>
          <p:nvPr/>
        </p:nvSpPr>
        <p:spPr>
          <a:xfrm>
            <a:off x="301752" y="1659636"/>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265322" y="1440180"/>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65322"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265322"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492240" y="1676095"/>
            <a:ext cx="3277209"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2587752" y="1874519"/>
            <a:ext cx="604418"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90234" y="1874519"/>
            <a:ext cx="428854"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Meaning · 4 questions</a:t>
            </a:r>
          </a:p>
        </p:txBody>
      </p:sp>
      <p:sp>
        <p:nvSpPr>
          <p:cNvPr id="18" name="Rounded Rectangle 17"/>
          <p:cNvSpPr/>
          <p:nvPr/>
        </p:nvSpPr>
        <p:spPr>
          <a:xfrm>
            <a:off x="694944" y="3218688"/>
            <a:ext cx="4178807" cy="530352"/>
          </a:xfrm>
          <a:prstGeom prst="roundRect">
            <a:avLst>
              <a:gd name="adj" fmla="val 15517"/>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694944"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adds a fact?</a:t>
            </a:r>
          </a:p>
        </p:txBody>
      </p:sp>
      <p:sp>
        <p:nvSpPr>
          <p:cNvPr id="20" name="Rounded Rectangle 19"/>
          <p:cNvSpPr/>
          <p:nvPr/>
        </p:nvSpPr>
        <p:spPr>
          <a:xfrm>
            <a:off x="694944"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drops a fact?</a:t>
            </a:r>
          </a:p>
        </p:txBody>
      </p:sp>
      <p:sp>
        <p:nvSpPr>
          <p:cNvPr id="21" name="Rounded Rectangle 20"/>
          <p:cNvSpPr/>
          <p:nvPr/>
        </p:nvSpPr>
        <p:spPr>
          <a:xfrm>
            <a:off x="694944" y="513892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contradicts?</a:t>
            </a:r>
          </a:p>
        </p:txBody>
      </p:sp>
      <p:sp>
        <p:nvSpPr>
          <p:cNvPr id="22" name="Rounded Rectangle 21"/>
          <p:cNvSpPr/>
          <p:nvPr/>
        </p:nvSpPr>
        <p:spPr>
          <a:xfrm>
            <a:off x="5321807"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Quality · 3 questions, diagnostic</a:t>
            </a:r>
          </a:p>
        </p:txBody>
      </p:sp>
      <p:sp>
        <p:nvSpPr>
          <p:cNvPr id="24" name="Rounded Rectangle 23"/>
          <p:cNvSpPr/>
          <p:nvPr/>
        </p:nvSpPr>
        <p:spPr>
          <a:xfrm>
            <a:off x="5449823" y="321868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Arabic correct?</a:t>
            </a:r>
          </a:p>
        </p:txBody>
      </p:sp>
      <p:sp>
        <p:nvSpPr>
          <p:cNvPr id="25" name="Rounded Rectangle 24"/>
          <p:cNvSpPr/>
          <p:nvPr/>
        </p:nvSpPr>
        <p:spPr>
          <a:xfrm>
            <a:off x="5449823"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coherent?</a:t>
            </a:r>
          </a:p>
        </p:txBody>
      </p:sp>
      <p:sp>
        <p:nvSpPr>
          <p:cNvPr id="26" name="Rounded Rectangle 25"/>
          <p:cNvSpPr/>
          <p:nvPr/>
        </p:nvSpPr>
        <p:spPr>
          <a:xfrm>
            <a:off x="5449823"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easier to read?</a:t>
            </a:r>
          </a:p>
        </p:txBody>
      </p:sp>
      <p:sp>
        <p:nvSpPr>
          <p:cNvPr id="27" name="TextBox 26"/>
          <p:cNvSpPr txBox="1"/>
          <p:nvPr/>
        </p:nvSpPr>
        <p:spPr>
          <a:xfrm>
            <a:off x="5504688" y="5934455"/>
            <a:ext cx="4069079" cy="256032"/>
          </a:xfrm>
          <a:prstGeom prst="rect">
            <a:avLst/>
          </a:prstGeom>
          <a:noFill/>
        </p:spPr>
        <p:txBody>
          <a:bodyPr wrap="square" lIns="0" rIns="0" tIns="0" bIns="0" anchor="ctr">
            <a:spAutoFit/>
          </a:bodyPr>
          <a:lstStyle/>
          <a:p>
            <a:pPr algn="ctr"/>
            <a:r>
              <a:rPr sz="9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9</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9</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9</a:t>
            </a:r>
          </a:p>
        </p:txBody>
      </p:sp>
      <p:cxnSp>
        <p:nvCxnSpPr>
          <p:cNvPr id="9" name="Connector 8"/>
          <p:cNvCxnSpPr/>
          <p:nvPr/>
        </p:nvCxnSpPr>
        <p:spPr>
          <a:xfrm>
            <a:off x="2331720" y="5029200"/>
            <a:ext cx="4434839"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31720" y="1783080"/>
            <a:ext cx="0" cy="324612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31720" y="5138928"/>
            <a:ext cx="4434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393191" y="3278123"/>
            <a:ext cx="31089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simplification: words cut from the longest clause  →</a:t>
            </a:r>
          </a:p>
        </p:txBody>
      </p:sp>
      <p:sp>
        <p:nvSpPr>
          <p:cNvPr id="13" name="Oval 12"/>
          <p:cNvSpPr/>
          <p:nvPr/>
        </p:nvSpPr>
        <p:spPr>
          <a:xfrm>
            <a:off x="6365747" y="468652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9112" y="437562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946599" y="468652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58969" y="496998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100340" y="393437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274" y="421783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91288" y="290511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47272" y="289139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970934" y="219255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0974" y="217883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491971" y="274676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9671" y="24358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823789" y="203420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16741" y="172330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150510" y="247713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0238" y="258685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2574" y="261429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423160" y="551383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32888" y="548640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9</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9</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07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8 / 9</a:t>
            </a:r>
          </a:p>
        </p:txBody>
      </p:sp>
      <p:sp>
        <p:nvSpPr>
          <p:cNvPr id="8" name="Rounded Rectangle 7"/>
          <p:cNvSpPr/>
          <p:nvPr/>
        </p:nvSpPr>
        <p:spPr>
          <a:xfrm>
            <a:off x="6958963" y="1481328"/>
            <a:ext cx="2377060" cy="4846320"/>
          </a:xfrm>
          <a:prstGeom prst="roundRect">
            <a:avLst>
              <a:gd name="adj" fmla="val 10001"/>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Demo video" descr="Bayan demo: select Arabic text, tap Simplify, read aloud">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068691" y="1591056"/>
            <a:ext cx="2157604" cy="4626864"/>
          </a:xfrm>
          <a:prstGeom prst="rect">
            <a:avLst/>
          </a:prstGeom>
        </p:spPr>
      </p:pic>
      <p:sp>
        <p:nvSpPr>
          <p:cNvPr id="10" name="TextBox 9"/>
          <p:cNvSpPr txBox="1"/>
          <p:nvPr/>
        </p:nvSpPr>
        <p:spPr>
          <a:xfrm>
            <a:off x="566928" y="2468880"/>
            <a:ext cx="5934835" cy="502920"/>
          </a:xfrm>
          <a:prstGeom prst="rect">
            <a:avLst/>
          </a:prstGeom>
          <a:noFill/>
        </p:spPr>
        <p:txBody>
          <a:bodyPr wrap="square" lIns="0" rIns="0" tIns="0" bIns="0" anchor="ctr">
            <a:spAutoFit/>
          </a:bodyPr>
          <a:lstStyle/>
          <a:p>
            <a:pPr algn="l"/>
            <a:r>
              <a:rPr sz="3000" b="1">
                <a:solidFill>
                  <a:srgbClr val="282824"/>
                </a:solidFill>
                <a:latin typeface="Readex Pro"/>
                <a:cs typeface="Readex Pro"/>
                <a:ea typeface="Readex Pro"/>
              </a:rPr>
              <a:t>What the app does</a:t>
            </a:r>
          </a:p>
        </p:txBody>
      </p:sp>
      <p:sp>
        <p:nvSpPr>
          <p:cNvPr id="11" name="TextBox 10"/>
          <p:cNvSpPr txBox="1"/>
          <p:nvPr/>
        </p:nvSpPr>
        <p:spPr>
          <a:xfrm>
            <a:off x="566928" y="3154680"/>
            <a:ext cx="5934835" cy="1463040"/>
          </a:xfrm>
          <a:prstGeom prst="rect">
            <a:avLst/>
          </a:prstGeom>
          <a:noFill/>
        </p:spPr>
        <p:txBody>
          <a:bodyPr wrap="square" lIns="0" rIns="0" tIns="0" bIns="0" anchor="ctr">
            <a:spAutoFit/>
          </a:bodyPr>
          <a:lstStyle/>
          <a:p>
            <a:pPr algn="l">
              <a:lnSpc>
                <a:spcPct val="125000"/>
              </a:lnSpc>
            </a:pPr>
            <a:r>
              <a:rPr sz="1800" b="0">
                <a:solidFill>
                  <a:srgbClr val="4A4842"/>
                </a:solidFill>
                <a:latin typeface="Readex Pro"/>
                <a:cs typeface="Readex Pro"/>
                <a:ea typeface="Readex Pro"/>
              </a:rPr>
              <a:t>Select Arabic text in any app.</a:t>
            </a:r>
          </a:p>
          <a:p>
            <a:pPr algn="l">
              <a:lnSpc>
                <a:spcPct val="125000"/>
              </a:lnSpc>
            </a:pPr>
            <a:r>
              <a:rPr sz="1800" b="0">
                <a:solidFill>
                  <a:srgbClr val="4A4842"/>
                </a:solidFill>
                <a:latin typeface="Readex Pro"/>
                <a:cs typeface="Readex Pro"/>
                <a:ea typeface="Readex Pro"/>
              </a:rPr>
              <a:t>Tap تبسيط. Bayan simplifies it</a:t>
            </a:r>
          </a:p>
          <a:p>
            <a:pPr algn="l">
              <a:lnSpc>
                <a:spcPct val="125000"/>
              </a:lnSpc>
            </a:pPr>
            <a:r>
              <a:rPr sz="1800" b="0">
                <a:solidFill>
                  <a:srgbClr val="4A4842"/>
                </a:solidFill>
                <a:latin typeface="Readex Pro"/>
                <a:cs typeface="Readex Pro"/>
                <a:ea typeface="Readex Pro"/>
              </a:rPr>
              <a:t>and reads it aloud.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timing>
    <p:tnLst>
      <p:par>
        <p:cTn id="1" dur="indefinite" restart="never" nodeType="tmRoot">
          <p:childTnLst>
            <p:video>
              <p:cMediaNode vol="80000">
                <p:cTn id="2" fill="hold" display="0">
                  <p:stCondLst>
                    <p:cond delay="0"/>
                  </p:stCondLst>
                </p:cTn>
                <p:tgtEl>
                  <p:spTgt spid="9"/>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9 / 9</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9 / 9</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