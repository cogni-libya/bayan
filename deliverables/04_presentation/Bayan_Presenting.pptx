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 uri="{521415D9-36F7-43E2-AB2F-B90AF26B5E84}">
      <p14:sectionLst xmlns:p14="http://schemas.microsoft.com/office/powerpoint/2010/main">
        <p14:section name="1. Cover" id="{66083ee4-475b-59ca-a90c-53b7fd31a485}">
          <p14:sldIdLst>
            <p14:sldId id="256"/>
          </p14:sldIdLst>
        </p14:section>
        <p14:section name="2. Problem" id="{92ff3771-adec-5b62-88f4-013ceac532f7}">
          <p14:sldIdLst>
            <p14:sldId id="257"/>
            <p14:sldId id="258"/>
          </p14:sldIdLst>
        </p14:section>
        <p14:section name="3. Data" id="{c176ee49-28dc-51c1-aa4b-0a13a89d9a20}">
          <p14:sldIdLst>
            <p14:sldId id="259"/>
            <p14:sldId id="260"/>
            <p14:sldId id="261"/>
            <p14:sldId id="262"/>
          </p14:sldIdLst>
        </p14:section>
        <p14:section name="4. ipeline" id="{d5545d7b-6e5f-50da-a93c-5e5126f90f66}">
          <p14:sldIdLst>
            <p14:sldId id="263"/>
            <p14:sldId id="264"/>
            <p14:sldId id="265"/>
          </p14:sldIdLst>
        </p14:section>
        <p14:section name="5. Models" id="{4784d655-ed21-588e-b1c4-025b10287067}">
          <p14:sldIdLst>
            <p14:sldId id="266"/>
            <p14:sldId id="267"/>
            <p14:sldId id="268"/>
          </p14:sldIdLst>
        </p14:section>
        <p14:section name="6. Measure" id="{1a8300f5-edd1-534b-8fa2-7c26e938551b}">
          <p14:sldIdLst>
            <p14:sldId id="269"/>
            <p14:sldId id="270"/>
            <p14:sldId id="271"/>
            <p14:sldId id="272"/>
          </p14:sldIdLst>
        </p14:section>
        <p14:section name="7. Results" id="{f799d59e-b6c5-52d0-b583-206a96d1471b}">
          <p14:sldIdLst>
            <p14:sldId id="273"/>
            <p14:sldId id="274"/>
            <p14:sldId id="275"/>
          </p14:sldIdLst>
        </p14:section>
        <p14:section name="8. Phone" id="{5c93df3b-b2b8-5c43-b345-f0372d0dc1f2}">
          <p14:sldIdLst>
            <p14:sldId id="276"/>
            <p14:sldId id="277"/>
            <p14:sldId id="278"/>
          </p14:sldIdLst>
        </p14:section>
        <p14:section name="9. Close" id="{8b7fc44d-da3b-545a-b00f-fda4a296e502}">
          <p14:sldIdLst>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(11% counts up; كتب splits into kataba, kutiba, kutub)</a:t>
            </a:r>
          </a:p>
          <a:p>
            <a:r>
              <a:t>About eleven percent of Arab primary-school children have dyslexia, and Arabic doesn't help: these letters can be kataba, kutiba or kutub, because short vowels aren't written.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(Two cards: SAMER (novels, half unchanged, word swaps) and other LLM-written sources (summaries))</a:t>
            </a:r>
          </a:p>
          <a:p>
            <a:r>
              <a:t>We started with what existed. SAMER is novels: half its pairs are unchanged, and it swaps words but never splits sentences. The other sources mostly summarised.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(Pipeline v1: BAREC -&gt; strip tashkeel -&gt; route -&gt; Gemma 4 31B -&gt; code, readability and meaning gates)</a:t>
            </a:r>
          </a:p>
          <a:p>
            <a:r>
              <a:t>Corpus v1 starts from BAREC, strips tashkeel, sets protected and short text aside, and has Gemma 4 31B rewrite the hard sentences behind three gates.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(Five connected stages: sources, leakage check, meaning gate, fine-tune, measure)</a:t>
            </a:r>
          </a:p>
          <a:p>
            <a:r>
              <a:t>One pipeline carried every version. The sources pass a leakage check, then a meaning gate set at point eight five, then fine-tuning, then measuring on BayanBench.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(A feedback loop closes back on the sources, carrying the three version findings)</a:t>
            </a:r>
          </a:p>
          <a:p>
            <a:r>
              <a:t>And the loop is the point: every measurement came back as the next version's data. v0.1 taught us that copying wins and the model only swaps words. v0.2 taught us that meaning breaks first. v0.3 rebuilt the data around those two findings, and it keeps meaning in eighty-two percent of outputs.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(A feedback loop closes back on the sources, carrying the three version findings)</a:t>
            </a:r>
          </a:p>
          <a:p>
            <a:r>
              <a:t>And the loop is the point: every measurement came back as the next version's data. v0.1 taught us that copying wins and the model only swaps words. v0.2 taught us that meaning breaks first. v0.3 rebuilt the data around those two findings, and it keeps meaning in eighty-two percent of outputs.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(Lane v0.1: AraT5v2 on SAMER. Found: returned 65% of rows unchanged, swapped single words)</a:t>
            </a:r>
          </a:p>
          <a:p>
            <a:r>
              <a:t>BayanSimplify v0.1 trained on SAMER. It returned sixty-five percent of sentences untouched, where editors leave forty-nine. Bold strategy: change nothing.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(Gemma 4 31B reads original + rewrite and answers 7 yes/no questions: 4 on meaning, 3 on quality)</a:t>
            </a:r>
          </a:p>
          <a:p>
            <a:r>
              <a:t>Meaning comes from Gemma 4 31B, an open model. It reads the original and the rewrite and answers seven yes-or-no questions: four about meaning, three about quality.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(Four measures in a square: meaning, simpler, restraint, copying rate)</a:t>
            </a:r>
          </a:p>
          <a:p>
            <a:r>
              <a:t>Four measures, scored separately. Kept means the same meaning and every number intact.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(Scatter: v0.3 in the app keeps the most meaning (82%) and cuts 5.2 words)</a:t>
            </a:r>
          </a:p>
          <a:p>
            <a:r>
              <a:t>More simplification usually means less meaning. v0.3 breaks the pattern: in the app it keeps the most meaning, eighty-two percent, and still cuts five words off the longest clause.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 Step 1 (Logo and 'Simplify where you read.')</a:t>
            </a:r>
          </a:p>
          <a:p>
            <a:r>
              <a:t>Bayan: simplify where you 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2.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1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2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2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23.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2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2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5.mp4"/><Relationship Id="rId3" Type="http://schemas.openxmlformats.org/officeDocument/2006/relationships/video" Target="../media/media15.mp4"/><Relationship Id="rId4" Type="http://schemas.openxmlformats.org/officeDocument/2006/relationships/image" Target="../media/image2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6.mp4"/><Relationship Id="rId3" Type="http://schemas.openxmlformats.org/officeDocument/2006/relationships/video" Target="../media/media16.mp4"/><Relationship Id="rId4" Type="http://schemas.openxmlformats.org/officeDocument/2006/relationships/image" Target="../media/image2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7.mp4"/><Relationship Id="rId3" Type="http://schemas.openxmlformats.org/officeDocument/2006/relationships/video" Target="../media/media17.mp4"/><Relationship Id="rId4" Type="http://schemas.openxmlformats.org/officeDocument/2006/relationships/image" Target="../media/image2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8.mp4"/><Relationship Id="rId3" Type="http://schemas.openxmlformats.org/officeDocument/2006/relationships/video" Target="../media/media18.mp4"/><Relationship Id="rId4" Type="http://schemas.openxmlformats.org/officeDocument/2006/relationships/image" Target="../media/image2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19.mp4"/><Relationship Id="rId3" Type="http://schemas.openxmlformats.org/officeDocument/2006/relationships/video" Target="../media/media19.mp4"/><Relationship Id="rId4" Type="http://schemas.openxmlformats.org/officeDocument/2006/relationships/image" Target="../media/image3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0.mp4"/><Relationship Id="rId3" Type="http://schemas.openxmlformats.org/officeDocument/2006/relationships/video" Target="../media/media20.mp4"/><Relationship Id="rId4" Type="http://schemas.openxmlformats.org/officeDocument/2006/relationships/image" Target="../media/image3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1.mp4"/><Relationship Id="rId3" Type="http://schemas.openxmlformats.org/officeDocument/2006/relationships/video" Target="../media/media21.mp4"/><Relationship Id="rId4" Type="http://schemas.openxmlformats.org/officeDocument/2006/relationships/image" Target="../media/image3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2.mp4"/><Relationship Id="rId3" Type="http://schemas.openxmlformats.org/officeDocument/2006/relationships/video" Target="../media/media22.mp4"/><Relationship Id="rId4" Type="http://schemas.openxmlformats.org/officeDocument/2006/relationships/image" Target="../media/image33.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3.mp4"/><Relationship Id="rId3" Type="http://schemas.openxmlformats.org/officeDocument/2006/relationships/video" Target="../media/media23.mp4"/><Relationship Id="rId4" Type="http://schemas.openxmlformats.org/officeDocument/2006/relationships/image" Target="../media/image3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4.mp4"/><Relationship Id="rId3" Type="http://schemas.openxmlformats.org/officeDocument/2006/relationships/video" Target="../media/media24.mp4"/><Relationship Id="rId4" Type="http://schemas.openxmlformats.org/officeDocument/2006/relationships/image" Target="../media/image3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microsoft.com/office/2007/relationships/media" Target="../media/media25.mp4"/><Relationship Id="rId3" Type="http://schemas.openxmlformats.org/officeDocument/2006/relationships/video" Target="../media/media25.mp4"/><Relationship Id="rId4" Type="http://schemas.openxmlformats.org/officeDocument/2006/relationships/image" Target="../media/image36.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1Cover step 1 (Manim video)" descr="Cover: Bayan, simplify Arabic where you read, on the phone, offline. Team Cogni, Samsung Innovation Campus (step 1 of 1)">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2Problem step 1 (Manim video)" descr="11% of Arab primary-school children have developmental dyslexia; the word كتب has three readings; shorter clauses help, and Bayan's scope (step 1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2Problem step 2 (Manim video)" descr="11% of Arab primary-school children have developmental dyslexia; the word كتب has three readings; shorter clauses help, and Bayan's scope (step 2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1 (Manim video)" descr="Corpus v1 pipeline: BAREC, strip tashkeel, route, Gemma 4 31B, code, readability and meaning gates, 14,975 rows (step 1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2 (Manim video)" descr="Corpus v1 pipeline: BAREC, strip tashkeel, route, Gemma 4 31B, code, readability and meaning gates, 14,975 rows (step 2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3 (Manim video)" descr="Corpus v1 pipeline: BAREC, strip tashkeel, route, Gemma 4 31B, code, readability and meaning gates, 14,975 rows (step 3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3Data step 4 (Manim video)" descr="Corpus v1 pipeline: BAREC, strip tashkeel, route, Gemma 4 31B, code, readability and meaning gates, 14,975 rows (step 4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Pipeline step 1 (Manim video)" descr="The pipeline: source corpora, leakage check, meaning gate at 0.85, fine-tune, BayanBench v2; the loop carries the v0.1, v0.2 and v0.3 findings back into the data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Pipeline step 2 (Manim video)" descr="The pipeline: source corpora, leakage check, meaning gate at 0.85, fine-tune, BayanBench v2; the loop carries the v0.1, v0.2 and v0.3 findings back into the data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Pipeline step 3 (Manim video)" descr="The pipeline: source corpora, leakage check, meaning gate at 0.85, fine-tune, BayanBench v2; the loop carries the v0.1, v0.2 and v0.3 findings back into the data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4Models step 1 (Manim video)" descr="Three model lanes: model 1 (SAMER), model 2 (more data and tags), model 3 (corpus v1); dropped branches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4Models step 2 (Manim video)" descr="Three model lanes: model 1 (SAMER), model 2 (more data and tags), model 3 (corpus v1); dropped branches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4Models step 3 (Manim video)" descr="Three model lanes: model 1 (SAMER), model 2 (more data and tags), model 3 (corpus v1); dropped branches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1 (Manim video)" descr="BayanBench: copy trap, three kinds of measure, the scorer checked against six raters (AUC 0.85), one reader with dyslexia (step 1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2 (Manim video)" descr="BayanBench: copy trap, three kinds of measure, the scorer checked against six raters (AUC 0.85), one reader with dyslexia (step 2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3 (Manim video)" descr="BayanBench: copy trap, three kinds of measure, the scorer checked against six raters (AUC 0.85), one reader with dyslexia (step 3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5Measure step 4 (Manim video)" descr="BayanBench: copy trap, three kinds of measure, the scorer checked against six raters (AUC 0.85), one reader with dyslexia (step 4 of 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6Results step 1 (Manim video)" descr="Trade-off scatter; model 3 minus the shipped large model with intervals: simplifies more, keeps less meaning, copies more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6Results step 2 (Manim video)" descr="Trade-off scatter; model 3 minus the shipped large model with intervals: simplifies more, keeps less meaning, copies more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6Results step 3 (Manim video)" descr="Trade-off scatter; model 3 minus the shipped large model with intervals: simplifies more, keeps less meaning, copies more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7Phone step 1 (Manim video)" descr="Phone recording slot; what the app does; AraBART default 222 MB and AraT5v2 optional 471 MB on a Xiaomi Mi 11X (step 1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7Phone step 2 (Manim video)" descr="Phone recording slot; what the app does; AraBART default 222 MB and AraT5v2 optional 471 MB on a Xiaomi Mi 11X (step 2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7Phone step 3 (Manim video)" descr="Phone recording slot; what the app does; AraBART default 222 MB and AraT5v2 optional 471 MB on a Xiaomi Mi 11X (step 3 of 3)">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8Close step 1 (Manim video)" descr="Simplify where you read. Limits: no reader has used Bayan, scorer stricter than people, simplifying more costs meaning (step 1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8Close step 2 (Manim video)" descr="Simplify where you read. Limits: no reader has used Bayan, scorer stricter than people, simplifying more costs meaning (step 2 of 2)">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990282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timing>
    <p:tnLst>
      <p:par>
        <p:cTn id="1" dur="indefinite" restart="never" nodeType="tmRoot">
          <p:childTnLst>
            <p:video>
              <p:cMediaNode vol="80000">
                <p:cTn id="2" fill="hold" display="0">
                  <p:stCondLst>
                    <p:cond delay="0"/>
                  </p:stCondLst>
                </p:cTn>
                <p:tgtEl>
                  <p:spTgt spid="2"/>
                </p:tgtEl>
              </p:cMediaNode>
            </p:video>
          </p:childTnLst>
        </p:cTn>
      </p:par>
    </p:tnLst>
  </p:timing>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