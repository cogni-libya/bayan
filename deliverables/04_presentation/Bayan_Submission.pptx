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83" r:id="rId1"/>
  </p:sldMasterIdLst>
  <p:notesMasterIdLst>
    <p:notesMasterId r:id="rId6"/>
  </p:notesMasterIdLst>
  <p:sldIdLst>
    <p:sldId id="256" r:id="rId5"/>
    <p:sldId id="257" r:id="rId4"/>
    <p:sldId id="258" r:id="rId3"/>
    <p:sldId id="259" r:id="rId2"/>
    <p:sldId id="260" r:id="rId24"/>
    <p:sldId id="261" r:id="rId25"/>
    <p:sldId id="262" r:id="rId26"/>
    <p:sldId id="263" r:id="rId27"/>
    <p:sldId id="264" r:id="rId28"/>
  </p:sldIdLst>
  <p:sldSz cx="9902825" cy="6858000"/>
  <p:notesSz cx="6858000" cy="9144000"/>
  <p:embeddedFontLst>
    <p:embeddedFont>
      <p:font typeface="Samsung Sharp Sans" pitchFamily="2" charset="0"/>
      <p:regular r:id="rId7"/>
      <p:bold r:id="rId8"/>
    </p:embeddedFont>
    <p:embeddedFont>
      <p:font typeface="Samsung Sharp Sans Bold" pitchFamily="2" charset="0"/>
      <p:bold r:id="rId9"/>
    </p:embeddedFont>
    <p:embeddedFont>
      <p:font typeface="Samsung Sharp Sans Medium" pitchFamily="2" charset="0"/>
      <p:bold r:id="rId10"/>
    </p:embeddedFont>
    <p:embeddedFont>
      <p:font typeface="SamsungOne 400" panose="020B0503030303020204" pitchFamily="34" charset="0"/>
      <p:regular r:id="rId11"/>
    </p:embeddedFont>
    <p:embeddedFont>
      <p:font typeface="SamsungOne 400C" panose="020B0506030303020204" charset="0"/>
      <p:regular r:id="rId12"/>
    </p:embeddedFont>
    <p:embeddedFont>
      <p:font typeface="SamsungOne 700" panose="020B0803030303020204" pitchFamily="34" charset="0"/>
      <p:bold r:id="rId13"/>
    </p:embeddedFont>
    <p:embeddedFont>
      <p:font typeface="맑은 고딕" panose="020B0503020000020004" pitchFamily="50" charset="-127"/>
      <p:regular r:id="rId14"/>
      <p:bold r:id="rId15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119" userDrawn="1">
          <p15:clr>
            <a:srgbClr val="A4A3A4"/>
          </p15:clr>
        </p15:guide>
        <p15:guide id="2" orient="horz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93EB0"/>
    <a:srgbClr val="FFB546"/>
    <a:srgbClr val="FF4337"/>
    <a:srgbClr val="00B3E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583" autoAdjust="0"/>
    <p:restoredTop sz="72205" autoAdjust="0"/>
  </p:normalViewPr>
  <p:slideViewPr>
    <p:cSldViewPr snapToGrid="0">
      <p:cViewPr varScale="1">
        <p:scale>
          <a:sx n="110" d="100"/>
          <a:sy n="110" d="100"/>
        </p:scale>
        <p:origin x="1386" y="114"/>
      </p:cViewPr>
      <p:guideLst>
        <p:guide pos="3119"/>
        <p:guide orient="horz" pos="2160"/>
      </p:guideLst>
    </p:cSldViewPr>
  </p:slideViewPr>
  <p:notesTextViewPr>
    <p:cViewPr>
      <p:scale>
        <a:sx n="125" d="100"/>
        <a:sy n="125" d="100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4.xml"/><Relationship Id="rId3" Type="http://schemas.openxmlformats.org/officeDocument/2006/relationships/slide" Target="slides/slide3.xml"/><Relationship Id="rId4" Type="http://schemas.openxmlformats.org/officeDocument/2006/relationships/slide" Target="slides/slide2.xml"/><Relationship Id="rId5" Type="http://schemas.openxmlformats.org/officeDocument/2006/relationships/slide" Target="slides/slide1.xml"/><Relationship Id="rId6" Type="http://schemas.openxmlformats.org/officeDocument/2006/relationships/notesMaster" Target="notesMasters/notesMaster1.xml"/><Relationship Id="rId7" Type="http://schemas.openxmlformats.org/officeDocument/2006/relationships/font" Target="fonts/font1.fntdata"/><Relationship Id="rId8" Type="http://schemas.openxmlformats.org/officeDocument/2006/relationships/font" Target="fonts/font2.fntdata"/><Relationship Id="rId9" Type="http://schemas.openxmlformats.org/officeDocument/2006/relationships/font" Target="fonts/font3.fntdata"/><Relationship Id="rId10" Type="http://schemas.openxmlformats.org/officeDocument/2006/relationships/font" Target="fonts/font4.fntdata"/><Relationship Id="rId11" Type="http://schemas.openxmlformats.org/officeDocument/2006/relationships/font" Target="fonts/font5.fntdata"/><Relationship Id="rId12" Type="http://schemas.openxmlformats.org/officeDocument/2006/relationships/font" Target="fonts/font6.fntdata"/><Relationship Id="rId13" Type="http://schemas.openxmlformats.org/officeDocument/2006/relationships/font" Target="fonts/font7.fntdata"/><Relationship Id="rId14" Type="http://schemas.openxmlformats.org/officeDocument/2006/relationships/font" Target="fonts/font8.fntdata"/><Relationship Id="rId15" Type="http://schemas.openxmlformats.org/officeDocument/2006/relationships/font" Target="fonts/font9.fntdata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Relationship Id="rId20" Type="http://schemas.microsoft.com/office/2016/11/relationships/changesInfo" Target="changesInfos/changesInfo1.xml"/><Relationship Id="rId21" Type="http://schemas.openxmlformats.org/officeDocument/2006/relationships/customXml" Target="../customXml/item1.xml"/><Relationship Id="rId22" Type="http://schemas.openxmlformats.org/officeDocument/2006/relationships/customXml" Target="../customXml/item2.xml"/><Relationship Id="rId23" Type="http://schemas.openxmlformats.org/officeDocument/2006/relationships/customXml" Target="../customXml/item3.xml"/><Relationship Id="rId24" Type="http://schemas.openxmlformats.org/officeDocument/2006/relationships/slide" Target="slides/slide5.xml"/><Relationship Id="rId25" Type="http://schemas.openxmlformats.org/officeDocument/2006/relationships/slide" Target="slides/slide6.xml"/><Relationship Id="rId26" Type="http://schemas.openxmlformats.org/officeDocument/2006/relationships/slide" Target="slides/slide7.xml"/><Relationship Id="rId27" Type="http://schemas.openxmlformats.org/officeDocument/2006/relationships/slide" Target="slides/slide8.xml"/><Relationship Id="rId28" Type="http://schemas.openxmlformats.org/officeDocument/2006/relationships/slide" Target="slides/slide9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이 선우" userId="0fe69268-fa1a-4efe-9dc5-d4012ab1114b" providerId="ADAL" clId="{C52B7E7F-94C4-473C-B7E9-B27EED8C6190}"/>
    <pc:docChg chg="modMainMaster">
      <pc:chgData name="이 선우" userId="0fe69268-fa1a-4efe-9dc5-d4012ab1114b" providerId="ADAL" clId="{C52B7E7F-94C4-473C-B7E9-B27EED8C6190}" dt="2025-12-26T06:30:10.164" v="2" actId="20577"/>
      <pc:docMkLst>
        <pc:docMk/>
      </pc:docMkLst>
      <pc:sldMasterChg chg="modSldLayout">
        <pc:chgData name="이 선우" userId="0fe69268-fa1a-4efe-9dc5-d4012ab1114b" providerId="ADAL" clId="{C52B7E7F-94C4-473C-B7E9-B27EED8C6190}" dt="2025-12-26T06:30:10.164" v="2" actId="20577"/>
        <pc:sldMasterMkLst>
          <pc:docMk/>
          <pc:sldMasterMk cId="3477928821" sldId="2147483683"/>
        </pc:sldMasterMkLst>
        <pc:sldLayoutChg chg="modSp mod">
          <pc:chgData name="이 선우" userId="0fe69268-fa1a-4efe-9dc5-d4012ab1114b" providerId="ADAL" clId="{C52B7E7F-94C4-473C-B7E9-B27EED8C6190}" dt="2025-12-26T06:30:10.164" v="2" actId="20577"/>
          <pc:sldLayoutMkLst>
            <pc:docMk/>
            <pc:sldMasterMk cId="3477928821" sldId="2147483683"/>
            <pc:sldLayoutMk cId="1227834196" sldId="2147483689"/>
          </pc:sldLayoutMkLst>
          <pc:spChg chg="mod">
            <ac:chgData name="이 선우" userId="0fe69268-fa1a-4efe-9dc5-d4012ab1114b" providerId="ADAL" clId="{C52B7E7F-94C4-473C-B7E9-B27EED8C6190}" dt="2025-12-26T06:30:10.164" v="2" actId="20577"/>
            <ac:spMkLst>
              <pc:docMk/>
              <pc:sldMasterMk cId="3477928821" sldId="2147483683"/>
              <pc:sldLayoutMk cId="1227834196" sldId="2147483689"/>
              <ac:spMk id="7" creationId="{782B242C-8600-47F0-98D5-6EA512C41BF2}"/>
            </ac:spMkLst>
          </pc:spChg>
        </pc:sldLayoutChg>
      </pc:sldMaster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8B57C17-E6FD-4AF5-A787-31E9CCE99A85}" type="datetimeFigureOut">
              <a:rPr lang="ko-KR" altLang="en-US" smtClean="0"/>
              <a:t>2025-12-26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200150" y="1143000"/>
            <a:ext cx="44577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B59C55F-00F1-4985-9065-F2D92AE05D03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912534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[Speaker 1]</a:t>
            </a:r>
          </a:p>
          <a:p/>
          <a:p>
            <a:r>
              <a:t>▶ Step 1 (on arrival; The logo draws itself, then the title and team appear)</a:t>
            </a:r>
          </a:p>
          <a:p>
            <a:r>
              <a:t>Hello everyone, we are Team Cogni. This is Bayan: an Android tool that makes hard Arabic easier to read for people with dyslexia, entirely on the phone. I cover the idea, the verdict and the data; my colleague covers the training.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[Speaker 1]</a:t>
            </a:r>
          </a:p>
          <a:p/>
          <a:p>
            <a:r>
              <a:t>▶ Step 1 (on arrival; 11% counts up)</a:t>
            </a:r>
          </a:p>
          <a:p>
            <a:r>
              <a:t>About eleven percent of Arab primary-school children have developmental dyslexia.</a:t>
            </a:r>
          </a:p>
          <a:p/>
          <a:p>
            <a:r>
              <a:t>▶ Step 2 (click 1; كتب splits into three readings)</a:t>
            </a:r>
          </a:p>
          <a:p>
            <a:r>
              <a:t>Arabic makes reading harder in three ways. First, short vowels are not written: these three letters can be kataba, he wrote; kutiba, it was written; or kutub, books.</a:t>
            </a:r>
          </a:p>
          <a:p/>
          <a:p>
            <a:r>
              <a:t>▶ Step 3 (click 2; Two barrier chips appear)</a:t>
            </a:r>
          </a:p>
          <a:p>
            <a:r>
              <a:t>Second, prefixes and suffixes fuse into long words. Third, clauses chain into sentences longer than working memory.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[Speaker 1]</a:t>
            </a:r>
          </a:p>
          <a:p/>
          <a:p>
            <a:r>
              <a:t>▶ Step 1 (on arrival; Table: who writes the rewrites, and how often a sentence is split)</a:t>
            </a:r>
          </a:p>
          <a:p>
            <a:r>
              <a:t>What already exists? Four public corpora, and they almost never split a long sentence: zero percent of SAMER pairs, two to four percent of Baseet, eight percent of DAASI.</a:t>
            </a:r>
          </a:p>
          <a:p/>
          <a:p>
            <a:r>
              <a:t>▶ Step 2 (click 1; Red row: Made for dyslexia: no, no, no, no)</a:t>
            </a:r>
          </a:p>
          <a:p>
            <a:r>
              <a:t>None of them is made for dyslexia.</a:t>
            </a:r>
          </a:p>
          <a:p/>
          <a:p>
            <a:r>
              <a:t>▶ Step 3 (click 2; Conclusion line)</a:t>
            </a:r>
          </a:p>
          <a:p>
            <a:r>
              <a:t>No deployed Arabic dyslexia tool simplifies text, and no open corpus fits. So we built our own data, our own models, and our own benchmark.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[Speaker 1]</a:t>
            </a:r>
          </a:p>
          <a:p/>
          <a:p>
            <a:r>
              <a:t>▶ Step 1 (on arrival; Three options A, B, C)</a:t>
            </a:r>
          </a:p>
          <a:p>
            <a:r>
              <a:t>Our verdict. A Chrome extension is desktop-first, but people read on phones. A standalone app makes the reader copy, paste, and leave what they were reading.</a:t>
            </a:r>
          </a:p>
          <a:p/>
          <a:p>
            <a:r>
              <a:t>▶ Step 2 (click 1; Phone demo: text is selected, the menu shows تبسيط, a result sheet slides up)</a:t>
            </a:r>
          </a:p>
          <a:p>
            <a:r>
              <a:t>So Bayan is an Android plugin. Select hard text in any app, tap tabseet, which means simplify, and a sheet shows the simpler text and reads it aloud.</a:t>
            </a:r>
          </a:p>
          <a:p/>
          <a:p>
            <a:r>
              <a:t>▶ Step 3 (click 2; Option B is highlighted; on-device, offline, 250 MB chips)</a:t>
            </a:r>
          </a:p>
          <a:p>
            <a:r>
              <a:t>We decided on the twentieth of September. Everything runs on the phone, offline: the reader's text never leaves it, in about two hundred fifty megabytes.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[Speaker 1]</a:t>
            </a:r>
          </a:p>
          <a:p/>
          <a:p>
            <a:r>
              <a:t>▶ Step 1 (on arrival; 9.3% appears)</a:t>
            </a:r>
          </a:p>
          <a:p>
            <a:r>
              <a:t>Before training, we audited the public data. Nine point three percent of Baseet overlapped our locked test sets, so every training file now passes a leakage gate.</a:t>
            </a:r>
          </a:p>
          <a:p/>
          <a:p>
            <a:r>
              <a:t>▶ Step 2 (click 1; Stacked bar of 22,733 pairs with the legend)</a:t>
            </a:r>
          </a:p>
          <a:p>
            <a:r>
              <a:t>Our training set has twenty-two thousand seven hundred thirty-three pairs, each tagged with its source style. We keep SAMER's unchanged pairs, so the model learns when not to edit.</a:t>
            </a:r>
          </a:p>
          <a:p/>
          <a:p>
            <a:r>
              <a:t>▶ Step 3 (click 2; Meaning-filter line)</a:t>
            </a:r>
          </a:p>
          <a:p>
            <a:r>
              <a:t>LLM-written Baseet pairs get in only through a meaning filter calibrated on human-verified rewrites. My colleague will show what we trained on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[Speaker 2]</a:t>
            </a:r>
          </a:p>
          <a:p/>
          <a:p>
            <a:r>
              <a:t>▶ Step 1 (on arrival; Recipe card: one script, identical data, 10 epochs, fp16, seed 42)</a:t>
            </a:r>
          </a:p>
          <a:p>
            <a:r>
              <a:t>One recipe for every model: same script, same data, a fixed seed, and checkpoints chosen on rows a human changed.</a:t>
            </a:r>
          </a:p>
          <a:p/>
          <a:p>
            <a:r>
              <a:t>▶ Step 2 (click 1; Three bars: AraT5v2, AraBART, HPLT T5)</a:t>
            </a:r>
          </a:p>
          <a:p>
            <a:r>
              <a:t>Two architectures. AraT5v2 has three hundred sixty-eight million parameters; AraBART one hundred thirty-nine million, two point six times smaller, so it is our on-device contender. HPLT T5 is held in reserve.</a:t>
            </a:r>
          </a:p>
          <a:p/>
          <a:p>
            <a:r>
              <a:t>▶ Step 3 (click 2; 46% line)</a:t>
            </a:r>
          </a:p>
          <a:p>
            <a:r>
              <a:t>Nearly half of AraT5v2 is two embedding tables, so shrinking its vocabulary matters for the phone.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[Speaker 2]</a:t>
            </a:r>
          </a:p>
          <a:p/>
          <a:p>
            <a:r>
              <a:t>▶ Step 1 (on arrival; Left chart: all rows. Copy 77.50, Model 1 75.88. Text: Copying wins?)</a:t>
            </a:r>
          </a:p>
          <a:p>
            <a:r>
              <a:t>Model 1 first looked like a failure. On all test rows, copying scores seventy-seven point five and our model seventy-five point nine. But half these sentences need no change, so doing nothing scores well.</a:t>
            </a:r>
          </a:p>
          <a:p/>
          <a:p>
            <a:r>
              <a:t>▶ Step 2 (click 1; Right chart: changed rows. Copy 56.06, Model 1 61.83)</a:t>
            </a:r>
          </a:p>
          <a:p>
            <a:r>
              <a:t>On the rows a human changed, copying scores fifty-six point one and Model 1 sixty-one point eight: nearly six points better, with the greedy decoding the phone uses. But it mostly made one-word edits.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[Speaker 2]</a:t>
            </a:r>
          </a:p>
          <a:p/>
          <a:p>
            <a:r>
              <a:t>▶ Step 1 (on arrival; Lesson 1 and its fix)</a:t>
            </a:r>
          </a:p>
          <a:p>
            <a:r>
              <a:t>Model 2 answers each lesson. One: Model 1 rewarded doing nothing, so we keep every unchanged pair and choose checkpoints on changed rows.</a:t>
            </a:r>
          </a:p>
          <a:p/>
          <a:p>
            <a:r>
              <a:t>▶ Step 2 (click 1; Lesson 2 and its fix)</a:t>
            </a:r>
          </a:p>
          <a:p>
            <a:r>
              <a:t>Two: SAMER teaches word swaps, so we add everyday and educational text, through the meaning filter.</a:t>
            </a:r>
          </a:p>
          <a:p/>
          <a:p>
            <a:r>
              <a:t>▶ Step 3 (click 2; Lesson 3 and its fix)</a:t>
            </a:r>
          </a:p>
          <a:p>
            <a:r>
              <a:t>Three: one strength fits no one, so every source carries a tag.</a:t>
            </a:r>
          </a:p>
          <a:p/>
          <a:p>
            <a:r>
              <a:t>▶ Step 4 (click 3; Five tags [S0] to [SA]; the sun marks the default, [S2])</a:t>
            </a:r>
          </a:p>
          <a:p>
            <a:r>
              <a:t>Zero is minimal, one light, two medium, the default we score, three strong, A everyday. Each tag is meant to become the reader's strength setting.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[Speaker 2]</a:t>
            </a:r>
          </a:p>
          <a:p/>
          <a:p>
            <a:r>
              <a:t>▶ Step 1 (on arrival; Logo and 'Simplify where you read.')</a:t>
            </a:r>
          </a:p>
          <a:p>
            <a:r>
              <a:t>Bayan: simplify where you read.</a:t>
            </a:r>
          </a:p>
          <a:p/>
          <a:p>
            <a:r>
              <a:t>▶ Step 2 (click 1; Next: does it work? Three chips, then the SIC slogan)</a:t>
            </a:r>
          </a:p>
          <a:p>
            <a:r>
              <a:t>Next: does it work? BayanBench, our benchmark for the reader's task; tests on a real phone; and evidence from readers with dyslexia. Thank you, and thanks to Samsung Innovation Campus. Questions welcome.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jpg"/><Relationship Id="rId3" Type="http://schemas.openxmlformats.org/officeDocument/2006/relationships/image" Target="../media/image10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jpg"/><Relationship Id="rId3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107951CE-0A5B-4EC7-B663-290867B6A3B2}"/>
              </a:ext>
            </a:extLst>
          </p:cNvPr>
          <p:cNvCxnSpPr/>
          <p:nvPr userDrawn="1"/>
        </p:nvCxnSpPr>
        <p:spPr>
          <a:xfrm>
            <a:off x="449468" y="6424935"/>
            <a:ext cx="9000714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슬라이드 번호 개체 틀 15">
            <a:extLst>
              <a:ext uri="{FF2B5EF4-FFF2-40B4-BE49-F238E27FC236}">
                <a16:creationId xmlns:a16="http://schemas.microsoft.com/office/drawing/2014/main" id="{DB8B1220-1660-457F-B990-656A8230EA54}"/>
              </a:ext>
            </a:extLst>
          </p:cNvPr>
          <p:cNvSpPr txBox="1">
            <a:spLocks/>
          </p:cNvSpPr>
          <p:nvPr userDrawn="1"/>
        </p:nvSpPr>
        <p:spPr>
          <a:xfrm>
            <a:off x="8836343" y="6498001"/>
            <a:ext cx="613839" cy="138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0" h="6350"/>
            </a:sp3d>
          </a:bodyPr>
          <a:lstStyle>
            <a:defPPr>
              <a:defRPr lang="ko-KR"/>
            </a:defPPr>
            <a:lvl1pPr algn="r">
              <a:defRPr sz="900">
                <a:solidFill>
                  <a:schemeClr val="tx1">
                    <a:lumMod val="50000"/>
                    <a:lumOff val="50000"/>
                  </a:schemeClr>
                </a:solidFill>
                <a:latin typeface="SamsungOne 300" panose="020B0303030303020204" pitchFamily="34" charset="0"/>
                <a:ea typeface="SamsungOne 300" panose="020B0303030303020204" pitchFamily="34" charset="0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marL="0" marR="0" lvl="0" indent="0" algn="r" defTabSz="91409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3977B04-C971-4466-AB79-612C9E649B30}" type="slidenum">
              <a:rPr lang="en-US" altLang="ko-KR" sz="900" smtClean="0">
                <a:solidFill>
                  <a:schemeClr val="bg1">
                    <a:lumMod val="50000"/>
                  </a:schemeClr>
                </a:solidFill>
                <a:latin typeface="SamsungOne 400" panose="020B0503030303020204" pitchFamily="34" charset="0"/>
                <a:ea typeface="SamsungOne 400" panose="020B0503030303020204" pitchFamily="34" charset="0"/>
              </a:rPr>
              <a:pPr marL="0" marR="0" lvl="0" indent="0" algn="r" defTabSz="914094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altLang="ko-KR" sz="900" dirty="0">
              <a:solidFill>
                <a:schemeClr val="bg1">
                  <a:lumMod val="50000"/>
                </a:schemeClr>
              </a:solidFill>
              <a:latin typeface="SamsungOne 400" panose="020B0503030303020204" pitchFamily="34" charset="0"/>
              <a:ea typeface="SamsungOne 400" panose="020B0503030303020204" pitchFamily="34" charset="0"/>
              <a:cs typeface="Arial Unicode MS" panose="020B0604020202020204" pitchFamily="50" charset="-127"/>
            </a:endParaRPr>
          </a:p>
        </p:txBody>
      </p:sp>
      <p:sp>
        <p:nvSpPr>
          <p:cNvPr id="14" name="직사각형 7">
            <a:extLst>
              <a:ext uri="{FF2B5EF4-FFF2-40B4-BE49-F238E27FC236}">
                <a16:creationId xmlns:a16="http://schemas.microsoft.com/office/drawing/2014/main" id="{AA07D337-B9C3-4E5E-811E-AEFBB17ADEF5}"/>
              </a:ext>
            </a:extLst>
          </p:cNvPr>
          <p:cNvSpPr/>
          <p:nvPr userDrawn="1"/>
        </p:nvSpPr>
        <p:spPr>
          <a:xfrm>
            <a:off x="449468" y="6498001"/>
            <a:ext cx="2888788" cy="16927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>
            <a:spAutoFit/>
            <a:scene3d>
              <a:camera prst="orthographicFront"/>
              <a:lightRig rig="threePt" dir="t"/>
            </a:scene3d>
            <a:sp3d>
              <a:bevelT w="0" h="6350"/>
            </a:sp3d>
          </a:bodyPr>
          <a:lstStyle/>
          <a:p>
            <a:pPr algn="l"/>
            <a:r>
              <a:rPr lang="en-US" altLang="ko-KR" sz="1100" b="0" dirty="0">
                <a:solidFill>
                  <a:schemeClr val="bg1">
                    <a:lumMod val="50000"/>
                  </a:schemeClr>
                </a:solidFill>
                <a:latin typeface="Samsung Sharp Sans Bold" pitchFamily="2" charset="0"/>
                <a:ea typeface="Samsung Sharp Sans Bold" pitchFamily="2" charset="0"/>
                <a:cs typeface="Samsung Sharp Sans Bold" pitchFamily="2" charset="0"/>
              </a:rPr>
              <a:t>Samsung Innovation Campus</a:t>
            </a:r>
          </a:p>
        </p:txBody>
      </p:sp>
      <p:sp>
        <p:nvSpPr>
          <p:cNvPr id="15" name="슬라이드 번호 개체 틀 15">
            <a:extLst>
              <a:ext uri="{FF2B5EF4-FFF2-40B4-BE49-F238E27FC236}">
                <a16:creationId xmlns:a16="http://schemas.microsoft.com/office/drawing/2014/main" id="{CCEC8F59-794B-4743-A6D7-1BC9720006CB}"/>
              </a:ext>
            </a:extLst>
          </p:cNvPr>
          <p:cNvSpPr txBox="1">
            <a:spLocks/>
          </p:cNvSpPr>
          <p:nvPr userDrawn="1"/>
        </p:nvSpPr>
        <p:spPr>
          <a:xfrm>
            <a:off x="6846858" y="6498001"/>
            <a:ext cx="2349501" cy="138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0" h="6350"/>
            </a:sp3d>
          </a:bodyPr>
          <a:lstStyle>
            <a:defPPr>
              <a:defRPr lang="ko-KR"/>
            </a:defPPr>
            <a:lvl1pPr algn="r">
              <a:defRPr sz="900">
                <a:solidFill>
                  <a:schemeClr val="tx1">
                    <a:lumMod val="50000"/>
                    <a:lumOff val="50000"/>
                  </a:schemeClr>
                </a:solidFill>
                <a:latin typeface="SamsungOne 300" panose="020B0303030303020204" pitchFamily="34" charset="0"/>
                <a:ea typeface="SamsungOne 300" panose="020B0303030303020204" pitchFamily="34" charset="0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lvl="0" defTabSz="914094" latinLnBrk="1">
              <a:defRPr/>
            </a:pPr>
            <a:r>
              <a:rPr lang="en-US" altLang="ko-KR" sz="900" dirty="0">
                <a:solidFill>
                  <a:schemeClr val="bg1">
                    <a:lumMod val="50000"/>
                  </a:schemeClr>
                </a:solidFill>
                <a:latin typeface="Samsung Sharp Sans Medium" pitchFamily="2" charset="0"/>
                <a:ea typeface="Samsung Sharp Sans Medium" pitchFamily="2" charset="0"/>
                <a:cs typeface="Samsung Sharp Sans Medium" pitchFamily="2" charset="0"/>
              </a:rPr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39566679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285">
          <p15:clr>
            <a:srgbClr val="FBAE40"/>
          </p15:clr>
        </p15:guide>
        <p15:guide id="3" pos="5955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 Cover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그림 8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902825" cy="6858000"/>
          </a:xfrm>
          <a:prstGeom prst="rect">
            <a:avLst/>
          </a:prstGeom>
        </p:spPr>
      </p:pic>
      <p:sp>
        <p:nvSpPr>
          <p:cNvPr id="6" name="Freeform 5">
            <a:extLst>
              <a:ext uri="{FF2B5EF4-FFF2-40B4-BE49-F238E27FC236}">
                <a16:creationId xmlns:a16="http://schemas.microsoft.com/office/drawing/2014/main" id="{0D8AEED9-5E8F-4A4F-8427-AE314BEC60F8}"/>
              </a:ext>
            </a:extLst>
          </p:cNvPr>
          <p:cNvSpPr>
            <a:spLocks noChangeAspect="1" noEditPoints="1"/>
          </p:cNvSpPr>
          <p:nvPr userDrawn="1"/>
        </p:nvSpPr>
        <p:spPr bwMode="auto">
          <a:xfrm>
            <a:off x="449468" y="450000"/>
            <a:ext cx="1282022" cy="198000"/>
          </a:xfrm>
          <a:custGeom>
            <a:avLst/>
            <a:gdLst>
              <a:gd name="T0" fmla="*/ 82 w 2179"/>
              <a:gd name="T1" fmla="*/ 74 h 334"/>
              <a:gd name="T2" fmla="*/ 140 w 2179"/>
              <a:gd name="T3" fmla="*/ 82 h 334"/>
              <a:gd name="T4" fmla="*/ 218 w 2179"/>
              <a:gd name="T5" fmla="*/ 101 h 334"/>
              <a:gd name="T6" fmla="*/ 112 w 2179"/>
              <a:gd name="T7" fmla="*/ 0 h 334"/>
              <a:gd name="T8" fmla="*/ 4 w 2179"/>
              <a:gd name="T9" fmla="*/ 112 h 334"/>
              <a:gd name="T10" fmla="*/ 145 w 2179"/>
              <a:gd name="T11" fmla="*/ 257 h 334"/>
              <a:gd name="T12" fmla="*/ 84 w 2179"/>
              <a:gd name="T13" fmla="*/ 250 h 334"/>
              <a:gd name="T14" fmla="*/ 0 w 2179"/>
              <a:gd name="T15" fmla="*/ 220 h 334"/>
              <a:gd name="T16" fmla="*/ 113 w 2179"/>
              <a:gd name="T17" fmla="*/ 334 h 334"/>
              <a:gd name="T18" fmla="*/ 223 w 2179"/>
              <a:gd name="T19" fmla="*/ 212 h 334"/>
              <a:gd name="T20" fmla="*/ 1096 w 2179"/>
              <a:gd name="T21" fmla="*/ 91 h 334"/>
              <a:gd name="T22" fmla="*/ 1124 w 2179"/>
              <a:gd name="T23" fmla="*/ 54 h 334"/>
              <a:gd name="T24" fmla="*/ 1152 w 2179"/>
              <a:gd name="T25" fmla="*/ 102 h 334"/>
              <a:gd name="T26" fmla="*/ 1229 w 2179"/>
              <a:gd name="T27" fmla="*/ 80 h 334"/>
              <a:gd name="T28" fmla="*/ 1017 w 2179"/>
              <a:gd name="T29" fmla="*/ 71 h 334"/>
              <a:gd name="T30" fmla="*/ 1157 w 2179"/>
              <a:gd name="T31" fmla="*/ 233 h 334"/>
              <a:gd name="T32" fmla="*/ 1128 w 2179"/>
              <a:gd name="T33" fmla="*/ 277 h 334"/>
              <a:gd name="T34" fmla="*/ 1097 w 2179"/>
              <a:gd name="T35" fmla="*/ 219 h 334"/>
              <a:gd name="T36" fmla="*/ 1014 w 2179"/>
              <a:gd name="T37" fmla="*/ 243 h 334"/>
              <a:gd name="T38" fmla="*/ 1235 w 2179"/>
              <a:gd name="T39" fmla="*/ 262 h 334"/>
              <a:gd name="T40" fmla="*/ 1096 w 2179"/>
              <a:gd name="T41" fmla="*/ 91 h 334"/>
              <a:gd name="T42" fmla="*/ 1730 w 2179"/>
              <a:gd name="T43" fmla="*/ 10 h 334"/>
              <a:gd name="T44" fmla="*/ 1614 w 2179"/>
              <a:gd name="T45" fmla="*/ 319 h 334"/>
              <a:gd name="T46" fmla="*/ 1686 w 2179"/>
              <a:gd name="T47" fmla="*/ 60 h 334"/>
              <a:gd name="T48" fmla="*/ 1876 w 2179"/>
              <a:gd name="T49" fmla="*/ 319 h 334"/>
              <a:gd name="T50" fmla="*/ 1799 w 2179"/>
              <a:gd name="T51" fmla="*/ 10 h 334"/>
              <a:gd name="T52" fmla="*/ 333 w 2179"/>
              <a:gd name="T53" fmla="*/ 10 h 334"/>
              <a:gd name="T54" fmla="*/ 360 w 2179"/>
              <a:gd name="T55" fmla="*/ 322 h 334"/>
              <a:gd name="T56" fmla="*/ 446 w 2179"/>
              <a:gd name="T57" fmla="*/ 322 h 334"/>
              <a:gd name="T58" fmla="*/ 472 w 2179"/>
              <a:gd name="T59" fmla="*/ 10 h 334"/>
              <a:gd name="T60" fmla="*/ 804 w 2179"/>
              <a:gd name="T61" fmla="*/ 10 h 334"/>
              <a:gd name="T62" fmla="*/ 725 w 2179"/>
              <a:gd name="T63" fmla="*/ 10 h 334"/>
              <a:gd name="T64" fmla="*/ 592 w 2179"/>
              <a:gd name="T65" fmla="*/ 322 h 334"/>
              <a:gd name="T66" fmla="*/ 671 w 2179"/>
              <a:gd name="T67" fmla="*/ 33 h 334"/>
              <a:gd name="T68" fmla="*/ 804 w 2179"/>
              <a:gd name="T69" fmla="*/ 322 h 334"/>
              <a:gd name="T70" fmla="*/ 860 w 2179"/>
              <a:gd name="T71" fmla="*/ 322 h 334"/>
              <a:gd name="T72" fmla="*/ 931 w 2179"/>
              <a:gd name="T73" fmla="*/ 10 h 334"/>
              <a:gd name="T74" fmla="*/ 1528 w 2179"/>
              <a:gd name="T75" fmla="*/ 10 h 334"/>
              <a:gd name="T76" fmla="*/ 1449 w 2179"/>
              <a:gd name="T77" fmla="*/ 241 h 334"/>
              <a:gd name="T78" fmla="*/ 1418 w 2179"/>
              <a:gd name="T79" fmla="*/ 275 h 334"/>
              <a:gd name="T80" fmla="*/ 1388 w 2179"/>
              <a:gd name="T81" fmla="*/ 241 h 334"/>
              <a:gd name="T82" fmla="*/ 1309 w 2179"/>
              <a:gd name="T83" fmla="*/ 10 h 334"/>
              <a:gd name="T84" fmla="*/ 1310 w 2179"/>
              <a:gd name="T85" fmla="*/ 254 h 334"/>
              <a:gd name="T86" fmla="*/ 1527 w 2179"/>
              <a:gd name="T87" fmla="*/ 254 h 334"/>
              <a:gd name="T88" fmla="*/ 1528 w 2179"/>
              <a:gd name="T89" fmla="*/ 10 h 334"/>
              <a:gd name="T90" fmla="*/ 2069 w 2179"/>
              <a:gd name="T91" fmla="*/ 192 h 334"/>
              <a:gd name="T92" fmla="*/ 2101 w 2179"/>
              <a:gd name="T93" fmla="*/ 237 h 334"/>
              <a:gd name="T94" fmla="*/ 2068 w 2179"/>
              <a:gd name="T95" fmla="*/ 272 h 334"/>
              <a:gd name="T96" fmla="*/ 2035 w 2179"/>
              <a:gd name="T97" fmla="*/ 237 h 334"/>
              <a:gd name="T98" fmla="*/ 2037 w 2179"/>
              <a:gd name="T99" fmla="*/ 80 h 334"/>
              <a:gd name="T100" fmla="*/ 2099 w 2179"/>
              <a:gd name="T101" fmla="*/ 80 h 334"/>
              <a:gd name="T102" fmla="*/ 2100 w 2179"/>
              <a:gd name="T103" fmla="*/ 110 h 334"/>
              <a:gd name="T104" fmla="*/ 2178 w 2179"/>
              <a:gd name="T105" fmla="*/ 99 h 334"/>
              <a:gd name="T106" fmla="*/ 2068 w 2179"/>
              <a:gd name="T107" fmla="*/ 2 h 334"/>
              <a:gd name="T108" fmla="*/ 1958 w 2179"/>
              <a:gd name="T109" fmla="*/ 99 h 334"/>
              <a:gd name="T110" fmla="*/ 1959 w 2179"/>
              <a:gd name="T111" fmla="*/ 251 h 334"/>
              <a:gd name="T112" fmla="*/ 2178 w 2179"/>
              <a:gd name="T113" fmla="*/ 251 h 334"/>
              <a:gd name="T114" fmla="*/ 2179 w 2179"/>
              <a:gd name="T115" fmla="*/ 147 h 33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</a:cxnLst>
            <a:rect l="0" t="0" r="r" b="b"/>
            <a:pathLst>
              <a:path w="2179" h="334">
                <a:moveTo>
                  <a:pt x="83" y="91"/>
                </a:moveTo>
                <a:cubicBezTo>
                  <a:pt x="81" y="84"/>
                  <a:pt x="82" y="78"/>
                  <a:pt x="82" y="74"/>
                </a:cubicBezTo>
                <a:cubicBezTo>
                  <a:pt x="84" y="64"/>
                  <a:pt x="91" y="53"/>
                  <a:pt x="111" y="53"/>
                </a:cubicBezTo>
                <a:cubicBezTo>
                  <a:pt x="129" y="53"/>
                  <a:pt x="140" y="65"/>
                  <a:pt x="140" y="82"/>
                </a:cubicBezTo>
                <a:cubicBezTo>
                  <a:pt x="140" y="101"/>
                  <a:pt x="140" y="101"/>
                  <a:pt x="140" y="101"/>
                </a:cubicBezTo>
                <a:cubicBezTo>
                  <a:pt x="218" y="101"/>
                  <a:pt x="218" y="101"/>
                  <a:pt x="218" y="101"/>
                </a:cubicBezTo>
                <a:cubicBezTo>
                  <a:pt x="218" y="79"/>
                  <a:pt x="218" y="79"/>
                  <a:pt x="218" y="79"/>
                </a:cubicBezTo>
                <a:cubicBezTo>
                  <a:pt x="218" y="11"/>
                  <a:pt x="156" y="0"/>
                  <a:pt x="112" y="0"/>
                </a:cubicBezTo>
                <a:cubicBezTo>
                  <a:pt x="57" y="0"/>
                  <a:pt x="12" y="19"/>
                  <a:pt x="4" y="70"/>
                </a:cubicBezTo>
                <a:cubicBezTo>
                  <a:pt x="1" y="84"/>
                  <a:pt x="1" y="96"/>
                  <a:pt x="4" y="112"/>
                </a:cubicBezTo>
                <a:cubicBezTo>
                  <a:pt x="18" y="175"/>
                  <a:pt x="128" y="194"/>
                  <a:pt x="145" y="234"/>
                </a:cubicBezTo>
                <a:cubicBezTo>
                  <a:pt x="148" y="241"/>
                  <a:pt x="147" y="251"/>
                  <a:pt x="145" y="257"/>
                </a:cubicBezTo>
                <a:cubicBezTo>
                  <a:pt x="143" y="267"/>
                  <a:pt x="136" y="278"/>
                  <a:pt x="115" y="278"/>
                </a:cubicBezTo>
                <a:cubicBezTo>
                  <a:pt x="95" y="278"/>
                  <a:pt x="84" y="267"/>
                  <a:pt x="84" y="250"/>
                </a:cubicBezTo>
                <a:cubicBezTo>
                  <a:pt x="83" y="220"/>
                  <a:pt x="83" y="220"/>
                  <a:pt x="83" y="220"/>
                </a:cubicBezTo>
                <a:cubicBezTo>
                  <a:pt x="0" y="220"/>
                  <a:pt x="0" y="220"/>
                  <a:pt x="0" y="220"/>
                </a:cubicBezTo>
                <a:cubicBezTo>
                  <a:pt x="0" y="244"/>
                  <a:pt x="0" y="244"/>
                  <a:pt x="0" y="244"/>
                </a:cubicBezTo>
                <a:cubicBezTo>
                  <a:pt x="0" y="313"/>
                  <a:pt x="55" y="334"/>
                  <a:pt x="113" y="334"/>
                </a:cubicBezTo>
                <a:cubicBezTo>
                  <a:pt x="169" y="334"/>
                  <a:pt x="216" y="315"/>
                  <a:pt x="223" y="263"/>
                </a:cubicBezTo>
                <a:cubicBezTo>
                  <a:pt x="227" y="236"/>
                  <a:pt x="224" y="218"/>
                  <a:pt x="223" y="212"/>
                </a:cubicBezTo>
                <a:cubicBezTo>
                  <a:pt x="210" y="146"/>
                  <a:pt x="92" y="127"/>
                  <a:pt x="83" y="91"/>
                </a:cubicBezTo>
                <a:moveTo>
                  <a:pt x="1096" y="91"/>
                </a:moveTo>
                <a:cubicBezTo>
                  <a:pt x="1094" y="85"/>
                  <a:pt x="1095" y="79"/>
                  <a:pt x="1096" y="75"/>
                </a:cubicBezTo>
                <a:cubicBezTo>
                  <a:pt x="1098" y="65"/>
                  <a:pt x="1104" y="54"/>
                  <a:pt x="1124" y="54"/>
                </a:cubicBezTo>
                <a:cubicBezTo>
                  <a:pt x="1142" y="54"/>
                  <a:pt x="1152" y="66"/>
                  <a:pt x="1152" y="82"/>
                </a:cubicBezTo>
                <a:cubicBezTo>
                  <a:pt x="1152" y="102"/>
                  <a:pt x="1152" y="102"/>
                  <a:pt x="1152" y="102"/>
                </a:cubicBezTo>
                <a:cubicBezTo>
                  <a:pt x="1229" y="102"/>
                  <a:pt x="1229" y="102"/>
                  <a:pt x="1229" y="102"/>
                </a:cubicBezTo>
                <a:cubicBezTo>
                  <a:pt x="1229" y="80"/>
                  <a:pt x="1229" y="80"/>
                  <a:pt x="1229" y="80"/>
                </a:cubicBezTo>
                <a:cubicBezTo>
                  <a:pt x="1229" y="13"/>
                  <a:pt x="1169" y="2"/>
                  <a:pt x="1125" y="2"/>
                </a:cubicBezTo>
                <a:cubicBezTo>
                  <a:pt x="1070" y="2"/>
                  <a:pt x="1026" y="20"/>
                  <a:pt x="1017" y="71"/>
                </a:cubicBezTo>
                <a:cubicBezTo>
                  <a:pt x="1015" y="84"/>
                  <a:pt x="1015" y="97"/>
                  <a:pt x="1018" y="112"/>
                </a:cubicBezTo>
                <a:cubicBezTo>
                  <a:pt x="1032" y="175"/>
                  <a:pt x="1141" y="193"/>
                  <a:pt x="1157" y="233"/>
                </a:cubicBezTo>
                <a:cubicBezTo>
                  <a:pt x="1160" y="241"/>
                  <a:pt x="1159" y="250"/>
                  <a:pt x="1158" y="256"/>
                </a:cubicBezTo>
                <a:cubicBezTo>
                  <a:pt x="1155" y="267"/>
                  <a:pt x="1148" y="277"/>
                  <a:pt x="1128" y="277"/>
                </a:cubicBezTo>
                <a:cubicBezTo>
                  <a:pt x="1108" y="277"/>
                  <a:pt x="1097" y="266"/>
                  <a:pt x="1097" y="249"/>
                </a:cubicBezTo>
                <a:cubicBezTo>
                  <a:pt x="1097" y="219"/>
                  <a:pt x="1097" y="219"/>
                  <a:pt x="1097" y="219"/>
                </a:cubicBezTo>
                <a:cubicBezTo>
                  <a:pt x="1014" y="219"/>
                  <a:pt x="1014" y="219"/>
                  <a:pt x="1014" y="219"/>
                </a:cubicBezTo>
                <a:cubicBezTo>
                  <a:pt x="1014" y="243"/>
                  <a:pt x="1014" y="243"/>
                  <a:pt x="1014" y="243"/>
                </a:cubicBezTo>
                <a:cubicBezTo>
                  <a:pt x="1014" y="312"/>
                  <a:pt x="1068" y="332"/>
                  <a:pt x="1126" y="332"/>
                </a:cubicBezTo>
                <a:cubicBezTo>
                  <a:pt x="1182" y="332"/>
                  <a:pt x="1228" y="313"/>
                  <a:pt x="1235" y="262"/>
                </a:cubicBezTo>
                <a:cubicBezTo>
                  <a:pt x="1238" y="235"/>
                  <a:pt x="1236" y="218"/>
                  <a:pt x="1234" y="211"/>
                </a:cubicBezTo>
                <a:cubicBezTo>
                  <a:pt x="1221" y="147"/>
                  <a:pt x="1105" y="127"/>
                  <a:pt x="1096" y="91"/>
                </a:cubicBezTo>
                <a:moveTo>
                  <a:pt x="1803" y="261"/>
                </a:moveTo>
                <a:cubicBezTo>
                  <a:pt x="1730" y="10"/>
                  <a:pt x="1730" y="10"/>
                  <a:pt x="1730" y="10"/>
                </a:cubicBezTo>
                <a:cubicBezTo>
                  <a:pt x="1614" y="10"/>
                  <a:pt x="1614" y="10"/>
                  <a:pt x="1614" y="10"/>
                </a:cubicBezTo>
                <a:cubicBezTo>
                  <a:pt x="1614" y="319"/>
                  <a:pt x="1614" y="319"/>
                  <a:pt x="1614" y="319"/>
                </a:cubicBezTo>
                <a:cubicBezTo>
                  <a:pt x="1691" y="319"/>
                  <a:pt x="1691" y="319"/>
                  <a:pt x="1691" y="319"/>
                </a:cubicBezTo>
                <a:cubicBezTo>
                  <a:pt x="1686" y="60"/>
                  <a:pt x="1686" y="60"/>
                  <a:pt x="1686" y="60"/>
                </a:cubicBezTo>
                <a:cubicBezTo>
                  <a:pt x="1765" y="319"/>
                  <a:pt x="1765" y="319"/>
                  <a:pt x="1765" y="319"/>
                </a:cubicBezTo>
                <a:cubicBezTo>
                  <a:pt x="1876" y="319"/>
                  <a:pt x="1876" y="319"/>
                  <a:pt x="1876" y="319"/>
                </a:cubicBezTo>
                <a:cubicBezTo>
                  <a:pt x="1876" y="10"/>
                  <a:pt x="1876" y="10"/>
                  <a:pt x="1876" y="10"/>
                </a:cubicBezTo>
                <a:cubicBezTo>
                  <a:pt x="1799" y="10"/>
                  <a:pt x="1799" y="10"/>
                  <a:pt x="1799" y="10"/>
                </a:cubicBezTo>
                <a:lnTo>
                  <a:pt x="1803" y="261"/>
                </a:lnTo>
                <a:close/>
                <a:moveTo>
                  <a:pt x="333" y="10"/>
                </a:moveTo>
                <a:cubicBezTo>
                  <a:pt x="276" y="322"/>
                  <a:pt x="276" y="322"/>
                  <a:pt x="276" y="322"/>
                </a:cubicBezTo>
                <a:cubicBezTo>
                  <a:pt x="360" y="322"/>
                  <a:pt x="360" y="322"/>
                  <a:pt x="360" y="322"/>
                </a:cubicBezTo>
                <a:cubicBezTo>
                  <a:pt x="403" y="33"/>
                  <a:pt x="403" y="33"/>
                  <a:pt x="403" y="33"/>
                </a:cubicBezTo>
                <a:cubicBezTo>
                  <a:pt x="446" y="322"/>
                  <a:pt x="446" y="322"/>
                  <a:pt x="446" y="322"/>
                </a:cubicBezTo>
                <a:cubicBezTo>
                  <a:pt x="529" y="322"/>
                  <a:pt x="529" y="322"/>
                  <a:pt x="529" y="322"/>
                </a:cubicBezTo>
                <a:cubicBezTo>
                  <a:pt x="472" y="10"/>
                  <a:pt x="472" y="10"/>
                  <a:pt x="472" y="10"/>
                </a:cubicBezTo>
                <a:lnTo>
                  <a:pt x="333" y="10"/>
                </a:lnTo>
                <a:close/>
                <a:moveTo>
                  <a:pt x="804" y="10"/>
                </a:moveTo>
                <a:cubicBezTo>
                  <a:pt x="765" y="254"/>
                  <a:pt x="765" y="254"/>
                  <a:pt x="765" y="254"/>
                </a:cubicBezTo>
                <a:cubicBezTo>
                  <a:pt x="725" y="10"/>
                  <a:pt x="725" y="10"/>
                  <a:pt x="725" y="10"/>
                </a:cubicBezTo>
                <a:cubicBezTo>
                  <a:pt x="598" y="10"/>
                  <a:pt x="598" y="10"/>
                  <a:pt x="598" y="10"/>
                </a:cubicBezTo>
                <a:cubicBezTo>
                  <a:pt x="592" y="322"/>
                  <a:pt x="592" y="322"/>
                  <a:pt x="592" y="322"/>
                </a:cubicBezTo>
                <a:cubicBezTo>
                  <a:pt x="669" y="322"/>
                  <a:pt x="669" y="322"/>
                  <a:pt x="669" y="322"/>
                </a:cubicBezTo>
                <a:cubicBezTo>
                  <a:pt x="671" y="33"/>
                  <a:pt x="671" y="33"/>
                  <a:pt x="671" y="33"/>
                </a:cubicBezTo>
                <a:cubicBezTo>
                  <a:pt x="725" y="322"/>
                  <a:pt x="725" y="322"/>
                  <a:pt x="725" y="322"/>
                </a:cubicBezTo>
                <a:cubicBezTo>
                  <a:pt x="804" y="322"/>
                  <a:pt x="804" y="322"/>
                  <a:pt x="804" y="322"/>
                </a:cubicBezTo>
                <a:cubicBezTo>
                  <a:pt x="858" y="33"/>
                  <a:pt x="858" y="33"/>
                  <a:pt x="858" y="33"/>
                </a:cubicBezTo>
                <a:cubicBezTo>
                  <a:pt x="860" y="322"/>
                  <a:pt x="860" y="322"/>
                  <a:pt x="860" y="322"/>
                </a:cubicBezTo>
                <a:cubicBezTo>
                  <a:pt x="938" y="322"/>
                  <a:pt x="938" y="322"/>
                  <a:pt x="938" y="322"/>
                </a:cubicBezTo>
                <a:cubicBezTo>
                  <a:pt x="931" y="10"/>
                  <a:pt x="931" y="10"/>
                  <a:pt x="931" y="10"/>
                </a:cubicBezTo>
                <a:lnTo>
                  <a:pt x="804" y="10"/>
                </a:lnTo>
                <a:close/>
                <a:moveTo>
                  <a:pt x="1528" y="10"/>
                </a:moveTo>
                <a:cubicBezTo>
                  <a:pt x="1449" y="10"/>
                  <a:pt x="1449" y="10"/>
                  <a:pt x="1449" y="10"/>
                </a:cubicBezTo>
                <a:cubicBezTo>
                  <a:pt x="1449" y="241"/>
                  <a:pt x="1449" y="241"/>
                  <a:pt x="1449" y="241"/>
                </a:cubicBezTo>
                <a:cubicBezTo>
                  <a:pt x="1449" y="245"/>
                  <a:pt x="1449" y="249"/>
                  <a:pt x="1448" y="253"/>
                </a:cubicBezTo>
                <a:cubicBezTo>
                  <a:pt x="1447" y="260"/>
                  <a:pt x="1440" y="275"/>
                  <a:pt x="1418" y="275"/>
                </a:cubicBezTo>
                <a:cubicBezTo>
                  <a:pt x="1397" y="275"/>
                  <a:pt x="1390" y="260"/>
                  <a:pt x="1389" y="253"/>
                </a:cubicBezTo>
                <a:cubicBezTo>
                  <a:pt x="1388" y="249"/>
                  <a:pt x="1388" y="245"/>
                  <a:pt x="1388" y="241"/>
                </a:cubicBezTo>
                <a:cubicBezTo>
                  <a:pt x="1388" y="10"/>
                  <a:pt x="1388" y="10"/>
                  <a:pt x="1388" y="10"/>
                </a:cubicBezTo>
                <a:cubicBezTo>
                  <a:pt x="1309" y="10"/>
                  <a:pt x="1309" y="10"/>
                  <a:pt x="1309" y="10"/>
                </a:cubicBezTo>
                <a:cubicBezTo>
                  <a:pt x="1309" y="234"/>
                  <a:pt x="1309" y="234"/>
                  <a:pt x="1309" y="234"/>
                </a:cubicBezTo>
                <a:cubicBezTo>
                  <a:pt x="1309" y="239"/>
                  <a:pt x="1309" y="251"/>
                  <a:pt x="1310" y="254"/>
                </a:cubicBezTo>
                <a:cubicBezTo>
                  <a:pt x="1315" y="312"/>
                  <a:pt x="1361" y="331"/>
                  <a:pt x="1418" y="331"/>
                </a:cubicBezTo>
                <a:cubicBezTo>
                  <a:pt x="1476" y="331"/>
                  <a:pt x="1522" y="312"/>
                  <a:pt x="1527" y="254"/>
                </a:cubicBezTo>
                <a:cubicBezTo>
                  <a:pt x="1528" y="251"/>
                  <a:pt x="1528" y="239"/>
                  <a:pt x="1528" y="234"/>
                </a:cubicBezTo>
                <a:lnTo>
                  <a:pt x="1528" y="10"/>
                </a:lnTo>
                <a:close/>
                <a:moveTo>
                  <a:pt x="2069" y="147"/>
                </a:moveTo>
                <a:cubicBezTo>
                  <a:pt x="2069" y="192"/>
                  <a:pt x="2069" y="192"/>
                  <a:pt x="2069" y="192"/>
                </a:cubicBezTo>
                <a:cubicBezTo>
                  <a:pt x="2101" y="192"/>
                  <a:pt x="2101" y="192"/>
                  <a:pt x="2101" y="192"/>
                </a:cubicBezTo>
                <a:cubicBezTo>
                  <a:pt x="2101" y="237"/>
                  <a:pt x="2101" y="237"/>
                  <a:pt x="2101" y="237"/>
                </a:cubicBezTo>
                <a:cubicBezTo>
                  <a:pt x="2101" y="241"/>
                  <a:pt x="2101" y="246"/>
                  <a:pt x="2100" y="249"/>
                </a:cubicBezTo>
                <a:cubicBezTo>
                  <a:pt x="2099" y="258"/>
                  <a:pt x="2091" y="272"/>
                  <a:pt x="2068" y="272"/>
                </a:cubicBezTo>
                <a:cubicBezTo>
                  <a:pt x="2045" y="272"/>
                  <a:pt x="2038" y="258"/>
                  <a:pt x="2036" y="249"/>
                </a:cubicBezTo>
                <a:cubicBezTo>
                  <a:pt x="2036" y="246"/>
                  <a:pt x="2035" y="241"/>
                  <a:pt x="2035" y="237"/>
                </a:cubicBezTo>
                <a:cubicBezTo>
                  <a:pt x="2035" y="95"/>
                  <a:pt x="2035" y="95"/>
                  <a:pt x="2035" y="95"/>
                </a:cubicBezTo>
                <a:cubicBezTo>
                  <a:pt x="2035" y="90"/>
                  <a:pt x="2036" y="85"/>
                  <a:pt x="2037" y="80"/>
                </a:cubicBezTo>
                <a:cubicBezTo>
                  <a:pt x="2038" y="73"/>
                  <a:pt x="2045" y="58"/>
                  <a:pt x="2068" y="58"/>
                </a:cubicBezTo>
                <a:cubicBezTo>
                  <a:pt x="2092" y="58"/>
                  <a:pt x="2098" y="74"/>
                  <a:pt x="2099" y="80"/>
                </a:cubicBezTo>
                <a:cubicBezTo>
                  <a:pt x="2100" y="85"/>
                  <a:pt x="2100" y="92"/>
                  <a:pt x="2100" y="92"/>
                </a:cubicBezTo>
                <a:cubicBezTo>
                  <a:pt x="2100" y="110"/>
                  <a:pt x="2100" y="110"/>
                  <a:pt x="2100" y="110"/>
                </a:cubicBezTo>
                <a:cubicBezTo>
                  <a:pt x="2178" y="110"/>
                  <a:pt x="2178" y="110"/>
                  <a:pt x="2178" y="110"/>
                </a:cubicBezTo>
                <a:cubicBezTo>
                  <a:pt x="2178" y="99"/>
                  <a:pt x="2178" y="99"/>
                  <a:pt x="2178" y="99"/>
                </a:cubicBezTo>
                <a:cubicBezTo>
                  <a:pt x="2178" y="99"/>
                  <a:pt x="2179" y="89"/>
                  <a:pt x="2178" y="79"/>
                </a:cubicBezTo>
                <a:cubicBezTo>
                  <a:pt x="2172" y="20"/>
                  <a:pt x="2124" y="2"/>
                  <a:pt x="2068" y="2"/>
                </a:cubicBezTo>
                <a:cubicBezTo>
                  <a:pt x="2013" y="2"/>
                  <a:pt x="1966" y="21"/>
                  <a:pt x="1959" y="79"/>
                </a:cubicBezTo>
                <a:cubicBezTo>
                  <a:pt x="1958" y="84"/>
                  <a:pt x="1958" y="94"/>
                  <a:pt x="1958" y="99"/>
                </a:cubicBezTo>
                <a:cubicBezTo>
                  <a:pt x="1958" y="230"/>
                  <a:pt x="1958" y="230"/>
                  <a:pt x="1958" y="230"/>
                </a:cubicBezTo>
                <a:cubicBezTo>
                  <a:pt x="1958" y="236"/>
                  <a:pt x="1958" y="241"/>
                  <a:pt x="1959" y="251"/>
                </a:cubicBezTo>
                <a:cubicBezTo>
                  <a:pt x="1964" y="308"/>
                  <a:pt x="2013" y="328"/>
                  <a:pt x="2068" y="328"/>
                </a:cubicBezTo>
                <a:cubicBezTo>
                  <a:pt x="2124" y="328"/>
                  <a:pt x="2173" y="308"/>
                  <a:pt x="2178" y="251"/>
                </a:cubicBezTo>
                <a:cubicBezTo>
                  <a:pt x="2179" y="241"/>
                  <a:pt x="2179" y="236"/>
                  <a:pt x="2179" y="230"/>
                </a:cubicBezTo>
                <a:cubicBezTo>
                  <a:pt x="2179" y="147"/>
                  <a:pt x="2179" y="147"/>
                  <a:pt x="2179" y="147"/>
                </a:cubicBezTo>
                <a:lnTo>
                  <a:pt x="2069" y="147"/>
                </a:lnTo>
                <a:close/>
              </a:path>
            </a:pathLst>
          </a:custGeom>
          <a:solidFill>
            <a:srgbClr val="0924A5"/>
          </a:solidFill>
          <a:ln>
            <a:noFill/>
          </a:ln>
        </p:spPr>
        <p:txBody>
          <a:bodyPr vert="horz" wrap="square" lIns="91411" tIns="45705" rIns="91411" bIns="45705" numCol="1" anchor="t" anchorCtr="0" compatLnSpc="1">
            <a:prstTxWarp prst="textNoShape">
              <a:avLst/>
            </a:prstTxWarp>
            <a:scene3d>
              <a:camera prst="orthographicFront"/>
              <a:lightRig rig="threePt" dir="t"/>
            </a:scene3d>
            <a:sp3d>
              <a:bevelT w="0" h="6350"/>
            </a:sp3d>
          </a:bodyPr>
          <a:lstStyle/>
          <a:p>
            <a:pPr marL="0" marR="0" lvl="0" indent="0" algn="l" defTabSz="914126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ko-KR" altLang="en-US" sz="1959" noProof="0" dirty="0"/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65631" y="6141164"/>
            <a:ext cx="1371564" cy="450000"/>
          </a:xfrm>
          <a:prstGeom prst="rect">
            <a:avLst/>
          </a:prstGeom>
        </p:spPr>
      </p:pic>
      <p:sp>
        <p:nvSpPr>
          <p:cNvPr id="7" name="직사각형 133">
            <a:extLst>
              <a:ext uri="{FF2B5EF4-FFF2-40B4-BE49-F238E27FC236}">
                <a16:creationId xmlns:a16="http://schemas.microsoft.com/office/drawing/2014/main" id="{DE8CAD59-3F29-4FBB-AE0A-697DDFD5E69E}"/>
              </a:ext>
            </a:extLst>
          </p:cNvPr>
          <p:cNvSpPr/>
          <p:nvPr userDrawn="1"/>
        </p:nvSpPr>
        <p:spPr>
          <a:xfrm>
            <a:off x="990000" y="4320000"/>
            <a:ext cx="5832526" cy="36933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0" h="6350"/>
            </a:sp3d>
          </a:bodyPr>
          <a:lstStyle/>
          <a:p>
            <a:pPr defTabSz="914400" latinLnBrk="1">
              <a:defRPr/>
            </a:pPr>
            <a:r>
              <a:rPr lang="en-US" altLang="ko-KR" sz="2400" baseline="0" dirty="0">
                <a:solidFill>
                  <a:srgbClr val="1428A0"/>
                </a:solidFill>
                <a:latin typeface="Samsung Sharp Sans" pitchFamily="2" charset="0"/>
                <a:ea typeface="Samsung Sharp Sans" pitchFamily="2" charset="0"/>
                <a:cs typeface="Samsung Sharp Sans" pitchFamily="2" charset="0"/>
              </a:rPr>
              <a:t>Artificial Intelligence Course</a:t>
            </a:r>
            <a:endParaRPr lang="ko-KR" altLang="en-US" sz="2400" dirty="0">
              <a:solidFill>
                <a:srgbClr val="1428A0"/>
              </a:solidFill>
              <a:latin typeface="Samsung Sharp Sans" pitchFamily="2" charset="0"/>
              <a:ea typeface="Samsung Sharp Sans" pitchFamily="2" charset="0"/>
              <a:cs typeface="Samsung Sharp Sans" pitchFamily="2" charset="0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86149771-D78D-40D7-8B97-564358008D8D}"/>
              </a:ext>
            </a:extLst>
          </p:cNvPr>
          <p:cNvSpPr/>
          <p:nvPr userDrawn="1"/>
        </p:nvSpPr>
        <p:spPr>
          <a:xfrm>
            <a:off x="724689" y="4320000"/>
            <a:ext cx="54000" cy="360000"/>
          </a:xfrm>
          <a:prstGeom prst="rect">
            <a:avLst/>
          </a:prstGeom>
          <a:solidFill>
            <a:srgbClr val="1428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>
              <a:defRPr/>
            </a:pPr>
            <a:endParaRPr lang="ko-KR" altLang="en-US" dirty="0">
              <a:solidFill>
                <a:prstClr val="white"/>
              </a:solidFill>
              <a:latin typeface="Calibri" panose="020F0502020204030204"/>
              <a:ea typeface="맑은 고딕" panose="020B0503020000020004" pitchFamily="50" charset="-127"/>
            </a:endParaRPr>
          </a:p>
        </p:txBody>
      </p:sp>
      <p:sp>
        <p:nvSpPr>
          <p:cNvPr id="11" name="텍스트 개체 틀 18">
            <a:extLst>
              <a:ext uri="{FF2B5EF4-FFF2-40B4-BE49-F238E27FC236}">
                <a16:creationId xmlns:a16="http://schemas.microsoft.com/office/drawing/2014/main" id="{02AC410D-7805-4DA9-915F-991D726861C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20000" y="3551768"/>
            <a:ext cx="6837808" cy="276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>
            <a:spAutoFit/>
            <a:scene3d>
              <a:camera prst="orthographicFront"/>
              <a:lightRig rig="threePt" dir="t"/>
            </a:scene3d>
            <a:sp3d>
              <a:bevelT w="0" h="6350"/>
            </a:sp3d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ko-KR" altLang="en-US" sz="1800" dirty="0">
                <a:solidFill>
                  <a:schemeClr val="bg1">
                    <a:lumMod val="50000"/>
                  </a:schemeClr>
                </a:solidFill>
                <a:latin typeface="Samsung Sharp Sans" pitchFamily="2" charset="0"/>
                <a:ea typeface="Samsung Sharp Sans" pitchFamily="2" charset="0"/>
                <a:cs typeface="Samsung Sharp Sans" pitchFamily="2" charset="0"/>
              </a:defRPr>
            </a:lvl1pPr>
          </a:lstStyle>
          <a:p>
            <a:pPr marL="0" lvl="0" defTabSz="457050" latinLnBrk="0"/>
            <a:r>
              <a:rPr lang="en-US" altLang="ko-KR" dirty="0"/>
              <a:t>Team Name</a:t>
            </a:r>
            <a:endParaRPr lang="ko-KR" altLang="en-US" dirty="0"/>
          </a:p>
        </p:txBody>
      </p:sp>
      <p:sp>
        <p:nvSpPr>
          <p:cNvPr id="12" name="제목 2">
            <a:extLst>
              <a:ext uri="{FF2B5EF4-FFF2-40B4-BE49-F238E27FC236}">
                <a16:creationId xmlns:a16="http://schemas.microsoft.com/office/drawing/2014/main" id="{44AF0917-EEBC-44C5-8BA6-F1CA2AFA4B1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0" y="1710000"/>
            <a:ext cx="5221019" cy="147732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>
            <a:spAutoFit/>
            <a:scene3d>
              <a:camera prst="orthographicFront"/>
              <a:lightRig rig="threePt" dir="t"/>
            </a:scene3d>
            <a:sp3d>
              <a:bevelT w="0" h="6350"/>
            </a:sp3d>
          </a:bodyPr>
          <a:lstStyle>
            <a:lvl1pPr>
              <a:lnSpc>
                <a:spcPct val="100000"/>
              </a:lnSpc>
              <a:defRPr lang="ko-KR" altLang="en-US" sz="4800">
                <a:solidFill>
                  <a:schemeClr val="tx1"/>
                </a:solidFill>
                <a:latin typeface="Samsung Sharp Sans" pitchFamily="2" charset="0"/>
                <a:ea typeface="Samsung Sharp Sans" pitchFamily="2" charset="0"/>
                <a:cs typeface="Samsung Sharp Sans" pitchFamily="2" charset="0"/>
              </a:defRPr>
            </a:lvl1pPr>
          </a:lstStyle>
          <a:p>
            <a:pPr marL="0" lvl="0" defTabSz="457200" latinLnBrk="0"/>
            <a:r>
              <a:rPr lang="en-US" altLang="ko-KR" dirty="0"/>
              <a:t>Project</a:t>
            </a:r>
            <a:r>
              <a:rPr lang="ko-KR" altLang="en-US" dirty="0"/>
              <a:t> </a:t>
            </a:r>
            <a:br>
              <a:rPr lang="en-US" altLang="ko-KR" dirty="0"/>
            </a:br>
            <a:r>
              <a:rPr lang="en-US" altLang="ko-KR" dirty="0"/>
              <a:t>Name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322917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able of Contents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588" y="0"/>
            <a:ext cx="9902825" cy="6858000"/>
          </a:xfrm>
          <a:prstGeom prst="rect">
            <a:avLst/>
          </a:prstGeom>
        </p:spPr>
      </p:pic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107951CE-0A5B-4EC7-B663-290867B6A3B2}"/>
              </a:ext>
            </a:extLst>
          </p:cNvPr>
          <p:cNvCxnSpPr/>
          <p:nvPr userDrawn="1"/>
        </p:nvCxnSpPr>
        <p:spPr>
          <a:xfrm>
            <a:off x="449468" y="6424935"/>
            <a:ext cx="9000714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슬라이드 번호 개체 틀 15">
            <a:extLst>
              <a:ext uri="{FF2B5EF4-FFF2-40B4-BE49-F238E27FC236}">
                <a16:creationId xmlns:a16="http://schemas.microsoft.com/office/drawing/2014/main" id="{DB8B1220-1660-457F-B990-656A8230EA54}"/>
              </a:ext>
            </a:extLst>
          </p:cNvPr>
          <p:cNvSpPr txBox="1">
            <a:spLocks/>
          </p:cNvSpPr>
          <p:nvPr userDrawn="1"/>
        </p:nvSpPr>
        <p:spPr>
          <a:xfrm>
            <a:off x="8836343" y="6498001"/>
            <a:ext cx="613839" cy="138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0" h="6350"/>
            </a:sp3d>
          </a:bodyPr>
          <a:lstStyle>
            <a:defPPr>
              <a:defRPr lang="ko-KR"/>
            </a:defPPr>
            <a:lvl1pPr algn="r">
              <a:defRPr sz="900">
                <a:solidFill>
                  <a:schemeClr val="tx1">
                    <a:lumMod val="50000"/>
                    <a:lumOff val="50000"/>
                  </a:schemeClr>
                </a:solidFill>
                <a:latin typeface="SamsungOne 300" panose="020B0303030303020204" pitchFamily="34" charset="0"/>
                <a:ea typeface="SamsungOne 300" panose="020B0303030303020204" pitchFamily="34" charset="0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marL="0" marR="0" lvl="0" indent="0" algn="r" defTabSz="91409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3977B04-C971-4466-AB79-612C9E649B30}" type="slidenum">
              <a:rPr lang="en-US" altLang="ko-KR" sz="900" smtClean="0">
                <a:solidFill>
                  <a:schemeClr val="bg1">
                    <a:lumMod val="50000"/>
                  </a:schemeClr>
                </a:solidFill>
                <a:latin typeface="SamsungOne 400" panose="020B0503030303020204" pitchFamily="34" charset="0"/>
                <a:ea typeface="SamsungOne 400" panose="020B0503030303020204" pitchFamily="34" charset="0"/>
              </a:rPr>
              <a:pPr marL="0" marR="0" lvl="0" indent="0" algn="r" defTabSz="914094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altLang="ko-KR" sz="900" dirty="0">
              <a:solidFill>
                <a:schemeClr val="bg1">
                  <a:lumMod val="50000"/>
                </a:schemeClr>
              </a:solidFill>
              <a:latin typeface="SamsungOne 400" panose="020B0503030303020204" pitchFamily="34" charset="0"/>
              <a:ea typeface="SamsungOne 400" panose="020B0503030303020204" pitchFamily="34" charset="0"/>
              <a:cs typeface="Arial Unicode MS" panose="020B0604020202020204" pitchFamily="50" charset="-127"/>
            </a:endParaRPr>
          </a:p>
        </p:txBody>
      </p:sp>
      <p:sp>
        <p:nvSpPr>
          <p:cNvPr id="14" name="직사각형 7">
            <a:extLst>
              <a:ext uri="{FF2B5EF4-FFF2-40B4-BE49-F238E27FC236}">
                <a16:creationId xmlns:a16="http://schemas.microsoft.com/office/drawing/2014/main" id="{AA07D337-B9C3-4E5E-811E-AEFBB17ADEF5}"/>
              </a:ext>
            </a:extLst>
          </p:cNvPr>
          <p:cNvSpPr/>
          <p:nvPr userDrawn="1"/>
        </p:nvSpPr>
        <p:spPr>
          <a:xfrm>
            <a:off x="449468" y="6498001"/>
            <a:ext cx="2888788" cy="16927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>
            <a:spAutoFit/>
            <a:scene3d>
              <a:camera prst="orthographicFront"/>
              <a:lightRig rig="threePt" dir="t"/>
            </a:scene3d>
            <a:sp3d>
              <a:bevelT w="0" h="6350"/>
            </a:sp3d>
          </a:bodyPr>
          <a:lstStyle/>
          <a:p>
            <a:pPr algn="l"/>
            <a:r>
              <a:rPr lang="en-US" altLang="ko-KR" sz="1100" b="0" dirty="0">
                <a:solidFill>
                  <a:schemeClr val="bg1">
                    <a:lumMod val="50000"/>
                  </a:schemeClr>
                </a:solidFill>
                <a:latin typeface="Samsung Sharp Sans Bold" pitchFamily="2" charset="0"/>
                <a:ea typeface="Samsung Sharp Sans Bold" pitchFamily="2" charset="0"/>
                <a:cs typeface="Samsung Sharp Sans Bold" pitchFamily="2" charset="0"/>
              </a:rPr>
              <a:t>Samsung Innovation Campus</a:t>
            </a:r>
          </a:p>
        </p:txBody>
      </p:sp>
      <p:sp>
        <p:nvSpPr>
          <p:cNvPr id="7" name="직사각형 133">
            <a:extLst>
              <a:ext uri="{FF2B5EF4-FFF2-40B4-BE49-F238E27FC236}">
                <a16:creationId xmlns:a16="http://schemas.microsoft.com/office/drawing/2014/main" id="{7A4BCBFF-5289-45FE-BA09-DFF42AF8A347}"/>
              </a:ext>
            </a:extLst>
          </p:cNvPr>
          <p:cNvSpPr/>
          <p:nvPr userDrawn="1"/>
        </p:nvSpPr>
        <p:spPr>
          <a:xfrm>
            <a:off x="990000" y="4157757"/>
            <a:ext cx="3563339" cy="3231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0" h="6350"/>
            </a:sp3d>
          </a:bodyPr>
          <a:lstStyle/>
          <a:p>
            <a:pPr defTabSz="457200">
              <a:defRPr/>
            </a:pPr>
            <a:r>
              <a:rPr lang="en-US" altLang="ko-KR" sz="2100" dirty="0">
                <a:solidFill>
                  <a:srgbClr val="1428A0"/>
                </a:solidFill>
                <a:latin typeface="Samsung Sharp Sans" pitchFamily="2" charset="0"/>
                <a:ea typeface="Samsung Sharp Sans" pitchFamily="2" charset="0"/>
                <a:cs typeface="Samsung Sharp Sans" pitchFamily="2" charset="0"/>
              </a:rPr>
              <a:t>AI Course</a:t>
            </a:r>
            <a:endParaRPr lang="ko-KR" altLang="en-US" sz="2100" dirty="0">
              <a:solidFill>
                <a:srgbClr val="1428A0"/>
              </a:solidFill>
              <a:latin typeface="Samsung Sharp Sans" pitchFamily="2" charset="0"/>
              <a:ea typeface="Samsung Sharp Sans" pitchFamily="2" charset="0"/>
              <a:cs typeface="Samsung Sharp Sans" pitchFamily="2" charset="0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4AA6CFBD-D9B3-4245-A68B-1D7EC1CB6F07}"/>
              </a:ext>
            </a:extLst>
          </p:cNvPr>
          <p:cNvSpPr/>
          <p:nvPr userDrawn="1"/>
        </p:nvSpPr>
        <p:spPr>
          <a:xfrm>
            <a:off x="720000" y="2095275"/>
            <a:ext cx="60008" cy="1759369"/>
          </a:xfrm>
          <a:prstGeom prst="rect">
            <a:avLst/>
          </a:prstGeom>
          <a:solidFill>
            <a:srgbClr val="1428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>
              <a:defRPr/>
            </a:pPr>
            <a:endParaRPr lang="ko-KR" altLang="en-US" dirty="0">
              <a:solidFill>
                <a:prstClr val="white"/>
              </a:solidFill>
              <a:latin typeface="Calibri" panose="020F0502020204030204"/>
              <a:ea typeface="맑은 고딕" panose="020B0503020000020004" pitchFamily="50" charset="-127"/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1B2EB59A-603F-4715-ABA1-D9DF69D44512}"/>
              </a:ext>
            </a:extLst>
          </p:cNvPr>
          <p:cNvSpPr/>
          <p:nvPr userDrawn="1"/>
        </p:nvSpPr>
        <p:spPr>
          <a:xfrm>
            <a:off x="720000" y="4157757"/>
            <a:ext cx="60008" cy="323165"/>
          </a:xfrm>
          <a:prstGeom prst="rect">
            <a:avLst/>
          </a:prstGeom>
          <a:solidFill>
            <a:srgbClr val="1428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>
              <a:defRPr/>
            </a:pPr>
            <a:endParaRPr lang="ko-KR" altLang="en-US" dirty="0">
              <a:solidFill>
                <a:prstClr val="white"/>
              </a:solidFill>
              <a:latin typeface="Calibri" panose="020F0502020204030204"/>
              <a:ea typeface="맑은 고딕" panose="020B0503020000020004" pitchFamily="50" charset="-127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CF6BC111-C555-4B09-8375-33C4F4C2FBB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90000" y="2095275"/>
            <a:ext cx="5221019" cy="135421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>
            <a:spAutoFit/>
            <a:scene3d>
              <a:camera prst="orthographicFront"/>
              <a:lightRig rig="threePt" dir="t"/>
            </a:scene3d>
            <a:sp3d>
              <a:bevelT w="0" h="6350"/>
            </a:sp3d>
          </a:bodyPr>
          <a:lstStyle>
            <a:lvl1pPr>
              <a:lnSpc>
                <a:spcPct val="100000"/>
              </a:lnSpc>
              <a:defRPr lang="ko-KR" altLang="en-US" sz="4400">
                <a:solidFill>
                  <a:schemeClr val="tx1"/>
                </a:solidFill>
                <a:latin typeface="Samsung Sharp Sans" pitchFamily="2" charset="0"/>
                <a:ea typeface="Samsung Sharp Sans" pitchFamily="2" charset="0"/>
                <a:cs typeface="Samsung Sharp Sans" pitchFamily="2" charset="0"/>
              </a:defRPr>
            </a:lvl1pPr>
          </a:lstStyle>
          <a:p>
            <a:pPr marL="0" lvl="0" defTabSz="457200" latinLnBrk="0"/>
            <a:r>
              <a:rPr lang="en-US" altLang="ko-KR" dirty="0"/>
              <a:t>Project</a:t>
            </a:r>
            <a:r>
              <a:rPr lang="ko-KR" altLang="en-US" dirty="0"/>
              <a:t> </a:t>
            </a:r>
            <a:br>
              <a:rPr lang="en-US" altLang="ko-KR" dirty="0"/>
            </a:br>
            <a:r>
              <a:rPr lang="en-US" altLang="ko-KR" dirty="0"/>
              <a:t>Name</a:t>
            </a:r>
            <a:endParaRPr lang="ko-KR" altLang="en-US" dirty="0"/>
          </a:p>
        </p:txBody>
      </p:sp>
      <p:sp>
        <p:nvSpPr>
          <p:cNvPr id="17" name="텍스트 개체 틀 18">
            <a:extLst>
              <a:ext uri="{FF2B5EF4-FFF2-40B4-BE49-F238E27FC236}">
                <a16:creationId xmlns:a16="http://schemas.microsoft.com/office/drawing/2014/main" id="{CBEAE583-0BAA-455B-9555-B00A4FE8B1C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90000" y="3577645"/>
            <a:ext cx="6837808" cy="276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>
            <a:spAutoFit/>
            <a:scene3d>
              <a:camera prst="orthographicFront"/>
              <a:lightRig rig="threePt" dir="t"/>
            </a:scene3d>
            <a:sp3d>
              <a:bevelT w="0" h="6350"/>
            </a:sp3d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ko-KR" altLang="en-US" sz="1800" dirty="0">
                <a:solidFill>
                  <a:schemeClr val="bg1">
                    <a:lumMod val="50000"/>
                  </a:schemeClr>
                </a:solidFill>
                <a:latin typeface="Samsung Sharp Sans" pitchFamily="2" charset="0"/>
                <a:ea typeface="Samsung Sharp Sans" pitchFamily="2" charset="0"/>
                <a:cs typeface="Samsung Sharp Sans" pitchFamily="2" charset="0"/>
              </a:defRPr>
            </a:lvl1pPr>
          </a:lstStyle>
          <a:p>
            <a:pPr marL="0" lvl="0" defTabSz="457050" latinLnBrk="0"/>
            <a:r>
              <a:rPr lang="en-US" altLang="ko-KR" dirty="0"/>
              <a:t>Team Name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903129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614" userDrawn="1">
          <p15:clr>
            <a:srgbClr val="FBAE40"/>
          </p15:clr>
        </p15:guide>
        <p15:guide id="2" pos="443" userDrawn="1">
          <p15:clr>
            <a:srgbClr val="FBAE40"/>
          </p15:clr>
        </p15:guide>
        <p15:guide id="3" pos="5955">
          <p15:clr>
            <a:srgbClr val="FBAE40"/>
          </p15:clr>
        </p15:guide>
        <p15:guide id="4" pos="609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902825" cy="6858000"/>
          </a:xfrm>
          <a:prstGeom prst="rect">
            <a:avLst/>
          </a:prstGeom>
        </p:spPr>
      </p:pic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107951CE-0A5B-4EC7-B663-290867B6A3B2}"/>
              </a:ext>
            </a:extLst>
          </p:cNvPr>
          <p:cNvCxnSpPr/>
          <p:nvPr userDrawn="1"/>
        </p:nvCxnSpPr>
        <p:spPr>
          <a:xfrm>
            <a:off x="449468" y="6424935"/>
            <a:ext cx="9000714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슬라이드 번호 개체 틀 15">
            <a:extLst>
              <a:ext uri="{FF2B5EF4-FFF2-40B4-BE49-F238E27FC236}">
                <a16:creationId xmlns:a16="http://schemas.microsoft.com/office/drawing/2014/main" id="{DB8B1220-1660-457F-B990-656A8230EA54}"/>
              </a:ext>
            </a:extLst>
          </p:cNvPr>
          <p:cNvSpPr txBox="1">
            <a:spLocks/>
          </p:cNvSpPr>
          <p:nvPr userDrawn="1"/>
        </p:nvSpPr>
        <p:spPr>
          <a:xfrm>
            <a:off x="8836343" y="6498001"/>
            <a:ext cx="613839" cy="138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0" h="6350"/>
            </a:sp3d>
          </a:bodyPr>
          <a:lstStyle>
            <a:defPPr>
              <a:defRPr lang="ko-KR"/>
            </a:defPPr>
            <a:lvl1pPr algn="r">
              <a:defRPr sz="900">
                <a:solidFill>
                  <a:schemeClr val="tx1">
                    <a:lumMod val="50000"/>
                    <a:lumOff val="50000"/>
                  </a:schemeClr>
                </a:solidFill>
                <a:latin typeface="SamsungOne 300" panose="020B0303030303020204" pitchFamily="34" charset="0"/>
                <a:ea typeface="SamsungOne 300" panose="020B0303030303020204" pitchFamily="34" charset="0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marL="0" marR="0" lvl="0" indent="0" algn="r" defTabSz="91409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3977B04-C971-4466-AB79-612C9E649B30}" type="slidenum">
              <a:rPr lang="en-US" altLang="ko-KR" sz="900" smtClean="0">
                <a:solidFill>
                  <a:schemeClr val="bg1">
                    <a:lumMod val="50000"/>
                  </a:schemeClr>
                </a:solidFill>
                <a:latin typeface="SamsungOne 400" panose="020B0503030303020204" pitchFamily="34" charset="0"/>
                <a:ea typeface="SamsungOne 400" panose="020B0503030303020204" pitchFamily="34" charset="0"/>
              </a:rPr>
              <a:pPr marL="0" marR="0" lvl="0" indent="0" algn="r" defTabSz="914094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altLang="ko-KR" sz="900" dirty="0">
              <a:solidFill>
                <a:schemeClr val="bg1">
                  <a:lumMod val="50000"/>
                </a:schemeClr>
              </a:solidFill>
              <a:latin typeface="SamsungOne 400" panose="020B0503030303020204" pitchFamily="34" charset="0"/>
              <a:ea typeface="SamsungOne 400" panose="020B0503030303020204" pitchFamily="34" charset="0"/>
              <a:cs typeface="Arial Unicode MS" panose="020B0604020202020204" pitchFamily="50" charset="-127"/>
            </a:endParaRPr>
          </a:p>
        </p:txBody>
      </p:sp>
      <p:sp>
        <p:nvSpPr>
          <p:cNvPr id="14" name="직사각형 7">
            <a:extLst>
              <a:ext uri="{FF2B5EF4-FFF2-40B4-BE49-F238E27FC236}">
                <a16:creationId xmlns:a16="http://schemas.microsoft.com/office/drawing/2014/main" id="{AA07D337-B9C3-4E5E-811E-AEFBB17ADEF5}"/>
              </a:ext>
            </a:extLst>
          </p:cNvPr>
          <p:cNvSpPr/>
          <p:nvPr userDrawn="1"/>
        </p:nvSpPr>
        <p:spPr>
          <a:xfrm>
            <a:off x="449468" y="6498001"/>
            <a:ext cx="2888788" cy="16927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>
            <a:spAutoFit/>
            <a:scene3d>
              <a:camera prst="orthographicFront"/>
              <a:lightRig rig="threePt" dir="t"/>
            </a:scene3d>
            <a:sp3d>
              <a:bevelT w="0" h="6350"/>
            </a:sp3d>
          </a:bodyPr>
          <a:lstStyle/>
          <a:p>
            <a:pPr algn="l"/>
            <a:r>
              <a:rPr lang="en-US" altLang="ko-KR" sz="1100" b="0" dirty="0">
                <a:solidFill>
                  <a:schemeClr val="bg1">
                    <a:lumMod val="50000"/>
                  </a:schemeClr>
                </a:solidFill>
                <a:latin typeface="Samsung Sharp Sans Bold" pitchFamily="2" charset="0"/>
                <a:ea typeface="Samsung Sharp Sans Bold" pitchFamily="2" charset="0"/>
                <a:cs typeface="Samsung Sharp Sans Bold" pitchFamily="2" charset="0"/>
              </a:rPr>
              <a:t>Samsung Innovation Campus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4625E1FE-2B04-4D8E-A51A-6B9CEC7B379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49468" y="1440000"/>
            <a:ext cx="8541187" cy="49244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>
            <a:spAutoFit/>
            <a:scene3d>
              <a:camera prst="orthographicFront"/>
              <a:lightRig rig="threePt" dir="t"/>
            </a:scene3d>
            <a:sp3d>
              <a:bevelT w="0" h="6350"/>
            </a:sp3d>
          </a:bodyPr>
          <a:lstStyle>
            <a:lvl1pPr>
              <a:lnSpc>
                <a:spcPct val="100000"/>
              </a:lnSpc>
              <a:spcBef>
                <a:spcPts val="0"/>
              </a:spcBef>
              <a:defRPr lang="ko-KR" altLang="en-US" sz="3200">
                <a:solidFill>
                  <a:schemeClr val="tx1">
                    <a:lumMod val="95000"/>
                    <a:lumOff val="5000"/>
                  </a:schemeClr>
                </a:solidFill>
                <a:latin typeface="Samsung Sharp Sans" pitchFamily="2" charset="0"/>
                <a:ea typeface="Samsung Sharp Sans" pitchFamily="2" charset="0"/>
                <a:cs typeface="Samsung Sharp Sans" pitchFamily="2" charset="0"/>
              </a:defRPr>
            </a:lvl1pPr>
          </a:lstStyle>
          <a:p>
            <a:pPr marL="0" lvl="0" defTabSz="457050" latinLnBrk="0"/>
            <a:r>
              <a:rPr lang="en-US" altLang="ko-KR" dirty="0"/>
              <a:t>Slide Title</a:t>
            </a:r>
            <a:endParaRPr lang="ko-KR" altLang="en-US" dirty="0"/>
          </a:p>
        </p:txBody>
      </p:sp>
      <p:sp>
        <p:nvSpPr>
          <p:cNvPr id="19" name="텍스트 개체 틀 18">
            <a:extLst>
              <a:ext uri="{FF2B5EF4-FFF2-40B4-BE49-F238E27FC236}">
                <a16:creationId xmlns:a16="http://schemas.microsoft.com/office/drawing/2014/main" id="{DFEC8C6A-D95C-4B3C-9803-6F9071BF0C2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49468" y="450000"/>
            <a:ext cx="323896" cy="277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>
            <a:spAutoFit/>
            <a:scene3d>
              <a:camera prst="orthographicFront"/>
              <a:lightRig rig="threePt" dir="t"/>
            </a:scene3d>
            <a:sp3d>
              <a:bevelT w="0" h="6350"/>
            </a:sp3d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ko-KR" altLang="en-US" sz="1799" dirty="0">
                <a:solidFill>
                  <a:schemeClr val="bg1"/>
                </a:solidFill>
                <a:latin typeface="Samsung Sharp Sans Medium" pitchFamily="2" charset="0"/>
                <a:ea typeface="Samsung Sharp Sans Medium" pitchFamily="2" charset="0"/>
                <a:cs typeface="Samsung Sharp Sans Medium" pitchFamily="2" charset="0"/>
              </a:defRPr>
            </a:lvl1pPr>
          </a:lstStyle>
          <a:p>
            <a:pPr marL="0" lvl="0" defTabSz="457050" latinLnBrk="0"/>
            <a:r>
              <a:rPr lang="en-US" altLang="ko-KR" dirty="0"/>
              <a:t>No</a:t>
            </a:r>
            <a:endParaRPr lang="ko-KR" altLang="en-US" dirty="0"/>
          </a:p>
        </p:txBody>
      </p:sp>
      <p:sp>
        <p:nvSpPr>
          <p:cNvPr id="20" name="텍스트 개체 틀 18">
            <a:extLst>
              <a:ext uri="{FF2B5EF4-FFF2-40B4-BE49-F238E27FC236}">
                <a16:creationId xmlns:a16="http://schemas.microsoft.com/office/drawing/2014/main" id="{6DA22BCA-E7E2-4377-AD8E-AC1336C3DB3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90000" y="450001"/>
            <a:ext cx="6837808" cy="276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>
            <a:spAutoFit/>
            <a:scene3d>
              <a:camera prst="orthographicFront"/>
              <a:lightRig rig="threePt" dir="t"/>
            </a:scene3d>
            <a:sp3d>
              <a:bevelT w="0" h="6350"/>
            </a:sp3d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ko-KR" altLang="en-US" sz="1799" dirty="0">
                <a:solidFill>
                  <a:schemeClr val="bg1"/>
                </a:solidFill>
                <a:latin typeface="Samsung Sharp Sans Bold" pitchFamily="2" charset="0"/>
                <a:ea typeface="Samsung Sharp Sans Bold" pitchFamily="2" charset="0"/>
                <a:cs typeface="Samsung Sharp Sans Bold" pitchFamily="2" charset="0"/>
              </a:defRPr>
            </a:lvl1pPr>
          </a:lstStyle>
          <a:p>
            <a:pPr marL="0" lvl="0" defTabSz="457050" latinLnBrk="0"/>
            <a:r>
              <a:rPr lang="en-US" altLang="ko-KR" dirty="0"/>
              <a:t>Subtitle</a:t>
            </a:r>
            <a:endParaRPr lang="ko-KR" altLang="en-US" dirty="0"/>
          </a:p>
        </p:txBody>
      </p:sp>
      <p:sp>
        <p:nvSpPr>
          <p:cNvPr id="21" name="텍스트 개체 틀 18">
            <a:extLst>
              <a:ext uri="{FF2B5EF4-FFF2-40B4-BE49-F238E27FC236}">
                <a16:creationId xmlns:a16="http://schemas.microsoft.com/office/drawing/2014/main" id="{7647BD6A-5F13-45AE-859C-AF2BA0A739E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112825" y="480779"/>
            <a:ext cx="340625" cy="2462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altLang="en-US" sz="1600" dirty="0">
                <a:solidFill>
                  <a:schemeClr val="bg1">
                    <a:lumMod val="85000"/>
                  </a:schemeClr>
                </a:solidFill>
                <a:latin typeface="Samsung Sharp Sans Bold" pitchFamily="2" charset="0"/>
                <a:ea typeface="Samsung Sharp Sans Bold" pitchFamily="2" charset="0"/>
                <a:cs typeface="Samsung Sharp Sans Bold" pitchFamily="2" charset="0"/>
              </a:defRPr>
            </a:lvl1pPr>
          </a:lstStyle>
          <a:p>
            <a:pPr marL="0" lvl="0" algn="r" defTabSz="457063" latinLnBrk="0"/>
            <a:r>
              <a:rPr lang="en-US" altLang="ko-KR" dirty="0"/>
              <a:t>00</a:t>
            </a:r>
            <a:endParaRPr lang="ko-KR" altLang="en-US" dirty="0"/>
          </a:p>
        </p:txBody>
      </p:sp>
      <p:sp>
        <p:nvSpPr>
          <p:cNvPr id="23" name="텍스트 개체 틀 18">
            <a:extLst>
              <a:ext uri="{FF2B5EF4-FFF2-40B4-BE49-F238E27FC236}">
                <a16:creationId xmlns:a16="http://schemas.microsoft.com/office/drawing/2014/main" id="{3A9667F7-80AD-4A7A-8543-285975B06BE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740667" y="480779"/>
            <a:ext cx="467850" cy="24622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>
            <a:spAutoFit/>
            <a:scene3d>
              <a:camera prst="orthographicFront"/>
              <a:lightRig rig="threePt" dir="t"/>
            </a:scene3d>
            <a:sp3d>
              <a:bevelT w="0" h="6350"/>
            </a:sp3d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ko-KR" altLang="en-US" sz="1600" dirty="0">
                <a:solidFill>
                  <a:schemeClr val="bg1">
                    <a:lumMod val="85000"/>
                  </a:schemeClr>
                </a:solidFill>
                <a:latin typeface="Samsung Sharp Sans Medium" pitchFamily="2" charset="0"/>
                <a:ea typeface="Samsung Sharp Sans Medium" pitchFamily="2" charset="0"/>
                <a:cs typeface="Samsung Sharp Sans Medium" pitchFamily="2" charset="0"/>
              </a:defRPr>
            </a:lvl1pPr>
          </a:lstStyle>
          <a:p>
            <a:pPr marL="0" lvl="0" defTabSz="457050" latinLnBrk="0"/>
            <a:r>
              <a:rPr lang="en-US" altLang="ko-KR" dirty="0"/>
              <a:t>UNIT</a:t>
            </a:r>
            <a:endParaRPr lang="ko-KR" altLang="en-US" dirty="0"/>
          </a:p>
        </p:txBody>
      </p:sp>
      <p:sp>
        <p:nvSpPr>
          <p:cNvPr id="16" name="텍스트 개체 틀 7">
            <a:extLst>
              <a:ext uri="{FF2B5EF4-FFF2-40B4-BE49-F238E27FC236}">
                <a16:creationId xmlns:a16="http://schemas.microsoft.com/office/drawing/2014/main" id="{B6D584F0-F100-4FB4-B935-0E81DB1D3B5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22288" y="2221661"/>
            <a:ext cx="8055439" cy="914400"/>
          </a:xfrm>
          <a:prstGeom prst="rect">
            <a:avLst/>
          </a:prstGeom>
        </p:spPr>
        <p:txBody>
          <a:bodyPr lIns="0" tIns="0" rIns="0" bIns="0"/>
          <a:lstStyle>
            <a:lvl1pPr marL="177747" indent="-177747">
              <a:lnSpc>
                <a:spcPts val="1800"/>
              </a:lnSpc>
              <a:buSzPct val="105000"/>
              <a:buFontTx/>
              <a:buBlip>
                <a:blip r:embed="rId3"/>
              </a:buBlip>
              <a:defRPr kumimoji="1" lang="en-US" altLang="ko-KR" sz="1400" kern="1200" smtClean="0">
                <a:solidFill>
                  <a:prstClr val="black">
                    <a:lumMod val="85000"/>
                    <a:lumOff val="15000"/>
                  </a:prstClr>
                </a:solidFill>
                <a:latin typeface="SamsungOne 400" panose="020B0503030303020204" pitchFamily="34" charset="0"/>
                <a:ea typeface="SamsungOne 400" panose="020B0503030303020204" pitchFamily="34" charset="0"/>
                <a:cs typeface="+mn-cs"/>
              </a:defRPr>
            </a:lvl1pPr>
            <a:lvl2pPr marL="360255" indent="-182508">
              <a:lnSpc>
                <a:spcPts val="1800"/>
              </a:lnSpc>
              <a:buSzPct val="80000"/>
              <a:buFontTx/>
              <a:buBlip>
                <a:blip r:embed="rId4"/>
              </a:buBlip>
              <a:tabLst>
                <a:tab pos="447541" algn="l"/>
              </a:tabLst>
              <a:defRPr lang="en-US" altLang="ko-KR" sz="1300" kern="1200" dirty="0" smtClean="0">
                <a:solidFill>
                  <a:prstClr val="black">
                    <a:lumMod val="85000"/>
                    <a:lumOff val="15000"/>
                  </a:prstClr>
                </a:solidFill>
                <a:latin typeface="SamsungOne 400" panose="020B0503030303020204" pitchFamily="34" charset="0"/>
                <a:ea typeface="SamsungOne 400" panose="020B0503030303020204" pitchFamily="34" charset="0"/>
                <a:cs typeface="+mn-cs"/>
              </a:defRPr>
            </a:lvl2pPr>
          </a:lstStyle>
          <a:p>
            <a:pPr lvl="0"/>
            <a:r>
              <a:rPr lang="en-US" altLang="ko-KR" dirty="0"/>
              <a:t>Level1</a:t>
            </a:r>
          </a:p>
          <a:p>
            <a:pPr lvl="1"/>
            <a:r>
              <a:rPr lang="en-US" altLang="ko-KR" dirty="0"/>
              <a:t>Level2</a:t>
            </a:r>
          </a:p>
          <a:p>
            <a:pPr lvl="1"/>
            <a:endParaRPr lang="en-US" altLang="ko-KR" dirty="0"/>
          </a:p>
          <a:p>
            <a:pPr marL="628461" lvl="1" indent="-207901" algn="l" defTabSz="843830" rtl="0" eaLnBrk="1" latinLnBrk="1" hangingPunct="1">
              <a:lnSpc>
                <a:spcPct val="90000"/>
              </a:lnSpc>
              <a:spcBef>
                <a:spcPts val="462"/>
              </a:spcBef>
              <a:buSzPct val="90000"/>
              <a:buFontTx/>
              <a:buBlip>
                <a:blip r:embed="rId5"/>
              </a:buBlip>
            </a:pPr>
            <a:endParaRPr lang="en-US" altLang="ko-KR" dirty="0"/>
          </a:p>
          <a:p>
            <a:pPr lvl="1"/>
            <a:endParaRPr lang="ko-KR" altLang="en-US" dirty="0"/>
          </a:p>
        </p:txBody>
      </p:sp>
      <p:sp>
        <p:nvSpPr>
          <p:cNvPr id="17" name="슬라이드 번호 개체 틀 15">
            <a:extLst>
              <a:ext uri="{FF2B5EF4-FFF2-40B4-BE49-F238E27FC236}">
                <a16:creationId xmlns:a16="http://schemas.microsoft.com/office/drawing/2014/main" id="{D63EAE99-E447-4D3D-BFEE-6F01BCEB93C6}"/>
              </a:ext>
            </a:extLst>
          </p:cNvPr>
          <p:cNvSpPr txBox="1">
            <a:spLocks/>
          </p:cNvSpPr>
          <p:nvPr userDrawn="1"/>
        </p:nvSpPr>
        <p:spPr>
          <a:xfrm>
            <a:off x="6846858" y="6498001"/>
            <a:ext cx="2349501" cy="138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0" h="6350"/>
            </a:sp3d>
          </a:bodyPr>
          <a:lstStyle>
            <a:defPPr>
              <a:defRPr lang="ko-KR"/>
            </a:defPPr>
            <a:lvl1pPr algn="r">
              <a:defRPr sz="900">
                <a:solidFill>
                  <a:schemeClr val="tx1">
                    <a:lumMod val="50000"/>
                    <a:lumOff val="50000"/>
                  </a:schemeClr>
                </a:solidFill>
                <a:latin typeface="SamsungOne 300" panose="020B0303030303020204" pitchFamily="34" charset="0"/>
                <a:ea typeface="SamsungOne 300" panose="020B0303030303020204" pitchFamily="34" charset="0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lvl="0" defTabSz="914094" latinLnBrk="1">
              <a:defRPr/>
            </a:pPr>
            <a:r>
              <a:rPr lang="en-US" altLang="ko-KR" sz="900" dirty="0">
                <a:solidFill>
                  <a:schemeClr val="bg1">
                    <a:lumMod val="50000"/>
                  </a:schemeClr>
                </a:solidFill>
                <a:latin typeface="Samsung Sharp Sans Medium" pitchFamily="2" charset="0"/>
                <a:ea typeface="Samsung Sharp Sans Medium" pitchFamily="2" charset="0"/>
                <a:cs typeface="Samsung Sharp Sans Medium" pitchFamily="2" charset="0"/>
              </a:rPr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310204673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02" userDrawn="1">
          <p15:clr>
            <a:srgbClr val="FBAE40"/>
          </p15:clr>
        </p15:guide>
        <p15:guide id="2" pos="285">
          <p15:clr>
            <a:srgbClr val="FBAE40"/>
          </p15:clr>
        </p15:guide>
        <p15:guide id="3" pos="5955">
          <p15:clr>
            <a:srgbClr val="FBAE40"/>
          </p15:clr>
        </p15:guide>
        <p15:guide id="4" pos="329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902825" cy="6858000"/>
          </a:xfrm>
          <a:prstGeom prst="rect">
            <a:avLst/>
          </a:prstGeom>
        </p:spPr>
      </p:pic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107951CE-0A5B-4EC7-B663-290867B6A3B2}"/>
              </a:ext>
            </a:extLst>
          </p:cNvPr>
          <p:cNvCxnSpPr/>
          <p:nvPr userDrawn="1"/>
        </p:nvCxnSpPr>
        <p:spPr>
          <a:xfrm>
            <a:off x="449468" y="6424935"/>
            <a:ext cx="9000714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슬라이드 번호 개체 틀 15">
            <a:extLst>
              <a:ext uri="{FF2B5EF4-FFF2-40B4-BE49-F238E27FC236}">
                <a16:creationId xmlns:a16="http://schemas.microsoft.com/office/drawing/2014/main" id="{DB8B1220-1660-457F-B990-656A8230EA54}"/>
              </a:ext>
            </a:extLst>
          </p:cNvPr>
          <p:cNvSpPr txBox="1">
            <a:spLocks/>
          </p:cNvSpPr>
          <p:nvPr userDrawn="1"/>
        </p:nvSpPr>
        <p:spPr>
          <a:xfrm>
            <a:off x="8836343" y="6498001"/>
            <a:ext cx="613839" cy="138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0" h="6350"/>
            </a:sp3d>
          </a:bodyPr>
          <a:lstStyle>
            <a:defPPr>
              <a:defRPr lang="ko-KR"/>
            </a:defPPr>
            <a:lvl1pPr algn="r">
              <a:defRPr sz="900">
                <a:solidFill>
                  <a:schemeClr val="tx1">
                    <a:lumMod val="50000"/>
                    <a:lumOff val="50000"/>
                  </a:schemeClr>
                </a:solidFill>
                <a:latin typeface="SamsungOne 300" panose="020B0303030303020204" pitchFamily="34" charset="0"/>
                <a:ea typeface="SamsungOne 300" panose="020B0303030303020204" pitchFamily="34" charset="0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marL="0" marR="0" lvl="0" indent="0" algn="r" defTabSz="91409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3977B04-C971-4466-AB79-612C9E649B30}" type="slidenum">
              <a:rPr lang="en-US" altLang="ko-KR" sz="900" smtClean="0">
                <a:solidFill>
                  <a:schemeClr val="bg1">
                    <a:lumMod val="50000"/>
                  </a:schemeClr>
                </a:solidFill>
                <a:latin typeface="SamsungOne 400" panose="020B0503030303020204" pitchFamily="34" charset="0"/>
                <a:ea typeface="SamsungOne 400" panose="020B0503030303020204" pitchFamily="34" charset="0"/>
              </a:rPr>
              <a:pPr marL="0" marR="0" lvl="0" indent="0" algn="r" defTabSz="914094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altLang="ko-KR" sz="900" dirty="0">
              <a:solidFill>
                <a:schemeClr val="bg1">
                  <a:lumMod val="50000"/>
                </a:schemeClr>
              </a:solidFill>
              <a:latin typeface="SamsungOne 400" panose="020B0503030303020204" pitchFamily="34" charset="0"/>
              <a:ea typeface="SamsungOne 400" panose="020B0503030303020204" pitchFamily="34" charset="0"/>
              <a:cs typeface="Arial Unicode MS" panose="020B0604020202020204" pitchFamily="50" charset="-127"/>
            </a:endParaRPr>
          </a:p>
        </p:txBody>
      </p:sp>
      <p:sp>
        <p:nvSpPr>
          <p:cNvPr id="14" name="직사각형 7">
            <a:extLst>
              <a:ext uri="{FF2B5EF4-FFF2-40B4-BE49-F238E27FC236}">
                <a16:creationId xmlns:a16="http://schemas.microsoft.com/office/drawing/2014/main" id="{AA07D337-B9C3-4E5E-811E-AEFBB17ADEF5}"/>
              </a:ext>
            </a:extLst>
          </p:cNvPr>
          <p:cNvSpPr/>
          <p:nvPr userDrawn="1"/>
        </p:nvSpPr>
        <p:spPr>
          <a:xfrm>
            <a:off x="449468" y="6498001"/>
            <a:ext cx="2888788" cy="16927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>
            <a:spAutoFit/>
            <a:scene3d>
              <a:camera prst="orthographicFront"/>
              <a:lightRig rig="threePt" dir="t"/>
            </a:scene3d>
            <a:sp3d>
              <a:bevelT w="0" h="6350"/>
            </a:sp3d>
          </a:bodyPr>
          <a:lstStyle/>
          <a:p>
            <a:pPr algn="l"/>
            <a:r>
              <a:rPr lang="en-US" altLang="ko-KR" sz="1100" b="0" dirty="0">
                <a:solidFill>
                  <a:schemeClr val="bg1">
                    <a:lumMod val="50000"/>
                  </a:schemeClr>
                </a:solidFill>
                <a:latin typeface="Samsung Sharp Sans Bold" pitchFamily="2" charset="0"/>
                <a:ea typeface="Samsung Sharp Sans Bold" pitchFamily="2" charset="0"/>
                <a:cs typeface="Samsung Sharp Sans Bold" pitchFamily="2" charset="0"/>
              </a:rPr>
              <a:t>Samsung Innovation Campus</a:t>
            </a:r>
          </a:p>
        </p:txBody>
      </p:sp>
      <p:sp>
        <p:nvSpPr>
          <p:cNvPr id="17" name="슬라이드 번호 개체 틀 15">
            <a:extLst>
              <a:ext uri="{FF2B5EF4-FFF2-40B4-BE49-F238E27FC236}">
                <a16:creationId xmlns:a16="http://schemas.microsoft.com/office/drawing/2014/main" id="{D63EAE99-E447-4D3D-BFEE-6F01BCEB93C6}"/>
              </a:ext>
            </a:extLst>
          </p:cNvPr>
          <p:cNvSpPr txBox="1">
            <a:spLocks/>
          </p:cNvSpPr>
          <p:nvPr userDrawn="1"/>
        </p:nvSpPr>
        <p:spPr>
          <a:xfrm>
            <a:off x="6846858" y="6498001"/>
            <a:ext cx="2349501" cy="138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0" h="6350"/>
            </a:sp3d>
          </a:bodyPr>
          <a:lstStyle>
            <a:defPPr>
              <a:defRPr lang="ko-KR"/>
            </a:defPPr>
            <a:lvl1pPr algn="r">
              <a:defRPr sz="900">
                <a:solidFill>
                  <a:schemeClr val="tx1">
                    <a:lumMod val="50000"/>
                    <a:lumOff val="50000"/>
                  </a:schemeClr>
                </a:solidFill>
                <a:latin typeface="SamsungOne 300" panose="020B0303030303020204" pitchFamily="34" charset="0"/>
                <a:ea typeface="SamsungOne 300" panose="020B0303030303020204" pitchFamily="34" charset="0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lvl="0" defTabSz="914094" latinLnBrk="1">
              <a:defRPr/>
            </a:pPr>
            <a:r>
              <a:rPr lang="en-US" altLang="ko-KR" sz="900" dirty="0">
                <a:solidFill>
                  <a:schemeClr val="bg1">
                    <a:lumMod val="50000"/>
                  </a:schemeClr>
                </a:solidFill>
                <a:latin typeface="Samsung Sharp Sans Medium" pitchFamily="2" charset="0"/>
                <a:ea typeface="Samsung Sharp Sans Medium" pitchFamily="2" charset="0"/>
                <a:cs typeface="Samsung Sharp Sans Medium" pitchFamily="2" charset="0"/>
              </a:rPr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4341595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02">
          <p15:clr>
            <a:srgbClr val="FBAE40"/>
          </p15:clr>
        </p15:guide>
        <p15:guide id="2" pos="285">
          <p15:clr>
            <a:srgbClr val="FBAE40"/>
          </p15:clr>
        </p15:guide>
        <p15:guide id="3" pos="5955">
          <p15:clr>
            <a:srgbClr val="FBAE40"/>
          </p15:clr>
        </p15:guide>
        <p15:guide id="4" pos="329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able of Contents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588" y="0"/>
            <a:ext cx="9902825" cy="6858000"/>
          </a:xfrm>
          <a:prstGeom prst="rect">
            <a:avLst/>
          </a:prstGeom>
        </p:spPr>
      </p:pic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107951CE-0A5B-4EC7-B663-290867B6A3B2}"/>
              </a:ext>
            </a:extLst>
          </p:cNvPr>
          <p:cNvCxnSpPr/>
          <p:nvPr userDrawn="1"/>
        </p:nvCxnSpPr>
        <p:spPr>
          <a:xfrm>
            <a:off x="449468" y="6424935"/>
            <a:ext cx="9000714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슬라이드 번호 개체 틀 15">
            <a:extLst>
              <a:ext uri="{FF2B5EF4-FFF2-40B4-BE49-F238E27FC236}">
                <a16:creationId xmlns:a16="http://schemas.microsoft.com/office/drawing/2014/main" id="{DB8B1220-1660-457F-B990-656A8230EA54}"/>
              </a:ext>
            </a:extLst>
          </p:cNvPr>
          <p:cNvSpPr txBox="1">
            <a:spLocks/>
          </p:cNvSpPr>
          <p:nvPr userDrawn="1"/>
        </p:nvSpPr>
        <p:spPr>
          <a:xfrm>
            <a:off x="8836343" y="6498001"/>
            <a:ext cx="613839" cy="138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0" h="6350"/>
            </a:sp3d>
          </a:bodyPr>
          <a:lstStyle>
            <a:defPPr>
              <a:defRPr lang="ko-KR"/>
            </a:defPPr>
            <a:lvl1pPr algn="r">
              <a:defRPr sz="900">
                <a:solidFill>
                  <a:schemeClr val="tx1">
                    <a:lumMod val="50000"/>
                    <a:lumOff val="50000"/>
                  </a:schemeClr>
                </a:solidFill>
                <a:latin typeface="SamsungOne 300" panose="020B0303030303020204" pitchFamily="34" charset="0"/>
                <a:ea typeface="SamsungOne 300" panose="020B0303030303020204" pitchFamily="34" charset="0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marL="0" marR="0" lvl="0" indent="0" algn="r" defTabSz="91409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3977B04-C971-4466-AB79-612C9E649B30}" type="slidenum">
              <a:rPr lang="en-US" altLang="ko-KR" sz="900" smtClean="0">
                <a:solidFill>
                  <a:schemeClr val="bg1">
                    <a:lumMod val="50000"/>
                  </a:schemeClr>
                </a:solidFill>
                <a:latin typeface="SamsungOne 400" panose="020B0503030303020204" pitchFamily="34" charset="0"/>
                <a:ea typeface="SamsungOne 400" panose="020B0503030303020204" pitchFamily="34" charset="0"/>
              </a:rPr>
              <a:pPr marL="0" marR="0" lvl="0" indent="0" algn="r" defTabSz="914094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altLang="ko-KR" sz="900" dirty="0">
              <a:solidFill>
                <a:schemeClr val="bg1">
                  <a:lumMod val="50000"/>
                </a:schemeClr>
              </a:solidFill>
              <a:latin typeface="SamsungOne 400" panose="020B0503030303020204" pitchFamily="34" charset="0"/>
              <a:ea typeface="SamsungOne 400" panose="020B0503030303020204" pitchFamily="34" charset="0"/>
              <a:cs typeface="Arial Unicode MS" panose="020B0604020202020204" pitchFamily="50" charset="-127"/>
            </a:endParaRPr>
          </a:p>
        </p:txBody>
      </p:sp>
      <p:sp>
        <p:nvSpPr>
          <p:cNvPr id="14" name="직사각형 7">
            <a:extLst>
              <a:ext uri="{FF2B5EF4-FFF2-40B4-BE49-F238E27FC236}">
                <a16:creationId xmlns:a16="http://schemas.microsoft.com/office/drawing/2014/main" id="{AA07D337-B9C3-4E5E-811E-AEFBB17ADEF5}"/>
              </a:ext>
            </a:extLst>
          </p:cNvPr>
          <p:cNvSpPr/>
          <p:nvPr userDrawn="1"/>
        </p:nvSpPr>
        <p:spPr>
          <a:xfrm>
            <a:off x="449468" y="6498001"/>
            <a:ext cx="2888788" cy="16927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>
            <a:spAutoFit/>
            <a:scene3d>
              <a:camera prst="orthographicFront"/>
              <a:lightRig rig="threePt" dir="t"/>
            </a:scene3d>
            <a:sp3d>
              <a:bevelT w="0" h="6350"/>
            </a:sp3d>
          </a:bodyPr>
          <a:lstStyle/>
          <a:p>
            <a:pPr algn="l"/>
            <a:r>
              <a:rPr lang="en-US" altLang="ko-KR" sz="1100" b="0" dirty="0">
                <a:solidFill>
                  <a:schemeClr val="bg1">
                    <a:lumMod val="50000"/>
                  </a:schemeClr>
                </a:solidFill>
                <a:latin typeface="Samsung Sharp Sans Bold" pitchFamily="2" charset="0"/>
                <a:ea typeface="Samsung Sharp Sans Bold" pitchFamily="2" charset="0"/>
                <a:cs typeface="Samsung Sharp Sans Bold" pitchFamily="2" charset="0"/>
              </a:rPr>
              <a:t>Samsung Innovation Campus</a:t>
            </a:r>
          </a:p>
        </p:txBody>
      </p:sp>
    </p:spTree>
    <p:extLst>
      <p:ext uri="{BB962C8B-B14F-4D97-AF65-F5344CB8AC3E}">
        <p14:creationId xmlns:p14="http://schemas.microsoft.com/office/powerpoint/2010/main" val="177962142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614">
          <p15:clr>
            <a:srgbClr val="FBAE40"/>
          </p15:clr>
        </p15:guide>
        <p15:guide id="2" pos="443">
          <p15:clr>
            <a:srgbClr val="FBAE40"/>
          </p15:clr>
        </p15:guide>
        <p15:guide id="3" pos="5955">
          <p15:clr>
            <a:srgbClr val="FBAE40"/>
          </p15:clr>
        </p15:guide>
        <p15:guide id="4" pos="609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902825" cy="6858000"/>
          </a:xfrm>
          <a:prstGeom prst="rect">
            <a:avLst/>
          </a:prstGeom>
        </p:spPr>
      </p:pic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107951CE-0A5B-4EC7-B663-290867B6A3B2}"/>
              </a:ext>
            </a:extLst>
          </p:cNvPr>
          <p:cNvCxnSpPr/>
          <p:nvPr userDrawn="1"/>
        </p:nvCxnSpPr>
        <p:spPr>
          <a:xfrm>
            <a:off x="449468" y="6424935"/>
            <a:ext cx="9000714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슬라이드 번호 개체 틀 15">
            <a:extLst>
              <a:ext uri="{FF2B5EF4-FFF2-40B4-BE49-F238E27FC236}">
                <a16:creationId xmlns:a16="http://schemas.microsoft.com/office/drawing/2014/main" id="{DB8B1220-1660-457F-B990-656A8230EA54}"/>
              </a:ext>
            </a:extLst>
          </p:cNvPr>
          <p:cNvSpPr txBox="1">
            <a:spLocks/>
          </p:cNvSpPr>
          <p:nvPr userDrawn="1"/>
        </p:nvSpPr>
        <p:spPr>
          <a:xfrm>
            <a:off x="8836343" y="6498001"/>
            <a:ext cx="613839" cy="138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0" h="6350"/>
            </a:sp3d>
          </a:bodyPr>
          <a:lstStyle>
            <a:defPPr>
              <a:defRPr lang="ko-KR"/>
            </a:defPPr>
            <a:lvl1pPr algn="r">
              <a:defRPr sz="900">
                <a:solidFill>
                  <a:schemeClr val="tx1">
                    <a:lumMod val="50000"/>
                    <a:lumOff val="50000"/>
                  </a:schemeClr>
                </a:solidFill>
                <a:latin typeface="SamsungOne 300" panose="020B0303030303020204" pitchFamily="34" charset="0"/>
                <a:ea typeface="SamsungOne 300" panose="020B0303030303020204" pitchFamily="34" charset="0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marL="0" marR="0" lvl="0" indent="0" algn="r" defTabSz="91409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3977B04-C971-4466-AB79-612C9E649B30}" type="slidenum">
              <a:rPr lang="en-US" altLang="ko-KR" sz="900" smtClean="0">
                <a:solidFill>
                  <a:schemeClr val="bg1">
                    <a:lumMod val="50000"/>
                  </a:schemeClr>
                </a:solidFill>
                <a:latin typeface="SamsungOne 400" panose="020B0503030303020204" pitchFamily="34" charset="0"/>
                <a:ea typeface="SamsungOne 400" panose="020B0503030303020204" pitchFamily="34" charset="0"/>
              </a:rPr>
              <a:pPr marL="0" marR="0" lvl="0" indent="0" algn="r" defTabSz="914094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altLang="ko-KR" sz="900" dirty="0">
              <a:solidFill>
                <a:schemeClr val="bg1">
                  <a:lumMod val="50000"/>
                </a:schemeClr>
              </a:solidFill>
              <a:latin typeface="SamsungOne 400" panose="020B0503030303020204" pitchFamily="34" charset="0"/>
              <a:ea typeface="SamsungOne 400" panose="020B0503030303020204" pitchFamily="34" charset="0"/>
              <a:cs typeface="Arial Unicode MS" panose="020B0604020202020204" pitchFamily="50" charset="-127"/>
            </a:endParaRPr>
          </a:p>
        </p:txBody>
      </p:sp>
      <p:sp>
        <p:nvSpPr>
          <p:cNvPr id="14" name="직사각형 7">
            <a:extLst>
              <a:ext uri="{FF2B5EF4-FFF2-40B4-BE49-F238E27FC236}">
                <a16:creationId xmlns:a16="http://schemas.microsoft.com/office/drawing/2014/main" id="{AA07D337-B9C3-4E5E-811E-AEFBB17ADEF5}"/>
              </a:ext>
            </a:extLst>
          </p:cNvPr>
          <p:cNvSpPr/>
          <p:nvPr userDrawn="1"/>
        </p:nvSpPr>
        <p:spPr>
          <a:xfrm>
            <a:off x="449468" y="6498001"/>
            <a:ext cx="2888788" cy="16927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>
            <a:spAutoFit/>
            <a:scene3d>
              <a:camera prst="orthographicFront"/>
              <a:lightRig rig="threePt" dir="t"/>
            </a:scene3d>
            <a:sp3d>
              <a:bevelT w="0" h="6350"/>
            </a:sp3d>
          </a:bodyPr>
          <a:lstStyle/>
          <a:p>
            <a:pPr algn="l"/>
            <a:r>
              <a:rPr lang="en-US" altLang="ko-KR" sz="1100" b="0" dirty="0">
                <a:solidFill>
                  <a:schemeClr val="bg1">
                    <a:lumMod val="50000"/>
                  </a:schemeClr>
                </a:solidFill>
                <a:latin typeface="Samsung Sharp Sans Bold" pitchFamily="2" charset="0"/>
                <a:ea typeface="Samsung Sharp Sans Bold" pitchFamily="2" charset="0"/>
                <a:cs typeface="Samsung Sharp Sans Bold" pitchFamily="2" charset="0"/>
              </a:rPr>
              <a:t>Samsung Innovation Campus</a:t>
            </a:r>
          </a:p>
        </p:txBody>
      </p:sp>
      <p:sp>
        <p:nvSpPr>
          <p:cNvPr id="7" name="슬라이드 번호 개체 틀 15">
            <a:extLst>
              <a:ext uri="{FF2B5EF4-FFF2-40B4-BE49-F238E27FC236}">
                <a16:creationId xmlns:a16="http://schemas.microsoft.com/office/drawing/2014/main" id="{E75758B0-2429-4331-898E-5EEED60D4280}"/>
              </a:ext>
            </a:extLst>
          </p:cNvPr>
          <p:cNvSpPr txBox="1">
            <a:spLocks/>
          </p:cNvSpPr>
          <p:nvPr userDrawn="1"/>
        </p:nvSpPr>
        <p:spPr>
          <a:xfrm>
            <a:off x="6846858" y="6498001"/>
            <a:ext cx="2349501" cy="138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0" h="6350"/>
            </a:sp3d>
          </a:bodyPr>
          <a:lstStyle>
            <a:defPPr>
              <a:defRPr lang="ko-KR"/>
            </a:defPPr>
            <a:lvl1pPr algn="r">
              <a:defRPr sz="900">
                <a:solidFill>
                  <a:schemeClr val="tx1">
                    <a:lumMod val="50000"/>
                    <a:lumOff val="50000"/>
                  </a:schemeClr>
                </a:solidFill>
                <a:latin typeface="SamsungOne 300" panose="020B0303030303020204" pitchFamily="34" charset="0"/>
                <a:ea typeface="SamsungOne 300" panose="020B0303030303020204" pitchFamily="34" charset="0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lvl="0" defTabSz="914094" latinLnBrk="1">
              <a:defRPr/>
            </a:pPr>
            <a:r>
              <a:rPr lang="en-US" altLang="ko-KR" sz="900" dirty="0">
                <a:solidFill>
                  <a:schemeClr val="bg1">
                    <a:lumMod val="50000"/>
                  </a:schemeClr>
                </a:solidFill>
                <a:latin typeface="Samsung Sharp Sans Medium" pitchFamily="2" charset="0"/>
                <a:ea typeface="Samsung Sharp Sans Medium" pitchFamily="2" charset="0"/>
                <a:cs typeface="Samsung Sharp Sans Medium" pitchFamily="2" charset="0"/>
              </a:rPr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394250254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5955">
          <p15:clr>
            <a:srgbClr val="FBAE40"/>
          </p15:clr>
        </p15:guide>
        <p15:guide id="3" pos="285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107951CE-0A5B-4EC7-B663-290867B6A3B2}"/>
              </a:ext>
            </a:extLst>
          </p:cNvPr>
          <p:cNvCxnSpPr/>
          <p:nvPr userDrawn="1"/>
        </p:nvCxnSpPr>
        <p:spPr>
          <a:xfrm>
            <a:off x="449468" y="6424935"/>
            <a:ext cx="9000714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슬라이드 번호 개체 틀 15">
            <a:extLst>
              <a:ext uri="{FF2B5EF4-FFF2-40B4-BE49-F238E27FC236}">
                <a16:creationId xmlns:a16="http://schemas.microsoft.com/office/drawing/2014/main" id="{DB8B1220-1660-457F-B990-656A8230EA54}"/>
              </a:ext>
            </a:extLst>
          </p:cNvPr>
          <p:cNvSpPr txBox="1">
            <a:spLocks/>
          </p:cNvSpPr>
          <p:nvPr userDrawn="1"/>
        </p:nvSpPr>
        <p:spPr>
          <a:xfrm>
            <a:off x="8836343" y="6498001"/>
            <a:ext cx="613839" cy="138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0" h="6350"/>
            </a:sp3d>
          </a:bodyPr>
          <a:lstStyle>
            <a:defPPr>
              <a:defRPr lang="ko-KR"/>
            </a:defPPr>
            <a:lvl1pPr algn="r">
              <a:defRPr sz="900">
                <a:solidFill>
                  <a:schemeClr val="tx1">
                    <a:lumMod val="50000"/>
                    <a:lumOff val="50000"/>
                  </a:schemeClr>
                </a:solidFill>
                <a:latin typeface="SamsungOne 300" panose="020B0303030303020204" pitchFamily="34" charset="0"/>
                <a:ea typeface="SamsungOne 300" panose="020B0303030303020204" pitchFamily="34" charset="0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marL="0" marR="0" lvl="0" indent="0" algn="r" defTabSz="91409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3977B04-C971-4466-AB79-612C9E649B30}" type="slidenum">
              <a:rPr lang="en-US" altLang="ko-KR" sz="900" smtClean="0">
                <a:solidFill>
                  <a:schemeClr val="bg1">
                    <a:lumMod val="50000"/>
                  </a:schemeClr>
                </a:solidFill>
                <a:latin typeface="SamsungOne 400" panose="020B0503030303020204" pitchFamily="34" charset="0"/>
                <a:ea typeface="SamsungOne 400" panose="020B0503030303020204" pitchFamily="34" charset="0"/>
              </a:rPr>
              <a:pPr marL="0" marR="0" lvl="0" indent="0" algn="r" defTabSz="914094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altLang="ko-KR" sz="900" dirty="0">
              <a:solidFill>
                <a:schemeClr val="bg1">
                  <a:lumMod val="50000"/>
                </a:schemeClr>
              </a:solidFill>
              <a:latin typeface="SamsungOne 400" panose="020B0503030303020204" pitchFamily="34" charset="0"/>
              <a:ea typeface="SamsungOne 400" panose="020B0503030303020204" pitchFamily="34" charset="0"/>
              <a:cs typeface="Arial Unicode MS" panose="020B0604020202020204" pitchFamily="50" charset="-127"/>
            </a:endParaRPr>
          </a:p>
        </p:txBody>
      </p:sp>
      <p:sp>
        <p:nvSpPr>
          <p:cNvPr id="18" name="직사각형 7">
            <a:extLst>
              <a:ext uri="{FF2B5EF4-FFF2-40B4-BE49-F238E27FC236}">
                <a16:creationId xmlns:a16="http://schemas.microsoft.com/office/drawing/2014/main" id="{AA07D337-B9C3-4E5E-811E-AEFBB17ADEF5}"/>
              </a:ext>
            </a:extLst>
          </p:cNvPr>
          <p:cNvSpPr/>
          <p:nvPr userDrawn="1"/>
        </p:nvSpPr>
        <p:spPr>
          <a:xfrm>
            <a:off x="449468" y="6498001"/>
            <a:ext cx="2888788" cy="16927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>
            <a:spAutoFit/>
            <a:scene3d>
              <a:camera prst="orthographicFront"/>
              <a:lightRig rig="threePt" dir="t"/>
            </a:scene3d>
            <a:sp3d>
              <a:bevelT w="0" h="6350"/>
            </a:sp3d>
          </a:bodyPr>
          <a:lstStyle/>
          <a:p>
            <a:pPr algn="l"/>
            <a:r>
              <a:rPr lang="en-US" altLang="ko-KR" sz="1100" b="0" dirty="0">
                <a:solidFill>
                  <a:schemeClr val="bg1">
                    <a:lumMod val="50000"/>
                  </a:schemeClr>
                </a:solidFill>
                <a:latin typeface="Samsung Sharp Sans Bold" pitchFamily="2" charset="0"/>
                <a:ea typeface="Samsung Sharp Sans Bold" pitchFamily="2" charset="0"/>
                <a:cs typeface="Samsung Sharp Sans Bold" pitchFamily="2" charset="0"/>
              </a:rPr>
              <a:t>Samsung Innovation Campus</a:t>
            </a:r>
          </a:p>
        </p:txBody>
      </p:sp>
      <p:cxnSp>
        <p:nvCxnSpPr>
          <p:cNvPr id="7" name="직선 연결선 6"/>
          <p:cNvCxnSpPr/>
          <p:nvPr userDrawn="1"/>
        </p:nvCxnSpPr>
        <p:spPr>
          <a:xfrm>
            <a:off x="449468" y="900000"/>
            <a:ext cx="9000714" cy="0"/>
          </a:xfrm>
          <a:prstGeom prst="line">
            <a:avLst/>
          </a:prstGeom>
          <a:ln w="15875">
            <a:solidFill>
              <a:srgbClr val="0924A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슬라이드 번호 개체 틀 15">
            <a:extLst>
              <a:ext uri="{FF2B5EF4-FFF2-40B4-BE49-F238E27FC236}">
                <a16:creationId xmlns:a16="http://schemas.microsoft.com/office/drawing/2014/main" id="{C5960DC7-D671-485D-92B0-FEED6CE658A3}"/>
              </a:ext>
            </a:extLst>
          </p:cNvPr>
          <p:cNvSpPr txBox="1">
            <a:spLocks/>
          </p:cNvSpPr>
          <p:nvPr userDrawn="1"/>
        </p:nvSpPr>
        <p:spPr>
          <a:xfrm>
            <a:off x="6846858" y="6498001"/>
            <a:ext cx="2349501" cy="138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0" h="6350"/>
            </a:sp3d>
          </a:bodyPr>
          <a:lstStyle>
            <a:defPPr>
              <a:defRPr lang="ko-KR"/>
            </a:defPPr>
            <a:lvl1pPr algn="r">
              <a:defRPr sz="900">
                <a:solidFill>
                  <a:schemeClr val="tx1">
                    <a:lumMod val="50000"/>
                    <a:lumOff val="50000"/>
                  </a:schemeClr>
                </a:solidFill>
                <a:latin typeface="SamsungOne 300" panose="020B0303030303020204" pitchFamily="34" charset="0"/>
                <a:ea typeface="SamsungOne 300" panose="020B0303030303020204" pitchFamily="34" charset="0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lvl="0" defTabSz="914094" latinLnBrk="1">
              <a:defRPr/>
            </a:pPr>
            <a:r>
              <a:rPr lang="en-US" altLang="ko-KR" sz="900" dirty="0">
                <a:solidFill>
                  <a:schemeClr val="bg1">
                    <a:lumMod val="50000"/>
                  </a:schemeClr>
                </a:solidFill>
                <a:latin typeface="Samsung Sharp Sans Medium" pitchFamily="2" charset="0"/>
                <a:ea typeface="Samsung Sharp Sans Medium" pitchFamily="2" charset="0"/>
                <a:cs typeface="Samsung Sharp Sans Medium" pitchFamily="2" charset="0"/>
              </a:rPr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34395060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5">
          <p15:clr>
            <a:srgbClr val="FBAE40"/>
          </p15:clr>
        </p15:guide>
        <p15:guide id="3" pos="5955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a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2">
            <a:extLst>
              <a:ext uri="{FF2B5EF4-FFF2-40B4-BE49-F238E27FC236}">
                <a16:creationId xmlns:a16="http://schemas.microsoft.com/office/drawing/2014/main" id="{C441AFAB-5BBF-465C-B7A8-FED86E62617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4395"/>
            <a:ext cx="9899651" cy="6853605"/>
          </a:xfrm>
          <a:prstGeom prst="rect">
            <a:avLst/>
          </a:prstGeom>
        </p:spPr>
      </p:pic>
      <p:sp>
        <p:nvSpPr>
          <p:cNvPr id="2" name="직사각형 1"/>
          <p:cNvSpPr/>
          <p:nvPr userDrawn="1"/>
        </p:nvSpPr>
        <p:spPr>
          <a:xfrm>
            <a:off x="2" y="0"/>
            <a:ext cx="9899651" cy="6858000"/>
          </a:xfrm>
          <a:prstGeom prst="rect">
            <a:avLst/>
          </a:prstGeom>
          <a:solidFill>
            <a:srgbClr val="1428A0">
              <a:alpha val="8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959" dirty="0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782B242C-8600-47F0-98D5-6EA512C41BF2}"/>
              </a:ext>
            </a:extLst>
          </p:cNvPr>
          <p:cNvSpPr/>
          <p:nvPr userDrawn="1"/>
        </p:nvSpPr>
        <p:spPr>
          <a:xfrm>
            <a:off x="449468" y="5677032"/>
            <a:ext cx="9000714" cy="73096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>
            <a:spAutoFit/>
            <a:scene3d>
              <a:camera prst="orthographicFront"/>
              <a:lightRig rig="threePt" dir="t"/>
            </a:scene3d>
            <a:sp3d>
              <a:bevelT w="0" h="6350"/>
            </a:sp3d>
          </a:bodyPr>
          <a:lstStyle/>
          <a:p>
            <a:pPr marL="0" marR="0" lvl="0" indent="0" algn="l" defTabSz="914126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amsungOne 400C" panose="020B0506030303020204" pitchFamily="34" charset="0"/>
                <a:ea typeface="SamsungOne 400" panose="020B0503030303020204" pitchFamily="34" charset="0"/>
                <a:cs typeface="+mn-cs"/>
              </a:rPr>
              <a:t>ⓒ</a:t>
            </a:r>
            <a:r>
              <a:rPr kumimoji="0" lang="en-US" altLang="ko-KR" sz="1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amsungOne 400C" panose="020B0506030303020204" pitchFamily="34" charset="0"/>
                <a:ea typeface="SamsungOne 400C" panose="020B0506030303020204" pitchFamily="34" charset="0"/>
                <a:cs typeface="+mn-cs"/>
              </a:rPr>
              <a:t>2025 SAMSUNG. All rights reserved.</a:t>
            </a:r>
          </a:p>
          <a:p>
            <a:pPr marL="0" marR="0" lvl="0" indent="0" algn="l" defTabSz="914126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amsungOne 400C" panose="020B0506030303020204" pitchFamily="34" charset="0"/>
                <a:ea typeface="SamsungOne 400C" panose="020B0506030303020204" pitchFamily="34" charset="0"/>
                <a:cs typeface="+mn-cs"/>
              </a:rPr>
              <a:t>Samsung Electronics Corporate Citizenship Office holds the copyright of book.</a:t>
            </a:r>
          </a:p>
          <a:p>
            <a:pPr marL="0" marR="0" lvl="0" indent="0" algn="l" defTabSz="914126" rtl="0" eaLnBrk="1" fontAlgn="auto" latinLnBrk="1" hangingPunct="1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amsungOne 400C" panose="020B0506030303020204" pitchFamily="34" charset="0"/>
                <a:ea typeface="SamsungOne 400C" panose="020B0506030303020204" pitchFamily="34" charset="0"/>
                <a:cs typeface="+mn-cs"/>
              </a:rPr>
              <a:t>This book is a literary property protected by copyright law so reprint and reproduction without permission are prohibited. </a:t>
            </a:r>
          </a:p>
          <a:p>
            <a:pPr marL="0" marR="0" lvl="0" indent="0" algn="l" defTabSz="914126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amsungOne 400C" panose="020B0506030303020204" pitchFamily="34" charset="0"/>
                <a:ea typeface="SamsungOne 400C" panose="020B0506030303020204" pitchFamily="34" charset="0"/>
                <a:cs typeface="+mn-cs"/>
              </a:rPr>
              <a:t>To use this book other than the curriculum of Samsung Innovation Campus or to use the entire or part of this book, you must receive written consent from copyright holder.</a:t>
            </a:r>
          </a:p>
        </p:txBody>
      </p:sp>
      <p:pic>
        <p:nvPicPr>
          <p:cNvPr id="10" name="그림 3">
            <a:extLst>
              <a:ext uri="{FF2B5EF4-FFF2-40B4-BE49-F238E27FC236}">
                <a16:creationId xmlns:a16="http://schemas.microsoft.com/office/drawing/2014/main" id="{A977D3D7-ABF1-4BDD-B1E5-CCA79CC8184C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11822" y="3022951"/>
            <a:ext cx="2476006" cy="812098"/>
          </a:xfrm>
          <a:prstGeom prst="rect">
            <a:avLst/>
          </a:prstGeom>
        </p:spPr>
      </p:pic>
      <p:sp>
        <p:nvSpPr>
          <p:cNvPr id="9" name="Freeform 5">
            <a:extLst>
              <a:ext uri="{FF2B5EF4-FFF2-40B4-BE49-F238E27FC236}">
                <a16:creationId xmlns:a16="http://schemas.microsoft.com/office/drawing/2014/main" id="{0D8AEED9-5E8F-4A4F-8427-AE314BEC60F8}"/>
              </a:ext>
            </a:extLst>
          </p:cNvPr>
          <p:cNvSpPr>
            <a:spLocks noChangeAspect="1" noEditPoints="1"/>
          </p:cNvSpPr>
          <p:nvPr userDrawn="1"/>
        </p:nvSpPr>
        <p:spPr bwMode="auto">
          <a:xfrm>
            <a:off x="449468" y="450000"/>
            <a:ext cx="1290568" cy="198000"/>
          </a:xfrm>
          <a:custGeom>
            <a:avLst/>
            <a:gdLst>
              <a:gd name="T0" fmla="*/ 82 w 2179"/>
              <a:gd name="T1" fmla="*/ 74 h 334"/>
              <a:gd name="T2" fmla="*/ 140 w 2179"/>
              <a:gd name="T3" fmla="*/ 82 h 334"/>
              <a:gd name="T4" fmla="*/ 218 w 2179"/>
              <a:gd name="T5" fmla="*/ 101 h 334"/>
              <a:gd name="T6" fmla="*/ 112 w 2179"/>
              <a:gd name="T7" fmla="*/ 0 h 334"/>
              <a:gd name="T8" fmla="*/ 4 w 2179"/>
              <a:gd name="T9" fmla="*/ 112 h 334"/>
              <a:gd name="T10" fmla="*/ 145 w 2179"/>
              <a:gd name="T11" fmla="*/ 257 h 334"/>
              <a:gd name="T12" fmla="*/ 84 w 2179"/>
              <a:gd name="T13" fmla="*/ 250 h 334"/>
              <a:gd name="T14" fmla="*/ 0 w 2179"/>
              <a:gd name="T15" fmla="*/ 220 h 334"/>
              <a:gd name="T16" fmla="*/ 113 w 2179"/>
              <a:gd name="T17" fmla="*/ 334 h 334"/>
              <a:gd name="T18" fmla="*/ 223 w 2179"/>
              <a:gd name="T19" fmla="*/ 212 h 334"/>
              <a:gd name="T20" fmla="*/ 1096 w 2179"/>
              <a:gd name="T21" fmla="*/ 91 h 334"/>
              <a:gd name="T22" fmla="*/ 1124 w 2179"/>
              <a:gd name="T23" fmla="*/ 54 h 334"/>
              <a:gd name="T24" fmla="*/ 1152 w 2179"/>
              <a:gd name="T25" fmla="*/ 102 h 334"/>
              <a:gd name="T26" fmla="*/ 1229 w 2179"/>
              <a:gd name="T27" fmla="*/ 80 h 334"/>
              <a:gd name="T28" fmla="*/ 1017 w 2179"/>
              <a:gd name="T29" fmla="*/ 71 h 334"/>
              <a:gd name="T30" fmla="*/ 1157 w 2179"/>
              <a:gd name="T31" fmla="*/ 233 h 334"/>
              <a:gd name="T32" fmla="*/ 1128 w 2179"/>
              <a:gd name="T33" fmla="*/ 277 h 334"/>
              <a:gd name="T34" fmla="*/ 1097 w 2179"/>
              <a:gd name="T35" fmla="*/ 219 h 334"/>
              <a:gd name="T36" fmla="*/ 1014 w 2179"/>
              <a:gd name="T37" fmla="*/ 243 h 334"/>
              <a:gd name="T38" fmla="*/ 1235 w 2179"/>
              <a:gd name="T39" fmla="*/ 262 h 334"/>
              <a:gd name="T40" fmla="*/ 1096 w 2179"/>
              <a:gd name="T41" fmla="*/ 91 h 334"/>
              <a:gd name="T42" fmla="*/ 1730 w 2179"/>
              <a:gd name="T43" fmla="*/ 10 h 334"/>
              <a:gd name="T44" fmla="*/ 1614 w 2179"/>
              <a:gd name="T45" fmla="*/ 319 h 334"/>
              <a:gd name="T46" fmla="*/ 1686 w 2179"/>
              <a:gd name="T47" fmla="*/ 60 h 334"/>
              <a:gd name="T48" fmla="*/ 1876 w 2179"/>
              <a:gd name="T49" fmla="*/ 319 h 334"/>
              <a:gd name="T50" fmla="*/ 1799 w 2179"/>
              <a:gd name="T51" fmla="*/ 10 h 334"/>
              <a:gd name="T52" fmla="*/ 333 w 2179"/>
              <a:gd name="T53" fmla="*/ 10 h 334"/>
              <a:gd name="T54" fmla="*/ 360 w 2179"/>
              <a:gd name="T55" fmla="*/ 322 h 334"/>
              <a:gd name="T56" fmla="*/ 446 w 2179"/>
              <a:gd name="T57" fmla="*/ 322 h 334"/>
              <a:gd name="T58" fmla="*/ 472 w 2179"/>
              <a:gd name="T59" fmla="*/ 10 h 334"/>
              <a:gd name="T60" fmla="*/ 804 w 2179"/>
              <a:gd name="T61" fmla="*/ 10 h 334"/>
              <a:gd name="T62" fmla="*/ 725 w 2179"/>
              <a:gd name="T63" fmla="*/ 10 h 334"/>
              <a:gd name="T64" fmla="*/ 592 w 2179"/>
              <a:gd name="T65" fmla="*/ 322 h 334"/>
              <a:gd name="T66" fmla="*/ 671 w 2179"/>
              <a:gd name="T67" fmla="*/ 33 h 334"/>
              <a:gd name="T68" fmla="*/ 804 w 2179"/>
              <a:gd name="T69" fmla="*/ 322 h 334"/>
              <a:gd name="T70" fmla="*/ 860 w 2179"/>
              <a:gd name="T71" fmla="*/ 322 h 334"/>
              <a:gd name="T72" fmla="*/ 931 w 2179"/>
              <a:gd name="T73" fmla="*/ 10 h 334"/>
              <a:gd name="T74" fmla="*/ 1528 w 2179"/>
              <a:gd name="T75" fmla="*/ 10 h 334"/>
              <a:gd name="T76" fmla="*/ 1449 w 2179"/>
              <a:gd name="T77" fmla="*/ 241 h 334"/>
              <a:gd name="T78" fmla="*/ 1418 w 2179"/>
              <a:gd name="T79" fmla="*/ 275 h 334"/>
              <a:gd name="T80" fmla="*/ 1388 w 2179"/>
              <a:gd name="T81" fmla="*/ 241 h 334"/>
              <a:gd name="T82" fmla="*/ 1309 w 2179"/>
              <a:gd name="T83" fmla="*/ 10 h 334"/>
              <a:gd name="T84" fmla="*/ 1310 w 2179"/>
              <a:gd name="T85" fmla="*/ 254 h 334"/>
              <a:gd name="T86" fmla="*/ 1527 w 2179"/>
              <a:gd name="T87" fmla="*/ 254 h 334"/>
              <a:gd name="T88" fmla="*/ 1528 w 2179"/>
              <a:gd name="T89" fmla="*/ 10 h 334"/>
              <a:gd name="T90" fmla="*/ 2069 w 2179"/>
              <a:gd name="T91" fmla="*/ 192 h 334"/>
              <a:gd name="T92" fmla="*/ 2101 w 2179"/>
              <a:gd name="T93" fmla="*/ 237 h 334"/>
              <a:gd name="T94" fmla="*/ 2068 w 2179"/>
              <a:gd name="T95" fmla="*/ 272 h 334"/>
              <a:gd name="T96" fmla="*/ 2035 w 2179"/>
              <a:gd name="T97" fmla="*/ 237 h 334"/>
              <a:gd name="T98" fmla="*/ 2037 w 2179"/>
              <a:gd name="T99" fmla="*/ 80 h 334"/>
              <a:gd name="T100" fmla="*/ 2099 w 2179"/>
              <a:gd name="T101" fmla="*/ 80 h 334"/>
              <a:gd name="T102" fmla="*/ 2100 w 2179"/>
              <a:gd name="T103" fmla="*/ 110 h 334"/>
              <a:gd name="T104" fmla="*/ 2178 w 2179"/>
              <a:gd name="T105" fmla="*/ 99 h 334"/>
              <a:gd name="T106" fmla="*/ 2068 w 2179"/>
              <a:gd name="T107" fmla="*/ 2 h 334"/>
              <a:gd name="T108" fmla="*/ 1958 w 2179"/>
              <a:gd name="T109" fmla="*/ 99 h 334"/>
              <a:gd name="T110" fmla="*/ 1959 w 2179"/>
              <a:gd name="T111" fmla="*/ 251 h 334"/>
              <a:gd name="T112" fmla="*/ 2178 w 2179"/>
              <a:gd name="T113" fmla="*/ 251 h 334"/>
              <a:gd name="T114" fmla="*/ 2179 w 2179"/>
              <a:gd name="T115" fmla="*/ 147 h 33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</a:cxnLst>
            <a:rect l="0" t="0" r="r" b="b"/>
            <a:pathLst>
              <a:path w="2179" h="334">
                <a:moveTo>
                  <a:pt x="83" y="91"/>
                </a:moveTo>
                <a:cubicBezTo>
                  <a:pt x="81" y="84"/>
                  <a:pt x="82" y="78"/>
                  <a:pt x="82" y="74"/>
                </a:cubicBezTo>
                <a:cubicBezTo>
                  <a:pt x="84" y="64"/>
                  <a:pt x="91" y="53"/>
                  <a:pt x="111" y="53"/>
                </a:cubicBezTo>
                <a:cubicBezTo>
                  <a:pt x="129" y="53"/>
                  <a:pt x="140" y="65"/>
                  <a:pt x="140" y="82"/>
                </a:cubicBezTo>
                <a:cubicBezTo>
                  <a:pt x="140" y="101"/>
                  <a:pt x="140" y="101"/>
                  <a:pt x="140" y="101"/>
                </a:cubicBezTo>
                <a:cubicBezTo>
                  <a:pt x="218" y="101"/>
                  <a:pt x="218" y="101"/>
                  <a:pt x="218" y="101"/>
                </a:cubicBezTo>
                <a:cubicBezTo>
                  <a:pt x="218" y="79"/>
                  <a:pt x="218" y="79"/>
                  <a:pt x="218" y="79"/>
                </a:cubicBezTo>
                <a:cubicBezTo>
                  <a:pt x="218" y="11"/>
                  <a:pt x="156" y="0"/>
                  <a:pt x="112" y="0"/>
                </a:cubicBezTo>
                <a:cubicBezTo>
                  <a:pt x="57" y="0"/>
                  <a:pt x="12" y="19"/>
                  <a:pt x="4" y="70"/>
                </a:cubicBezTo>
                <a:cubicBezTo>
                  <a:pt x="1" y="84"/>
                  <a:pt x="1" y="96"/>
                  <a:pt x="4" y="112"/>
                </a:cubicBezTo>
                <a:cubicBezTo>
                  <a:pt x="18" y="175"/>
                  <a:pt x="128" y="194"/>
                  <a:pt x="145" y="234"/>
                </a:cubicBezTo>
                <a:cubicBezTo>
                  <a:pt x="148" y="241"/>
                  <a:pt x="147" y="251"/>
                  <a:pt x="145" y="257"/>
                </a:cubicBezTo>
                <a:cubicBezTo>
                  <a:pt x="143" y="267"/>
                  <a:pt x="136" y="278"/>
                  <a:pt x="115" y="278"/>
                </a:cubicBezTo>
                <a:cubicBezTo>
                  <a:pt x="95" y="278"/>
                  <a:pt x="84" y="267"/>
                  <a:pt x="84" y="250"/>
                </a:cubicBezTo>
                <a:cubicBezTo>
                  <a:pt x="83" y="220"/>
                  <a:pt x="83" y="220"/>
                  <a:pt x="83" y="220"/>
                </a:cubicBezTo>
                <a:cubicBezTo>
                  <a:pt x="0" y="220"/>
                  <a:pt x="0" y="220"/>
                  <a:pt x="0" y="220"/>
                </a:cubicBezTo>
                <a:cubicBezTo>
                  <a:pt x="0" y="244"/>
                  <a:pt x="0" y="244"/>
                  <a:pt x="0" y="244"/>
                </a:cubicBezTo>
                <a:cubicBezTo>
                  <a:pt x="0" y="313"/>
                  <a:pt x="55" y="334"/>
                  <a:pt x="113" y="334"/>
                </a:cubicBezTo>
                <a:cubicBezTo>
                  <a:pt x="169" y="334"/>
                  <a:pt x="216" y="315"/>
                  <a:pt x="223" y="263"/>
                </a:cubicBezTo>
                <a:cubicBezTo>
                  <a:pt x="227" y="236"/>
                  <a:pt x="224" y="218"/>
                  <a:pt x="223" y="212"/>
                </a:cubicBezTo>
                <a:cubicBezTo>
                  <a:pt x="210" y="146"/>
                  <a:pt x="92" y="127"/>
                  <a:pt x="83" y="91"/>
                </a:cubicBezTo>
                <a:moveTo>
                  <a:pt x="1096" y="91"/>
                </a:moveTo>
                <a:cubicBezTo>
                  <a:pt x="1094" y="85"/>
                  <a:pt x="1095" y="79"/>
                  <a:pt x="1096" y="75"/>
                </a:cubicBezTo>
                <a:cubicBezTo>
                  <a:pt x="1098" y="65"/>
                  <a:pt x="1104" y="54"/>
                  <a:pt x="1124" y="54"/>
                </a:cubicBezTo>
                <a:cubicBezTo>
                  <a:pt x="1142" y="54"/>
                  <a:pt x="1152" y="66"/>
                  <a:pt x="1152" y="82"/>
                </a:cubicBezTo>
                <a:cubicBezTo>
                  <a:pt x="1152" y="102"/>
                  <a:pt x="1152" y="102"/>
                  <a:pt x="1152" y="102"/>
                </a:cubicBezTo>
                <a:cubicBezTo>
                  <a:pt x="1229" y="102"/>
                  <a:pt x="1229" y="102"/>
                  <a:pt x="1229" y="102"/>
                </a:cubicBezTo>
                <a:cubicBezTo>
                  <a:pt x="1229" y="80"/>
                  <a:pt x="1229" y="80"/>
                  <a:pt x="1229" y="80"/>
                </a:cubicBezTo>
                <a:cubicBezTo>
                  <a:pt x="1229" y="13"/>
                  <a:pt x="1169" y="2"/>
                  <a:pt x="1125" y="2"/>
                </a:cubicBezTo>
                <a:cubicBezTo>
                  <a:pt x="1070" y="2"/>
                  <a:pt x="1026" y="20"/>
                  <a:pt x="1017" y="71"/>
                </a:cubicBezTo>
                <a:cubicBezTo>
                  <a:pt x="1015" y="84"/>
                  <a:pt x="1015" y="97"/>
                  <a:pt x="1018" y="112"/>
                </a:cubicBezTo>
                <a:cubicBezTo>
                  <a:pt x="1032" y="175"/>
                  <a:pt x="1141" y="193"/>
                  <a:pt x="1157" y="233"/>
                </a:cubicBezTo>
                <a:cubicBezTo>
                  <a:pt x="1160" y="241"/>
                  <a:pt x="1159" y="250"/>
                  <a:pt x="1158" y="256"/>
                </a:cubicBezTo>
                <a:cubicBezTo>
                  <a:pt x="1155" y="267"/>
                  <a:pt x="1148" y="277"/>
                  <a:pt x="1128" y="277"/>
                </a:cubicBezTo>
                <a:cubicBezTo>
                  <a:pt x="1108" y="277"/>
                  <a:pt x="1097" y="266"/>
                  <a:pt x="1097" y="249"/>
                </a:cubicBezTo>
                <a:cubicBezTo>
                  <a:pt x="1097" y="219"/>
                  <a:pt x="1097" y="219"/>
                  <a:pt x="1097" y="219"/>
                </a:cubicBezTo>
                <a:cubicBezTo>
                  <a:pt x="1014" y="219"/>
                  <a:pt x="1014" y="219"/>
                  <a:pt x="1014" y="219"/>
                </a:cubicBezTo>
                <a:cubicBezTo>
                  <a:pt x="1014" y="243"/>
                  <a:pt x="1014" y="243"/>
                  <a:pt x="1014" y="243"/>
                </a:cubicBezTo>
                <a:cubicBezTo>
                  <a:pt x="1014" y="312"/>
                  <a:pt x="1068" y="332"/>
                  <a:pt x="1126" y="332"/>
                </a:cubicBezTo>
                <a:cubicBezTo>
                  <a:pt x="1182" y="332"/>
                  <a:pt x="1228" y="313"/>
                  <a:pt x="1235" y="262"/>
                </a:cubicBezTo>
                <a:cubicBezTo>
                  <a:pt x="1238" y="235"/>
                  <a:pt x="1236" y="218"/>
                  <a:pt x="1234" y="211"/>
                </a:cubicBezTo>
                <a:cubicBezTo>
                  <a:pt x="1221" y="147"/>
                  <a:pt x="1105" y="127"/>
                  <a:pt x="1096" y="91"/>
                </a:cubicBezTo>
                <a:moveTo>
                  <a:pt x="1803" y="261"/>
                </a:moveTo>
                <a:cubicBezTo>
                  <a:pt x="1730" y="10"/>
                  <a:pt x="1730" y="10"/>
                  <a:pt x="1730" y="10"/>
                </a:cubicBezTo>
                <a:cubicBezTo>
                  <a:pt x="1614" y="10"/>
                  <a:pt x="1614" y="10"/>
                  <a:pt x="1614" y="10"/>
                </a:cubicBezTo>
                <a:cubicBezTo>
                  <a:pt x="1614" y="319"/>
                  <a:pt x="1614" y="319"/>
                  <a:pt x="1614" y="319"/>
                </a:cubicBezTo>
                <a:cubicBezTo>
                  <a:pt x="1691" y="319"/>
                  <a:pt x="1691" y="319"/>
                  <a:pt x="1691" y="319"/>
                </a:cubicBezTo>
                <a:cubicBezTo>
                  <a:pt x="1686" y="60"/>
                  <a:pt x="1686" y="60"/>
                  <a:pt x="1686" y="60"/>
                </a:cubicBezTo>
                <a:cubicBezTo>
                  <a:pt x="1765" y="319"/>
                  <a:pt x="1765" y="319"/>
                  <a:pt x="1765" y="319"/>
                </a:cubicBezTo>
                <a:cubicBezTo>
                  <a:pt x="1876" y="319"/>
                  <a:pt x="1876" y="319"/>
                  <a:pt x="1876" y="319"/>
                </a:cubicBezTo>
                <a:cubicBezTo>
                  <a:pt x="1876" y="10"/>
                  <a:pt x="1876" y="10"/>
                  <a:pt x="1876" y="10"/>
                </a:cubicBezTo>
                <a:cubicBezTo>
                  <a:pt x="1799" y="10"/>
                  <a:pt x="1799" y="10"/>
                  <a:pt x="1799" y="10"/>
                </a:cubicBezTo>
                <a:lnTo>
                  <a:pt x="1803" y="261"/>
                </a:lnTo>
                <a:close/>
                <a:moveTo>
                  <a:pt x="333" y="10"/>
                </a:moveTo>
                <a:cubicBezTo>
                  <a:pt x="276" y="322"/>
                  <a:pt x="276" y="322"/>
                  <a:pt x="276" y="322"/>
                </a:cubicBezTo>
                <a:cubicBezTo>
                  <a:pt x="360" y="322"/>
                  <a:pt x="360" y="322"/>
                  <a:pt x="360" y="322"/>
                </a:cubicBezTo>
                <a:cubicBezTo>
                  <a:pt x="403" y="33"/>
                  <a:pt x="403" y="33"/>
                  <a:pt x="403" y="33"/>
                </a:cubicBezTo>
                <a:cubicBezTo>
                  <a:pt x="446" y="322"/>
                  <a:pt x="446" y="322"/>
                  <a:pt x="446" y="322"/>
                </a:cubicBezTo>
                <a:cubicBezTo>
                  <a:pt x="529" y="322"/>
                  <a:pt x="529" y="322"/>
                  <a:pt x="529" y="322"/>
                </a:cubicBezTo>
                <a:cubicBezTo>
                  <a:pt x="472" y="10"/>
                  <a:pt x="472" y="10"/>
                  <a:pt x="472" y="10"/>
                </a:cubicBezTo>
                <a:lnTo>
                  <a:pt x="333" y="10"/>
                </a:lnTo>
                <a:close/>
                <a:moveTo>
                  <a:pt x="804" y="10"/>
                </a:moveTo>
                <a:cubicBezTo>
                  <a:pt x="765" y="254"/>
                  <a:pt x="765" y="254"/>
                  <a:pt x="765" y="254"/>
                </a:cubicBezTo>
                <a:cubicBezTo>
                  <a:pt x="725" y="10"/>
                  <a:pt x="725" y="10"/>
                  <a:pt x="725" y="10"/>
                </a:cubicBezTo>
                <a:cubicBezTo>
                  <a:pt x="598" y="10"/>
                  <a:pt x="598" y="10"/>
                  <a:pt x="598" y="10"/>
                </a:cubicBezTo>
                <a:cubicBezTo>
                  <a:pt x="592" y="322"/>
                  <a:pt x="592" y="322"/>
                  <a:pt x="592" y="322"/>
                </a:cubicBezTo>
                <a:cubicBezTo>
                  <a:pt x="669" y="322"/>
                  <a:pt x="669" y="322"/>
                  <a:pt x="669" y="322"/>
                </a:cubicBezTo>
                <a:cubicBezTo>
                  <a:pt x="671" y="33"/>
                  <a:pt x="671" y="33"/>
                  <a:pt x="671" y="33"/>
                </a:cubicBezTo>
                <a:cubicBezTo>
                  <a:pt x="725" y="322"/>
                  <a:pt x="725" y="322"/>
                  <a:pt x="725" y="322"/>
                </a:cubicBezTo>
                <a:cubicBezTo>
                  <a:pt x="804" y="322"/>
                  <a:pt x="804" y="322"/>
                  <a:pt x="804" y="322"/>
                </a:cubicBezTo>
                <a:cubicBezTo>
                  <a:pt x="858" y="33"/>
                  <a:pt x="858" y="33"/>
                  <a:pt x="858" y="33"/>
                </a:cubicBezTo>
                <a:cubicBezTo>
                  <a:pt x="860" y="322"/>
                  <a:pt x="860" y="322"/>
                  <a:pt x="860" y="322"/>
                </a:cubicBezTo>
                <a:cubicBezTo>
                  <a:pt x="938" y="322"/>
                  <a:pt x="938" y="322"/>
                  <a:pt x="938" y="322"/>
                </a:cubicBezTo>
                <a:cubicBezTo>
                  <a:pt x="931" y="10"/>
                  <a:pt x="931" y="10"/>
                  <a:pt x="931" y="10"/>
                </a:cubicBezTo>
                <a:lnTo>
                  <a:pt x="804" y="10"/>
                </a:lnTo>
                <a:close/>
                <a:moveTo>
                  <a:pt x="1528" y="10"/>
                </a:moveTo>
                <a:cubicBezTo>
                  <a:pt x="1449" y="10"/>
                  <a:pt x="1449" y="10"/>
                  <a:pt x="1449" y="10"/>
                </a:cubicBezTo>
                <a:cubicBezTo>
                  <a:pt x="1449" y="241"/>
                  <a:pt x="1449" y="241"/>
                  <a:pt x="1449" y="241"/>
                </a:cubicBezTo>
                <a:cubicBezTo>
                  <a:pt x="1449" y="245"/>
                  <a:pt x="1449" y="249"/>
                  <a:pt x="1448" y="253"/>
                </a:cubicBezTo>
                <a:cubicBezTo>
                  <a:pt x="1447" y="260"/>
                  <a:pt x="1440" y="275"/>
                  <a:pt x="1418" y="275"/>
                </a:cubicBezTo>
                <a:cubicBezTo>
                  <a:pt x="1397" y="275"/>
                  <a:pt x="1390" y="260"/>
                  <a:pt x="1389" y="253"/>
                </a:cubicBezTo>
                <a:cubicBezTo>
                  <a:pt x="1388" y="249"/>
                  <a:pt x="1388" y="245"/>
                  <a:pt x="1388" y="241"/>
                </a:cubicBezTo>
                <a:cubicBezTo>
                  <a:pt x="1388" y="10"/>
                  <a:pt x="1388" y="10"/>
                  <a:pt x="1388" y="10"/>
                </a:cubicBezTo>
                <a:cubicBezTo>
                  <a:pt x="1309" y="10"/>
                  <a:pt x="1309" y="10"/>
                  <a:pt x="1309" y="10"/>
                </a:cubicBezTo>
                <a:cubicBezTo>
                  <a:pt x="1309" y="234"/>
                  <a:pt x="1309" y="234"/>
                  <a:pt x="1309" y="234"/>
                </a:cubicBezTo>
                <a:cubicBezTo>
                  <a:pt x="1309" y="239"/>
                  <a:pt x="1309" y="251"/>
                  <a:pt x="1310" y="254"/>
                </a:cubicBezTo>
                <a:cubicBezTo>
                  <a:pt x="1315" y="312"/>
                  <a:pt x="1361" y="331"/>
                  <a:pt x="1418" y="331"/>
                </a:cubicBezTo>
                <a:cubicBezTo>
                  <a:pt x="1476" y="331"/>
                  <a:pt x="1522" y="312"/>
                  <a:pt x="1527" y="254"/>
                </a:cubicBezTo>
                <a:cubicBezTo>
                  <a:pt x="1528" y="251"/>
                  <a:pt x="1528" y="239"/>
                  <a:pt x="1528" y="234"/>
                </a:cubicBezTo>
                <a:lnTo>
                  <a:pt x="1528" y="10"/>
                </a:lnTo>
                <a:close/>
                <a:moveTo>
                  <a:pt x="2069" y="147"/>
                </a:moveTo>
                <a:cubicBezTo>
                  <a:pt x="2069" y="192"/>
                  <a:pt x="2069" y="192"/>
                  <a:pt x="2069" y="192"/>
                </a:cubicBezTo>
                <a:cubicBezTo>
                  <a:pt x="2101" y="192"/>
                  <a:pt x="2101" y="192"/>
                  <a:pt x="2101" y="192"/>
                </a:cubicBezTo>
                <a:cubicBezTo>
                  <a:pt x="2101" y="237"/>
                  <a:pt x="2101" y="237"/>
                  <a:pt x="2101" y="237"/>
                </a:cubicBezTo>
                <a:cubicBezTo>
                  <a:pt x="2101" y="241"/>
                  <a:pt x="2101" y="246"/>
                  <a:pt x="2100" y="249"/>
                </a:cubicBezTo>
                <a:cubicBezTo>
                  <a:pt x="2099" y="258"/>
                  <a:pt x="2091" y="272"/>
                  <a:pt x="2068" y="272"/>
                </a:cubicBezTo>
                <a:cubicBezTo>
                  <a:pt x="2045" y="272"/>
                  <a:pt x="2038" y="258"/>
                  <a:pt x="2036" y="249"/>
                </a:cubicBezTo>
                <a:cubicBezTo>
                  <a:pt x="2036" y="246"/>
                  <a:pt x="2035" y="241"/>
                  <a:pt x="2035" y="237"/>
                </a:cubicBezTo>
                <a:cubicBezTo>
                  <a:pt x="2035" y="95"/>
                  <a:pt x="2035" y="95"/>
                  <a:pt x="2035" y="95"/>
                </a:cubicBezTo>
                <a:cubicBezTo>
                  <a:pt x="2035" y="90"/>
                  <a:pt x="2036" y="85"/>
                  <a:pt x="2037" y="80"/>
                </a:cubicBezTo>
                <a:cubicBezTo>
                  <a:pt x="2038" y="73"/>
                  <a:pt x="2045" y="58"/>
                  <a:pt x="2068" y="58"/>
                </a:cubicBezTo>
                <a:cubicBezTo>
                  <a:pt x="2092" y="58"/>
                  <a:pt x="2098" y="74"/>
                  <a:pt x="2099" y="80"/>
                </a:cubicBezTo>
                <a:cubicBezTo>
                  <a:pt x="2100" y="85"/>
                  <a:pt x="2100" y="92"/>
                  <a:pt x="2100" y="92"/>
                </a:cubicBezTo>
                <a:cubicBezTo>
                  <a:pt x="2100" y="110"/>
                  <a:pt x="2100" y="110"/>
                  <a:pt x="2100" y="110"/>
                </a:cubicBezTo>
                <a:cubicBezTo>
                  <a:pt x="2178" y="110"/>
                  <a:pt x="2178" y="110"/>
                  <a:pt x="2178" y="110"/>
                </a:cubicBezTo>
                <a:cubicBezTo>
                  <a:pt x="2178" y="99"/>
                  <a:pt x="2178" y="99"/>
                  <a:pt x="2178" y="99"/>
                </a:cubicBezTo>
                <a:cubicBezTo>
                  <a:pt x="2178" y="99"/>
                  <a:pt x="2179" y="89"/>
                  <a:pt x="2178" y="79"/>
                </a:cubicBezTo>
                <a:cubicBezTo>
                  <a:pt x="2172" y="20"/>
                  <a:pt x="2124" y="2"/>
                  <a:pt x="2068" y="2"/>
                </a:cubicBezTo>
                <a:cubicBezTo>
                  <a:pt x="2013" y="2"/>
                  <a:pt x="1966" y="21"/>
                  <a:pt x="1959" y="79"/>
                </a:cubicBezTo>
                <a:cubicBezTo>
                  <a:pt x="1958" y="84"/>
                  <a:pt x="1958" y="94"/>
                  <a:pt x="1958" y="99"/>
                </a:cubicBezTo>
                <a:cubicBezTo>
                  <a:pt x="1958" y="230"/>
                  <a:pt x="1958" y="230"/>
                  <a:pt x="1958" y="230"/>
                </a:cubicBezTo>
                <a:cubicBezTo>
                  <a:pt x="1958" y="236"/>
                  <a:pt x="1958" y="241"/>
                  <a:pt x="1959" y="251"/>
                </a:cubicBezTo>
                <a:cubicBezTo>
                  <a:pt x="1964" y="308"/>
                  <a:pt x="2013" y="328"/>
                  <a:pt x="2068" y="328"/>
                </a:cubicBezTo>
                <a:cubicBezTo>
                  <a:pt x="2124" y="328"/>
                  <a:pt x="2173" y="308"/>
                  <a:pt x="2178" y="251"/>
                </a:cubicBezTo>
                <a:cubicBezTo>
                  <a:pt x="2179" y="241"/>
                  <a:pt x="2179" y="236"/>
                  <a:pt x="2179" y="230"/>
                </a:cubicBezTo>
                <a:cubicBezTo>
                  <a:pt x="2179" y="147"/>
                  <a:pt x="2179" y="147"/>
                  <a:pt x="2179" y="147"/>
                </a:cubicBezTo>
                <a:lnTo>
                  <a:pt x="2069" y="147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11" tIns="45705" rIns="91411" bIns="45705" numCol="1" anchor="t" anchorCtr="0" compatLnSpc="1">
            <a:prstTxWarp prst="textNoShape">
              <a:avLst/>
            </a:prstTxWarp>
            <a:scene3d>
              <a:camera prst="orthographicFront"/>
              <a:lightRig rig="threePt" dir="t"/>
            </a:scene3d>
            <a:sp3d>
              <a:bevelT w="0" h="6350"/>
            </a:sp3d>
          </a:bodyPr>
          <a:lstStyle/>
          <a:p>
            <a:pPr marL="0" marR="0" lvl="0" indent="0" algn="l" defTabSz="914126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ko-KR" altLang="en-US" sz="1959" noProof="0" dirty="0"/>
          </a:p>
        </p:txBody>
      </p:sp>
    </p:spTree>
    <p:extLst>
      <p:ext uri="{BB962C8B-B14F-4D97-AF65-F5344CB8AC3E}">
        <p14:creationId xmlns:p14="http://schemas.microsoft.com/office/powerpoint/2010/main" val="122783419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19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Body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902825" cy="6858000"/>
          </a:xfrm>
          <a:prstGeom prst="rect">
            <a:avLst/>
          </a:prstGeom>
        </p:spPr>
      </p:pic>
      <p:sp>
        <p:nvSpPr>
          <p:cNvPr id="5" name="Freeform 5">
            <a:extLst>
              <a:ext uri="{FF2B5EF4-FFF2-40B4-BE49-F238E27FC236}">
                <a16:creationId xmlns:a16="http://schemas.microsoft.com/office/drawing/2014/main" id="{0D8AEED9-5E8F-4A4F-8427-AE314BEC60F8}"/>
              </a:ext>
            </a:extLst>
          </p:cNvPr>
          <p:cNvSpPr>
            <a:spLocks noChangeAspect="1" noEditPoints="1"/>
          </p:cNvSpPr>
          <p:nvPr userDrawn="1"/>
        </p:nvSpPr>
        <p:spPr bwMode="auto">
          <a:xfrm>
            <a:off x="449468" y="450000"/>
            <a:ext cx="1282022" cy="198000"/>
          </a:xfrm>
          <a:custGeom>
            <a:avLst/>
            <a:gdLst>
              <a:gd name="T0" fmla="*/ 82 w 2179"/>
              <a:gd name="T1" fmla="*/ 74 h 334"/>
              <a:gd name="T2" fmla="*/ 140 w 2179"/>
              <a:gd name="T3" fmla="*/ 82 h 334"/>
              <a:gd name="T4" fmla="*/ 218 w 2179"/>
              <a:gd name="T5" fmla="*/ 101 h 334"/>
              <a:gd name="T6" fmla="*/ 112 w 2179"/>
              <a:gd name="T7" fmla="*/ 0 h 334"/>
              <a:gd name="T8" fmla="*/ 4 w 2179"/>
              <a:gd name="T9" fmla="*/ 112 h 334"/>
              <a:gd name="T10" fmla="*/ 145 w 2179"/>
              <a:gd name="T11" fmla="*/ 257 h 334"/>
              <a:gd name="T12" fmla="*/ 84 w 2179"/>
              <a:gd name="T13" fmla="*/ 250 h 334"/>
              <a:gd name="T14" fmla="*/ 0 w 2179"/>
              <a:gd name="T15" fmla="*/ 220 h 334"/>
              <a:gd name="T16" fmla="*/ 113 w 2179"/>
              <a:gd name="T17" fmla="*/ 334 h 334"/>
              <a:gd name="T18" fmla="*/ 223 w 2179"/>
              <a:gd name="T19" fmla="*/ 212 h 334"/>
              <a:gd name="T20" fmla="*/ 1096 w 2179"/>
              <a:gd name="T21" fmla="*/ 91 h 334"/>
              <a:gd name="T22" fmla="*/ 1124 w 2179"/>
              <a:gd name="T23" fmla="*/ 54 h 334"/>
              <a:gd name="T24" fmla="*/ 1152 w 2179"/>
              <a:gd name="T25" fmla="*/ 102 h 334"/>
              <a:gd name="T26" fmla="*/ 1229 w 2179"/>
              <a:gd name="T27" fmla="*/ 80 h 334"/>
              <a:gd name="T28" fmla="*/ 1017 w 2179"/>
              <a:gd name="T29" fmla="*/ 71 h 334"/>
              <a:gd name="T30" fmla="*/ 1157 w 2179"/>
              <a:gd name="T31" fmla="*/ 233 h 334"/>
              <a:gd name="T32" fmla="*/ 1128 w 2179"/>
              <a:gd name="T33" fmla="*/ 277 h 334"/>
              <a:gd name="T34" fmla="*/ 1097 w 2179"/>
              <a:gd name="T35" fmla="*/ 219 h 334"/>
              <a:gd name="T36" fmla="*/ 1014 w 2179"/>
              <a:gd name="T37" fmla="*/ 243 h 334"/>
              <a:gd name="T38" fmla="*/ 1235 w 2179"/>
              <a:gd name="T39" fmla="*/ 262 h 334"/>
              <a:gd name="T40" fmla="*/ 1096 w 2179"/>
              <a:gd name="T41" fmla="*/ 91 h 334"/>
              <a:gd name="T42" fmla="*/ 1730 w 2179"/>
              <a:gd name="T43" fmla="*/ 10 h 334"/>
              <a:gd name="T44" fmla="*/ 1614 w 2179"/>
              <a:gd name="T45" fmla="*/ 319 h 334"/>
              <a:gd name="T46" fmla="*/ 1686 w 2179"/>
              <a:gd name="T47" fmla="*/ 60 h 334"/>
              <a:gd name="T48" fmla="*/ 1876 w 2179"/>
              <a:gd name="T49" fmla="*/ 319 h 334"/>
              <a:gd name="T50" fmla="*/ 1799 w 2179"/>
              <a:gd name="T51" fmla="*/ 10 h 334"/>
              <a:gd name="T52" fmla="*/ 333 w 2179"/>
              <a:gd name="T53" fmla="*/ 10 h 334"/>
              <a:gd name="T54" fmla="*/ 360 w 2179"/>
              <a:gd name="T55" fmla="*/ 322 h 334"/>
              <a:gd name="T56" fmla="*/ 446 w 2179"/>
              <a:gd name="T57" fmla="*/ 322 h 334"/>
              <a:gd name="T58" fmla="*/ 472 w 2179"/>
              <a:gd name="T59" fmla="*/ 10 h 334"/>
              <a:gd name="T60" fmla="*/ 804 w 2179"/>
              <a:gd name="T61" fmla="*/ 10 h 334"/>
              <a:gd name="T62" fmla="*/ 725 w 2179"/>
              <a:gd name="T63" fmla="*/ 10 h 334"/>
              <a:gd name="T64" fmla="*/ 592 w 2179"/>
              <a:gd name="T65" fmla="*/ 322 h 334"/>
              <a:gd name="T66" fmla="*/ 671 w 2179"/>
              <a:gd name="T67" fmla="*/ 33 h 334"/>
              <a:gd name="T68" fmla="*/ 804 w 2179"/>
              <a:gd name="T69" fmla="*/ 322 h 334"/>
              <a:gd name="T70" fmla="*/ 860 w 2179"/>
              <a:gd name="T71" fmla="*/ 322 h 334"/>
              <a:gd name="T72" fmla="*/ 931 w 2179"/>
              <a:gd name="T73" fmla="*/ 10 h 334"/>
              <a:gd name="T74" fmla="*/ 1528 w 2179"/>
              <a:gd name="T75" fmla="*/ 10 h 334"/>
              <a:gd name="T76" fmla="*/ 1449 w 2179"/>
              <a:gd name="T77" fmla="*/ 241 h 334"/>
              <a:gd name="T78" fmla="*/ 1418 w 2179"/>
              <a:gd name="T79" fmla="*/ 275 h 334"/>
              <a:gd name="T80" fmla="*/ 1388 w 2179"/>
              <a:gd name="T81" fmla="*/ 241 h 334"/>
              <a:gd name="T82" fmla="*/ 1309 w 2179"/>
              <a:gd name="T83" fmla="*/ 10 h 334"/>
              <a:gd name="T84" fmla="*/ 1310 w 2179"/>
              <a:gd name="T85" fmla="*/ 254 h 334"/>
              <a:gd name="T86" fmla="*/ 1527 w 2179"/>
              <a:gd name="T87" fmla="*/ 254 h 334"/>
              <a:gd name="T88" fmla="*/ 1528 w 2179"/>
              <a:gd name="T89" fmla="*/ 10 h 334"/>
              <a:gd name="T90" fmla="*/ 2069 w 2179"/>
              <a:gd name="T91" fmla="*/ 192 h 334"/>
              <a:gd name="T92" fmla="*/ 2101 w 2179"/>
              <a:gd name="T93" fmla="*/ 237 h 334"/>
              <a:gd name="T94" fmla="*/ 2068 w 2179"/>
              <a:gd name="T95" fmla="*/ 272 h 334"/>
              <a:gd name="T96" fmla="*/ 2035 w 2179"/>
              <a:gd name="T97" fmla="*/ 237 h 334"/>
              <a:gd name="T98" fmla="*/ 2037 w 2179"/>
              <a:gd name="T99" fmla="*/ 80 h 334"/>
              <a:gd name="T100" fmla="*/ 2099 w 2179"/>
              <a:gd name="T101" fmla="*/ 80 h 334"/>
              <a:gd name="T102" fmla="*/ 2100 w 2179"/>
              <a:gd name="T103" fmla="*/ 110 h 334"/>
              <a:gd name="T104" fmla="*/ 2178 w 2179"/>
              <a:gd name="T105" fmla="*/ 99 h 334"/>
              <a:gd name="T106" fmla="*/ 2068 w 2179"/>
              <a:gd name="T107" fmla="*/ 2 h 334"/>
              <a:gd name="T108" fmla="*/ 1958 w 2179"/>
              <a:gd name="T109" fmla="*/ 99 h 334"/>
              <a:gd name="T110" fmla="*/ 1959 w 2179"/>
              <a:gd name="T111" fmla="*/ 251 h 334"/>
              <a:gd name="T112" fmla="*/ 2178 w 2179"/>
              <a:gd name="T113" fmla="*/ 251 h 334"/>
              <a:gd name="T114" fmla="*/ 2179 w 2179"/>
              <a:gd name="T115" fmla="*/ 147 h 33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</a:cxnLst>
            <a:rect l="0" t="0" r="r" b="b"/>
            <a:pathLst>
              <a:path w="2179" h="334">
                <a:moveTo>
                  <a:pt x="83" y="91"/>
                </a:moveTo>
                <a:cubicBezTo>
                  <a:pt x="81" y="84"/>
                  <a:pt x="82" y="78"/>
                  <a:pt x="82" y="74"/>
                </a:cubicBezTo>
                <a:cubicBezTo>
                  <a:pt x="84" y="64"/>
                  <a:pt x="91" y="53"/>
                  <a:pt x="111" y="53"/>
                </a:cubicBezTo>
                <a:cubicBezTo>
                  <a:pt x="129" y="53"/>
                  <a:pt x="140" y="65"/>
                  <a:pt x="140" y="82"/>
                </a:cubicBezTo>
                <a:cubicBezTo>
                  <a:pt x="140" y="101"/>
                  <a:pt x="140" y="101"/>
                  <a:pt x="140" y="101"/>
                </a:cubicBezTo>
                <a:cubicBezTo>
                  <a:pt x="218" y="101"/>
                  <a:pt x="218" y="101"/>
                  <a:pt x="218" y="101"/>
                </a:cubicBezTo>
                <a:cubicBezTo>
                  <a:pt x="218" y="79"/>
                  <a:pt x="218" y="79"/>
                  <a:pt x="218" y="79"/>
                </a:cubicBezTo>
                <a:cubicBezTo>
                  <a:pt x="218" y="11"/>
                  <a:pt x="156" y="0"/>
                  <a:pt x="112" y="0"/>
                </a:cubicBezTo>
                <a:cubicBezTo>
                  <a:pt x="57" y="0"/>
                  <a:pt x="12" y="19"/>
                  <a:pt x="4" y="70"/>
                </a:cubicBezTo>
                <a:cubicBezTo>
                  <a:pt x="1" y="84"/>
                  <a:pt x="1" y="96"/>
                  <a:pt x="4" y="112"/>
                </a:cubicBezTo>
                <a:cubicBezTo>
                  <a:pt x="18" y="175"/>
                  <a:pt x="128" y="194"/>
                  <a:pt x="145" y="234"/>
                </a:cubicBezTo>
                <a:cubicBezTo>
                  <a:pt x="148" y="241"/>
                  <a:pt x="147" y="251"/>
                  <a:pt x="145" y="257"/>
                </a:cubicBezTo>
                <a:cubicBezTo>
                  <a:pt x="143" y="267"/>
                  <a:pt x="136" y="278"/>
                  <a:pt x="115" y="278"/>
                </a:cubicBezTo>
                <a:cubicBezTo>
                  <a:pt x="95" y="278"/>
                  <a:pt x="84" y="267"/>
                  <a:pt x="84" y="250"/>
                </a:cubicBezTo>
                <a:cubicBezTo>
                  <a:pt x="83" y="220"/>
                  <a:pt x="83" y="220"/>
                  <a:pt x="83" y="220"/>
                </a:cubicBezTo>
                <a:cubicBezTo>
                  <a:pt x="0" y="220"/>
                  <a:pt x="0" y="220"/>
                  <a:pt x="0" y="220"/>
                </a:cubicBezTo>
                <a:cubicBezTo>
                  <a:pt x="0" y="244"/>
                  <a:pt x="0" y="244"/>
                  <a:pt x="0" y="244"/>
                </a:cubicBezTo>
                <a:cubicBezTo>
                  <a:pt x="0" y="313"/>
                  <a:pt x="55" y="334"/>
                  <a:pt x="113" y="334"/>
                </a:cubicBezTo>
                <a:cubicBezTo>
                  <a:pt x="169" y="334"/>
                  <a:pt x="216" y="315"/>
                  <a:pt x="223" y="263"/>
                </a:cubicBezTo>
                <a:cubicBezTo>
                  <a:pt x="227" y="236"/>
                  <a:pt x="224" y="218"/>
                  <a:pt x="223" y="212"/>
                </a:cubicBezTo>
                <a:cubicBezTo>
                  <a:pt x="210" y="146"/>
                  <a:pt x="92" y="127"/>
                  <a:pt x="83" y="91"/>
                </a:cubicBezTo>
                <a:moveTo>
                  <a:pt x="1096" y="91"/>
                </a:moveTo>
                <a:cubicBezTo>
                  <a:pt x="1094" y="85"/>
                  <a:pt x="1095" y="79"/>
                  <a:pt x="1096" y="75"/>
                </a:cubicBezTo>
                <a:cubicBezTo>
                  <a:pt x="1098" y="65"/>
                  <a:pt x="1104" y="54"/>
                  <a:pt x="1124" y="54"/>
                </a:cubicBezTo>
                <a:cubicBezTo>
                  <a:pt x="1142" y="54"/>
                  <a:pt x="1152" y="66"/>
                  <a:pt x="1152" y="82"/>
                </a:cubicBezTo>
                <a:cubicBezTo>
                  <a:pt x="1152" y="102"/>
                  <a:pt x="1152" y="102"/>
                  <a:pt x="1152" y="102"/>
                </a:cubicBezTo>
                <a:cubicBezTo>
                  <a:pt x="1229" y="102"/>
                  <a:pt x="1229" y="102"/>
                  <a:pt x="1229" y="102"/>
                </a:cubicBezTo>
                <a:cubicBezTo>
                  <a:pt x="1229" y="80"/>
                  <a:pt x="1229" y="80"/>
                  <a:pt x="1229" y="80"/>
                </a:cubicBezTo>
                <a:cubicBezTo>
                  <a:pt x="1229" y="13"/>
                  <a:pt x="1169" y="2"/>
                  <a:pt x="1125" y="2"/>
                </a:cubicBezTo>
                <a:cubicBezTo>
                  <a:pt x="1070" y="2"/>
                  <a:pt x="1026" y="20"/>
                  <a:pt x="1017" y="71"/>
                </a:cubicBezTo>
                <a:cubicBezTo>
                  <a:pt x="1015" y="84"/>
                  <a:pt x="1015" y="97"/>
                  <a:pt x="1018" y="112"/>
                </a:cubicBezTo>
                <a:cubicBezTo>
                  <a:pt x="1032" y="175"/>
                  <a:pt x="1141" y="193"/>
                  <a:pt x="1157" y="233"/>
                </a:cubicBezTo>
                <a:cubicBezTo>
                  <a:pt x="1160" y="241"/>
                  <a:pt x="1159" y="250"/>
                  <a:pt x="1158" y="256"/>
                </a:cubicBezTo>
                <a:cubicBezTo>
                  <a:pt x="1155" y="267"/>
                  <a:pt x="1148" y="277"/>
                  <a:pt x="1128" y="277"/>
                </a:cubicBezTo>
                <a:cubicBezTo>
                  <a:pt x="1108" y="277"/>
                  <a:pt x="1097" y="266"/>
                  <a:pt x="1097" y="249"/>
                </a:cubicBezTo>
                <a:cubicBezTo>
                  <a:pt x="1097" y="219"/>
                  <a:pt x="1097" y="219"/>
                  <a:pt x="1097" y="219"/>
                </a:cubicBezTo>
                <a:cubicBezTo>
                  <a:pt x="1014" y="219"/>
                  <a:pt x="1014" y="219"/>
                  <a:pt x="1014" y="219"/>
                </a:cubicBezTo>
                <a:cubicBezTo>
                  <a:pt x="1014" y="243"/>
                  <a:pt x="1014" y="243"/>
                  <a:pt x="1014" y="243"/>
                </a:cubicBezTo>
                <a:cubicBezTo>
                  <a:pt x="1014" y="312"/>
                  <a:pt x="1068" y="332"/>
                  <a:pt x="1126" y="332"/>
                </a:cubicBezTo>
                <a:cubicBezTo>
                  <a:pt x="1182" y="332"/>
                  <a:pt x="1228" y="313"/>
                  <a:pt x="1235" y="262"/>
                </a:cubicBezTo>
                <a:cubicBezTo>
                  <a:pt x="1238" y="235"/>
                  <a:pt x="1236" y="218"/>
                  <a:pt x="1234" y="211"/>
                </a:cubicBezTo>
                <a:cubicBezTo>
                  <a:pt x="1221" y="147"/>
                  <a:pt x="1105" y="127"/>
                  <a:pt x="1096" y="91"/>
                </a:cubicBezTo>
                <a:moveTo>
                  <a:pt x="1803" y="261"/>
                </a:moveTo>
                <a:cubicBezTo>
                  <a:pt x="1730" y="10"/>
                  <a:pt x="1730" y="10"/>
                  <a:pt x="1730" y="10"/>
                </a:cubicBezTo>
                <a:cubicBezTo>
                  <a:pt x="1614" y="10"/>
                  <a:pt x="1614" y="10"/>
                  <a:pt x="1614" y="10"/>
                </a:cubicBezTo>
                <a:cubicBezTo>
                  <a:pt x="1614" y="319"/>
                  <a:pt x="1614" y="319"/>
                  <a:pt x="1614" y="319"/>
                </a:cubicBezTo>
                <a:cubicBezTo>
                  <a:pt x="1691" y="319"/>
                  <a:pt x="1691" y="319"/>
                  <a:pt x="1691" y="319"/>
                </a:cubicBezTo>
                <a:cubicBezTo>
                  <a:pt x="1686" y="60"/>
                  <a:pt x="1686" y="60"/>
                  <a:pt x="1686" y="60"/>
                </a:cubicBezTo>
                <a:cubicBezTo>
                  <a:pt x="1765" y="319"/>
                  <a:pt x="1765" y="319"/>
                  <a:pt x="1765" y="319"/>
                </a:cubicBezTo>
                <a:cubicBezTo>
                  <a:pt x="1876" y="319"/>
                  <a:pt x="1876" y="319"/>
                  <a:pt x="1876" y="319"/>
                </a:cubicBezTo>
                <a:cubicBezTo>
                  <a:pt x="1876" y="10"/>
                  <a:pt x="1876" y="10"/>
                  <a:pt x="1876" y="10"/>
                </a:cubicBezTo>
                <a:cubicBezTo>
                  <a:pt x="1799" y="10"/>
                  <a:pt x="1799" y="10"/>
                  <a:pt x="1799" y="10"/>
                </a:cubicBezTo>
                <a:lnTo>
                  <a:pt x="1803" y="261"/>
                </a:lnTo>
                <a:close/>
                <a:moveTo>
                  <a:pt x="333" y="10"/>
                </a:moveTo>
                <a:cubicBezTo>
                  <a:pt x="276" y="322"/>
                  <a:pt x="276" y="322"/>
                  <a:pt x="276" y="322"/>
                </a:cubicBezTo>
                <a:cubicBezTo>
                  <a:pt x="360" y="322"/>
                  <a:pt x="360" y="322"/>
                  <a:pt x="360" y="322"/>
                </a:cubicBezTo>
                <a:cubicBezTo>
                  <a:pt x="403" y="33"/>
                  <a:pt x="403" y="33"/>
                  <a:pt x="403" y="33"/>
                </a:cubicBezTo>
                <a:cubicBezTo>
                  <a:pt x="446" y="322"/>
                  <a:pt x="446" y="322"/>
                  <a:pt x="446" y="322"/>
                </a:cubicBezTo>
                <a:cubicBezTo>
                  <a:pt x="529" y="322"/>
                  <a:pt x="529" y="322"/>
                  <a:pt x="529" y="322"/>
                </a:cubicBezTo>
                <a:cubicBezTo>
                  <a:pt x="472" y="10"/>
                  <a:pt x="472" y="10"/>
                  <a:pt x="472" y="10"/>
                </a:cubicBezTo>
                <a:lnTo>
                  <a:pt x="333" y="10"/>
                </a:lnTo>
                <a:close/>
                <a:moveTo>
                  <a:pt x="804" y="10"/>
                </a:moveTo>
                <a:cubicBezTo>
                  <a:pt x="765" y="254"/>
                  <a:pt x="765" y="254"/>
                  <a:pt x="765" y="254"/>
                </a:cubicBezTo>
                <a:cubicBezTo>
                  <a:pt x="725" y="10"/>
                  <a:pt x="725" y="10"/>
                  <a:pt x="725" y="10"/>
                </a:cubicBezTo>
                <a:cubicBezTo>
                  <a:pt x="598" y="10"/>
                  <a:pt x="598" y="10"/>
                  <a:pt x="598" y="10"/>
                </a:cubicBezTo>
                <a:cubicBezTo>
                  <a:pt x="592" y="322"/>
                  <a:pt x="592" y="322"/>
                  <a:pt x="592" y="322"/>
                </a:cubicBezTo>
                <a:cubicBezTo>
                  <a:pt x="669" y="322"/>
                  <a:pt x="669" y="322"/>
                  <a:pt x="669" y="322"/>
                </a:cubicBezTo>
                <a:cubicBezTo>
                  <a:pt x="671" y="33"/>
                  <a:pt x="671" y="33"/>
                  <a:pt x="671" y="33"/>
                </a:cubicBezTo>
                <a:cubicBezTo>
                  <a:pt x="725" y="322"/>
                  <a:pt x="725" y="322"/>
                  <a:pt x="725" y="322"/>
                </a:cubicBezTo>
                <a:cubicBezTo>
                  <a:pt x="804" y="322"/>
                  <a:pt x="804" y="322"/>
                  <a:pt x="804" y="322"/>
                </a:cubicBezTo>
                <a:cubicBezTo>
                  <a:pt x="858" y="33"/>
                  <a:pt x="858" y="33"/>
                  <a:pt x="858" y="33"/>
                </a:cubicBezTo>
                <a:cubicBezTo>
                  <a:pt x="860" y="322"/>
                  <a:pt x="860" y="322"/>
                  <a:pt x="860" y="322"/>
                </a:cubicBezTo>
                <a:cubicBezTo>
                  <a:pt x="938" y="322"/>
                  <a:pt x="938" y="322"/>
                  <a:pt x="938" y="322"/>
                </a:cubicBezTo>
                <a:cubicBezTo>
                  <a:pt x="931" y="10"/>
                  <a:pt x="931" y="10"/>
                  <a:pt x="931" y="10"/>
                </a:cubicBezTo>
                <a:lnTo>
                  <a:pt x="804" y="10"/>
                </a:lnTo>
                <a:close/>
                <a:moveTo>
                  <a:pt x="1528" y="10"/>
                </a:moveTo>
                <a:cubicBezTo>
                  <a:pt x="1449" y="10"/>
                  <a:pt x="1449" y="10"/>
                  <a:pt x="1449" y="10"/>
                </a:cubicBezTo>
                <a:cubicBezTo>
                  <a:pt x="1449" y="241"/>
                  <a:pt x="1449" y="241"/>
                  <a:pt x="1449" y="241"/>
                </a:cubicBezTo>
                <a:cubicBezTo>
                  <a:pt x="1449" y="245"/>
                  <a:pt x="1449" y="249"/>
                  <a:pt x="1448" y="253"/>
                </a:cubicBezTo>
                <a:cubicBezTo>
                  <a:pt x="1447" y="260"/>
                  <a:pt x="1440" y="275"/>
                  <a:pt x="1418" y="275"/>
                </a:cubicBezTo>
                <a:cubicBezTo>
                  <a:pt x="1397" y="275"/>
                  <a:pt x="1390" y="260"/>
                  <a:pt x="1389" y="253"/>
                </a:cubicBezTo>
                <a:cubicBezTo>
                  <a:pt x="1388" y="249"/>
                  <a:pt x="1388" y="245"/>
                  <a:pt x="1388" y="241"/>
                </a:cubicBezTo>
                <a:cubicBezTo>
                  <a:pt x="1388" y="10"/>
                  <a:pt x="1388" y="10"/>
                  <a:pt x="1388" y="10"/>
                </a:cubicBezTo>
                <a:cubicBezTo>
                  <a:pt x="1309" y="10"/>
                  <a:pt x="1309" y="10"/>
                  <a:pt x="1309" y="10"/>
                </a:cubicBezTo>
                <a:cubicBezTo>
                  <a:pt x="1309" y="234"/>
                  <a:pt x="1309" y="234"/>
                  <a:pt x="1309" y="234"/>
                </a:cubicBezTo>
                <a:cubicBezTo>
                  <a:pt x="1309" y="239"/>
                  <a:pt x="1309" y="251"/>
                  <a:pt x="1310" y="254"/>
                </a:cubicBezTo>
                <a:cubicBezTo>
                  <a:pt x="1315" y="312"/>
                  <a:pt x="1361" y="331"/>
                  <a:pt x="1418" y="331"/>
                </a:cubicBezTo>
                <a:cubicBezTo>
                  <a:pt x="1476" y="331"/>
                  <a:pt x="1522" y="312"/>
                  <a:pt x="1527" y="254"/>
                </a:cubicBezTo>
                <a:cubicBezTo>
                  <a:pt x="1528" y="251"/>
                  <a:pt x="1528" y="239"/>
                  <a:pt x="1528" y="234"/>
                </a:cubicBezTo>
                <a:lnTo>
                  <a:pt x="1528" y="10"/>
                </a:lnTo>
                <a:close/>
                <a:moveTo>
                  <a:pt x="2069" y="147"/>
                </a:moveTo>
                <a:cubicBezTo>
                  <a:pt x="2069" y="192"/>
                  <a:pt x="2069" y="192"/>
                  <a:pt x="2069" y="192"/>
                </a:cubicBezTo>
                <a:cubicBezTo>
                  <a:pt x="2101" y="192"/>
                  <a:pt x="2101" y="192"/>
                  <a:pt x="2101" y="192"/>
                </a:cubicBezTo>
                <a:cubicBezTo>
                  <a:pt x="2101" y="237"/>
                  <a:pt x="2101" y="237"/>
                  <a:pt x="2101" y="237"/>
                </a:cubicBezTo>
                <a:cubicBezTo>
                  <a:pt x="2101" y="241"/>
                  <a:pt x="2101" y="246"/>
                  <a:pt x="2100" y="249"/>
                </a:cubicBezTo>
                <a:cubicBezTo>
                  <a:pt x="2099" y="258"/>
                  <a:pt x="2091" y="272"/>
                  <a:pt x="2068" y="272"/>
                </a:cubicBezTo>
                <a:cubicBezTo>
                  <a:pt x="2045" y="272"/>
                  <a:pt x="2038" y="258"/>
                  <a:pt x="2036" y="249"/>
                </a:cubicBezTo>
                <a:cubicBezTo>
                  <a:pt x="2036" y="246"/>
                  <a:pt x="2035" y="241"/>
                  <a:pt x="2035" y="237"/>
                </a:cubicBezTo>
                <a:cubicBezTo>
                  <a:pt x="2035" y="95"/>
                  <a:pt x="2035" y="95"/>
                  <a:pt x="2035" y="95"/>
                </a:cubicBezTo>
                <a:cubicBezTo>
                  <a:pt x="2035" y="90"/>
                  <a:pt x="2036" y="85"/>
                  <a:pt x="2037" y="80"/>
                </a:cubicBezTo>
                <a:cubicBezTo>
                  <a:pt x="2038" y="73"/>
                  <a:pt x="2045" y="58"/>
                  <a:pt x="2068" y="58"/>
                </a:cubicBezTo>
                <a:cubicBezTo>
                  <a:pt x="2092" y="58"/>
                  <a:pt x="2098" y="74"/>
                  <a:pt x="2099" y="80"/>
                </a:cubicBezTo>
                <a:cubicBezTo>
                  <a:pt x="2100" y="85"/>
                  <a:pt x="2100" y="92"/>
                  <a:pt x="2100" y="92"/>
                </a:cubicBezTo>
                <a:cubicBezTo>
                  <a:pt x="2100" y="110"/>
                  <a:pt x="2100" y="110"/>
                  <a:pt x="2100" y="110"/>
                </a:cubicBezTo>
                <a:cubicBezTo>
                  <a:pt x="2178" y="110"/>
                  <a:pt x="2178" y="110"/>
                  <a:pt x="2178" y="110"/>
                </a:cubicBezTo>
                <a:cubicBezTo>
                  <a:pt x="2178" y="99"/>
                  <a:pt x="2178" y="99"/>
                  <a:pt x="2178" y="99"/>
                </a:cubicBezTo>
                <a:cubicBezTo>
                  <a:pt x="2178" y="99"/>
                  <a:pt x="2179" y="89"/>
                  <a:pt x="2178" y="79"/>
                </a:cubicBezTo>
                <a:cubicBezTo>
                  <a:pt x="2172" y="20"/>
                  <a:pt x="2124" y="2"/>
                  <a:pt x="2068" y="2"/>
                </a:cubicBezTo>
                <a:cubicBezTo>
                  <a:pt x="2013" y="2"/>
                  <a:pt x="1966" y="21"/>
                  <a:pt x="1959" y="79"/>
                </a:cubicBezTo>
                <a:cubicBezTo>
                  <a:pt x="1958" y="84"/>
                  <a:pt x="1958" y="94"/>
                  <a:pt x="1958" y="99"/>
                </a:cubicBezTo>
                <a:cubicBezTo>
                  <a:pt x="1958" y="230"/>
                  <a:pt x="1958" y="230"/>
                  <a:pt x="1958" y="230"/>
                </a:cubicBezTo>
                <a:cubicBezTo>
                  <a:pt x="1958" y="236"/>
                  <a:pt x="1958" y="241"/>
                  <a:pt x="1959" y="251"/>
                </a:cubicBezTo>
                <a:cubicBezTo>
                  <a:pt x="1964" y="308"/>
                  <a:pt x="2013" y="328"/>
                  <a:pt x="2068" y="328"/>
                </a:cubicBezTo>
                <a:cubicBezTo>
                  <a:pt x="2124" y="328"/>
                  <a:pt x="2173" y="308"/>
                  <a:pt x="2178" y="251"/>
                </a:cubicBezTo>
                <a:cubicBezTo>
                  <a:pt x="2179" y="241"/>
                  <a:pt x="2179" y="236"/>
                  <a:pt x="2179" y="230"/>
                </a:cubicBezTo>
                <a:cubicBezTo>
                  <a:pt x="2179" y="147"/>
                  <a:pt x="2179" y="147"/>
                  <a:pt x="2179" y="147"/>
                </a:cubicBezTo>
                <a:lnTo>
                  <a:pt x="2069" y="147"/>
                </a:lnTo>
                <a:close/>
              </a:path>
            </a:pathLst>
          </a:custGeom>
          <a:solidFill>
            <a:srgbClr val="0924A5"/>
          </a:solidFill>
          <a:ln>
            <a:noFill/>
          </a:ln>
        </p:spPr>
        <p:txBody>
          <a:bodyPr vert="horz" wrap="square" lIns="91411" tIns="45705" rIns="91411" bIns="45705" numCol="1" anchor="t" anchorCtr="0" compatLnSpc="1">
            <a:prstTxWarp prst="textNoShape">
              <a:avLst/>
            </a:prstTxWarp>
            <a:scene3d>
              <a:camera prst="orthographicFront"/>
              <a:lightRig rig="threePt" dir="t"/>
            </a:scene3d>
            <a:sp3d>
              <a:bevelT w="0" h="6350"/>
            </a:sp3d>
          </a:bodyPr>
          <a:lstStyle/>
          <a:p>
            <a:pPr marL="0" marR="0" lvl="0" indent="0" algn="l" defTabSz="914126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ko-KR" altLang="en-US" sz="1959" noProof="0" dirty="0"/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65631" y="6141164"/>
            <a:ext cx="1371564" cy="45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444263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779288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4" r:id="rId1"/>
    <p:sldLayoutId id="2147483691" r:id="rId2"/>
    <p:sldLayoutId id="2147483685" r:id="rId3"/>
    <p:sldLayoutId id="2147483687" r:id="rId4"/>
    <p:sldLayoutId id="2147483694" r:id="rId5"/>
    <p:sldLayoutId id="2147483693" r:id="rId6"/>
    <p:sldLayoutId id="2147483686" r:id="rId7"/>
    <p:sldLayoutId id="2147483688" r:id="rId8"/>
    <p:sldLayoutId id="2147483689" r:id="rId9"/>
    <p:sldLayoutId id="2147483690" r:id="rId10"/>
  </p:sldLayoutIdLst>
  <p:txStyles>
    <p:titleStyle>
      <a:lvl1pPr algn="l" defTabSz="914126" rtl="0" eaLnBrk="1" latinLnBrk="1" hangingPunct="1">
        <a:lnSpc>
          <a:spcPct val="90000"/>
        </a:lnSpc>
        <a:spcBef>
          <a:spcPct val="0"/>
        </a:spcBef>
        <a:buNone/>
        <a:defRPr sz="439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531" indent="-228531" algn="l" defTabSz="914126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799" kern="1200">
          <a:solidFill>
            <a:schemeClr val="tx1"/>
          </a:solidFill>
          <a:latin typeface="+mn-lt"/>
          <a:ea typeface="+mn-ea"/>
          <a:cs typeface="+mn-cs"/>
        </a:defRPr>
      </a:lvl1pPr>
      <a:lvl2pPr marL="685594" indent="-228531" algn="l" defTabSz="914126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399" kern="1200">
          <a:solidFill>
            <a:schemeClr val="tx1"/>
          </a:solidFill>
          <a:latin typeface="+mn-lt"/>
          <a:ea typeface="+mn-ea"/>
          <a:cs typeface="+mn-cs"/>
        </a:defRPr>
      </a:lvl2pPr>
      <a:lvl3pPr marL="1142657" indent="-228531" algn="l" defTabSz="914126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999" kern="1200">
          <a:solidFill>
            <a:schemeClr val="tx1"/>
          </a:solidFill>
          <a:latin typeface="+mn-lt"/>
          <a:ea typeface="+mn-ea"/>
          <a:cs typeface="+mn-cs"/>
        </a:defRPr>
      </a:lvl3pPr>
      <a:lvl4pPr marL="1599720" indent="-228531" algn="l" defTabSz="914126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799" kern="1200">
          <a:solidFill>
            <a:schemeClr val="tx1"/>
          </a:solidFill>
          <a:latin typeface="+mn-lt"/>
          <a:ea typeface="+mn-ea"/>
          <a:cs typeface="+mn-cs"/>
        </a:defRPr>
      </a:lvl4pPr>
      <a:lvl5pPr marL="2056783" indent="-228531" algn="l" defTabSz="914126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799" kern="1200">
          <a:solidFill>
            <a:schemeClr val="tx1"/>
          </a:solidFill>
          <a:latin typeface="+mn-lt"/>
          <a:ea typeface="+mn-ea"/>
          <a:cs typeface="+mn-cs"/>
        </a:defRPr>
      </a:lvl5pPr>
      <a:lvl6pPr marL="2513846" indent="-228531" algn="l" defTabSz="914126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799" kern="1200">
          <a:solidFill>
            <a:schemeClr val="tx1"/>
          </a:solidFill>
          <a:latin typeface="+mn-lt"/>
          <a:ea typeface="+mn-ea"/>
          <a:cs typeface="+mn-cs"/>
        </a:defRPr>
      </a:lvl6pPr>
      <a:lvl7pPr marL="2970908" indent="-228531" algn="l" defTabSz="914126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799" kern="1200">
          <a:solidFill>
            <a:schemeClr val="tx1"/>
          </a:solidFill>
          <a:latin typeface="+mn-lt"/>
          <a:ea typeface="+mn-ea"/>
          <a:cs typeface="+mn-cs"/>
        </a:defRPr>
      </a:lvl7pPr>
      <a:lvl8pPr marL="3427971" indent="-228531" algn="l" defTabSz="914126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799" kern="1200">
          <a:solidFill>
            <a:schemeClr val="tx1"/>
          </a:solidFill>
          <a:latin typeface="+mn-lt"/>
          <a:ea typeface="+mn-ea"/>
          <a:cs typeface="+mn-cs"/>
        </a:defRPr>
      </a:lvl8pPr>
      <a:lvl9pPr marL="3885034" indent="-228531" algn="l" defTabSz="914126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79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126" rtl="0" eaLnBrk="1" latinLnBrk="1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1pPr>
      <a:lvl2pPr marL="457063" algn="l" defTabSz="914126" rtl="0" eaLnBrk="1" latinLnBrk="1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2pPr>
      <a:lvl3pPr marL="914126" algn="l" defTabSz="914126" rtl="0" eaLnBrk="1" latinLnBrk="1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3pPr>
      <a:lvl4pPr marL="1371189" algn="l" defTabSz="914126" rtl="0" eaLnBrk="1" latinLnBrk="1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4pPr>
      <a:lvl5pPr marL="1828251" algn="l" defTabSz="914126" rtl="0" eaLnBrk="1" latinLnBrk="1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5pPr>
      <a:lvl6pPr marL="2285314" algn="l" defTabSz="914126" rtl="0" eaLnBrk="1" latinLnBrk="1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6pPr>
      <a:lvl7pPr marL="2742377" algn="l" defTabSz="914126" rtl="0" eaLnBrk="1" latinLnBrk="1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7pPr>
      <a:lvl8pPr marL="3199440" algn="l" defTabSz="914126" rtl="0" eaLnBrk="1" latinLnBrk="1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8pPr>
      <a:lvl9pPr marL="3656503" algn="l" defTabSz="914126" rtl="0" eaLnBrk="1" latinLnBrk="1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2.png"/><Relationship Id="rId3" Type="http://schemas.openxmlformats.org/officeDocument/2006/relationships/image" Target="../media/image15.png"/><Relationship Id="rId4" Type="http://schemas.openxmlformats.org/officeDocument/2006/relationships/image" Target="../media/image10.png"/><Relationship Id="rId5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ackground"/>
          <p:cNvSpPr/>
          <p:nvPr/>
        </p:nvSpPr>
        <p:spPr>
          <a:xfrm>
            <a:off x="0" y="0"/>
            <a:ext cx="9902952" cy="6858000"/>
          </a:xfrm>
          <a:prstGeom prst="rect">
            <a:avLst/>
          </a:prstGeom>
          <a:solidFill>
            <a:srgbClr val="1A1A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Samsung logo" descr="Samsu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6327648"/>
            <a:ext cx="1051560" cy="16167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828800" y="6281928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F2EFE2"/>
                </a:solidFill>
                <a:latin typeface="Readex Pro"/>
                <a:cs typeface="Readex Pro"/>
                <a:ea typeface="Readex Pro"/>
              </a:rPr>
              <a:t>Samsung Innovation Campus  ·  AI Course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28192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>
                <a:solidFill>
                  <a:srgbClr val="F2EFE2"/>
                </a:solidFill>
                <a:latin typeface="Readex Pro"/>
                <a:cs typeface="Readex Pro"/>
                <a:ea typeface="Readex Pro"/>
              </a:rPr>
              <a:t>1 / 9</a:t>
            </a:r>
          </a:p>
        </p:txBody>
      </p:sp>
      <p:pic>
        <p:nvPicPr>
          <p:cNvPr id="6" name="Bayan logo" descr="Bayan logo: open book with a su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42716" y="868680"/>
            <a:ext cx="3017520" cy="169546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0" y="2971800"/>
            <a:ext cx="9902952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400" b="1">
                <a:solidFill>
                  <a:srgbClr val="F2EFE2"/>
                </a:solidFill>
                <a:latin typeface="Readex Pro"/>
                <a:cs typeface="Readex Pro"/>
                <a:ea typeface="Readex Pro"/>
              </a:rPr>
              <a:t>Bayan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3840480"/>
            <a:ext cx="990295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0">
                <a:solidFill>
                  <a:srgbClr val="F2EFE2"/>
                </a:solidFill>
                <a:latin typeface="Readex Pro"/>
                <a:cs typeface="Readex Pro"/>
                <a:ea typeface="Readex Pro"/>
              </a:rPr>
              <a:t>On-device Arabic text simplification for readers with dyslexia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4480560"/>
            <a:ext cx="9902952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C6986B"/>
                </a:solidFill>
                <a:latin typeface="Readex Pro"/>
                <a:cs typeface="Readex Pro"/>
                <a:ea typeface="Readex Pro"/>
              </a:rPr>
              <a:t>Team Cogni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4892040"/>
            <a:ext cx="99029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0">
                <a:solidFill>
                  <a:srgbClr val="A29D8C"/>
                </a:solidFill>
                <a:latin typeface="Readex Pro"/>
                <a:cs typeface="Readex Pro"/>
                <a:ea typeface="Readex Pro"/>
              </a:rPr>
              <a:t>Marwan Elamami  ·  Abdulrahman Khengari  ·  Ahmed Alaeb  ·  Sanad Ali  ·  Mohammed Thabet  ·  Abdul Majid Mraied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</p:bld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ackground"/>
          <p:cNvSpPr/>
          <p:nvPr/>
        </p:nvSpPr>
        <p:spPr>
          <a:xfrm>
            <a:off x="0" y="0"/>
            <a:ext cx="9902952" cy="6858000"/>
          </a:xfrm>
          <a:prstGeom prst="rect">
            <a:avLst/>
          </a:prstGeom>
          <a:solidFill>
            <a:srgbClr val="F6F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94360" y="502920"/>
            <a:ext cx="54864" cy="219456"/>
          </a:xfrm>
          <a:prstGeom prst="rect">
            <a:avLst/>
          </a:prstGeom>
          <a:solidFill>
            <a:srgbClr val="C69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0664" y="457200"/>
            <a:ext cx="45720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C6986B"/>
                </a:solidFill>
                <a:latin typeface="Readex Pro"/>
                <a:cs typeface="Readex Pro"/>
                <a:ea typeface="Readex Pro"/>
              </a:rPr>
              <a:t>01 · THE IDEA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22960"/>
            <a:ext cx="8714232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800" b="1">
                <a:solidFill>
                  <a:srgbClr val="282824"/>
                </a:solidFill>
                <a:latin typeface="Readex Pro"/>
                <a:cs typeface="Readex Pro"/>
                <a:ea typeface="Readex Pro"/>
              </a:rPr>
              <a:t>Arabic hides its own pronunciation</a:t>
            </a:r>
          </a:p>
        </p:txBody>
      </p:sp>
      <p:pic>
        <p:nvPicPr>
          <p:cNvPr id="6" name="Samsung logo" descr="Samsu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6327648"/>
            <a:ext cx="1051560" cy="16167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828800" y="6281928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6F6B5E"/>
                </a:solidFill>
                <a:latin typeface="Readex Pro"/>
                <a:cs typeface="Readex Pro"/>
                <a:ea typeface="Readex Pro"/>
              </a:rPr>
              <a:t>Samsung Innovation Campus  ·  AI Course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94192" y="628192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>
                <a:solidFill>
                  <a:srgbClr val="6F6B5E"/>
                </a:solidFill>
                <a:latin typeface="Readex Pro"/>
                <a:cs typeface="Readex Pro"/>
                <a:ea typeface="Readex Pro"/>
              </a:rPr>
              <a:t>2 / 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965960"/>
            <a:ext cx="3383280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400" b="0">
                <a:solidFill>
                  <a:srgbClr val="C6986B"/>
                </a:solidFill>
                <a:latin typeface="Readex Pro"/>
                <a:cs typeface="Readex Pro"/>
                <a:ea typeface="Readex Pro"/>
              </a:rPr>
              <a:t>11%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246120"/>
            <a:ext cx="33832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0">
                <a:solidFill>
                  <a:srgbClr val="4A4842"/>
                </a:solidFill>
                <a:latin typeface="Readex Pro"/>
                <a:cs typeface="Readex Pro"/>
                <a:ea typeface="Readex Pro"/>
              </a:rPr>
              <a:t>of Arab primary-school children</a:t>
            </a:r>
          </a:p>
          <a:p>
            <a:pPr algn="ctr"/>
            <a:r>
              <a:rPr sz="1600" b="0">
                <a:solidFill>
                  <a:srgbClr val="4A4842"/>
                </a:solidFill>
                <a:latin typeface="Readex Pro"/>
                <a:cs typeface="Readex Pro"/>
                <a:ea typeface="Readex Pro"/>
              </a:rPr>
              <a:t>have developmental dyslexia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93192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 b="0">
                <a:solidFill>
                  <a:srgbClr val="6F6B5E"/>
                </a:solidFill>
                <a:latin typeface="Readex Pro"/>
                <a:cs typeface="Readex Pro"/>
                <a:ea typeface="Readex Pro"/>
              </a:rPr>
              <a:t>pooled over 18 studies, N = 30,243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1645920"/>
            <a:ext cx="5010912" cy="3246120"/>
          </a:xfrm>
          <a:prstGeom prst="roundRect">
            <a:avLst>
              <a:gd name="adj" fmla="val 4507"/>
            </a:avLst>
          </a:prstGeom>
          <a:solidFill>
            <a:srgbClr val="EFE9D9"/>
          </a:solidFill>
          <a:ln w="15875">
            <a:solidFill>
              <a:srgbClr val="E6DF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97680" y="1783080"/>
            <a:ext cx="5010912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rtl="1"/>
            <a:r>
              <a:rPr sz="7200" b="0" lang="ar-SA">
                <a:solidFill>
                  <a:srgbClr val="282824"/>
                </a:solidFill>
                <a:latin typeface="Amiri"/>
                <a:cs typeface="Amiri"/>
                <a:ea typeface="Amiri"/>
              </a:rPr>
              <a:t>كتب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2880360"/>
            <a:ext cx="501091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6F6B5E"/>
                </a:solidFill>
                <a:latin typeface="Readex Pro"/>
                <a:cs typeface="Readex Pro"/>
                <a:ea typeface="Readex Pro"/>
              </a:rPr>
              <a:t>one written form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803136" y="3200400"/>
            <a:ext cx="1746504" cy="320040"/>
          </a:xfrm>
          <a:prstGeom prst="line">
            <a:avLst/>
          </a:prstGeom>
          <a:ln w="25400">
            <a:solidFill>
              <a:srgbClr val="C698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726679" y="3520440"/>
            <a:ext cx="164592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rtl="1"/>
            <a:r>
              <a:rPr sz="3600" b="0" lang="ar-SA">
                <a:solidFill>
                  <a:srgbClr val="282824"/>
                </a:solidFill>
                <a:latin typeface="Amiri"/>
                <a:cs typeface="Amiri"/>
                <a:ea typeface="Amiri"/>
              </a:rPr>
              <a:t>كَتَبَ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26679" y="4251960"/>
            <a:ext cx="1645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8A5E35"/>
                </a:solidFill>
                <a:latin typeface="Readex Pro"/>
                <a:cs typeface="Readex Pro"/>
                <a:ea typeface="Readex Pro"/>
              </a:rPr>
              <a:t>kataba</a:t>
            </a:r>
          </a:p>
          <a:p>
            <a:pPr algn="ctr"/>
            <a:r>
              <a:rPr sz="1150" b="0">
                <a:solidFill>
                  <a:srgbClr val="8A5E35"/>
                </a:solidFill>
                <a:latin typeface="Readex Pro"/>
                <a:cs typeface="Readex Pro"/>
                <a:ea typeface="Readex Pro"/>
              </a:rPr>
              <a:t>he wrote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03136" y="3200400"/>
            <a:ext cx="0" cy="320040"/>
          </a:xfrm>
          <a:prstGeom prst="line">
            <a:avLst/>
          </a:prstGeom>
          <a:ln w="25400">
            <a:solidFill>
              <a:srgbClr val="C698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980176" y="3520440"/>
            <a:ext cx="164592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rtl="1"/>
            <a:r>
              <a:rPr sz="3600" b="0" lang="ar-SA">
                <a:solidFill>
                  <a:srgbClr val="282824"/>
                </a:solidFill>
                <a:latin typeface="Amiri"/>
                <a:cs typeface="Amiri"/>
                <a:ea typeface="Amiri"/>
              </a:rPr>
              <a:t>كُتِبَ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80176" y="4251960"/>
            <a:ext cx="1645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8A5E35"/>
                </a:solidFill>
                <a:latin typeface="Readex Pro"/>
                <a:cs typeface="Readex Pro"/>
                <a:ea typeface="Readex Pro"/>
              </a:rPr>
              <a:t>kutiba</a:t>
            </a:r>
          </a:p>
          <a:p>
            <a:pPr algn="ctr"/>
            <a:r>
              <a:rPr sz="1150" b="0">
                <a:solidFill>
                  <a:srgbClr val="8A5E35"/>
                </a:solidFill>
                <a:latin typeface="Readex Pro"/>
                <a:cs typeface="Readex Pro"/>
                <a:ea typeface="Readex Pro"/>
              </a:rPr>
              <a:t>it was written</a:t>
            </a:r>
          </a:p>
        </p:txBody>
      </p:sp>
      <p:cxnSp>
        <p:nvCxnSpPr>
          <p:cNvPr id="21" name="Connector 20"/>
          <p:cNvCxnSpPr/>
          <p:nvPr/>
        </p:nvCxnSpPr>
        <p:spPr>
          <a:xfrm flipH="1">
            <a:off x="5056632" y="3200400"/>
            <a:ext cx="1746504" cy="320040"/>
          </a:xfrm>
          <a:prstGeom prst="line">
            <a:avLst/>
          </a:prstGeom>
          <a:ln w="25400">
            <a:solidFill>
              <a:srgbClr val="C698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4233672" y="3520440"/>
            <a:ext cx="164592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rtl="1"/>
            <a:r>
              <a:rPr sz="3600" b="0" lang="ar-SA">
                <a:solidFill>
                  <a:srgbClr val="282824"/>
                </a:solidFill>
                <a:latin typeface="Amiri"/>
                <a:cs typeface="Amiri"/>
                <a:ea typeface="Amiri"/>
              </a:rPr>
              <a:t>كُتُب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33672" y="4251960"/>
            <a:ext cx="1645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8A5E35"/>
                </a:solidFill>
                <a:latin typeface="Readex Pro"/>
                <a:cs typeface="Readex Pro"/>
                <a:ea typeface="Readex Pro"/>
              </a:rPr>
              <a:t>kutub</a:t>
            </a:r>
          </a:p>
          <a:p>
            <a:pPr algn="ctr"/>
            <a:r>
              <a:rPr sz="1150" b="0">
                <a:solidFill>
                  <a:srgbClr val="8A5E35"/>
                </a:solidFill>
                <a:latin typeface="Readex Pro"/>
                <a:cs typeface="Readex Pro"/>
                <a:ea typeface="Readex Pro"/>
              </a:rPr>
              <a:t>books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94360" y="5138928"/>
            <a:ext cx="7863840" cy="420624"/>
          </a:xfrm>
          <a:prstGeom prst="roundRect">
            <a:avLst>
              <a:gd name="adj" fmla="val 50000"/>
            </a:avLst>
          </a:prstGeom>
          <a:solidFill>
            <a:srgbClr val="EFE9D9"/>
          </a:solidFill>
          <a:ln w="15875">
            <a:solidFill>
              <a:srgbClr val="E6DF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0" bIns="0"/>
          <a:lstStyle/>
          <a:p>
            <a:pPr algn="l"/>
            <a:r>
              <a:rPr sz="1300" b="0">
                <a:solidFill>
                  <a:srgbClr val="4A4842"/>
                </a:solidFill>
                <a:latin typeface="Readex Pro"/>
                <a:cs typeface="Readex Pro"/>
                <a:ea typeface="Readex Pro"/>
              </a:rPr>
              <a:t>Fused prefixes and suffixes  →  long words that resist chunking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94360" y="5650992"/>
            <a:ext cx="7863840" cy="420624"/>
          </a:xfrm>
          <a:prstGeom prst="roundRect">
            <a:avLst>
              <a:gd name="adj" fmla="val 50000"/>
            </a:avLst>
          </a:prstGeom>
          <a:solidFill>
            <a:srgbClr val="EFE9D9"/>
          </a:solidFill>
          <a:ln w="15875">
            <a:solidFill>
              <a:srgbClr val="E6DF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0" bIns="0"/>
          <a:lstStyle/>
          <a:p>
            <a:pPr algn="l"/>
            <a:r>
              <a:rPr sz="1300" b="0">
                <a:solidFill>
                  <a:srgbClr val="4A4842"/>
                </a:solidFill>
                <a:latin typeface="Readex Pro"/>
                <a:cs typeface="Readex Pro"/>
                <a:ea typeface="Readex Pro"/>
              </a:rPr>
              <a:t>Clauses chained with و and ف  →  sentences longer than working memory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6" grpId="0" animBg="1"/>
      <p:bldP spid="17" grpId="0" animBg="1"/>
      <p:bldP spid="19" grpId="0" animBg="1"/>
      <p:bldP spid="20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ackground"/>
          <p:cNvSpPr/>
          <p:nvPr/>
        </p:nvSpPr>
        <p:spPr>
          <a:xfrm>
            <a:off x="0" y="0"/>
            <a:ext cx="9902952" cy="6858000"/>
          </a:xfrm>
          <a:prstGeom prst="rect">
            <a:avLst/>
          </a:prstGeom>
          <a:solidFill>
            <a:srgbClr val="F6F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94360" y="502920"/>
            <a:ext cx="54864" cy="219456"/>
          </a:xfrm>
          <a:prstGeom prst="rect">
            <a:avLst/>
          </a:prstGeom>
          <a:solidFill>
            <a:srgbClr val="C69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0664" y="457200"/>
            <a:ext cx="45720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C6986B"/>
                </a:solidFill>
                <a:latin typeface="Readex Pro"/>
                <a:cs typeface="Readex Pro"/>
                <a:ea typeface="Readex Pro"/>
              </a:rPr>
              <a:t>01 · THE IDEA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22960"/>
            <a:ext cx="8714232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800" b="1">
                <a:solidFill>
                  <a:srgbClr val="282824"/>
                </a:solidFill>
                <a:latin typeface="Readex Pro"/>
                <a:cs typeface="Readex Pro"/>
                <a:ea typeface="Readex Pro"/>
              </a:rPr>
              <a:t>Nobody had built this: no tool, no data</a:t>
            </a:r>
          </a:p>
        </p:txBody>
      </p:sp>
      <p:pic>
        <p:nvPicPr>
          <p:cNvPr id="6" name="Samsung logo" descr="Samsu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6327648"/>
            <a:ext cx="1051560" cy="16167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828800" y="6281928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6F6B5E"/>
                </a:solidFill>
                <a:latin typeface="Readex Pro"/>
                <a:cs typeface="Readex Pro"/>
                <a:ea typeface="Readex Pro"/>
              </a:rPr>
              <a:t>Samsung Innovation Campus  ·  AI Course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94192" y="628192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>
                <a:solidFill>
                  <a:srgbClr val="6F6B5E"/>
                </a:solidFill>
                <a:latin typeface="Readex Pro"/>
                <a:cs typeface="Readex Pro"/>
                <a:ea typeface="Readex Pro"/>
              </a:rPr>
              <a:t>3 / 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29000" y="1691640"/>
            <a:ext cx="14630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282824"/>
                </a:solidFill>
                <a:latin typeface="Readex Pro"/>
                <a:cs typeface="Readex Pro"/>
                <a:ea typeface="Readex Pro"/>
              </a:rPr>
              <a:t>SAMER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29000" y="2011680"/>
            <a:ext cx="146304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0000"/>
              </a:lnSpc>
            </a:pPr>
            <a:r>
              <a:rPr sz="1050" b="0">
                <a:solidFill>
                  <a:srgbClr val="6F6B5E"/>
                </a:solidFill>
                <a:latin typeface="Readex Pro"/>
                <a:cs typeface="Readex Pro"/>
                <a:ea typeface="Readex Pro"/>
              </a:rPr>
              <a:t>15 novels,</a:t>
            </a:r>
          </a:p>
          <a:p>
            <a:pPr algn="ctr">
              <a:lnSpc>
                <a:spcPct val="90000"/>
              </a:lnSpc>
            </a:pPr>
            <a:r>
              <a:rPr sz="1050" b="0">
                <a:solidFill>
                  <a:srgbClr val="6F6B5E"/>
                </a:solidFill>
                <a:latin typeface="Readex Pro"/>
                <a:cs typeface="Readex Pro"/>
                <a:ea typeface="Readex Pro"/>
              </a:rPr>
              <a:t>3 levels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60" y="1691640"/>
            <a:ext cx="14630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282824"/>
                </a:solidFill>
                <a:latin typeface="Readex Pro"/>
                <a:cs typeface="Readex Pro"/>
                <a:ea typeface="Readex Pro"/>
              </a:rPr>
              <a:t>BAREC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37760" y="2011680"/>
            <a:ext cx="146304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0000"/>
              </a:lnSpc>
            </a:pPr>
            <a:r>
              <a:rPr sz="1050" b="0">
                <a:solidFill>
                  <a:srgbClr val="6F6B5E"/>
                </a:solidFill>
                <a:latin typeface="Readex Pro"/>
                <a:cs typeface="Readex Pro"/>
                <a:ea typeface="Readex Pro"/>
              </a:rPr>
              <a:t>69,441</a:t>
            </a:r>
          </a:p>
          <a:p>
            <a:pPr algn="ctr">
              <a:lnSpc>
                <a:spcPct val="90000"/>
              </a:lnSpc>
            </a:pPr>
            <a:r>
              <a:rPr sz="1050" b="0">
                <a:solidFill>
                  <a:srgbClr val="6F6B5E"/>
                </a:solidFill>
                <a:latin typeface="Readex Pro"/>
                <a:cs typeface="Readex Pro"/>
                <a:ea typeface="Readex Pro"/>
              </a:rPr>
              <a:t>sentences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1691640"/>
            <a:ext cx="14630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282824"/>
                </a:solidFill>
                <a:latin typeface="Readex Pro"/>
                <a:cs typeface="Readex Pro"/>
                <a:ea typeface="Readex Pro"/>
              </a:rPr>
              <a:t>Baseet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2011680"/>
            <a:ext cx="146304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0000"/>
              </a:lnSpc>
            </a:pPr>
            <a:r>
              <a:rPr sz="1050" b="0">
                <a:solidFill>
                  <a:srgbClr val="6F6B5E"/>
                </a:solidFill>
                <a:latin typeface="Readex Pro"/>
                <a:cs typeface="Readex Pro"/>
                <a:ea typeface="Readex Pro"/>
              </a:rPr>
              <a:t>3 LLM</a:t>
            </a:r>
          </a:p>
          <a:p>
            <a:pPr algn="ctr">
              <a:lnSpc>
                <a:spcPct val="90000"/>
              </a:lnSpc>
            </a:pPr>
            <a:r>
              <a:rPr sz="1050" b="0">
                <a:solidFill>
                  <a:srgbClr val="6F6B5E"/>
                </a:solidFill>
                <a:latin typeface="Readex Pro"/>
                <a:cs typeface="Readex Pro"/>
                <a:ea typeface="Readex Pro"/>
              </a:rPr>
              <a:t>levels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55279" y="1691640"/>
            <a:ext cx="14630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282824"/>
                </a:solidFill>
                <a:latin typeface="Readex Pro"/>
                <a:cs typeface="Readex Pro"/>
                <a:ea typeface="Readex Pro"/>
              </a:rPr>
              <a:t>DAASI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011680"/>
            <a:ext cx="146304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0000"/>
              </a:lnSpc>
            </a:pPr>
            <a:r>
              <a:rPr sz="1050" b="0">
                <a:solidFill>
                  <a:srgbClr val="6F6B5E"/>
                </a:solidFill>
                <a:latin typeface="Readex Pro"/>
                <a:cs typeface="Readex Pro"/>
                <a:ea typeface="Readex Pro"/>
              </a:rPr>
              <a:t>government &amp;</a:t>
            </a:r>
          </a:p>
          <a:p>
            <a:pPr algn="ctr">
              <a:lnSpc>
                <a:spcPct val="90000"/>
              </a:lnSpc>
            </a:pPr>
            <a:r>
              <a:rPr sz="1050" b="0">
                <a:solidFill>
                  <a:srgbClr val="6F6B5E"/>
                </a:solidFill>
                <a:latin typeface="Readex Pro"/>
                <a:cs typeface="Readex Pro"/>
                <a:ea typeface="Readex Pro"/>
              </a:rPr>
              <a:t>insurance text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94360" y="2560320"/>
            <a:ext cx="8714232" cy="0"/>
          </a:xfrm>
          <a:prstGeom prst="line">
            <a:avLst/>
          </a:prstGeom>
          <a:ln w="25400">
            <a:solidFill>
              <a:srgbClr val="E6DF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502920" y="4123944"/>
            <a:ext cx="8897111" cy="621792"/>
          </a:xfrm>
          <a:prstGeom prst="roundRect">
            <a:avLst>
              <a:gd name="adj" fmla="val 22058"/>
            </a:avLst>
          </a:prstGeom>
          <a:solidFill>
            <a:srgbClr val="F3E2DA"/>
          </a:solidFill>
          <a:ln w="15875">
            <a:solidFill>
              <a:srgbClr val="F3E2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288036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>
                <a:solidFill>
                  <a:srgbClr val="4A4842"/>
                </a:solidFill>
                <a:latin typeface="Readex Pro"/>
                <a:cs typeface="Readex Pro"/>
                <a:ea typeface="Readex Pro"/>
              </a:rPr>
              <a:t>Rewrites by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29000" y="2880360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>
                <a:solidFill>
                  <a:srgbClr val="4A4842"/>
                </a:solidFill>
                <a:latin typeface="Readex Pro"/>
                <a:cs typeface="Readex Pro"/>
                <a:ea typeface="Readex Pro"/>
              </a:rPr>
              <a:t>human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37760" y="2880360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>
                <a:solidFill>
                  <a:srgbClr val="4A4842"/>
                </a:solidFill>
                <a:latin typeface="Readex Pro"/>
                <a:cs typeface="Readex Pro"/>
                <a:ea typeface="Readex Pro"/>
              </a:rPr>
              <a:t>levels only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2880360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>
                <a:solidFill>
                  <a:srgbClr val="4A4842"/>
                </a:solidFill>
                <a:latin typeface="Readex Pro"/>
                <a:cs typeface="Readex Pro"/>
                <a:ea typeface="Readex Pro"/>
              </a:rPr>
              <a:t>LLM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55279" y="2880360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>
                <a:solidFill>
                  <a:srgbClr val="4A4842"/>
                </a:solidFill>
                <a:latin typeface="Readex Pro"/>
                <a:cs typeface="Readex Pro"/>
                <a:ea typeface="Readex Pro"/>
              </a:rPr>
              <a:t>human-verified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3566159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>
                <a:solidFill>
                  <a:srgbClr val="4A4842"/>
                </a:solidFill>
                <a:latin typeface="Readex Pro"/>
                <a:cs typeface="Readex Pro"/>
                <a:ea typeface="Readex Pro"/>
              </a:rPr>
              <a:t>Adds a sentence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29000" y="3566159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>
                <a:solidFill>
                  <a:srgbClr val="4A4842"/>
                </a:solidFill>
                <a:latin typeface="Readex Pro"/>
                <a:cs typeface="Readex Pro"/>
                <a:ea typeface="Readex Pro"/>
              </a:rPr>
              <a:t>0% of pairs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37760" y="3566159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>
                <a:solidFill>
                  <a:srgbClr val="4A4842"/>
                </a:solidFill>
                <a:latin typeface="Readex Pro"/>
                <a:cs typeface="Readex Pro"/>
                <a:ea typeface="Readex Pro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46520" y="3566159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>
                <a:solidFill>
                  <a:srgbClr val="4A4842"/>
                </a:solidFill>
                <a:latin typeface="Readex Pro"/>
                <a:cs typeface="Readex Pro"/>
                <a:ea typeface="Readex Pro"/>
              </a:rPr>
              <a:t>2–4%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55279" y="3566159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>
                <a:solidFill>
                  <a:srgbClr val="4A4842"/>
                </a:solidFill>
                <a:latin typeface="Readex Pro"/>
                <a:cs typeface="Readex Pro"/>
                <a:ea typeface="Readex Pro"/>
              </a:rPr>
              <a:t>8%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4360" y="4251959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B5533C"/>
                </a:solidFill>
                <a:latin typeface="Readex Pro"/>
                <a:cs typeface="Readex Pro"/>
                <a:ea typeface="Readex Pro"/>
              </a:rPr>
              <a:t>Made for dyslexia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29000" y="4251959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B5533C"/>
                </a:solidFill>
                <a:latin typeface="Readex Pro"/>
                <a:cs typeface="Readex Pro"/>
                <a:ea typeface="Readex Pro"/>
              </a:rPr>
              <a:t>no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37760" y="4251959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B5533C"/>
                </a:solidFill>
                <a:latin typeface="Readex Pro"/>
                <a:cs typeface="Readex Pro"/>
                <a:ea typeface="Readex Pro"/>
              </a:rPr>
              <a:t>no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46520" y="4251959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B5533C"/>
                </a:solidFill>
                <a:latin typeface="Readex Pro"/>
                <a:cs typeface="Readex Pro"/>
                <a:ea typeface="Readex Pro"/>
              </a:rPr>
              <a:t>no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4251959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B5533C"/>
                </a:solidFill>
                <a:latin typeface="Readex Pro"/>
                <a:cs typeface="Readex Pro"/>
                <a:ea typeface="Readex Pro"/>
              </a:rPr>
              <a:t>no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" y="5166360"/>
            <a:ext cx="8714232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>
                <a:solidFill>
                  <a:srgbClr val="4A4842"/>
                </a:solidFill>
                <a:latin typeface="Readex Pro"/>
                <a:cs typeface="Readex Pro"/>
                <a:ea typeface="Readex Pro"/>
              </a:rPr>
              <a:t>No deployed Arabic dyslexia tool simplifies text, and no open corpus teaches splitting.</a:t>
            </a:r>
          </a:p>
        </p:txBody>
      </p:sp>
      <p:sp>
        <p:nvSpPr>
          <p:cNvPr id="35" name="Oval 34"/>
          <p:cNvSpPr/>
          <p:nvPr/>
        </p:nvSpPr>
        <p:spPr>
          <a:xfrm>
            <a:off x="1060704" y="5660136"/>
            <a:ext cx="164592" cy="164592"/>
          </a:xfrm>
          <a:prstGeom prst="ellipse">
            <a:avLst/>
          </a:prstGeom>
          <a:solidFill>
            <a:srgbClr val="C69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371600" y="5559552"/>
            <a:ext cx="7891271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>
                <a:solidFill>
                  <a:srgbClr val="282824"/>
                </a:solidFill>
                <a:latin typeface="Readex Pro"/>
                <a:cs typeface="Readex Pro"/>
                <a:ea typeface="Readex Pro"/>
              </a:rPr>
              <a:t>So we built our own data, our own models and our own benchmark.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1" grpId="0" animBg="1"/>
      <p:bldP spid="13" grpId="0" animBg="1"/>
      <p:bldP spid="15" grpId="0" animBg="1"/>
      <p:bldP spid="10" grpId="0" animBg="1"/>
      <p:bldP spid="12" grpId="0" animBg="1"/>
      <p:bldP spid="14" grpId="0" animBg="1"/>
      <p:bldP spid="16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1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ackground"/>
          <p:cNvSpPr/>
          <p:nvPr/>
        </p:nvSpPr>
        <p:spPr>
          <a:xfrm>
            <a:off x="0" y="0"/>
            <a:ext cx="9902952" cy="6858000"/>
          </a:xfrm>
          <a:prstGeom prst="rect">
            <a:avLst/>
          </a:prstGeom>
          <a:solidFill>
            <a:srgbClr val="F6F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94360" y="502920"/>
            <a:ext cx="54864" cy="219456"/>
          </a:xfrm>
          <a:prstGeom prst="rect">
            <a:avLst/>
          </a:prstGeom>
          <a:solidFill>
            <a:srgbClr val="C69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0664" y="457200"/>
            <a:ext cx="45720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C6986B"/>
                </a:solidFill>
                <a:latin typeface="Readex Pro"/>
                <a:cs typeface="Readex Pro"/>
                <a:ea typeface="Readex Pro"/>
              </a:rPr>
              <a:t>02 · THE VERDICT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22960"/>
            <a:ext cx="8714232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800" b="1">
                <a:solidFill>
                  <a:srgbClr val="282824"/>
                </a:solidFill>
                <a:latin typeface="Readex Pro"/>
                <a:cs typeface="Readex Pro"/>
                <a:ea typeface="Readex Pro"/>
              </a:rPr>
              <a:t>Simplify where the reader already is</a:t>
            </a:r>
          </a:p>
        </p:txBody>
      </p:sp>
      <p:pic>
        <p:nvPicPr>
          <p:cNvPr id="6" name="Samsung logo" descr="Samsu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6327648"/>
            <a:ext cx="1051560" cy="16167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828800" y="6281928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6F6B5E"/>
                </a:solidFill>
                <a:latin typeface="Readex Pro"/>
                <a:cs typeface="Readex Pro"/>
                <a:ea typeface="Readex Pro"/>
              </a:rPr>
              <a:t>Samsung Innovation Campus  ·  AI Course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94192" y="628192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>
                <a:solidFill>
                  <a:srgbClr val="6F6B5E"/>
                </a:solidFill>
                <a:latin typeface="Readex Pro"/>
                <a:cs typeface="Readex Pro"/>
                <a:ea typeface="Readex Pro"/>
              </a:rPr>
              <a:t>4 / 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463040"/>
            <a:ext cx="57607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4A4842"/>
                </a:solidFill>
                <a:latin typeface="Readex Pro"/>
                <a:cs typeface="Readex Pro"/>
                <a:ea typeface="Readex Pro"/>
              </a:rPr>
              <a:t>Where does a reader meet hard Arabic?  Inside other apps.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965960"/>
            <a:ext cx="5440680" cy="868680"/>
          </a:xfrm>
          <a:prstGeom prst="roundRect">
            <a:avLst>
              <a:gd name="adj" fmla="val 16842"/>
            </a:avLst>
          </a:prstGeom>
          <a:solidFill>
            <a:srgbClr val="EFE9D9"/>
          </a:solidFill>
          <a:ln w="15875">
            <a:solidFill>
              <a:srgbClr val="E6DF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13815" y="2162556"/>
            <a:ext cx="475488" cy="475488"/>
          </a:xfrm>
          <a:prstGeom prst="ellipse">
            <a:avLst/>
          </a:prstGeom>
          <a:solidFill>
            <a:srgbClr val="A29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500" b="1">
                <a:solidFill>
                  <a:srgbClr val="F6F2E6"/>
                </a:solidFill>
                <a:latin typeface="Readex Pro"/>
                <a:cs typeface="Readex Pro"/>
                <a:ea typeface="Readex Pro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057400"/>
            <a:ext cx="448056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>
                <a:solidFill>
                  <a:srgbClr val="282824"/>
                </a:solidFill>
                <a:latin typeface="Readex Pro"/>
                <a:cs typeface="Readex Pro"/>
                <a:ea typeface="Readex Pro"/>
              </a:rPr>
              <a:t>Chrome extension</a:t>
            </a:r>
          </a:p>
          <a:p>
            <a:pPr algn="l"/>
            <a:r>
              <a:rPr sz="1200" b="0">
                <a:solidFill>
                  <a:srgbClr val="6F6B5E"/>
                </a:solidFill>
                <a:latin typeface="Readex Pro"/>
                <a:cs typeface="Readex Pro"/>
                <a:ea typeface="Readex Pro"/>
              </a:rPr>
              <a:t>desktop-first; reading happens on the phone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2990088"/>
            <a:ext cx="5440680" cy="868680"/>
          </a:xfrm>
          <a:prstGeom prst="roundRect">
            <a:avLst>
              <a:gd name="adj" fmla="val 16842"/>
            </a:avLst>
          </a:prstGeom>
          <a:solidFill>
            <a:srgbClr val="EFE9D9"/>
          </a:solidFill>
          <a:ln w="15875">
            <a:solidFill>
              <a:srgbClr val="E6DF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13815" y="3186684"/>
            <a:ext cx="475488" cy="475488"/>
          </a:xfrm>
          <a:prstGeom prst="ellipse">
            <a:avLst/>
          </a:prstGeom>
          <a:solidFill>
            <a:srgbClr val="C69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500" b="1">
                <a:solidFill>
                  <a:srgbClr val="F6F2E6"/>
                </a:solidFill>
                <a:latin typeface="Readex Pro"/>
                <a:cs typeface="Readex Pro"/>
                <a:ea typeface="Readex Pro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3081528"/>
            <a:ext cx="448056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>
                <a:solidFill>
                  <a:srgbClr val="282824"/>
                </a:solidFill>
                <a:latin typeface="Readex Pro"/>
                <a:cs typeface="Readex Pro"/>
                <a:ea typeface="Readex Pro"/>
              </a:rPr>
              <a:t>Android plugin</a:t>
            </a:r>
          </a:p>
          <a:p>
            <a:pPr algn="l"/>
            <a:r>
              <a:rPr sz="1200" b="0">
                <a:solidFill>
                  <a:srgbClr val="6F6B5E"/>
                </a:solidFill>
                <a:latin typeface="Readex Pro"/>
                <a:cs typeface="Readex Pro"/>
                <a:ea typeface="Readex Pro"/>
              </a:rPr>
              <a:t>«تبسيط» in the selection menu of every app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4014216"/>
            <a:ext cx="5440680" cy="868680"/>
          </a:xfrm>
          <a:prstGeom prst="roundRect">
            <a:avLst>
              <a:gd name="adj" fmla="val 16842"/>
            </a:avLst>
          </a:prstGeom>
          <a:solidFill>
            <a:srgbClr val="EFE9D9"/>
          </a:solidFill>
          <a:ln w="15875">
            <a:solidFill>
              <a:srgbClr val="E6DF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13815" y="4210812"/>
            <a:ext cx="475488" cy="475488"/>
          </a:xfrm>
          <a:prstGeom prst="ellipse">
            <a:avLst/>
          </a:prstGeom>
          <a:solidFill>
            <a:srgbClr val="A29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500" b="1">
                <a:solidFill>
                  <a:srgbClr val="F6F2E6"/>
                </a:solidFill>
                <a:latin typeface="Readex Pro"/>
                <a:cs typeface="Readex Pro"/>
                <a:ea typeface="Readex Pro"/>
              </a:rPr>
              <a:t>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63040" y="4105656"/>
            <a:ext cx="448056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>
                <a:solidFill>
                  <a:srgbClr val="282824"/>
                </a:solidFill>
                <a:latin typeface="Readex Pro"/>
                <a:cs typeface="Readex Pro"/>
                <a:ea typeface="Readex Pro"/>
              </a:rPr>
              <a:t>Standalone app</a:t>
            </a:r>
          </a:p>
          <a:p>
            <a:pPr algn="l"/>
            <a:r>
              <a:rPr sz="1200" b="0">
                <a:solidFill>
                  <a:srgbClr val="6F6B5E"/>
                </a:solidFill>
                <a:latin typeface="Readex Pro"/>
                <a:cs typeface="Readex Pro"/>
                <a:ea typeface="Readex Pro"/>
              </a:rPr>
              <a:t>copy, paste, leave the app: the friction we remove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12280" y="1554480"/>
            <a:ext cx="2468880" cy="4434840"/>
          </a:xfrm>
          <a:prstGeom prst="roundRect">
            <a:avLst>
              <a:gd name="adj" fmla="val 11111"/>
            </a:avLst>
          </a:prstGeom>
          <a:solidFill>
            <a:srgbClr val="F6F2E6"/>
          </a:solidFill>
          <a:ln w="38100">
            <a:solidFill>
              <a:srgbClr val="2828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269479" y="1874519"/>
            <a:ext cx="1828800" cy="100584"/>
          </a:xfrm>
          <a:prstGeom prst="roundRect">
            <a:avLst>
              <a:gd name="adj" fmla="val 45454"/>
            </a:avLst>
          </a:prstGeom>
          <a:solidFill>
            <a:srgbClr val="E6DF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086599" y="2148839"/>
            <a:ext cx="2011680" cy="100584"/>
          </a:xfrm>
          <a:prstGeom prst="roundRect">
            <a:avLst>
              <a:gd name="adj" fmla="val 45454"/>
            </a:avLst>
          </a:prstGeom>
          <a:solidFill>
            <a:srgbClr val="E6DF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360919" y="2423160"/>
            <a:ext cx="1737360" cy="100584"/>
          </a:xfrm>
          <a:prstGeom prst="roundRect">
            <a:avLst>
              <a:gd name="adj" fmla="val 45454"/>
            </a:avLst>
          </a:prstGeom>
          <a:solidFill>
            <a:srgbClr val="E6DF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086599" y="2697479"/>
            <a:ext cx="2011680" cy="100584"/>
          </a:xfrm>
          <a:prstGeom prst="roundRect">
            <a:avLst>
              <a:gd name="adj" fmla="val 45454"/>
            </a:avLst>
          </a:prstGeom>
          <a:solidFill>
            <a:srgbClr val="E6DF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726679" y="2971800"/>
            <a:ext cx="1371600" cy="100584"/>
          </a:xfrm>
          <a:prstGeom prst="roundRect">
            <a:avLst>
              <a:gd name="adj" fmla="val 45454"/>
            </a:avLst>
          </a:prstGeom>
          <a:solidFill>
            <a:srgbClr val="E6DF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086599" y="3246120"/>
            <a:ext cx="2011680" cy="100584"/>
          </a:xfrm>
          <a:prstGeom prst="roundRect">
            <a:avLst>
              <a:gd name="adj" fmla="val 45454"/>
            </a:avLst>
          </a:prstGeom>
          <a:solidFill>
            <a:srgbClr val="E6DF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269479" y="3520439"/>
            <a:ext cx="1828800" cy="100584"/>
          </a:xfrm>
          <a:prstGeom prst="roundRect">
            <a:avLst>
              <a:gd name="adj" fmla="val 45454"/>
            </a:avLst>
          </a:prstGeom>
          <a:solidFill>
            <a:srgbClr val="E6DF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360919" y="2395728"/>
            <a:ext cx="1737360" cy="155448"/>
          </a:xfrm>
          <a:prstGeom prst="roundRect">
            <a:avLst>
              <a:gd name="adj" fmla="val 35294"/>
            </a:avLst>
          </a:prstGeom>
          <a:solidFill>
            <a:srgbClr val="C6986B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7086599" y="2670048"/>
            <a:ext cx="2011680" cy="155448"/>
          </a:xfrm>
          <a:prstGeom prst="roundRect">
            <a:avLst>
              <a:gd name="adj" fmla="val 35294"/>
            </a:avLst>
          </a:prstGeom>
          <a:solidFill>
            <a:srgbClr val="C6986B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7726679" y="2944368"/>
            <a:ext cx="1371600" cy="155448"/>
          </a:xfrm>
          <a:prstGeom prst="roundRect">
            <a:avLst>
              <a:gd name="adj" fmla="val 35294"/>
            </a:avLst>
          </a:prstGeom>
          <a:solidFill>
            <a:srgbClr val="C6986B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949440" y="2286000"/>
            <a:ext cx="2194560" cy="45720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15875">
            <a:solidFill>
              <a:srgbClr val="E6DF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040880" y="2286000"/>
            <a:ext cx="5486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6F6B5E"/>
                </a:solidFill>
                <a:latin typeface="Readex Pro"/>
                <a:cs typeface="Readex Pro"/>
                <a:ea typeface="Readex Pro"/>
              </a:rPr>
              <a:t>Copy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35240" y="2286000"/>
            <a:ext cx="6858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rtl="1"/>
            <a:r>
              <a:rPr sz="1700" b="1" lang="ar-SA">
                <a:solidFill>
                  <a:srgbClr val="8A5E35"/>
                </a:solidFill>
                <a:latin typeface="Noto Naskh Arabic"/>
                <a:cs typeface="Noto Naskh Arabic"/>
                <a:ea typeface="Noto Naskh Arabic"/>
              </a:rPr>
              <a:t>تبسيط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66760" y="2286000"/>
            <a:ext cx="6858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6F6B5E"/>
                </a:solidFill>
                <a:latin typeface="Readex Pro"/>
                <a:cs typeface="Readex Pro"/>
                <a:ea typeface="Readex Pro"/>
              </a:rPr>
              <a:t>Share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949440" y="3931920"/>
            <a:ext cx="2194560" cy="1920240"/>
          </a:xfrm>
          <a:prstGeom prst="roundRect">
            <a:avLst>
              <a:gd name="adj" fmla="val 10476"/>
            </a:avLst>
          </a:prstGeom>
          <a:solidFill>
            <a:srgbClr val="EFE9D9"/>
          </a:solidFill>
          <a:ln w="15875">
            <a:solidFill>
              <a:srgbClr val="A29D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7818120" y="4023360"/>
            <a:ext cx="457200" cy="64008"/>
          </a:xfrm>
          <a:prstGeom prst="roundRect">
            <a:avLst>
              <a:gd name="adj" fmla="val 42857"/>
            </a:avLst>
          </a:prstGeom>
          <a:solidFill>
            <a:srgbClr val="A29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7132320" y="4251960"/>
            <a:ext cx="1783080" cy="109728"/>
          </a:xfrm>
          <a:prstGeom prst="roundRect">
            <a:avLst>
              <a:gd name="adj" fmla="val 41666"/>
            </a:avLst>
          </a:prstGeom>
          <a:solidFill>
            <a:srgbClr val="C69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7406640" y="4507992"/>
            <a:ext cx="1508760" cy="109728"/>
          </a:xfrm>
          <a:prstGeom prst="roundRect">
            <a:avLst>
              <a:gd name="adj" fmla="val 41666"/>
            </a:avLst>
          </a:prstGeom>
          <a:solidFill>
            <a:srgbClr val="C69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7223760" y="4764024"/>
            <a:ext cx="1691640" cy="109728"/>
          </a:xfrm>
          <a:prstGeom prst="roundRect">
            <a:avLst>
              <a:gd name="adj" fmla="val 41666"/>
            </a:avLst>
          </a:prstGeom>
          <a:solidFill>
            <a:srgbClr val="C69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7086600" y="5257800"/>
            <a:ext cx="365760" cy="365760"/>
          </a:xfrm>
          <a:prstGeom prst="ellipse">
            <a:avLst/>
          </a:prstGeom>
          <a:solidFill>
            <a:srgbClr val="C69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Isosceles Triangle 39"/>
          <p:cNvSpPr/>
          <p:nvPr/>
        </p:nvSpPr>
        <p:spPr>
          <a:xfrm rot="5400000">
            <a:off x="7214616" y="5367528"/>
            <a:ext cx="128016" cy="146304"/>
          </a:xfrm>
          <a:prstGeom prst="triangle">
            <a:avLst/>
          </a:prstGeom>
          <a:solidFill>
            <a:srgbClr val="F6F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548640" y="1920240"/>
            <a:ext cx="5532120" cy="960120"/>
          </a:xfrm>
          <a:prstGeom prst="roundRect">
            <a:avLst>
              <a:gd name="adj" fmla="val 15238"/>
            </a:avLst>
          </a:prstGeom>
          <a:solidFill>
            <a:srgbClr val="F6F2E6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548640" y="3968496"/>
            <a:ext cx="5532120" cy="960120"/>
          </a:xfrm>
          <a:prstGeom prst="roundRect">
            <a:avLst>
              <a:gd name="adj" fmla="val 15238"/>
            </a:avLst>
          </a:prstGeom>
          <a:solidFill>
            <a:srgbClr val="F6F2E6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594360" y="2990088"/>
            <a:ext cx="5440680" cy="868680"/>
          </a:xfrm>
          <a:prstGeom prst="roundRect">
            <a:avLst>
              <a:gd name="adj" fmla="val 16842"/>
            </a:avLst>
          </a:prstGeom>
          <a:noFill/>
          <a:ln w="44450">
            <a:solidFill>
              <a:srgbClr val="C69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731520" y="5230368"/>
            <a:ext cx="1143000" cy="329184"/>
          </a:xfrm>
          <a:prstGeom prst="roundRect">
            <a:avLst>
              <a:gd name="adj" fmla="val 50000"/>
            </a:avLst>
          </a:prstGeom>
          <a:solidFill>
            <a:srgbClr val="EED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0" bIns="0"/>
          <a:lstStyle/>
          <a:p>
            <a:pPr algn="ctr"/>
            <a:r>
              <a:rPr sz="1200" b="1">
                <a:solidFill>
                  <a:srgbClr val="8A5E35"/>
                </a:solidFill>
                <a:latin typeface="Readex Pro"/>
                <a:cs typeface="Readex Pro"/>
                <a:ea typeface="Readex Pro"/>
              </a:rPr>
              <a:t>on-device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965960" y="5230368"/>
            <a:ext cx="960119" cy="329184"/>
          </a:xfrm>
          <a:prstGeom prst="roundRect">
            <a:avLst>
              <a:gd name="adj" fmla="val 50000"/>
            </a:avLst>
          </a:prstGeom>
          <a:solidFill>
            <a:srgbClr val="EED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0" bIns="0"/>
          <a:lstStyle/>
          <a:p>
            <a:pPr algn="ctr"/>
            <a:r>
              <a:rPr sz="1200" b="1">
                <a:solidFill>
                  <a:srgbClr val="8A5E35"/>
                </a:solidFill>
                <a:latin typeface="Readex Pro"/>
                <a:cs typeface="Readex Pro"/>
                <a:ea typeface="Readex Pro"/>
              </a:rPr>
              <a:t>offline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017520" y="5230368"/>
            <a:ext cx="1143000" cy="329184"/>
          </a:xfrm>
          <a:prstGeom prst="roundRect">
            <a:avLst>
              <a:gd name="adj" fmla="val 50000"/>
            </a:avLst>
          </a:prstGeom>
          <a:solidFill>
            <a:srgbClr val="EED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0" bIns="0"/>
          <a:lstStyle/>
          <a:p>
            <a:pPr algn="ctr"/>
            <a:r>
              <a:rPr sz="1200" b="1">
                <a:solidFill>
                  <a:srgbClr val="8A5E35"/>
                </a:solidFill>
                <a:latin typeface="Readex Pro"/>
                <a:cs typeface="Readex Pro"/>
                <a:ea typeface="Readex Pro"/>
              </a:rPr>
              <a:t>≤ 250 MB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31520" y="5669280"/>
            <a:ext cx="3840480" cy="329184"/>
          </a:xfrm>
          <a:prstGeom prst="roundRect">
            <a:avLst>
              <a:gd name="adj" fmla="val 50000"/>
            </a:avLst>
          </a:prstGeom>
          <a:solidFill>
            <a:srgbClr val="EED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0" bIns="0"/>
          <a:lstStyle/>
          <a:p>
            <a:pPr algn="ctr"/>
            <a:r>
              <a:rPr sz="1200" b="1">
                <a:solidFill>
                  <a:srgbClr val="8A5E35"/>
                </a:solidFill>
                <a:latin typeface="Readex Pro"/>
                <a:cs typeface="Readex Pro"/>
                <a:ea typeface="Readex Pro"/>
              </a:rPr>
              <a:t>the reader’s text never leaves the phone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22" presetClass="entr" presetSubtype="8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6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22" presetClass="entr" presetSubtype="8" fill="hold" grpId="0" nodeType="withEffect">
                                  <p:stCondLst>
                                    <p:cond delay="115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6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22" presetClass="entr" presetSubtype="8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8" dur="6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190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190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190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190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xit" presetSubtype="0" fill="hold" grpId="0" nodeType="withEffect">
                                  <p:stCondLst>
                                    <p:cond delay="340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  <p:animEffect transition="out" filter="fade">
                                      <p:cBhvr>
                                        <p:cTn id="83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xit" presetSubtype="0" fill="hold" grpId="0" nodeType="withEffect">
                                  <p:stCondLst>
                                    <p:cond delay="340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  <p:animEffect transition="out" filter="fade">
                                      <p:cBhvr>
                                        <p:cTn id="86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xit" presetSubtype="0" fill="hold" grpId="0" nodeType="withEffect">
                                  <p:stCondLst>
                                    <p:cond delay="340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  <p:animEffect transition="out" filter="fade">
                                      <p:cBhvr>
                                        <p:cTn id="89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xit" presetSubtype="0" fill="hold" grpId="0" nodeType="withEffect">
                                  <p:stCondLst>
                                    <p:cond delay="340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  <p:animEffect transition="out" filter="fade">
                                      <p:cBhvr>
                                        <p:cTn id="9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22" presetClass="entr" presetSubtype="4" fill="hold" grpId="0" nodeType="withEffect">
                                  <p:stCondLst>
                                    <p:cond delay="350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5" dur="8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22" presetClass="entr" presetSubtype="4" fill="hold" grpId="0" nodeType="withEffect">
                                  <p:stCondLst>
                                    <p:cond delay="350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8" dur="8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22" presetClass="entr" presetSubtype="4" fill="hold" grpId="0" nodeType="withEffect">
                                  <p:stCondLst>
                                    <p:cond delay="350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1" dur="8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" presetID="22" presetClass="entr" presetSubtype="4" fill="hold" grpId="0" nodeType="withEffect">
                                  <p:stCondLst>
                                    <p:cond delay="350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4" dur="8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22" presetClass="entr" presetSubtype="4" fill="hold" grpId="0" nodeType="withEffect">
                                  <p:stCondLst>
                                    <p:cond delay="350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7" dur="8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1" presetID="22" presetClass="entr" presetSubtype="4" fill="hold" grpId="0" nodeType="withEffect">
                                  <p:stCondLst>
                                    <p:cond delay="350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0" dur="8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4" presetID="22" presetClass="entr" presetSubtype="4" fill="hold" grpId="0" nodeType="withEffect">
                                  <p:stCondLst>
                                    <p:cond delay="350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3" dur="8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grpId="0" nodeType="withEffect">
                                  <p:stCondLst>
                                    <p:cond delay="85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10" presetClass="entr" presetSubtype="0" fill="hold" grpId="0" nodeType="withEffect">
                                  <p:stCondLst>
                                    <p:cond delay="115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</p:bld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ackground"/>
          <p:cNvSpPr/>
          <p:nvPr/>
        </p:nvSpPr>
        <p:spPr>
          <a:xfrm>
            <a:off x="0" y="0"/>
            <a:ext cx="9902952" cy="6858000"/>
          </a:xfrm>
          <a:prstGeom prst="rect">
            <a:avLst/>
          </a:prstGeom>
          <a:solidFill>
            <a:srgbClr val="F6F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94360" y="502920"/>
            <a:ext cx="54864" cy="219456"/>
          </a:xfrm>
          <a:prstGeom prst="rect">
            <a:avLst/>
          </a:prstGeom>
          <a:solidFill>
            <a:srgbClr val="C69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0664" y="457200"/>
            <a:ext cx="45720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C6986B"/>
                </a:solidFill>
                <a:latin typeface="Readex Pro"/>
                <a:cs typeface="Readex Pro"/>
                <a:ea typeface="Readex Pro"/>
              </a:rPr>
              <a:t>03 ·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22960"/>
            <a:ext cx="8714232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800" b="1">
                <a:solidFill>
                  <a:srgbClr val="282824"/>
                </a:solidFill>
                <a:latin typeface="Readex Pro"/>
                <a:cs typeface="Readex Pro"/>
                <a:ea typeface="Readex Pro"/>
              </a:rPr>
              <a:t>Audit first, then build the training set</a:t>
            </a:r>
          </a:p>
        </p:txBody>
      </p:sp>
      <p:pic>
        <p:nvPicPr>
          <p:cNvPr id="6" name="Samsung logo" descr="Samsu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6327648"/>
            <a:ext cx="1051560" cy="16167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828800" y="6281928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6F6B5E"/>
                </a:solidFill>
                <a:latin typeface="Readex Pro"/>
                <a:cs typeface="Readex Pro"/>
                <a:ea typeface="Readex Pro"/>
              </a:rPr>
              <a:t>Samsung Innovation Campus  ·  AI Course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94192" y="628192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>
                <a:solidFill>
                  <a:srgbClr val="6F6B5E"/>
                </a:solidFill>
                <a:latin typeface="Readex Pro"/>
                <a:cs typeface="Readex Pro"/>
                <a:ea typeface="Readex Pro"/>
              </a:rPr>
              <a:t>5 / 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600200"/>
            <a:ext cx="2651760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0" b="1">
                <a:solidFill>
                  <a:srgbClr val="B5533C"/>
                </a:solidFill>
                <a:latin typeface="Readex Pro"/>
                <a:cs typeface="Readex Pro"/>
                <a:ea typeface="Readex Pro"/>
              </a:rPr>
              <a:t>9.3%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29000" y="1691640"/>
            <a:ext cx="585216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0">
                <a:solidFill>
                  <a:srgbClr val="4A4842"/>
                </a:solidFill>
                <a:latin typeface="Readex Pro"/>
                <a:cs typeface="Readex Pro"/>
                <a:ea typeface="Readex Pro"/>
              </a:rPr>
              <a:t>of Baseet overlapped our locked test sets.</a:t>
            </a:r>
          </a:p>
          <a:p>
            <a:pPr algn="l"/>
            <a:r>
              <a:rPr sz="1700" b="0">
                <a:solidFill>
                  <a:srgbClr val="4A4842"/>
                </a:solidFill>
                <a:latin typeface="Readex Pro"/>
                <a:cs typeface="Readex Pro"/>
                <a:ea typeface="Readex Pro"/>
              </a:rPr>
              <a:t>Every training file now passes a leakage gate.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788920"/>
            <a:ext cx="8714232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82824"/>
                </a:solidFill>
                <a:latin typeface="Readex Pro"/>
                <a:cs typeface="Readex Pro"/>
                <a:ea typeface="Readex Pro"/>
              </a:rPr>
              <a:t>22,733 training pairs, every one tagged with its source style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4360" y="3246120"/>
            <a:ext cx="5498096" cy="685800"/>
          </a:xfrm>
          <a:prstGeom prst="rect">
            <a:avLst/>
          </a:prstGeom>
          <a:solidFill>
            <a:srgbClr val="282824"/>
          </a:solidFill>
          <a:ln w="15875">
            <a:solidFill>
              <a:srgbClr val="F6F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0" bIns="0"/>
          <a:lstStyle/>
          <a:p>
            <a:pPr algn="ctr"/>
            <a:r>
              <a:rPr sz="1400" b="1">
                <a:solidFill>
                  <a:srgbClr val="F2EFE2"/>
                </a:solidFill>
                <a:latin typeface="Readex Pro"/>
                <a:cs typeface="Readex Pro"/>
                <a:ea typeface="Readex Pro"/>
              </a:rPr>
              <a:t>[S0]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" y="4224528"/>
            <a:ext cx="146304" cy="146304"/>
          </a:xfrm>
          <a:prstGeom prst="rect">
            <a:avLst/>
          </a:prstGeom>
          <a:solidFill>
            <a:srgbClr val="2828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" y="4133087"/>
            <a:ext cx="12801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1">
                <a:solidFill>
                  <a:srgbClr val="282824"/>
                </a:solidFill>
                <a:latin typeface="Readex Pro"/>
                <a:cs typeface="Readex Pro"/>
                <a:ea typeface="Readex Pro"/>
              </a:rPr>
              <a:t>14,343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4480560"/>
            <a:ext cx="165140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F6B5E"/>
                </a:solidFill>
                <a:latin typeface="Readex Pro"/>
                <a:cs typeface="Readex Pro"/>
                <a:ea typeface="Readex Pro"/>
              </a:rPr>
              <a:t>SAMER · 6,033 unchanged kept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92456" y="3246120"/>
            <a:ext cx="1344720" cy="685800"/>
          </a:xfrm>
          <a:prstGeom prst="rect">
            <a:avLst/>
          </a:prstGeom>
          <a:solidFill>
            <a:srgbClr val="8A5E35"/>
          </a:solidFill>
          <a:ln w="15875">
            <a:solidFill>
              <a:srgbClr val="F6F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0" bIns="0"/>
          <a:lstStyle/>
          <a:p>
            <a:pPr algn="ctr"/>
            <a:r>
              <a:rPr sz="1400" b="1">
                <a:solidFill>
                  <a:srgbClr val="F2EFE2"/>
                </a:solidFill>
                <a:latin typeface="Readex Pro"/>
                <a:cs typeface="Readex Pro"/>
                <a:ea typeface="Readex Pro"/>
              </a:rPr>
              <a:t>[S1]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337206" y="4224528"/>
            <a:ext cx="146304" cy="146304"/>
          </a:xfrm>
          <a:prstGeom prst="rect">
            <a:avLst/>
          </a:prstGeom>
          <a:solidFill>
            <a:srgbClr val="8A5E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556662" y="4133087"/>
            <a:ext cx="12801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1">
                <a:solidFill>
                  <a:srgbClr val="282824"/>
                </a:solidFill>
                <a:latin typeface="Readex Pro"/>
                <a:cs typeface="Readex Pro"/>
                <a:ea typeface="Readex Pro"/>
              </a:rPr>
              <a:t>3,508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37206" y="4480560"/>
            <a:ext cx="165140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F6B5E"/>
                </a:solidFill>
                <a:latin typeface="Readex Pro"/>
                <a:cs typeface="Readex Pro"/>
                <a:ea typeface="Readex Pro"/>
              </a:rPr>
              <a:t>Baseet · light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37176" y="3246120"/>
            <a:ext cx="749026" cy="685800"/>
          </a:xfrm>
          <a:prstGeom prst="rect">
            <a:avLst/>
          </a:prstGeom>
          <a:solidFill>
            <a:srgbClr val="C6986B"/>
          </a:solidFill>
          <a:ln w="15875">
            <a:solidFill>
              <a:srgbClr val="F6F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0" bIns="0"/>
          <a:lstStyle/>
          <a:p>
            <a:pPr algn="ctr"/>
            <a:r>
              <a:rPr sz="1400" b="1">
                <a:solidFill>
                  <a:srgbClr val="282824"/>
                </a:solidFill>
                <a:latin typeface="Readex Pro"/>
                <a:cs typeface="Readex Pro"/>
                <a:ea typeface="Readex Pro"/>
              </a:rPr>
              <a:t>[S2]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080052" y="4224528"/>
            <a:ext cx="146304" cy="146304"/>
          </a:xfrm>
          <a:prstGeom prst="rect">
            <a:avLst/>
          </a:prstGeom>
          <a:solidFill>
            <a:srgbClr val="C69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99508" y="4133087"/>
            <a:ext cx="12801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1">
                <a:solidFill>
                  <a:srgbClr val="282824"/>
                </a:solidFill>
                <a:latin typeface="Readex Pro"/>
                <a:cs typeface="Readex Pro"/>
                <a:ea typeface="Readex Pro"/>
              </a:rPr>
              <a:t>1,954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80052" y="4480560"/>
            <a:ext cx="165140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F6B5E"/>
                </a:solidFill>
                <a:latin typeface="Readex Pro"/>
                <a:cs typeface="Readex Pro"/>
                <a:ea typeface="Readex Pro"/>
              </a:rPr>
              <a:t>Baseet · medium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186202" y="3246120"/>
            <a:ext cx="546628" cy="685800"/>
          </a:xfrm>
          <a:prstGeom prst="rect">
            <a:avLst/>
          </a:prstGeom>
          <a:solidFill>
            <a:srgbClr val="DDBB95"/>
          </a:solidFill>
          <a:ln w="15875">
            <a:solidFill>
              <a:srgbClr val="F6F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0" bIns="0"/>
          <a:lstStyle/>
          <a:p>
            <a:pPr algn="ctr"/>
            <a:r>
              <a:rPr sz="1100" b="1">
                <a:solidFill>
                  <a:srgbClr val="282824"/>
                </a:solidFill>
                <a:latin typeface="Readex Pro"/>
                <a:cs typeface="Readex Pro"/>
                <a:ea typeface="Readex Pro"/>
              </a:rPr>
              <a:t>[S3]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22899" y="4224528"/>
            <a:ext cx="146304" cy="146304"/>
          </a:xfrm>
          <a:prstGeom prst="rect">
            <a:avLst/>
          </a:prstGeom>
          <a:solidFill>
            <a:srgbClr val="DDBB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042355" y="4133087"/>
            <a:ext cx="12801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1">
                <a:solidFill>
                  <a:srgbClr val="282824"/>
                </a:solidFill>
                <a:latin typeface="Readex Pro"/>
                <a:cs typeface="Readex Pro"/>
                <a:ea typeface="Readex Pro"/>
              </a:rPr>
              <a:t>1,426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22899" y="4480560"/>
            <a:ext cx="165140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F6B5E"/>
                </a:solidFill>
                <a:latin typeface="Readex Pro"/>
                <a:cs typeface="Readex Pro"/>
                <a:ea typeface="Readex Pro"/>
              </a:rPr>
              <a:t>Baseet · strong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732830" y="3246120"/>
            <a:ext cx="575761" cy="685800"/>
          </a:xfrm>
          <a:prstGeom prst="rect">
            <a:avLst/>
          </a:prstGeom>
          <a:solidFill>
            <a:srgbClr val="6F6B5E"/>
          </a:solidFill>
          <a:ln w="15875">
            <a:solidFill>
              <a:srgbClr val="F6F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0" bIns="0"/>
          <a:lstStyle/>
          <a:p>
            <a:pPr algn="ctr"/>
            <a:r>
              <a:rPr sz="1100" b="1">
                <a:solidFill>
                  <a:srgbClr val="F2EFE2"/>
                </a:solidFill>
                <a:latin typeface="Readex Pro"/>
                <a:cs typeface="Readex Pro"/>
                <a:ea typeface="Readex Pro"/>
              </a:rPr>
              <a:t>[SA]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565745" y="4224528"/>
            <a:ext cx="146304" cy="146304"/>
          </a:xfrm>
          <a:prstGeom prst="rect">
            <a:avLst/>
          </a:prstGeom>
          <a:solidFill>
            <a:srgbClr val="6F6B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85201" y="4133087"/>
            <a:ext cx="12801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1">
                <a:solidFill>
                  <a:srgbClr val="282824"/>
                </a:solidFill>
                <a:latin typeface="Readex Pro"/>
                <a:cs typeface="Readex Pro"/>
                <a:ea typeface="Readex Pro"/>
              </a:rPr>
              <a:t>1,502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65745" y="4480560"/>
            <a:ext cx="165140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F6B5E"/>
                </a:solidFill>
                <a:latin typeface="Readex Pro"/>
                <a:cs typeface="Readex Pro"/>
                <a:ea typeface="Readex Pro"/>
              </a:rPr>
              <a:t>DAASI · everyday</a:t>
            </a:r>
          </a:p>
        </p:txBody>
      </p:sp>
      <p:sp>
        <p:nvSpPr>
          <p:cNvPr id="32" name="Oval 31"/>
          <p:cNvSpPr/>
          <p:nvPr/>
        </p:nvSpPr>
        <p:spPr>
          <a:xfrm>
            <a:off x="704088" y="5431536"/>
            <a:ext cx="146304" cy="146304"/>
          </a:xfrm>
          <a:prstGeom prst="ellipse">
            <a:avLst/>
          </a:prstGeom>
          <a:solidFill>
            <a:srgbClr val="C69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60120" y="5321808"/>
            <a:ext cx="83484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>
                <a:solidFill>
                  <a:srgbClr val="4A4842"/>
                </a:solidFill>
                <a:latin typeface="Readex Pro"/>
                <a:cs typeface="Readex Pro"/>
                <a:ea typeface="Readex Pro"/>
              </a:rPr>
              <a:t>Baseet pairs pass a meaning filter:  LaBSE ≥ 0.646  ·  length ≥ 67% of source  ·  every number kept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" y="5669280"/>
            <a:ext cx="83484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6F6B5E"/>
                </a:solidFill>
                <a:latin typeface="Readex Pro"/>
                <a:cs typeface="Readex Pro"/>
                <a:ea typeface="Readex Pro"/>
              </a:rPr>
              <a:t>each threshold = 5th percentile of human-verified rewrites (DAASI)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ntr" presetSubtype="8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22" presetClass="entr" presetSubtype="8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22" presetClass="entr" presetSubtype="8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22" presetClass="entr" presetSubtype="8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139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148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157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166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184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193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202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211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229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238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247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256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6" grpId="0" animBg="1"/>
      <p:bldP spid="20" grpId="0" animBg="1"/>
      <p:bldP spid="24" grpId="0" animBg="1"/>
      <p:bldP spid="28" grpId="0" animBg="1"/>
      <p:bldP spid="13" grpId="0" animBg="1"/>
      <p:bldP spid="14" grpId="0" animBg="1"/>
      <p:bldP spid="15" grpId="0" animBg="1"/>
      <p:bldP spid="17" grpId="0" animBg="1"/>
      <p:bldP spid="18" grpId="0" animBg="1"/>
      <p:bldP spid="19" grpId="0" animBg="1"/>
      <p:bldP spid="21" grpId="0" animBg="1"/>
      <p:bldP spid="22" grpId="0" animBg="1"/>
      <p:bldP spid="23" grpId="0" animBg="1"/>
      <p:bldP spid="25" grpId="0" animBg="1"/>
      <p:bldP spid="26" grpId="0" animBg="1"/>
      <p:bldP spid="27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</p:bld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ackground"/>
          <p:cNvSpPr/>
          <p:nvPr/>
        </p:nvSpPr>
        <p:spPr>
          <a:xfrm>
            <a:off x="0" y="0"/>
            <a:ext cx="9902952" cy="6858000"/>
          </a:xfrm>
          <a:prstGeom prst="rect">
            <a:avLst/>
          </a:prstGeom>
          <a:solidFill>
            <a:srgbClr val="F6F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94360" y="502920"/>
            <a:ext cx="54864" cy="219456"/>
          </a:xfrm>
          <a:prstGeom prst="rect">
            <a:avLst/>
          </a:prstGeom>
          <a:solidFill>
            <a:srgbClr val="C69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0664" y="457200"/>
            <a:ext cx="45720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C6986B"/>
                </a:solidFill>
                <a:latin typeface="Readex Pro"/>
                <a:cs typeface="Readex Pro"/>
                <a:ea typeface="Readex Pro"/>
              </a:rPr>
              <a:t>04 · TRAINING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22960"/>
            <a:ext cx="8714232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800" b="1">
                <a:solidFill>
                  <a:srgbClr val="282824"/>
                </a:solidFill>
                <a:latin typeface="Readex Pro"/>
                <a:cs typeface="Readex Pro"/>
                <a:ea typeface="Readex Pro"/>
              </a:rPr>
              <a:t>Two candidates, one recipe</a:t>
            </a:r>
          </a:p>
        </p:txBody>
      </p:sp>
      <p:pic>
        <p:nvPicPr>
          <p:cNvPr id="6" name="Samsung logo" descr="Samsu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6327648"/>
            <a:ext cx="1051560" cy="16167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828800" y="6281928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6F6B5E"/>
                </a:solidFill>
                <a:latin typeface="Readex Pro"/>
                <a:cs typeface="Readex Pro"/>
                <a:ea typeface="Readex Pro"/>
              </a:rPr>
              <a:t>Samsung Innovation Campus  ·  AI Course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94192" y="628192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>
                <a:solidFill>
                  <a:srgbClr val="6F6B5E"/>
                </a:solidFill>
                <a:latin typeface="Readex Pro"/>
                <a:cs typeface="Readex Pro"/>
                <a:ea typeface="Readex Pro"/>
              </a:rPr>
              <a:t>6 / 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1600200"/>
            <a:ext cx="8714232" cy="1143000"/>
          </a:xfrm>
          <a:prstGeom prst="roundRect">
            <a:avLst>
              <a:gd name="adj" fmla="val 12800"/>
            </a:avLst>
          </a:prstGeom>
          <a:solidFill>
            <a:srgbClr val="EFE9D9"/>
          </a:solidFill>
          <a:ln w="15875">
            <a:solidFill>
              <a:srgbClr val="E6DF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73352"/>
            <a:ext cx="871423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>
                <a:solidFill>
                  <a:srgbClr val="282824"/>
                </a:solidFill>
                <a:latin typeface="Readex Pro"/>
                <a:cs typeface="Readex Pro"/>
                <a:ea typeface="Readex Pro"/>
              </a:rPr>
              <a:t>one script (train.py)  ·  identical data  ·  architecture is the only difference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362455" y="2194560"/>
            <a:ext cx="1051560" cy="310896"/>
          </a:xfrm>
          <a:prstGeom prst="roundRect">
            <a:avLst>
              <a:gd name="adj" fmla="val 50000"/>
            </a:avLst>
          </a:prstGeom>
          <a:solidFill>
            <a:srgbClr val="F6F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0" bIns="0"/>
          <a:lstStyle/>
          <a:p>
            <a:pPr algn="ctr"/>
            <a:r>
              <a:rPr sz="1100" b="0">
                <a:solidFill>
                  <a:srgbClr val="4A4842"/>
                </a:solidFill>
                <a:latin typeface="Readex Pro"/>
                <a:cs typeface="Readex Pro"/>
                <a:ea typeface="Readex Pro"/>
              </a:rPr>
              <a:t>10 epochs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51175" y="2194560"/>
            <a:ext cx="777240" cy="310896"/>
          </a:xfrm>
          <a:prstGeom prst="roundRect">
            <a:avLst>
              <a:gd name="adj" fmla="val 50000"/>
            </a:avLst>
          </a:prstGeom>
          <a:solidFill>
            <a:srgbClr val="F6F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0" bIns="0"/>
          <a:lstStyle/>
          <a:p>
            <a:pPr algn="ctr"/>
            <a:r>
              <a:rPr sz="1100" b="0">
                <a:solidFill>
                  <a:srgbClr val="4A4842"/>
                </a:solidFill>
                <a:latin typeface="Readex Pro"/>
                <a:cs typeface="Readex Pro"/>
                <a:ea typeface="Readex Pro"/>
              </a:rPr>
              <a:t>fp16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65575" y="2194560"/>
            <a:ext cx="868680" cy="310896"/>
          </a:xfrm>
          <a:prstGeom prst="roundRect">
            <a:avLst>
              <a:gd name="adj" fmla="val 50000"/>
            </a:avLst>
          </a:prstGeom>
          <a:solidFill>
            <a:srgbClr val="F6F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0" bIns="0"/>
          <a:lstStyle/>
          <a:p>
            <a:pPr algn="ctr"/>
            <a:r>
              <a:rPr sz="1100" b="0">
                <a:solidFill>
                  <a:srgbClr val="4A4842"/>
                </a:solidFill>
                <a:latin typeface="Readex Pro"/>
                <a:cs typeface="Readex Pro"/>
                <a:ea typeface="Readex Pro"/>
              </a:rPr>
              <a:t>seed 42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71416" y="2194560"/>
            <a:ext cx="1417320" cy="310896"/>
          </a:xfrm>
          <a:prstGeom prst="roundRect">
            <a:avLst>
              <a:gd name="adj" fmla="val 50000"/>
            </a:avLst>
          </a:prstGeom>
          <a:solidFill>
            <a:srgbClr val="F6F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0" bIns="0"/>
          <a:lstStyle/>
          <a:p>
            <a:pPr algn="ctr"/>
            <a:r>
              <a:rPr sz="1100" b="0">
                <a:solidFill>
                  <a:srgbClr val="4A4842"/>
                </a:solidFill>
                <a:latin typeface="Readex Pro"/>
                <a:cs typeface="Readex Pro"/>
                <a:ea typeface="Readex Pro"/>
              </a:rPr>
              <a:t>max length 256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25896" y="2194560"/>
            <a:ext cx="2514600" cy="310896"/>
          </a:xfrm>
          <a:prstGeom prst="roundRect">
            <a:avLst>
              <a:gd name="adj" fmla="val 50000"/>
            </a:avLst>
          </a:prstGeom>
          <a:solidFill>
            <a:srgbClr val="F6F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0" bIns="0"/>
          <a:lstStyle/>
          <a:p>
            <a:pPr algn="ctr"/>
            <a:r>
              <a:rPr sz="1100" b="0">
                <a:solidFill>
                  <a:srgbClr val="4A4842"/>
                </a:solidFill>
                <a:latin typeface="Readex Pro"/>
                <a:cs typeface="Readex Pro"/>
                <a:ea typeface="Readex Pro"/>
              </a:rPr>
              <a:t>best SARI on changed rows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3108960"/>
            <a:ext cx="146304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>
                <a:solidFill>
                  <a:srgbClr val="282824"/>
                </a:solidFill>
                <a:latin typeface="Readex Pro"/>
                <a:cs typeface="Readex Pro"/>
                <a:ea typeface="Readex Pro"/>
              </a:rPr>
              <a:t>AraT5v2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103120" y="3108960"/>
            <a:ext cx="5120640" cy="411480"/>
          </a:xfrm>
          <a:prstGeom prst="rect">
            <a:avLst/>
          </a:prstGeom>
          <a:solidFill>
            <a:srgbClr val="282824"/>
          </a:solidFill>
          <a:ln w="31750">
            <a:solidFill>
              <a:srgbClr val="2828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103120" y="356616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F6B5E"/>
                </a:solidFill>
                <a:latin typeface="Readex Pro"/>
                <a:cs typeface="Readex Pro"/>
                <a:ea typeface="Readex Pro"/>
              </a:rPr>
              <a:t>368M params  ·  won Baseet’s head-to-head  ·  models 1 &amp;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4041648"/>
            <a:ext cx="146304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>
                <a:solidFill>
                  <a:srgbClr val="282824"/>
                </a:solidFill>
                <a:latin typeface="Readex Pro"/>
                <a:cs typeface="Readex Pro"/>
                <a:ea typeface="Readex Pro"/>
              </a:rPr>
              <a:t>AraBART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103120" y="4041648"/>
            <a:ext cx="1934154" cy="411480"/>
          </a:xfrm>
          <a:prstGeom prst="rect">
            <a:avLst/>
          </a:prstGeom>
          <a:solidFill>
            <a:srgbClr val="C6986B"/>
          </a:solidFill>
          <a:ln w="31750">
            <a:solidFill>
              <a:srgbClr val="C69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103120" y="4498848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F6B5E"/>
                </a:solidFill>
                <a:latin typeface="Readex Pro"/>
                <a:cs typeface="Readex Pro"/>
                <a:ea typeface="Readex Pro"/>
              </a:rPr>
              <a:t>139M params  ·  2.6× smaller  ·  the on-device contender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4974336"/>
            <a:ext cx="146304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>
                <a:solidFill>
                  <a:srgbClr val="282824"/>
                </a:solidFill>
                <a:latin typeface="Readex Pro"/>
                <a:cs typeface="Readex Pro"/>
                <a:ea typeface="Readex Pro"/>
              </a:rPr>
              <a:t>HPLT T5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103120" y="4974336"/>
            <a:ext cx="4090946" cy="411480"/>
          </a:xfrm>
          <a:prstGeom prst="rect">
            <a:avLst/>
          </a:prstGeom>
          <a:solidFill>
            <a:srgbClr val="E6DFCC"/>
          </a:solidFill>
          <a:ln w="31750">
            <a:solidFill>
              <a:srgbClr val="A29D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103120" y="5431536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F6B5E"/>
                </a:solidFill>
                <a:latin typeface="Readex Pro"/>
                <a:cs typeface="Readex Pro"/>
                <a:ea typeface="Readex Pro"/>
              </a:rPr>
              <a:t>≈ 294M params  ·  held in reserve</a:t>
            </a:r>
          </a:p>
        </p:txBody>
      </p:sp>
      <p:sp>
        <p:nvSpPr>
          <p:cNvPr id="25" name="Oval 24"/>
          <p:cNvSpPr/>
          <p:nvPr/>
        </p:nvSpPr>
        <p:spPr>
          <a:xfrm>
            <a:off x="704088" y="5916168"/>
            <a:ext cx="146304" cy="146304"/>
          </a:xfrm>
          <a:prstGeom prst="ellipse">
            <a:avLst/>
          </a:prstGeom>
          <a:solidFill>
            <a:srgbClr val="C69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0120" y="5806440"/>
            <a:ext cx="83484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>
                <a:solidFill>
                  <a:srgbClr val="4A4842"/>
                </a:solidFill>
                <a:latin typeface="Readex Pro"/>
                <a:cs typeface="Readex Pro"/>
                <a:ea typeface="Readex Pro"/>
              </a:rPr>
              <a:t>46% of AraT5v2 is two embedding tables, so shrinking its vocabulary is the route to phone size.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76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88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22" presetClass="entr" presetSubtype="8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8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ackground"/>
          <p:cNvSpPr/>
          <p:nvPr/>
        </p:nvSpPr>
        <p:spPr>
          <a:xfrm>
            <a:off x="0" y="0"/>
            <a:ext cx="9902952" cy="6858000"/>
          </a:xfrm>
          <a:prstGeom prst="rect">
            <a:avLst/>
          </a:prstGeom>
          <a:solidFill>
            <a:srgbClr val="F6F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94360" y="502920"/>
            <a:ext cx="54864" cy="219456"/>
          </a:xfrm>
          <a:prstGeom prst="rect">
            <a:avLst/>
          </a:prstGeom>
          <a:solidFill>
            <a:srgbClr val="C69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0664" y="457200"/>
            <a:ext cx="45720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C6986B"/>
                </a:solidFill>
                <a:latin typeface="Readex Pro"/>
                <a:cs typeface="Readex Pro"/>
                <a:ea typeface="Readex Pro"/>
              </a:rPr>
              <a:t>04 · TRAINING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22960"/>
            <a:ext cx="8714232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800" b="1">
                <a:solidFill>
                  <a:srgbClr val="282824"/>
                </a:solidFill>
                <a:latin typeface="Readex Pro"/>
                <a:cs typeface="Readex Pro"/>
                <a:ea typeface="Readex Pro"/>
              </a:rPr>
              <a:t>Model 1: the score that looked like a failure</a:t>
            </a:r>
          </a:p>
        </p:txBody>
      </p:sp>
      <p:pic>
        <p:nvPicPr>
          <p:cNvPr id="6" name="Samsung logo" descr="Samsu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6327648"/>
            <a:ext cx="1051560" cy="16167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828800" y="6281928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6F6B5E"/>
                </a:solidFill>
                <a:latin typeface="Readex Pro"/>
                <a:cs typeface="Readex Pro"/>
                <a:ea typeface="Readex Pro"/>
              </a:rPr>
              <a:t>Samsung Innovation Campus  ·  AI Course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94192" y="628192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>
                <a:solidFill>
                  <a:srgbClr val="6F6B5E"/>
                </a:solidFill>
                <a:latin typeface="Readex Pro"/>
                <a:cs typeface="Readex Pro"/>
                <a:ea typeface="Readex Pro"/>
              </a:rPr>
              <a:t>7 / 9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937760" y="1554480"/>
            <a:ext cx="0" cy="4297680"/>
          </a:xfrm>
          <a:prstGeom prst="line">
            <a:avLst/>
          </a:prstGeom>
          <a:ln w="25400">
            <a:solidFill>
              <a:srgbClr val="E6DF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94360" y="1508760"/>
            <a:ext cx="42062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82824"/>
                </a:solidFill>
                <a:latin typeface="Readex Pro"/>
                <a:cs typeface="Readex Pro"/>
                <a:ea typeface="Readex Pro"/>
              </a:rPr>
              <a:t>SARI on all SAMER test rows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1847088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6F6B5E"/>
                </a:solidFill>
                <a:latin typeface="Readex Pro"/>
                <a:cs typeface="Readex Pro"/>
                <a:ea typeface="Readex Pro"/>
              </a:rPr>
              <a:t>3,277 sentences, half need no change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94360" y="4526280"/>
            <a:ext cx="4114800" cy="0"/>
          </a:xfrm>
          <a:prstGeom prst="line">
            <a:avLst/>
          </a:prstGeom>
          <a:ln w="31750">
            <a:solidFill>
              <a:srgbClr val="A29D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1097279" y="2860929"/>
            <a:ext cx="1097280" cy="1665351"/>
          </a:xfrm>
          <a:prstGeom prst="rect">
            <a:avLst/>
          </a:prstGeom>
          <a:solidFill>
            <a:srgbClr val="A29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79" y="2495169"/>
            <a:ext cx="1097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282824"/>
                </a:solidFill>
                <a:latin typeface="Readex Pro"/>
                <a:cs typeface="Readex Pro"/>
                <a:ea typeface="Readex Pro"/>
              </a:rPr>
              <a:t>77.50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19" y="459943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0">
                <a:solidFill>
                  <a:srgbClr val="4A4842"/>
                </a:solidFill>
                <a:latin typeface="Readex Pro"/>
                <a:cs typeface="Readex Pro"/>
                <a:ea typeface="Readex Pro"/>
              </a:rPr>
              <a:t>copy the input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063239" y="2895740"/>
            <a:ext cx="1097280" cy="1630539"/>
          </a:xfrm>
          <a:prstGeom prst="rect">
            <a:avLst/>
          </a:prstGeom>
          <a:solidFill>
            <a:srgbClr val="C69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063239" y="2529980"/>
            <a:ext cx="1097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282824"/>
                </a:solidFill>
                <a:latin typeface="Readex Pro"/>
                <a:cs typeface="Readex Pro"/>
                <a:ea typeface="Readex Pro"/>
              </a:rPr>
              <a:t>75.88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97479" y="459943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0">
                <a:solidFill>
                  <a:srgbClr val="4A4842"/>
                </a:solidFill>
                <a:latin typeface="Readex Pro"/>
                <a:cs typeface="Readex Pro"/>
                <a:ea typeface="Readex Pro"/>
              </a:rPr>
              <a:t>Model 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5029200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900" b="1">
                <a:solidFill>
                  <a:srgbClr val="B5533C"/>
                </a:solidFill>
                <a:latin typeface="Readex Pro"/>
                <a:cs typeface="Readex Pro"/>
                <a:ea typeface="Readex Pro"/>
              </a:rPr>
              <a:t>Copying wins?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5413248"/>
            <a:ext cx="42062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>
                <a:solidFill>
                  <a:srgbClr val="4A4842"/>
                </a:solidFill>
                <a:latin typeface="Readex Pro"/>
                <a:cs typeface="Readex Pro"/>
                <a:ea typeface="Readex Pro"/>
              </a:rPr>
              <a:t>Half of SAMER needs no change,</a:t>
            </a:r>
          </a:p>
          <a:p>
            <a:pPr algn="l"/>
            <a:r>
              <a:rPr sz="1250" b="0">
                <a:solidFill>
                  <a:srgbClr val="4A4842"/>
                </a:solidFill>
                <a:latin typeface="Readex Pro"/>
                <a:cs typeface="Readex Pro"/>
                <a:ea typeface="Readex Pro"/>
              </a:rPr>
              <a:t>so doing nothing scores well.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57800" y="1508760"/>
            <a:ext cx="42062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82824"/>
                </a:solidFill>
                <a:latin typeface="Readex Pro"/>
                <a:cs typeface="Readex Pro"/>
                <a:ea typeface="Readex Pro"/>
              </a:rPr>
              <a:t>SARI on rows a human changed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57800" y="1847088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6F6B5E"/>
                </a:solidFill>
                <a:latin typeface="Readex Pro"/>
                <a:cs typeface="Readex Pro"/>
                <a:ea typeface="Readex Pro"/>
              </a:rPr>
              <a:t>1,678 sentences: the bar a model must clear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257800" y="4526280"/>
            <a:ext cx="4114800" cy="0"/>
          </a:xfrm>
          <a:prstGeom prst="line">
            <a:avLst/>
          </a:prstGeom>
          <a:ln w="31750">
            <a:solidFill>
              <a:srgbClr val="A29D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5760720" y="3321640"/>
            <a:ext cx="1097280" cy="1204639"/>
          </a:xfrm>
          <a:prstGeom prst="rect">
            <a:avLst/>
          </a:prstGeom>
          <a:solidFill>
            <a:srgbClr val="A29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760720" y="2955880"/>
            <a:ext cx="1097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282824"/>
                </a:solidFill>
                <a:latin typeface="Readex Pro"/>
                <a:cs typeface="Readex Pro"/>
                <a:ea typeface="Readex Pro"/>
              </a:rPr>
              <a:t>56.06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94960" y="459943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0">
                <a:solidFill>
                  <a:srgbClr val="4A4842"/>
                </a:solidFill>
                <a:latin typeface="Readex Pro"/>
                <a:cs typeface="Readex Pro"/>
                <a:ea typeface="Readex Pro"/>
              </a:rPr>
              <a:t>copy the input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26680" y="3197652"/>
            <a:ext cx="1097280" cy="1328627"/>
          </a:xfrm>
          <a:prstGeom prst="rect">
            <a:avLst/>
          </a:prstGeom>
          <a:solidFill>
            <a:srgbClr val="C69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26680" y="2831892"/>
            <a:ext cx="1097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282824"/>
                </a:solidFill>
                <a:latin typeface="Readex Pro"/>
                <a:cs typeface="Readex Pro"/>
                <a:ea typeface="Readex Pro"/>
              </a:rPr>
              <a:t>61.83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60920" y="459943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0">
                <a:solidFill>
                  <a:srgbClr val="4A4842"/>
                </a:solidFill>
                <a:latin typeface="Readex Pro"/>
                <a:cs typeface="Readex Pro"/>
                <a:ea typeface="Readex Pro"/>
              </a:rPr>
              <a:t>Model 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57800" y="5029200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900" b="1">
                <a:solidFill>
                  <a:srgbClr val="8A5E35"/>
                </a:solidFill>
                <a:latin typeface="Readex Pro"/>
                <a:cs typeface="Readex Pro"/>
                <a:ea typeface="Readex Pro"/>
              </a:rPr>
              <a:t>Model 1 clears it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57800" y="5413248"/>
            <a:ext cx="42062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>
                <a:solidFill>
                  <a:srgbClr val="4A4842"/>
                </a:solidFill>
                <a:latin typeface="Readex Pro"/>
                <a:cs typeface="Readex Pro"/>
                <a:ea typeface="Readex Pro"/>
              </a:rPr>
              <a:t>+5.8 points, greedy decoding:</a:t>
            </a:r>
          </a:p>
          <a:p>
            <a:pPr algn="l"/>
            <a:r>
              <a:rPr sz="1250" b="0">
                <a:solidFill>
                  <a:srgbClr val="4A4842"/>
                </a:solidFill>
                <a:latin typeface="Readex Pro"/>
                <a:cs typeface="Readex Pro"/>
                <a:ea typeface="Readex Pro"/>
              </a:rPr>
              <a:t>what the phone runs.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" y="5897880"/>
            <a:ext cx="8714232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6F6B5E"/>
                </a:solidFill>
                <a:latin typeface="Readex Pro"/>
                <a:cs typeface="Readex Pro"/>
                <a:ea typeface="Readex Pro"/>
              </a:rPr>
              <a:t>But it made mostly one-word edits, and 42% of its training pairs were unchanged sentences.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4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" dur="9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4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8" dur="9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4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9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4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4" dur="9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4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9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4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0" dur="9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4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0" dur="9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22" presetClass="entr" presetSubtype="4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3" dur="9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22" presetClass="entr" presetSubtype="4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6" dur="9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22" presetClass="entr" presetSubtype="4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9" dur="9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22" presetClass="entr" presetSubtype="4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2" dur="9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22" presetClass="entr" presetSubtype="4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5" dur="9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190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ackground"/>
          <p:cNvSpPr/>
          <p:nvPr/>
        </p:nvSpPr>
        <p:spPr>
          <a:xfrm>
            <a:off x="0" y="0"/>
            <a:ext cx="9902952" cy="6858000"/>
          </a:xfrm>
          <a:prstGeom prst="rect">
            <a:avLst/>
          </a:prstGeom>
          <a:solidFill>
            <a:srgbClr val="F6F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94360" y="502920"/>
            <a:ext cx="54864" cy="219456"/>
          </a:xfrm>
          <a:prstGeom prst="rect">
            <a:avLst/>
          </a:prstGeom>
          <a:solidFill>
            <a:srgbClr val="C69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0664" y="457200"/>
            <a:ext cx="45720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C6986B"/>
                </a:solidFill>
                <a:latin typeface="Readex Pro"/>
                <a:cs typeface="Readex Pro"/>
                <a:ea typeface="Readex Pro"/>
              </a:rPr>
              <a:t>04 · TRAINING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22960"/>
            <a:ext cx="8714232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800" b="1">
                <a:solidFill>
                  <a:srgbClr val="282824"/>
                </a:solidFill>
                <a:latin typeface="Readex Pro"/>
                <a:cs typeface="Readex Pro"/>
                <a:ea typeface="Readex Pro"/>
              </a:rPr>
              <a:t>Model 2: one fix for each lesson</a:t>
            </a:r>
          </a:p>
        </p:txBody>
      </p:sp>
      <p:pic>
        <p:nvPicPr>
          <p:cNvPr id="6" name="Samsung logo" descr="Samsu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6327648"/>
            <a:ext cx="1051560" cy="16167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828800" y="6281928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6F6B5E"/>
                </a:solidFill>
                <a:latin typeface="Readex Pro"/>
                <a:cs typeface="Readex Pro"/>
                <a:ea typeface="Readex Pro"/>
              </a:rPr>
              <a:t>Samsung Innovation Campus  ·  AI Course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94192" y="628192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>
                <a:solidFill>
                  <a:srgbClr val="6F6B5E"/>
                </a:solidFill>
                <a:latin typeface="Readex Pro"/>
                <a:cs typeface="Readex Pro"/>
                <a:ea typeface="Readex Pro"/>
              </a:rPr>
              <a:t>8 / 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1645920"/>
            <a:ext cx="3063240" cy="914400"/>
          </a:xfrm>
          <a:prstGeom prst="roundRect">
            <a:avLst>
              <a:gd name="adj" fmla="val 16000"/>
            </a:avLst>
          </a:prstGeom>
          <a:solidFill>
            <a:srgbClr val="F3E2DA"/>
          </a:solidFill>
          <a:ln w="15875">
            <a:solidFill>
              <a:srgbClr val="F3E2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0" bIns="0"/>
          <a:lstStyle/>
          <a:p>
            <a:pPr algn="ctr"/>
            <a:r>
              <a:rPr sz="1500" b="1">
                <a:solidFill>
                  <a:srgbClr val="B5533C"/>
                </a:solidFill>
                <a:latin typeface="Readex Pro"/>
                <a:cs typeface="Readex Pro"/>
                <a:ea typeface="Readex Pro"/>
              </a:rPr>
              <a:t>It rewards doing nothing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749039" y="2103120"/>
            <a:ext cx="594361" cy="0"/>
          </a:xfrm>
          <a:prstGeom prst="line">
            <a:avLst/>
          </a:prstGeom>
          <a:ln w="38100">
            <a:solidFill>
              <a:srgbClr val="C698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4480560" y="1645920"/>
            <a:ext cx="4828031" cy="914400"/>
          </a:xfrm>
          <a:prstGeom prst="roundRect">
            <a:avLst>
              <a:gd name="adj" fmla="val 16000"/>
            </a:avLst>
          </a:prstGeom>
          <a:solidFill>
            <a:srgbClr val="EFE9D9"/>
          </a:solidFill>
          <a:ln w="15875">
            <a:solidFill>
              <a:srgbClr val="E6DF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0" bIns="0"/>
          <a:lstStyle/>
          <a:p>
            <a:pPr algn="ctr"/>
            <a:r>
              <a:rPr sz="1350" b="0">
                <a:solidFill>
                  <a:srgbClr val="4A4842"/>
                </a:solidFill>
                <a:latin typeface="Readex Pro"/>
                <a:cs typeface="Readex Pro"/>
                <a:ea typeface="Readex Pro"/>
              </a:rPr>
              <a:t>Keep all 6,033 unchanged pairs;</a:t>
            </a:r>
          </a:p>
          <a:p>
            <a:pPr algn="ctr"/>
            <a:r>
              <a:rPr sz="1350" b="0">
                <a:solidFill>
                  <a:srgbClr val="4A4842"/>
                </a:solidFill>
                <a:latin typeface="Readex Pro"/>
                <a:cs typeface="Readex Pro"/>
                <a:ea typeface="Readex Pro"/>
              </a:rPr>
              <a:t>pick the checkpoint on changed rows only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2761488"/>
            <a:ext cx="3063240" cy="914400"/>
          </a:xfrm>
          <a:prstGeom prst="roundRect">
            <a:avLst>
              <a:gd name="adj" fmla="val 16000"/>
            </a:avLst>
          </a:prstGeom>
          <a:solidFill>
            <a:srgbClr val="F3E2DA"/>
          </a:solidFill>
          <a:ln w="15875">
            <a:solidFill>
              <a:srgbClr val="F3E2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0" bIns="0"/>
          <a:lstStyle/>
          <a:p>
            <a:pPr algn="ctr"/>
            <a:r>
              <a:rPr sz="1500" b="1">
                <a:solidFill>
                  <a:srgbClr val="B5533C"/>
                </a:solidFill>
                <a:latin typeface="Readex Pro"/>
                <a:cs typeface="Readex Pro"/>
                <a:ea typeface="Readex Pro"/>
              </a:rPr>
              <a:t>SAMER is novels: it teaches word swaps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749039" y="3218688"/>
            <a:ext cx="594361" cy="0"/>
          </a:xfrm>
          <a:prstGeom prst="line">
            <a:avLst/>
          </a:prstGeom>
          <a:ln w="38100">
            <a:solidFill>
              <a:srgbClr val="C698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4480560" y="2761488"/>
            <a:ext cx="4828031" cy="914400"/>
          </a:xfrm>
          <a:prstGeom prst="roundRect">
            <a:avLst>
              <a:gd name="adj" fmla="val 16000"/>
            </a:avLst>
          </a:prstGeom>
          <a:solidFill>
            <a:srgbClr val="EFE9D9"/>
          </a:solidFill>
          <a:ln w="15875">
            <a:solidFill>
              <a:srgbClr val="E6DF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0" bIns="0"/>
          <a:lstStyle/>
          <a:p>
            <a:pPr algn="ctr"/>
            <a:r>
              <a:rPr sz="1350" b="0">
                <a:solidFill>
                  <a:srgbClr val="4A4842"/>
                </a:solidFill>
                <a:latin typeface="Readex Pro"/>
                <a:cs typeface="Readex Pro"/>
                <a:ea typeface="Readex Pro"/>
              </a:rPr>
              <a:t>Add DAASI (everyday, admin) and Baseet</a:t>
            </a:r>
          </a:p>
          <a:p>
            <a:pPr algn="ctr"/>
            <a:r>
              <a:rPr sz="1350" b="0">
                <a:solidFill>
                  <a:srgbClr val="4A4842"/>
                </a:solidFill>
                <a:latin typeface="Readex Pro"/>
                <a:cs typeface="Readex Pro"/>
                <a:ea typeface="Readex Pro"/>
              </a:rPr>
              <a:t>(educational) through a meaning filter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4360" y="3877056"/>
            <a:ext cx="3063240" cy="914400"/>
          </a:xfrm>
          <a:prstGeom prst="roundRect">
            <a:avLst>
              <a:gd name="adj" fmla="val 16000"/>
            </a:avLst>
          </a:prstGeom>
          <a:solidFill>
            <a:srgbClr val="F3E2DA"/>
          </a:solidFill>
          <a:ln w="15875">
            <a:solidFill>
              <a:srgbClr val="F3E2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0" bIns="0"/>
          <a:lstStyle/>
          <a:p>
            <a:pPr algn="ctr"/>
            <a:r>
              <a:rPr sz="1500" b="1">
                <a:solidFill>
                  <a:srgbClr val="B5533C"/>
                </a:solidFill>
                <a:latin typeface="Readex Pro"/>
                <a:cs typeface="Readex Pro"/>
                <a:ea typeface="Readex Pro"/>
              </a:rPr>
              <a:t>One strength fits no one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749039" y="4334256"/>
            <a:ext cx="594361" cy="0"/>
          </a:xfrm>
          <a:prstGeom prst="line">
            <a:avLst/>
          </a:prstGeom>
          <a:ln w="38100">
            <a:solidFill>
              <a:srgbClr val="C698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4480560" y="3877056"/>
            <a:ext cx="4828031" cy="914400"/>
          </a:xfrm>
          <a:prstGeom prst="roundRect">
            <a:avLst>
              <a:gd name="adj" fmla="val 16000"/>
            </a:avLst>
          </a:prstGeom>
          <a:solidFill>
            <a:srgbClr val="EFE9D9"/>
          </a:solidFill>
          <a:ln w="15875">
            <a:solidFill>
              <a:srgbClr val="E6DF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0" bIns="0"/>
          <a:lstStyle/>
          <a:p>
            <a:pPr algn="ctr"/>
            <a:r>
              <a:rPr sz="1350" b="0">
                <a:solidFill>
                  <a:srgbClr val="4A4842"/>
                </a:solidFill>
                <a:latin typeface="Readex Pro"/>
                <a:cs typeface="Readex Pro"/>
                <a:ea typeface="Readex Pro"/>
              </a:rPr>
              <a:t>A strength tag on every source;</a:t>
            </a:r>
          </a:p>
          <a:p>
            <a:pPr algn="ctr"/>
            <a:r>
              <a:rPr sz="1350" b="0">
                <a:solidFill>
                  <a:srgbClr val="4A4842"/>
                </a:solidFill>
                <a:latin typeface="Readex Pro"/>
                <a:cs typeface="Readex Pro"/>
                <a:ea typeface="Readex Pro"/>
              </a:rPr>
              <a:t>at run time it is the app’s strength setting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4360" y="5166360"/>
            <a:ext cx="1627632" cy="868680"/>
          </a:xfrm>
          <a:prstGeom prst="roundRect">
            <a:avLst>
              <a:gd name="adj" fmla="val 15789"/>
            </a:avLst>
          </a:prstGeom>
          <a:solidFill>
            <a:srgbClr val="F6F2E6"/>
          </a:solidFill>
          <a:ln w="15875">
            <a:solidFill>
              <a:srgbClr val="C69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0" bIns="0"/>
          <a:lstStyle/>
          <a:p>
            <a:pPr algn="ctr"/>
            <a:r>
              <a:rPr sz="1800" b="1">
                <a:solidFill>
                  <a:srgbClr val="282824"/>
                </a:solidFill>
                <a:latin typeface="Readex Pro"/>
                <a:cs typeface="Readex Pro"/>
                <a:ea typeface="Readex Pro"/>
              </a:rPr>
              <a:t>[S0]</a:t>
            </a:r>
          </a:p>
          <a:p>
            <a:pPr algn="ctr"/>
            <a:r>
              <a:rPr sz="1100" b="0">
                <a:solidFill>
                  <a:srgbClr val="6F6B5E"/>
                </a:solidFill>
                <a:latin typeface="Readex Pro"/>
                <a:cs typeface="Readex Pro"/>
                <a:ea typeface="Readex Pro"/>
              </a:rPr>
              <a:t>minimal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366010" y="5166360"/>
            <a:ext cx="1627632" cy="868680"/>
          </a:xfrm>
          <a:prstGeom prst="roundRect">
            <a:avLst>
              <a:gd name="adj" fmla="val 15789"/>
            </a:avLst>
          </a:prstGeom>
          <a:solidFill>
            <a:srgbClr val="F6F2E6"/>
          </a:solidFill>
          <a:ln w="15875">
            <a:solidFill>
              <a:srgbClr val="C69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0" bIns="0"/>
          <a:lstStyle/>
          <a:p>
            <a:pPr algn="ctr"/>
            <a:r>
              <a:rPr sz="1800" b="1">
                <a:solidFill>
                  <a:srgbClr val="282824"/>
                </a:solidFill>
                <a:latin typeface="Readex Pro"/>
                <a:cs typeface="Readex Pro"/>
                <a:ea typeface="Readex Pro"/>
              </a:rPr>
              <a:t>[S1]</a:t>
            </a:r>
          </a:p>
          <a:p>
            <a:pPr algn="ctr"/>
            <a:r>
              <a:rPr sz="1100" b="0">
                <a:solidFill>
                  <a:srgbClr val="6F6B5E"/>
                </a:solidFill>
                <a:latin typeface="Readex Pro"/>
                <a:cs typeface="Readex Pro"/>
                <a:ea typeface="Readex Pro"/>
              </a:rPr>
              <a:t>light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37660" y="5166360"/>
            <a:ext cx="1627632" cy="868680"/>
          </a:xfrm>
          <a:prstGeom prst="roundRect">
            <a:avLst>
              <a:gd name="adj" fmla="val 15789"/>
            </a:avLst>
          </a:prstGeom>
          <a:solidFill>
            <a:srgbClr val="F6F2E6"/>
          </a:solidFill>
          <a:ln w="15875">
            <a:solidFill>
              <a:srgbClr val="C69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0" bIns="0"/>
          <a:lstStyle/>
          <a:p>
            <a:pPr algn="ctr"/>
            <a:r>
              <a:rPr sz="1800" b="1">
                <a:solidFill>
                  <a:srgbClr val="282824"/>
                </a:solidFill>
                <a:latin typeface="Readex Pro"/>
                <a:cs typeface="Readex Pro"/>
                <a:ea typeface="Readex Pro"/>
              </a:rPr>
              <a:t>[S2]</a:t>
            </a:r>
          </a:p>
          <a:p>
            <a:pPr algn="ctr"/>
            <a:r>
              <a:rPr sz="1100" b="0">
                <a:solidFill>
                  <a:srgbClr val="6F6B5E"/>
                </a:solidFill>
                <a:latin typeface="Readex Pro"/>
                <a:cs typeface="Readex Pro"/>
                <a:ea typeface="Readex Pro"/>
              </a:rPr>
              <a:t>medium · default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909310" y="5166360"/>
            <a:ext cx="1627632" cy="868680"/>
          </a:xfrm>
          <a:prstGeom prst="roundRect">
            <a:avLst>
              <a:gd name="adj" fmla="val 15789"/>
            </a:avLst>
          </a:prstGeom>
          <a:solidFill>
            <a:srgbClr val="F6F2E6"/>
          </a:solidFill>
          <a:ln w="15875">
            <a:solidFill>
              <a:srgbClr val="C69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0" bIns="0"/>
          <a:lstStyle/>
          <a:p>
            <a:pPr algn="ctr"/>
            <a:r>
              <a:rPr sz="1800" b="1">
                <a:solidFill>
                  <a:srgbClr val="282824"/>
                </a:solidFill>
                <a:latin typeface="Readex Pro"/>
                <a:cs typeface="Readex Pro"/>
                <a:ea typeface="Readex Pro"/>
              </a:rPr>
              <a:t>[S3]</a:t>
            </a:r>
          </a:p>
          <a:p>
            <a:pPr algn="ctr"/>
            <a:r>
              <a:rPr sz="1100" b="0">
                <a:solidFill>
                  <a:srgbClr val="6F6B5E"/>
                </a:solidFill>
                <a:latin typeface="Readex Pro"/>
                <a:cs typeface="Readex Pro"/>
                <a:ea typeface="Readex Pro"/>
              </a:rPr>
              <a:t>strong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680960" y="5166360"/>
            <a:ext cx="1627632" cy="868680"/>
          </a:xfrm>
          <a:prstGeom prst="roundRect">
            <a:avLst>
              <a:gd name="adj" fmla="val 15789"/>
            </a:avLst>
          </a:prstGeom>
          <a:solidFill>
            <a:srgbClr val="F6F2E6"/>
          </a:solidFill>
          <a:ln w="15875">
            <a:solidFill>
              <a:srgbClr val="C69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0" bIns="0"/>
          <a:lstStyle/>
          <a:p>
            <a:pPr algn="ctr"/>
            <a:r>
              <a:rPr sz="1800" b="1">
                <a:solidFill>
                  <a:srgbClr val="282824"/>
                </a:solidFill>
                <a:latin typeface="Readex Pro"/>
                <a:cs typeface="Readex Pro"/>
                <a:ea typeface="Readex Pro"/>
              </a:rPr>
              <a:t>[SA]</a:t>
            </a:r>
          </a:p>
          <a:p>
            <a:pPr algn="ctr"/>
            <a:r>
              <a:rPr sz="1100" b="0">
                <a:solidFill>
                  <a:srgbClr val="6F6B5E"/>
                </a:solidFill>
                <a:latin typeface="Readex Pro"/>
                <a:cs typeface="Readex Pro"/>
                <a:ea typeface="Readex Pro"/>
              </a:rPr>
              <a:t>everyday</a:t>
            </a:r>
          </a:p>
        </p:txBody>
      </p:sp>
      <p:sp>
        <p:nvSpPr>
          <p:cNvPr id="23" name="Oval 22"/>
          <p:cNvSpPr/>
          <p:nvPr/>
        </p:nvSpPr>
        <p:spPr>
          <a:xfrm>
            <a:off x="4869180" y="4946904"/>
            <a:ext cx="164592" cy="164592"/>
          </a:xfrm>
          <a:prstGeom prst="ellipse">
            <a:avLst/>
          </a:prstGeom>
          <a:solidFill>
            <a:srgbClr val="C69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ntr" presetSubtype="8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22" presetClass="entr" presetSubtype="8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1" grpId="0" animBg="1"/>
      <p:bldP spid="12" grpId="0" animBg="1"/>
      <p:bldP spid="14" grpId="0" animBg="1"/>
      <p:bldP spid="15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ackground"/>
          <p:cNvSpPr/>
          <p:nvPr/>
        </p:nvSpPr>
        <p:spPr>
          <a:xfrm>
            <a:off x="0" y="0"/>
            <a:ext cx="9902952" cy="6858000"/>
          </a:xfrm>
          <a:prstGeom prst="rect">
            <a:avLst/>
          </a:prstGeom>
          <a:solidFill>
            <a:srgbClr val="1A1A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Samsung logo" descr="Samsu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6327648"/>
            <a:ext cx="1051560" cy="16167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828800" y="6281928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F2EFE2"/>
                </a:solidFill>
                <a:latin typeface="Readex Pro"/>
                <a:cs typeface="Readex Pro"/>
                <a:ea typeface="Readex Pro"/>
              </a:rPr>
              <a:t>Samsung Innovation Campus  ·  AI Course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28192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>
                <a:solidFill>
                  <a:srgbClr val="F2EFE2"/>
                </a:solidFill>
                <a:latin typeface="Readex Pro"/>
                <a:cs typeface="Readex Pro"/>
                <a:ea typeface="Readex Pro"/>
              </a:rPr>
              <a:t>9 / 9</a:t>
            </a:r>
          </a:p>
        </p:txBody>
      </p:sp>
      <p:pic>
        <p:nvPicPr>
          <p:cNvPr id="6" name="Bayan logo" descr="Bayan 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68396" y="1143000"/>
            <a:ext cx="3566160" cy="111665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0" y="2926080"/>
            <a:ext cx="9902952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400" b="1">
                <a:solidFill>
                  <a:srgbClr val="F2EFE2"/>
                </a:solidFill>
                <a:latin typeface="Readex Pro"/>
                <a:cs typeface="Readex Pro"/>
                <a:ea typeface="Readex Pro"/>
              </a:rPr>
              <a:t>Simplify where you read.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3977639"/>
            <a:ext cx="990295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C6986B"/>
                </a:solidFill>
                <a:latin typeface="Readex Pro"/>
                <a:cs typeface="Readex Pro"/>
                <a:ea typeface="Readex Pro"/>
              </a:rPr>
              <a:t>Next: does it work?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9535" y="4572000"/>
            <a:ext cx="4343400" cy="384048"/>
          </a:xfrm>
          <a:prstGeom prst="roundRect">
            <a:avLst>
              <a:gd name="adj" fmla="val 42857"/>
            </a:avLst>
          </a:prstGeom>
          <a:solidFill>
            <a:srgbClr val="26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0" bIns="0"/>
          <a:lstStyle/>
          <a:p>
            <a:pPr algn="ctr"/>
            <a:r>
              <a:rPr sz="1250" b="0">
                <a:solidFill>
                  <a:srgbClr val="F2EFE2"/>
                </a:solidFill>
                <a:latin typeface="Readex Pro"/>
                <a:cs typeface="Readex Pro"/>
                <a:ea typeface="Readex Pro"/>
              </a:rPr>
              <a:t>BayanBench: a benchmark for the reader’s task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40096" y="4572000"/>
            <a:ext cx="1600200" cy="384048"/>
          </a:xfrm>
          <a:prstGeom prst="roundRect">
            <a:avLst>
              <a:gd name="adj" fmla="val 42857"/>
            </a:avLst>
          </a:prstGeom>
          <a:solidFill>
            <a:srgbClr val="26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0" bIns="0"/>
          <a:lstStyle/>
          <a:p>
            <a:pPr algn="ctr"/>
            <a:r>
              <a:rPr sz="1250" b="0">
                <a:solidFill>
                  <a:srgbClr val="F2EFE2"/>
                </a:solidFill>
                <a:latin typeface="Readex Pro"/>
                <a:cs typeface="Readex Pro"/>
                <a:ea typeface="Readex Pro"/>
              </a:rPr>
              <a:t>On a real phone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077456" y="4572000"/>
            <a:ext cx="1965960" cy="384048"/>
          </a:xfrm>
          <a:prstGeom prst="roundRect">
            <a:avLst>
              <a:gd name="adj" fmla="val 42857"/>
            </a:avLst>
          </a:prstGeom>
          <a:solidFill>
            <a:srgbClr val="26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0" bIns="0"/>
          <a:lstStyle/>
          <a:p>
            <a:pPr algn="ctr"/>
            <a:r>
              <a:rPr sz="1250" b="0">
                <a:solidFill>
                  <a:srgbClr val="F2EFE2"/>
                </a:solidFill>
                <a:latin typeface="Readex Pro"/>
                <a:cs typeface="Readex Pro"/>
                <a:ea typeface="Readex Pro"/>
              </a:rPr>
              <a:t>Readers with dyslexia</a:t>
            </a:r>
          </a:p>
        </p:txBody>
      </p:sp>
      <p:pic>
        <p:nvPicPr>
          <p:cNvPr id="12" name="SIC slogan" descr="Samsung Innovation Campus sloga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82796" y="5349240"/>
            <a:ext cx="1737360" cy="569098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amsung">
      <a:majorFont>
        <a:latin typeface="Samsung Sharp Sans"/>
        <a:ea typeface="SamsungOneKorean 700"/>
        <a:cs typeface=""/>
      </a:majorFont>
      <a:minorFont>
        <a:latin typeface="SamsungOne 400"/>
        <a:ea typeface="SamsungOneKorean 400"/>
        <a:cs typeface="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B971F96850C604FA9DD4A6FAA1D7E94" ma:contentTypeVersion="13" ma:contentTypeDescription="Create a new document." ma:contentTypeScope="" ma:versionID="94bb0226509be2894c83196f814f5ace">
  <xsd:schema xmlns:xsd="http://www.w3.org/2001/XMLSchema" xmlns:xs="http://www.w3.org/2001/XMLSchema" xmlns:p="http://schemas.microsoft.com/office/2006/metadata/properties" xmlns:ns2="5192ee0d-e524-4888-b581-1910cadcd210" xmlns:ns3="525df02f-3aee-47af-b2f3-c2ea8bcae9a6" targetNamespace="http://schemas.microsoft.com/office/2006/metadata/properties" ma:root="true" ma:fieldsID="eb19b1b986ba2b37eb36a9dd005ffe1c" ns2:_="" ns3:_="">
    <xsd:import namespace="5192ee0d-e524-4888-b581-1910cadcd210"/>
    <xsd:import namespace="525df02f-3aee-47af-b2f3-c2ea8bcae9a6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BillingMetadata" minOccurs="0"/>
                <xsd:element ref="ns2:MediaServiceOCR" minOccurs="0"/>
                <xsd:element ref="ns2:comment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192ee0d-e524-4888-b581-1910cadcd21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4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6" nillable="true" ma:taxonomy="true" ma:internalName="lcf76f155ced4ddcb4097134ff3c332f" ma:taxonomyFieldName="MediaServiceImageTags" ma:displayName="Image Tags" ma:readOnly="false" ma:fieldId="{5cf76f15-5ced-4ddc-b409-7134ff3c332f}" ma:taxonomyMulti="true" ma:sspId="33ef62f9-2e07-484b-bd79-00aec90129f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BillingMetadata" ma:index="18" nillable="true" ma:displayName="MediaServiceBillingMetadata" ma:hidden="true" ma:internalName="MediaServiceBillingMetadata" ma:readOnly="true">
      <xsd:simpleType>
        <xsd:restriction base="dms:Note"/>
      </xsd:simpleType>
    </xsd:element>
    <xsd:element name="MediaServiceOCR" ma:index="19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comment" ma:index="20" nillable="true" ma:displayName="comment" ma:format="Dropdown" ma:internalName="comment">
      <xsd:simpleType>
        <xsd:restriction base="dms:Text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25df02f-3aee-47af-b2f3-c2ea8bcae9a6" elementFormDefault="qualified">
    <xsd:import namespace="http://schemas.microsoft.com/office/2006/documentManagement/types"/>
    <xsd:import namespace="http://schemas.microsoft.com/office/infopath/2007/PartnerControls"/>
    <xsd:element name="TaxCatchAll" ma:index="17" nillable="true" ma:displayName="Taxonomy Catch All Column" ma:hidden="true" ma:list="{ff2df0d5-6bdf-4400-9605-4c2d2eede7e4}" ma:internalName="TaxCatchAll" ma:showField="CatchAllData" ma:web="525df02f-3aee-47af-b2f3-c2ea8bcae9a6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525df02f-3aee-47af-b2f3-c2ea8bcae9a6" xsi:nil="true"/>
    <lcf76f155ced4ddcb4097134ff3c332f xmlns="5192ee0d-e524-4888-b581-1910cadcd210">
      <Terms xmlns="http://schemas.microsoft.com/office/infopath/2007/PartnerControls"/>
    </lcf76f155ced4ddcb4097134ff3c332f>
    <comment xmlns="5192ee0d-e524-4888-b581-1910cadcd210" xsi:nil="true"/>
  </documentManagement>
</p:properties>
</file>

<file path=customXml/itemProps1.xml><?xml version="1.0" encoding="utf-8"?>
<ds:datastoreItem xmlns:ds="http://schemas.openxmlformats.org/officeDocument/2006/customXml" ds:itemID="{0A0357D8-C495-42E3-A0C0-6723B236FB34}"/>
</file>

<file path=customXml/itemProps2.xml><?xml version="1.0" encoding="utf-8"?>
<ds:datastoreItem xmlns:ds="http://schemas.openxmlformats.org/officeDocument/2006/customXml" ds:itemID="{F7A1BB24-B868-43EF-95F7-238FE3A157D5}"/>
</file>

<file path=customXml/itemProps3.xml><?xml version="1.0" encoding="utf-8"?>
<ds:datastoreItem xmlns:ds="http://schemas.openxmlformats.org/officeDocument/2006/customXml" ds:itemID="{83B4D1BC-3672-47C7-8E98-3D3B83A92BF9}"/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4279</TotalTime>
  <Words>65</Words>
  <Application>Microsoft Office PowerPoint</Application>
  <PresentationFormat>사용자 지정</PresentationFormat>
  <Paragraphs>23</Paragraphs>
  <Slides>4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</vt:i4>
      </vt:variant>
    </vt:vector>
  </HeadingPairs>
  <TitlesOfParts>
    <vt:vector size="14" baseType="lpstr">
      <vt:lpstr>SamsungOne 400</vt:lpstr>
      <vt:lpstr>Samsung Sharp Sans Bold</vt:lpstr>
      <vt:lpstr>Samsung Sharp Sans</vt:lpstr>
      <vt:lpstr>Calibri</vt:lpstr>
      <vt:lpstr>Arial</vt:lpstr>
      <vt:lpstr>Samsung Sharp Sans Medium</vt:lpstr>
      <vt:lpstr>맑은 고딕</vt:lpstr>
      <vt:lpstr>SamsungOne 700</vt:lpstr>
      <vt:lpstr>SamsungOne 400C</vt:lpstr>
      <vt:lpstr>Office Theme</vt:lpstr>
      <vt:lpstr>Project Name</vt:lpstr>
      <vt:lpstr>PowerPoint 프레젠테이션</vt:lpstr>
      <vt:lpstr>Slide Title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Programming in Python</dc:title>
  <dc:creator>Soon Yong Chang</dc:creator>
  <cp:lastModifiedBy>이 선우</cp:lastModifiedBy>
  <cp:revision>2081</cp:revision>
  <dcterms:created xsi:type="dcterms:W3CDTF">2019-07-06T14:12:49Z</dcterms:created>
  <dcterms:modified xsi:type="dcterms:W3CDTF">2025-12-26T06:30:13Z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0x010100EB971F96850C604FA9DD4A6FAA1D7E94</vt:lpwstr>
  </property>
</Properties>
</file>