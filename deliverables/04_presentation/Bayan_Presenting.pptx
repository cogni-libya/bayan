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3" r:id="rId1"/>
  </p:sldMasterIdLst>
  <p:notesMasterIdLst>
    <p:notesMasterId r:id="rId6"/>
  </p:notesMasterIdLst>
  <p:sldIdLst>
    <p:sldId id="256" r:id="rId5"/>
    <p:sldId id="257" r:id="rId4"/>
    <p:sldId id="258" r:id="rId3"/>
    <p:sldId id="259" r:id="rId2"/>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Lst>
  <p:sldSz cx="9902825" cy="6858000"/>
  <p:notesSz cx="6858000" cy="9144000"/>
  <p:embeddedFontLst>
    <p:embeddedFont>
      <p:font typeface="Samsung Sharp Sans" pitchFamily="2" charset="0"/>
      <p:regular r:id="rId7"/>
      <p:bold r:id="rId8"/>
    </p:embeddedFont>
    <p:embeddedFont>
      <p:font typeface="Samsung Sharp Sans Bold" pitchFamily="2" charset="0"/>
      <p:bold r:id="rId9"/>
    </p:embeddedFont>
    <p:embeddedFont>
      <p:font typeface="Samsung Sharp Sans Medium" pitchFamily="2" charset="0"/>
      <p:bold r:id="rId10"/>
    </p:embeddedFont>
    <p:embeddedFont>
      <p:font typeface="SamsungOne 400" panose="020B0503030303020204" pitchFamily="34" charset="0"/>
      <p:regular r:id="rId11"/>
    </p:embeddedFont>
    <p:embeddedFont>
      <p:font typeface="SamsungOne 400C" panose="020B0506030303020204" charset="0"/>
      <p:regular r:id="rId12"/>
    </p:embeddedFont>
    <p:embeddedFont>
      <p:font typeface="SamsungOne 700" panose="020B0803030303020204" pitchFamily="34" charset="0"/>
      <p:bold r:id="rId13"/>
    </p:embeddedFont>
    <p:embeddedFont>
      <p:font typeface="맑은 고딕" panose="020B0503020000020004" pitchFamily="50" charset="-127"/>
      <p:regular r:id="rId14"/>
      <p:bold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19" userDrawn="1">
          <p15:clr>
            <a:srgbClr val="A4A3A4"/>
          </p15:clr>
        </p15:guide>
        <p15:guide id="2" orient="horz" pos="2160">
          <p15:clr>
            <a:srgbClr val="A4A3A4"/>
          </p15:clr>
        </p15:guide>
      </p15:sldGuideLst>
    </p:ext>
    <p:ext uri="{521415D9-36F7-43E2-AB2F-B90AF26B5E84}">
      <p14:sectionLst xmlns:p14="http://schemas.microsoft.com/office/powerpoint/2010/main">
        <p14:section name="1. Cover" id="{66083ee4-475b-59ca-a90c-53b7fd31a485}">
          <p14:sldIdLst>
            <p14:sldId id="256"/>
          </p14:sldIdLst>
        </p14:section>
        <p14:section name="2. Problem" id="{92ff3771-adec-5b62-88f4-013ceac532f7}">
          <p14:sldIdLst>
            <p14:sldId id="257"/>
            <p14:sldId id="258"/>
          </p14:sldIdLst>
        </p14:section>
        <p14:section name="3. Data" id="{c176ee49-28dc-51c1-aa4b-0a13a89d9a20}">
          <p14:sldIdLst>
            <p14:sldId id="259"/>
            <p14:sldId id="260"/>
            <p14:sldId id="261"/>
            <p14:sldId id="262"/>
          </p14:sldIdLst>
        </p14:section>
        <p14:section name="4. ipeline" id="{d5545d7b-6e5f-50da-a93c-5e5126f90f66}">
          <p14:sldIdLst>
            <p14:sldId id="263"/>
            <p14:sldId id="264"/>
            <p14:sldId id="265"/>
          </p14:sldIdLst>
        </p14:section>
        <p14:section name="5. Models" id="{4784d655-ed21-588e-b1c4-025b10287067}">
          <p14:sldIdLst>
            <p14:sldId id="266"/>
            <p14:sldId id="267"/>
            <p14:sldId id="268"/>
          </p14:sldIdLst>
        </p14:section>
        <p14:section name="6. Measure" id="{1a8300f5-edd1-534b-8fa2-7c26e938551b}">
          <p14:sldIdLst>
            <p14:sldId id="269"/>
            <p14:sldId id="270"/>
            <p14:sldId id="271"/>
            <p14:sldId id="272"/>
          </p14:sldIdLst>
        </p14:section>
        <p14:section name="7. Results" id="{f799d59e-b6c5-52d0-b583-206a96d1471b}">
          <p14:sldIdLst>
            <p14:sldId id="273"/>
            <p14:sldId id="274"/>
            <p14:sldId id="275"/>
          </p14:sldIdLst>
        </p14:section>
        <p14:section name="8. Phone" id="{5c93df3b-b2b8-5c43-b345-f0372d0dc1f2}">
          <p14:sldIdLst>
            <p14:sldId id="276"/>
            <p14:sldId id="277"/>
            <p14:sldId id="278"/>
          </p14:sldIdLst>
        </p14:section>
        <p14:section name="9. Close" id="{8b7fc44d-da3b-545a-b00f-fda4a296e502}">
          <p14:sldIdLst>
            <p14:sldId id="279"/>
            <p14:sldId id="28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EB0"/>
    <a:srgbClr val="FFB546"/>
    <a:srgbClr val="FF4337"/>
    <a:srgbClr val="00B3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3" autoAdjust="0"/>
    <p:restoredTop sz="72205" autoAdjust="0"/>
  </p:normalViewPr>
  <p:slideViewPr>
    <p:cSldViewPr snapToGrid="0">
      <p:cViewPr varScale="1">
        <p:scale>
          <a:sx n="110" d="100"/>
          <a:sy n="110" d="100"/>
        </p:scale>
        <p:origin x="1386" y="114"/>
      </p:cViewPr>
      <p:guideLst>
        <p:guide pos="3119"/>
        <p:guide orient="horz" pos="2160"/>
      </p:guideLst>
    </p:cSldViewPr>
  </p:slideViewPr>
  <p:notesTextViewPr>
    <p:cViewPr>
      <p:scale>
        <a:sx n="125" d="100"/>
        <a:sy n="1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4.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font" Target="fonts/font1.fntdata"/><Relationship Id="rId8" Type="http://schemas.openxmlformats.org/officeDocument/2006/relationships/font" Target="fonts/font2.fntdata"/><Relationship Id="rId9" Type="http://schemas.openxmlformats.org/officeDocument/2006/relationships/font" Target="fonts/font3.fntdata"/><Relationship Id="rId10" Type="http://schemas.openxmlformats.org/officeDocument/2006/relationships/font" Target="fonts/font4.fntdata"/><Relationship Id="rId11" Type="http://schemas.openxmlformats.org/officeDocument/2006/relationships/font" Target="fonts/font5.fntdata"/><Relationship Id="rId12" Type="http://schemas.openxmlformats.org/officeDocument/2006/relationships/font" Target="fonts/font6.fntdata"/><Relationship Id="rId13" Type="http://schemas.openxmlformats.org/officeDocument/2006/relationships/font" Target="fonts/font7.fntdata"/><Relationship Id="rId14" Type="http://schemas.openxmlformats.org/officeDocument/2006/relationships/font" Target="fonts/font8.fntdata"/><Relationship Id="rId15" Type="http://schemas.openxmlformats.org/officeDocument/2006/relationships/font" Target="fonts/font9.fnt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 Id="rId21" Type="http://schemas.openxmlformats.org/officeDocument/2006/relationships/customXml" Target="../customXml/item1.xml"/><Relationship Id="rId22" Type="http://schemas.openxmlformats.org/officeDocument/2006/relationships/customXml" Target="../customXml/item2.xml"/><Relationship Id="rId23" Type="http://schemas.openxmlformats.org/officeDocument/2006/relationships/customXml" Target="../customXml/item3.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이 선우" userId="0fe69268-fa1a-4efe-9dc5-d4012ab1114b" providerId="ADAL" clId="{C52B7E7F-94C4-473C-B7E9-B27EED8C6190}"/>
    <pc:docChg chg="modMainMaster">
      <pc:chgData name="이 선우" userId="0fe69268-fa1a-4efe-9dc5-d4012ab1114b" providerId="ADAL" clId="{C52B7E7F-94C4-473C-B7E9-B27EED8C6190}" dt="2025-12-26T06:30:10.164" v="2" actId="20577"/>
      <pc:docMkLst>
        <pc:docMk/>
      </pc:docMkLst>
      <pc:sldMasterChg chg="modSldLayout">
        <pc:chgData name="이 선우" userId="0fe69268-fa1a-4efe-9dc5-d4012ab1114b" providerId="ADAL" clId="{C52B7E7F-94C4-473C-B7E9-B27EED8C6190}" dt="2025-12-26T06:30:10.164" v="2" actId="20577"/>
        <pc:sldMasterMkLst>
          <pc:docMk/>
          <pc:sldMasterMk cId="3477928821" sldId="2147483683"/>
        </pc:sldMasterMkLst>
        <pc:sldLayoutChg chg="modSp mod">
          <pc:chgData name="이 선우" userId="0fe69268-fa1a-4efe-9dc5-d4012ab1114b" providerId="ADAL" clId="{C52B7E7F-94C4-473C-B7E9-B27EED8C6190}" dt="2025-12-26T06:30:10.164" v="2" actId="20577"/>
          <pc:sldLayoutMkLst>
            <pc:docMk/>
            <pc:sldMasterMk cId="3477928821" sldId="2147483683"/>
            <pc:sldLayoutMk cId="1227834196" sldId="2147483689"/>
          </pc:sldLayoutMkLst>
          <pc:spChg chg="mod">
            <ac:chgData name="이 선우" userId="0fe69268-fa1a-4efe-9dc5-d4012ab1114b" providerId="ADAL" clId="{C52B7E7F-94C4-473C-B7E9-B27EED8C6190}" dt="2025-12-26T06:30:10.164" v="2" actId="20577"/>
            <ac:spMkLst>
              <pc:docMk/>
              <pc:sldMasterMk cId="3477928821" sldId="2147483683"/>
              <pc:sldLayoutMk cId="1227834196" sldId="2147483689"/>
              <ac:spMk id="7" creationId="{782B242C-8600-47F0-98D5-6EA512C41BF2}"/>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57C17-E6FD-4AF5-A787-31E9CCE99A85}" type="datetimeFigureOut">
              <a:rPr lang="ko-KR" altLang="en-US" smtClean="0"/>
              <a:t>2025-12-26</a:t>
            </a:fld>
            <a:endParaRPr lang="ko-KR" altLang="en-US" dirty="0"/>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9C55F-00F1-4985-9065-F2D92AE05D03}" type="slidenum">
              <a:rPr lang="ko-KR" altLang="en-US" smtClean="0"/>
              <a:t>‹#›</a:t>
            </a:fld>
            <a:endParaRPr lang="ko-KR" altLang="en-US" dirty="0"/>
          </a:p>
        </p:txBody>
      </p:sp>
    </p:spTree>
    <p:extLst>
      <p:ext uri="{BB962C8B-B14F-4D97-AF65-F5344CB8AC3E}">
        <p14:creationId xmlns:p14="http://schemas.microsoft.com/office/powerpoint/2010/main" val="9912534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 Step 1 (The logo draws itself, then the title and team appear)</a:t>
            </a:r>
          </a:p>
          <a:p>
            <a:r>
              <a:t>This is Bayan: an Android tool that simplifies hard Arabic where you read, on your phone. Building it was fine. Checking it was the hard part.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 Step 1 (11% counts up; كتب splits into kataba, kutiba, kutub)</a:t>
            </a:r>
          </a:p>
          <a:p>
            <a:r>
              <a:t>About eleven percent of Arab primary-school children have dyslexia, and Arabic doesn't help: these letters can be kataba, kutiba or kutub, because short vowels aren't written.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(Left: shorter clauses help the weakest readers most. Right: our scope)</a:t>
            </a:r>
          </a:p>
          <a:p>
            <a:r>
              <a:t>Shorter clauses help the weakest readers most. So Bayan reduces reading load: long clauses, hard words. Tashkeel is a setting in the app, and we don't yet claim it helps readers with dyslexia.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 Step 1 (Two cards: SAMER (novels, half unchanged, word swaps) and other LLM-written sources (summaries))</a:t>
            </a:r>
          </a:p>
          <a:p>
            <a:r>
              <a:t>We started with what existed. SAMER is novels: half its pairs are unchanged, and it swaps words but never splits sentences. The other sources mostly summarised.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(Corpus v0: DeepSeek -&gt; validator -&gt; readability gate; three red chips; validator accepted 34% of planted additions)</a:t>
            </a:r>
          </a:p>
          <a:p>
            <a:r>
              <a:t>So we wrote our own with DeepSeek. The audit was humbling: tashkeel in fifty-seven percent of rows, cut-off sentences helpfully completed, a validator that waved through a third of our planted errors. We trained nothing on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(Pipeline v1: BAREC -&gt; strip tashkeel -&gt; route -&gt; Gemma 4 31B -&gt; code, readability and meaning gates)</a:t>
            </a:r>
          </a:p>
          <a:p>
            <a:r>
              <a:t>Corpus v1 starts from BAREC, strips tashkeel, sets protected and short text aside, and has Gemma 4 31B rewrite the hard sentences behind three gates.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(14,975 rows lock in; audit badge: 1.7% meaning changed)</a:t>
            </a:r>
          </a:p>
          <a:p>
            <a:r>
              <a:t>Fourteen thousand nine hundred seventy-five pairs survived. A blind audit found one point seven percent with changed meaning. We'll take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 Step 1 (Five connected stages: sources, leakage check, meaning gate, fine-tune, measure)</a:t>
            </a:r>
          </a:p>
          <a:p>
            <a:r>
              <a:t>One pipeline carried every version. The sources pass a leakage check, then a meaning gate set at point eight five, then fine-tuning, then measuring on BayanBench.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(A feedback loop closes back on the sources, carrying the three version findings)</a:t>
            </a:r>
          </a:p>
          <a:p>
            <a:r>
              <a:t>And the loop is the point: every measurement came back as the next version's data. v0.1 taught us that copying wins and the model only swaps words. v0.2 taught us that meaning breaks first. v0.3 rebuilt the data around those two findings, and it keeps meaning in eighty-two percent of outputs.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 feedback loop closes back on the sources, carrying the three version findings)</a:t>
            </a:r>
          </a:p>
          <a:p>
            <a:r>
              <a:t>And the loop is the point: every measurement came back as the next version's data. v0.1 taught us that copying wins and the model only swaps words. v0.2 taught us that meaning breaks first. v0.3 rebuilt the data around those two findings, and it keeps meaning in eighty-two percent of outputs.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 Step 1 (Lane v0.1: AraT5v2 on SAMER. Found: returned 65% of rows unchanged, swapped single words)</a:t>
            </a:r>
          </a:p>
          <a:p>
            <a:r>
              <a:t>BayanSimplify v0.1 trained on SAMER. It returned sixty-five percent of sentences untouched, where editors leave forty-nine. Bold strategy: change nothing.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(Lane v0.2: two models, AraT5v2 (v0.2) and AraBART (v0.2-Fast); meaning kept 60% / 40%; the tag costs meaning)</a:t>
            </a:r>
          </a:p>
          <a:p>
            <a:r>
              <a:t>v0.2 is two models, AraT5v2 and AraBART, trained with everyday text and strength tags. They kept the meaning in sixty and forty percent of outputs. The tag costs meaning, so the app sends none.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(Lane v0.3: AraT5v2 on corpus v1, our best: cuts 9.5 words vs 4.5, about the same meaning (vs v0.2, no tag))</a:t>
            </a:r>
          </a:p>
          <a:p>
            <a:r>
              <a:t>v0.3 is AraT5v2 on corpus v1, no tag. As trained, it cuts twice the words of v0.2 and keeps about the same meaning.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 Step 1 (Copy baseline table: copy 100% / 0; v0.1 76% / 0; v0.2 68% / 4.5 and v0.2-Fast 51% / 4.9; v0.3 69% / 9.5)</a:t>
            </a:r>
          </a:p>
          <a:p>
            <a:r>
              <a:t>How do we know a rewrite is good? Copying keeps all the meaning and simplifies nothing, which is how a lazy model would win. v0.1 nearly managed it: seventy-six percent kept, no words cut from the longest clause. So we built BayanBench.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(Gemma 4 31B reads original + rewrite and answers 7 yes/no questions: 4 on meaning, 3 on quality)</a:t>
            </a:r>
          </a:p>
          <a:p>
            <a:r>
              <a:t>Meaning comes from Gemma 4 31B, an open model. It reads the original and the rewrite and answers seven yes-or-no questions: four about meaning, three about quality.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(Four measures in a square: meaning, simpler, restraint, copying rate)</a:t>
            </a:r>
          </a:p>
          <a:p>
            <a:r>
              <a:t>Four measures, scored separately. Kept means the same meaning and every number intact.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(People check: one reader with dyslexia rated 30 outputs (17 easier, 9 same, 4 harder); scorer AUC 0.85)</a:t>
            </a:r>
          </a:p>
          <a:p>
            <a:r>
              <a:t>Do people agree with the scorer? Six raters, two hundred ninety tasks: zero point eight five. One reader with dyslexia rated thirty outputs too: seventeen easier, four harder.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 Step 1 (Scatter: v0.3 in the app keeps the most meaning (82%) and cuts 5.2 words)</a:t>
            </a:r>
          </a:p>
          <a:p>
            <a:r>
              <a:t>More simplification usually means less meaning. v0.3 breaks the pattern: in the app it keeps the most meaning, eighty-two percent, and still cuts five words off the longest clause.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(In the app: v0.3 minus v0.2 behind the same checks: +3.4 words, harder words out, meaning kept as well (not significant))</a:t>
            </a:r>
          </a:p>
          <a:p>
            <a:r>
              <a:t>Against v0.2 behind the same checks, it cuts three and a half more words off the longest clause, removes more hard words, and keeps the meaning as well. Not significantly different.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(Blind rating, 18 sentences: v0.3 easier on 86% of changed outputs vs 60%; 8 of 8 votes)</a:t>
            </a:r>
          </a:p>
          <a:p>
            <a:r>
              <a:t>People agree. In a blind rating, the team found v0.3's changed outputs easier eighty-six percent of the time, against sixty for v0.2, and the reader with dyslexia chose v0.3 in every comparison it was 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 Step 1 (Heading 'What the app does' and the video recording under it)</a:t>
            </a:r>
          </a:p>
          <a:p>
            <a:r>
              <a:t>On a phone: select, tap tabseet, and it reads aloud. Scripture never reaches the model, and code checks that numbers survive.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(Heading 'What the app does' and the video recording under it)</a:t>
            </a:r>
          </a:p>
          <a:p>
            <a:r>
              <a:t>On a phone: select, tap tabseet, and it reads aloud. Scripture never reaches the model, and code checks that numbers survive.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(Heading 'What the app does' and the video recording under it)</a:t>
            </a:r>
          </a:p>
          <a:p>
            <a:r>
              <a:t>On a phone: select, tap tabseet, and it reads aloud. Scripture never reaches the model, and code checks that numbers survive.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 Step 1 (Logo and 'Simplify where you read.')</a:t>
            </a:r>
          </a:p>
          <a:p>
            <a:r>
              <a:t>Bayan: simplify where you read.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(Three limit chips and the next step)</a:t>
            </a:r>
          </a:p>
          <a:p>
            <a:r>
              <a:t>What we can't claim: no reader has used it, our scorer is stricter than people, and our human comparison is eighteen sentences. Next, a reading study.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3956667998"/>
      </p:ext>
    </p:extLst>
  </p:cSld>
  <p:clrMapOvr>
    <a:masterClrMapping/>
  </p:clrMapOvr>
  <p:extLst>
    <p:ext uri="{DCECCB84-F9BA-43D5-87BE-67443E8EF086}">
      <p15:sldGuideLst xmlns:p15="http://schemas.microsoft.com/office/powerpoint/2012/main">
        <p15:guide id="2" pos="285">
          <p15:clr>
            <a:srgbClr val="FBAE40"/>
          </p15:clr>
        </p15:guide>
        <p15:guide id="3" pos="595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6"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
        <p:nvSpPr>
          <p:cNvPr id="7" name="직사각형 133">
            <a:extLst>
              <a:ext uri="{FF2B5EF4-FFF2-40B4-BE49-F238E27FC236}">
                <a16:creationId xmlns:a16="http://schemas.microsoft.com/office/drawing/2014/main" id="{DE8CAD59-3F29-4FBB-AE0A-697DDFD5E69E}"/>
              </a:ext>
            </a:extLst>
          </p:cNvPr>
          <p:cNvSpPr/>
          <p:nvPr userDrawn="1"/>
        </p:nvSpPr>
        <p:spPr>
          <a:xfrm>
            <a:off x="990000" y="4320000"/>
            <a:ext cx="583252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914400" latinLnBrk="1">
              <a:defRPr/>
            </a:pPr>
            <a:r>
              <a:rPr lang="en-US" altLang="ko-KR" sz="2400" baseline="0" dirty="0">
                <a:solidFill>
                  <a:srgbClr val="1428A0"/>
                </a:solidFill>
                <a:latin typeface="Samsung Sharp Sans" pitchFamily="2" charset="0"/>
                <a:ea typeface="Samsung Sharp Sans" pitchFamily="2" charset="0"/>
                <a:cs typeface="Samsung Sharp Sans" pitchFamily="2" charset="0"/>
              </a:rPr>
              <a:t>Artificial Intelligence Course</a:t>
            </a:r>
            <a:endParaRPr lang="ko-KR" altLang="en-US" sz="2400" dirty="0">
              <a:solidFill>
                <a:srgbClr val="1428A0"/>
              </a:solidFill>
              <a:latin typeface="Samsung Sharp Sans" pitchFamily="2" charset="0"/>
              <a:ea typeface="Samsung Sharp Sans" pitchFamily="2" charset="0"/>
              <a:cs typeface="Samsung Sharp Sans" pitchFamily="2" charset="0"/>
            </a:endParaRPr>
          </a:p>
        </p:txBody>
      </p:sp>
      <p:sp>
        <p:nvSpPr>
          <p:cNvPr id="8" name="직사각형 7">
            <a:extLst>
              <a:ext uri="{FF2B5EF4-FFF2-40B4-BE49-F238E27FC236}">
                <a16:creationId xmlns:a16="http://schemas.microsoft.com/office/drawing/2014/main" id="{86149771-D78D-40D7-8B97-564358008D8D}"/>
              </a:ext>
            </a:extLst>
          </p:cNvPr>
          <p:cNvSpPr/>
          <p:nvPr userDrawn="1"/>
        </p:nvSpPr>
        <p:spPr>
          <a:xfrm>
            <a:off x="724689" y="4320000"/>
            <a:ext cx="54000" cy="360000"/>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1" name="텍스트 개체 틀 18">
            <a:extLst>
              <a:ext uri="{FF2B5EF4-FFF2-40B4-BE49-F238E27FC236}">
                <a16:creationId xmlns:a16="http://schemas.microsoft.com/office/drawing/2014/main" id="{02AC410D-7805-4DA9-915F-991D726861C7}"/>
              </a:ext>
            </a:extLst>
          </p:cNvPr>
          <p:cNvSpPr>
            <a:spLocks noGrp="1"/>
          </p:cNvSpPr>
          <p:nvPr>
            <p:ph type="body" sz="quarter" idx="11" hasCustomPrompt="1"/>
          </p:nvPr>
        </p:nvSpPr>
        <p:spPr>
          <a:xfrm>
            <a:off x="720000" y="3551768"/>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Name</a:t>
            </a:r>
            <a:endParaRPr lang="ko-KR" altLang="en-US" dirty="0"/>
          </a:p>
        </p:txBody>
      </p:sp>
      <p:sp>
        <p:nvSpPr>
          <p:cNvPr id="12" name="제목 2">
            <a:extLst>
              <a:ext uri="{FF2B5EF4-FFF2-40B4-BE49-F238E27FC236}">
                <a16:creationId xmlns:a16="http://schemas.microsoft.com/office/drawing/2014/main" id="{44AF0917-EEBC-44C5-8BA6-F1CA2AFA4B1E}"/>
              </a:ext>
            </a:extLst>
          </p:cNvPr>
          <p:cNvSpPr>
            <a:spLocks noGrp="1"/>
          </p:cNvSpPr>
          <p:nvPr>
            <p:ph type="title" hasCustomPrompt="1"/>
          </p:nvPr>
        </p:nvSpPr>
        <p:spPr>
          <a:xfrm>
            <a:off x="720000" y="1710000"/>
            <a:ext cx="5221019" cy="1477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8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rPr lang="en-US" altLang="ko-KR" dirty="0"/>
              <a:t>Project</a:t>
            </a:r>
            <a:r>
              <a:rPr lang="ko-KR" altLang="en-US" dirty="0"/>
              <a:t> </a:t>
            </a:r>
            <a:br>
              <a:rPr lang="en-US" altLang="ko-KR" dirty="0"/>
            </a:br>
            <a:r>
              <a:rPr lang="en-US" altLang="ko-KR" dirty="0"/>
              <a:t>Name</a:t>
            </a:r>
            <a:endParaRPr lang="ko-KR" altLang="en-US" dirty="0"/>
          </a:p>
        </p:txBody>
      </p:sp>
    </p:spTree>
    <p:extLst>
      <p:ext uri="{BB962C8B-B14F-4D97-AF65-F5344CB8AC3E}">
        <p14:creationId xmlns:p14="http://schemas.microsoft.com/office/powerpoint/2010/main" val="3032291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8"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직사각형 133">
            <a:extLst>
              <a:ext uri="{FF2B5EF4-FFF2-40B4-BE49-F238E27FC236}">
                <a16:creationId xmlns:a16="http://schemas.microsoft.com/office/drawing/2014/main" id="{7A4BCBFF-5289-45FE-BA09-DFF42AF8A347}"/>
              </a:ext>
            </a:extLst>
          </p:cNvPr>
          <p:cNvSpPr/>
          <p:nvPr userDrawn="1"/>
        </p:nvSpPr>
        <p:spPr>
          <a:xfrm>
            <a:off x="990000" y="4157757"/>
            <a:ext cx="3563339" cy="323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200">
              <a:defRPr/>
            </a:pPr>
            <a:r>
              <a:rPr lang="en-US" altLang="ko-KR" sz="2100" dirty="0">
                <a:solidFill>
                  <a:srgbClr val="1428A0"/>
                </a:solidFill>
                <a:latin typeface="Samsung Sharp Sans" pitchFamily="2" charset="0"/>
                <a:ea typeface="Samsung Sharp Sans" pitchFamily="2" charset="0"/>
                <a:cs typeface="Samsung Sharp Sans" pitchFamily="2" charset="0"/>
              </a:rPr>
              <a:t>AI Course</a:t>
            </a:r>
            <a:endParaRPr lang="ko-KR" altLang="en-US" sz="2100" dirty="0">
              <a:solidFill>
                <a:srgbClr val="1428A0"/>
              </a:solidFill>
              <a:latin typeface="Samsung Sharp Sans" pitchFamily="2" charset="0"/>
              <a:ea typeface="Samsung Sharp Sans" pitchFamily="2" charset="0"/>
              <a:cs typeface="Samsung Sharp Sans" pitchFamily="2" charset="0"/>
            </a:endParaRPr>
          </a:p>
        </p:txBody>
      </p:sp>
      <p:sp>
        <p:nvSpPr>
          <p:cNvPr id="9" name="직사각형 8">
            <a:extLst>
              <a:ext uri="{FF2B5EF4-FFF2-40B4-BE49-F238E27FC236}">
                <a16:creationId xmlns:a16="http://schemas.microsoft.com/office/drawing/2014/main" id="{4AA6CFBD-D9B3-4245-A68B-1D7EC1CB6F07}"/>
              </a:ext>
            </a:extLst>
          </p:cNvPr>
          <p:cNvSpPr/>
          <p:nvPr userDrawn="1"/>
        </p:nvSpPr>
        <p:spPr>
          <a:xfrm>
            <a:off x="720000" y="2095275"/>
            <a:ext cx="60008" cy="1759369"/>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0" name="직사각형 9">
            <a:extLst>
              <a:ext uri="{FF2B5EF4-FFF2-40B4-BE49-F238E27FC236}">
                <a16:creationId xmlns:a16="http://schemas.microsoft.com/office/drawing/2014/main" id="{1B2EB59A-603F-4715-ABA1-D9DF69D44512}"/>
              </a:ext>
            </a:extLst>
          </p:cNvPr>
          <p:cNvSpPr/>
          <p:nvPr userDrawn="1"/>
        </p:nvSpPr>
        <p:spPr>
          <a:xfrm>
            <a:off x="720000" y="4157757"/>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3" name="제목 2">
            <a:extLst>
              <a:ext uri="{FF2B5EF4-FFF2-40B4-BE49-F238E27FC236}">
                <a16:creationId xmlns:a16="http://schemas.microsoft.com/office/drawing/2014/main" id="{CF6BC111-C555-4B09-8375-33C4F4C2FBB5}"/>
              </a:ext>
            </a:extLst>
          </p:cNvPr>
          <p:cNvSpPr>
            <a:spLocks noGrp="1"/>
          </p:cNvSpPr>
          <p:nvPr>
            <p:ph type="title" hasCustomPrompt="1"/>
          </p:nvPr>
        </p:nvSpPr>
        <p:spPr>
          <a:xfrm>
            <a:off x="990000" y="2095275"/>
            <a:ext cx="5221019" cy="13542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4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rPr lang="en-US" altLang="ko-KR" dirty="0"/>
              <a:t>Project</a:t>
            </a:r>
            <a:r>
              <a:rPr lang="ko-KR" altLang="en-US" dirty="0"/>
              <a:t> </a:t>
            </a:r>
            <a:br>
              <a:rPr lang="en-US" altLang="ko-KR" dirty="0"/>
            </a:br>
            <a:r>
              <a:rPr lang="en-US" altLang="ko-KR" dirty="0"/>
              <a:t>Name</a:t>
            </a:r>
            <a:endParaRPr lang="ko-KR" altLang="en-US" dirty="0"/>
          </a:p>
        </p:txBody>
      </p:sp>
      <p:sp>
        <p:nvSpPr>
          <p:cNvPr id="17" name="텍스트 개체 틀 18">
            <a:extLst>
              <a:ext uri="{FF2B5EF4-FFF2-40B4-BE49-F238E27FC236}">
                <a16:creationId xmlns:a16="http://schemas.microsoft.com/office/drawing/2014/main" id="{CBEAE583-0BAA-455B-9555-B00A4FE8B1C9}"/>
              </a:ext>
            </a:extLst>
          </p:cNvPr>
          <p:cNvSpPr>
            <a:spLocks noGrp="1"/>
          </p:cNvSpPr>
          <p:nvPr>
            <p:ph type="body" sz="quarter" idx="11" hasCustomPrompt="1"/>
          </p:nvPr>
        </p:nvSpPr>
        <p:spPr>
          <a:xfrm>
            <a:off x="990000" y="3577645"/>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Name</a:t>
            </a:r>
            <a:endParaRPr lang="ko-KR" altLang="en-US" dirty="0"/>
          </a:p>
        </p:txBody>
      </p:sp>
    </p:spTree>
    <p:extLst>
      <p:ext uri="{BB962C8B-B14F-4D97-AF65-F5344CB8AC3E}">
        <p14:creationId xmlns:p14="http://schemas.microsoft.com/office/powerpoint/2010/main" val="690312953"/>
      </p:ext>
    </p:extLst>
  </p:cSld>
  <p:clrMapOvr>
    <a:masterClrMapping/>
  </p:clrMapOvr>
  <p:extLst>
    <p:ext uri="{DCECCB84-F9BA-43D5-87BE-67443E8EF086}">
      <p15:sldGuideLst xmlns:p15="http://schemas.microsoft.com/office/powerpoint/2012/main">
        <p15:guide id="1" orient="horz" pos="2614" userDrawn="1">
          <p15:clr>
            <a:srgbClr val="FBAE40"/>
          </p15:clr>
        </p15:guide>
        <p15:guide id="2" pos="443" userDrawn="1">
          <p15:clr>
            <a:srgbClr val="FBAE40"/>
          </p15:clr>
        </p15:guide>
        <p15:guide id="3" pos="5955">
          <p15:clr>
            <a:srgbClr val="FBAE40"/>
          </p15:clr>
        </p15:guide>
        <p15:guide id="4" pos="60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3" name="제목 2">
            <a:extLst>
              <a:ext uri="{FF2B5EF4-FFF2-40B4-BE49-F238E27FC236}">
                <a16:creationId xmlns:a16="http://schemas.microsoft.com/office/drawing/2014/main" id="{4625E1FE-2B04-4D8E-A51A-6B9CEC7B3790}"/>
              </a:ext>
            </a:extLst>
          </p:cNvPr>
          <p:cNvSpPr>
            <a:spLocks noGrp="1"/>
          </p:cNvSpPr>
          <p:nvPr>
            <p:ph type="title" hasCustomPrompt="1"/>
          </p:nvPr>
        </p:nvSpPr>
        <p:spPr>
          <a:xfrm>
            <a:off x="449468" y="1440000"/>
            <a:ext cx="8541187"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spcBef>
                <a:spcPts val="0"/>
              </a:spcBef>
              <a:defRPr lang="ko-KR" altLang="en-US" sz="3200">
                <a:solidFill>
                  <a:schemeClr val="tx1">
                    <a:lumMod val="95000"/>
                    <a:lumOff val="5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Slide Title</a:t>
            </a:r>
            <a:endParaRPr lang="ko-KR" altLang="en-US" dirty="0"/>
          </a:p>
        </p:txBody>
      </p:sp>
      <p:sp>
        <p:nvSpPr>
          <p:cNvPr id="19" name="텍스트 개체 틀 18">
            <a:extLst>
              <a:ext uri="{FF2B5EF4-FFF2-40B4-BE49-F238E27FC236}">
                <a16:creationId xmlns:a16="http://schemas.microsoft.com/office/drawing/2014/main" id="{DFEC8C6A-D95C-4B3C-9803-6F9071BF0C29}"/>
              </a:ext>
            </a:extLst>
          </p:cNvPr>
          <p:cNvSpPr>
            <a:spLocks noGrp="1"/>
          </p:cNvSpPr>
          <p:nvPr>
            <p:ph type="body" sz="quarter" idx="10" hasCustomPrompt="1"/>
          </p:nvPr>
        </p:nvSpPr>
        <p:spPr>
          <a:xfrm>
            <a:off x="449468" y="450000"/>
            <a:ext cx="323896"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No</a:t>
            </a:r>
            <a:endParaRPr lang="ko-KR" altLang="en-US" dirty="0"/>
          </a:p>
        </p:txBody>
      </p:sp>
      <p:sp>
        <p:nvSpPr>
          <p:cNvPr id="20" name="텍스트 개체 틀 18">
            <a:extLst>
              <a:ext uri="{FF2B5EF4-FFF2-40B4-BE49-F238E27FC236}">
                <a16:creationId xmlns:a16="http://schemas.microsoft.com/office/drawing/2014/main" id="{6DA22BCA-E7E2-4377-AD8E-AC1336C3DB31}"/>
              </a:ext>
            </a:extLst>
          </p:cNvPr>
          <p:cNvSpPr>
            <a:spLocks noGrp="1"/>
          </p:cNvSpPr>
          <p:nvPr>
            <p:ph type="body" sz="quarter" idx="11" hasCustomPrompt="1"/>
          </p:nvPr>
        </p:nvSpPr>
        <p:spPr>
          <a:xfrm>
            <a:off x="790000" y="450001"/>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Bold" pitchFamily="2" charset="0"/>
                <a:ea typeface="Samsung Sharp Sans Bold" pitchFamily="2" charset="0"/>
                <a:cs typeface="Samsung Sharp Sans Bold" pitchFamily="2" charset="0"/>
              </a:defRPr>
            </a:lvl1pPr>
          </a:lstStyle>
          <a:p>
            <a:pPr marL="0" lvl="0" defTabSz="457050" latinLnBrk="0"/>
            <a:r>
              <a:rPr lang="en-US" altLang="ko-KR" dirty="0"/>
              <a:t>Subtitle</a:t>
            </a:r>
            <a:endParaRPr lang="ko-KR" altLang="en-US" dirty="0"/>
          </a:p>
        </p:txBody>
      </p:sp>
      <p:sp>
        <p:nvSpPr>
          <p:cNvPr id="21" name="텍스트 개체 틀 18">
            <a:extLst>
              <a:ext uri="{FF2B5EF4-FFF2-40B4-BE49-F238E27FC236}">
                <a16:creationId xmlns:a16="http://schemas.microsoft.com/office/drawing/2014/main" id="{7647BD6A-5F13-45AE-859C-AF2BA0A739E6}"/>
              </a:ext>
            </a:extLst>
          </p:cNvPr>
          <p:cNvSpPr>
            <a:spLocks noGrp="1"/>
          </p:cNvSpPr>
          <p:nvPr>
            <p:ph type="body" sz="quarter" idx="12" hasCustomPrompt="1"/>
          </p:nvPr>
        </p:nvSpPr>
        <p:spPr>
          <a:xfrm>
            <a:off x="9112825" y="480779"/>
            <a:ext cx="340625" cy="246221"/>
          </a:xfrm>
          <a:prstGeom prst="rect">
            <a:avLst/>
          </a:prstGeom>
        </p:spPr>
        <p:txBody>
          <a:bodyPr wrap="square" lIns="0" tIns="0" rIns="0" bIns="0">
            <a:spAutoFit/>
          </a:bodyPr>
          <a:lstStyle>
            <a:lvl1pPr marL="0" indent="0" algn="r">
              <a:lnSpc>
                <a:spcPct val="100000"/>
              </a:lnSpc>
              <a:spcBef>
                <a:spcPts val="0"/>
              </a:spcBef>
              <a:buNone/>
              <a:defRPr lang="ko-KR" altLang="en-US" sz="1600" dirty="0">
                <a:solidFill>
                  <a:schemeClr val="bg1">
                    <a:lumMod val="85000"/>
                  </a:schemeClr>
                </a:solidFill>
                <a:latin typeface="Samsung Sharp Sans Bold" pitchFamily="2" charset="0"/>
                <a:ea typeface="Samsung Sharp Sans Bold" pitchFamily="2" charset="0"/>
                <a:cs typeface="Samsung Sharp Sans Bold" pitchFamily="2" charset="0"/>
              </a:defRPr>
            </a:lvl1pPr>
          </a:lstStyle>
          <a:p>
            <a:pPr marL="0" lvl="0" algn="r" defTabSz="457063" latinLnBrk="0"/>
            <a:r>
              <a:rPr lang="en-US" altLang="ko-KR" dirty="0"/>
              <a:t>00</a:t>
            </a:r>
            <a:endParaRPr lang="ko-KR" altLang="en-US" dirty="0"/>
          </a:p>
        </p:txBody>
      </p:sp>
      <p:sp>
        <p:nvSpPr>
          <p:cNvPr id="23" name="텍스트 개체 틀 18">
            <a:extLst>
              <a:ext uri="{FF2B5EF4-FFF2-40B4-BE49-F238E27FC236}">
                <a16:creationId xmlns:a16="http://schemas.microsoft.com/office/drawing/2014/main" id="{3A9667F7-80AD-4A7A-8543-285975B06BE3}"/>
              </a:ext>
            </a:extLst>
          </p:cNvPr>
          <p:cNvSpPr>
            <a:spLocks noGrp="1"/>
          </p:cNvSpPr>
          <p:nvPr>
            <p:ph type="body" sz="quarter" idx="13" hasCustomPrompt="1"/>
          </p:nvPr>
        </p:nvSpPr>
        <p:spPr>
          <a:xfrm>
            <a:off x="8740667" y="480779"/>
            <a:ext cx="46785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600" dirty="0">
                <a:solidFill>
                  <a:schemeClr val="bg1">
                    <a:lumMod val="85000"/>
                  </a:schemeClr>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UNIT</a:t>
            </a:r>
            <a:endParaRPr lang="ko-KR" altLang="en-US" dirty="0"/>
          </a:p>
        </p:txBody>
      </p:sp>
      <p:sp>
        <p:nvSpPr>
          <p:cNvPr id="16" name="텍스트 개체 틀 7">
            <a:extLst>
              <a:ext uri="{FF2B5EF4-FFF2-40B4-BE49-F238E27FC236}">
                <a16:creationId xmlns:a16="http://schemas.microsoft.com/office/drawing/2014/main" id="{B6D584F0-F100-4FB4-B935-0E81DB1D3B51}"/>
              </a:ext>
            </a:extLst>
          </p:cNvPr>
          <p:cNvSpPr>
            <a:spLocks noGrp="1"/>
          </p:cNvSpPr>
          <p:nvPr>
            <p:ph type="body" sz="quarter" idx="15" hasCustomPrompt="1"/>
          </p:nvPr>
        </p:nvSpPr>
        <p:spPr>
          <a:xfrm>
            <a:off x="522288" y="2221661"/>
            <a:ext cx="8055439" cy="914400"/>
          </a:xfrm>
          <a:prstGeom prst="rect">
            <a:avLst/>
          </a:prstGeom>
        </p:spPr>
        <p:txBody>
          <a:bodyPr lIns="0" tIns="0" rIns="0" bIns="0"/>
          <a:lstStyle>
            <a:lvl1pPr marL="177747" indent="-177747">
              <a:lnSpc>
                <a:spcPts val="1800"/>
              </a:lnSpc>
              <a:buSzPct val="105000"/>
              <a:buFontTx/>
              <a:buBlip>
                <a:blip r:embed="rId3"/>
              </a:buBlip>
              <a:defRPr kumimoji="1" lang="en-US" altLang="ko-KR" sz="1400" kern="120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1pPr>
            <a:lvl2pPr marL="360255" indent="-182508">
              <a:lnSpc>
                <a:spcPts val="1800"/>
              </a:lnSpc>
              <a:buSzPct val="80000"/>
              <a:buFontTx/>
              <a:buBlip>
                <a:blip r:embed="rId4"/>
              </a:buBlip>
              <a:tabLst>
                <a:tab pos="447541" algn="l"/>
              </a:tabLst>
              <a:defRPr lang="en-US" altLang="ko-KR" sz="1300" kern="1200" dirty="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2pPr>
          </a:lstStyle>
          <a:p>
            <a:pPr lvl="0"/>
            <a:r>
              <a:rPr lang="en-US" altLang="ko-KR" dirty="0"/>
              <a:t>Level1</a:t>
            </a:r>
          </a:p>
          <a:p>
            <a:pPr lvl="1"/>
            <a:r>
              <a:rPr lang="en-US" altLang="ko-KR" dirty="0"/>
              <a:t>Level2</a:t>
            </a:r>
          </a:p>
          <a:p>
            <a:pPr lvl="1"/>
            <a:endParaRPr lang="en-US" altLang="ko-KR" dirty="0"/>
          </a:p>
          <a:p>
            <a:pPr marL="628461" lvl="1" indent="-207901" algn="l" defTabSz="843830" rtl="0" eaLnBrk="1" latinLnBrk="1" hangingPunct="1">
              <a:lnSpc>
                <a:spcPct val="90000"/>
              </a:lnSpc>
              <a:spcBef>
                <a:spcPts val="462"/>
              </a:spcBef>
              <a:buSzPct val="90000"/>
              <a:buFontTx/>
              <a:buBlip>
                <a:blip r:embed="rId5"/>
              </a:buBlip>
            </a:pPr>
            <a:endParaRPr lang="en-US" altLang="ko-KR" dirty="0"/>
          </a:p>
          <a:p>
            <a:pPr lvl="1"/>
            <a:endParaRPr lang="ko-KR" altLang="en-US" dirty="0"/>
          </a:p>
        </p:txBody>
      </p:sp>
      <p:sp>
        <p:nvSpPr>
          <p:cNvPr id="17" name="슬라이드 번호 개체 틀 15">
            <a:extLst>
              <a:ext uri="{FF2B5EF4-FFF2-40B4-BE49-F238E27FC236}">
                <a16:creationId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3102046736"/>
      </p:ext>
    </p:extLst>
  </p:cSld>
  <p:clrMapOvr>
    <a:masterClrMapping/>
  </p:clrMapOvr>
  <p:extLst>
    <p:ext uri="{DCECCB84-F9BA-43D5-87BE-67443E8EF086}">
      <p15:sldGuideLst xmlns:p15="http://schemas.microsoft.com/office/powerpoint/2012/main">
        <p15:guide id="1" orient="horz" pos="902" userDrawn="1">
          <p15:clr>
            <a:srgbClr val="FBAE40"/>
          </p15:clr>
        </p15:guide>
        <p15:guide id="2" pos="285">
          <p15:clr>
            <a:srgbClr val="FBAE40"/>
          </p15:clr>
        </p15:guide>
        <p15:guide id="3" pos="5955">
          <p15:clr>
            <a:srgbClr val="FBAE40"/>
          </p15:clr>
        </p15:guide>
        <p15:guide id="4" pos="32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7" name="슬라이드 번호 개체 틀 15">
            <a:extLst>
              <a:ext uri="{FF2B5EF4-FFF2-40B4-BE49-F238E27FC236}">
                <a16:creationId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434159522"/>
      </p:ext>
    </p:extLst>
  </p:cSld>
  <p:clrMapOvr>
    <a:masterClrMapping/>
  </p:clrMapOvr>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8"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1779621428"/>
      </p:ext>
    </p:extLst>
  </p:cSld>
  <p:clrMapOvr>
    <a:masterClrMapping/>
  </p:clrMapOvr>
  <p:extLst>
    <p:ext uri="{DCECCB84-F9BA-43D5-87BE-67443E8EF086}">
      <p15:sldGuideLst xmlns:p15="http://schemas.microsoft.com/office/powerpoint/2012/main">
        <p15:guide id="1" orient="horz" pos="2614">
          <p15:clr>
            <a:srgbClr val="FBAE40"/>
          </p15:clr>
        </p15:guide>
        <p15:guide id="2" pos="443">
          <p15:clr>
            <a:srgbClr val="FBAE40"/>
          </p15:clr>
        </p15:guide>
        <p15:guide id="3" pos="5955">
          <p15:clr>
            <a:srgbClr val="FBAE40"/>
          </p15:clr>
        </p15:guide>
        <p15:guide id="4" pos="60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E75758B0-2429-4331-898E-5EEED60D4280}"/>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3942502544"/>
      </p:ext>
    </p:extLst>
  </p:cSld>
  <p:clrMapOvr>
    <a:masterClrMapping/>
  </p:clrMapOvr>
  <p:extLst>
    <p:ext uri="{DCECCB84-F9BA-43D5-87BE-67443E8EF086}">
      <p15:sldGuideLst xmlns:p15="http://schemas.microsoft.com/office/powerpoint/2012/main">
        <p15:guide id="1" orient="horz" pos="2160">
          <p15:clr>
            <a:srgbClr val="FBAE40"/>
          </p15:clr>
        </p15:guide>
        <p15:guide id="2" pos="5955">
          <p15:clr>
            <a:srgbClr val="FBAE40"/>
          </p15:clr>
        </p15:guide>
        <p15:guide id="3" pos="28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468" y="900000"/>
            <a:ext cx="9000714"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15">
            <a:extLst>
              <a:ext uri="{FF2B5EF4-FFF2-40B4-BE49-F238E27FC236}">
                <a16:creationId xmlns:a16="http://schemas.microsoft.com/office/drawing/2014/main" id="{C5960DC7-D671-485D-92B0-FEED6CE658A3}"/>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1343950608"/>
      </p:ext>
    </p:extLst>
  </p:cSld>
  <p:clrMapOvr>
    <a:masterClrMapping/>
  </p:clrMapOvr>
  <p:extLst>
    <p:ext uri="{DCECCB84-F9BA-43D5-87BE-67443E8EF086}">
      <p15:sldGuideLst xmlns:p15="http://schemas.microsoft.com/office/powerpoint/2012/main">
        <p15:guide id="1" orient="horz" pos="2160">
          <p15:clr>
            <a:srgbClr val="FBAE40"/>
          </p15:clr>
        </p15:guide>
        <p15:guide id="2" pos="285">
          <p15:clr>
            <a:srgbClr val="FBAE40"/>
          </p15:clr>
        </p15:guide>
        <p15:guide id="3" pos="595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395"/>
            <a:ext cx="9899651" cy="6853605"/>
          </a:xfrm>
          <a:prstGeom prst="rect">
            <a:avLst/>
          </a:prstGeom>
        </p:spPr>
      </p:pic>
      <p:sp>
        <p:nvSpPr>
          <p:cNvPr id="2" name="직사각형 1"/>
          <p:cNvSpPr/>
          <p:nvPr userDrawn="1"/>
        </p:nvSpPr>
        <p:spPr>
          <a:xfrm>
            <a:off x="2" y="0"/>
            <a:ext cx="9899651"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59" dirty="0"/>
          </a:p>
        </p:txBody>
      </p:sp>
      <p:sp>
        <p:nvSpPr>
          <p:cNvPr id="7" name="직사각형 6">
            <a:extLst>
              <a:ext uri="{FF2B5EF4-FFF2-40B4-BE49-F238E27FC236}">
                <a16:creationId xmlns:a16="http://schemas.microsoft.com/office/drawing/2014/main" id="{782B242C-8600-47F0-98D5-6EA512C41BF2}"/>
              </a:ext>
            </a:extLst>
          </p:cNvPr>
          <p:cNvSpPr/>
          <p:nvPr userDrawn="1"/>
        </p:nvSpPr>
        <p:spPr>
          <a:xfrm>
            <a:off x="449468" y="5677032"/>
            <a:ext cx="9000714"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2025 SAMSUNG. All rights reserved.</a:t>
            </a:r>
          </a:p>
          <a:p>
            <a:pPr marL="0" marR="0" lvl="0" indent="0" algn="l" defTabSz="914126"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Electronics Corporate Citizenship Office holds the copyright of book.</a:t>
            </a:r>
          </a:p>
          <a:p>
            <a:pPr marL="0" marR="0" lvl="0" indent="0" algn="l" defTabSz="914126"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This book is a literary property protected by copyright law so reprint and reproduction without permission are prohibited. </a:t>
            </a:r>
          </a:p>
          <a:p>
            <a:pPr marL="0" marR="0" lvl="0" indent="0" algn="l" defTabSz="914126"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1822" y="3022951"/>
            <a:ext cx="2476006" cy="812098"/>
          </a:xfrm>
          <a:prstGeom prst="rect">
            <a:avLst/>
          </a:prstGeom>
        </p:spPr>
      </p:pic>
      <p:sp>
        <p:nvSpPr>
          <p:cNvPr id="9"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90568"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spTree>
    <p:extLst>
      <p:ext uri="{BB962C8B-B14F-4D97-AF65-F5344CB8AC3E}">
        <p14:creationId xmlns:p14="http://schemas.microsoft.com/office/powerpoint/2010/main" val="12278341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19"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5"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18144426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928821"/>
      </p:ext>
    </p:extLst>
  </p:cSld>
  <p:clrMap bg1="lt1" tx1="dk1" bg2="lt2" tx2="dk2" accent1="accent1" accent2="accent2" accent3="accent3" accent4="accent4" accent5="accent5" accent6="accent6" hlink="hlink" folHlink="folHlink"/>
  <p:sldLayoutIdLst>
    <p:sldLayoutId id="2147483684" r:id="rId1"/>
    <p:sldLayoutId id="2147483691" r:id="rId2"/>
    <p:sldLayoutId id="2147483685" r:id="rId3"/>
    <p:sldLayoutId id="2147483687" r:id="rId4"/>
    <p:sldLayoutId id="2147483694" r:id="rId5"/>
    <p:sldLayoutId id="2147483693" r:id="rId6"/>
    <p:sldLayoutId id="2147483686" r:id="rId7"/>
    <p:sldLayoutId id="2147483688" r:id="rId8"/>
    <p:sldLayoutId id="2147483689" r:id="rId9"/>
    <p:sldLayoutId id="2147483690" r:id="rId10"/>
  </p:sldLayoutIdLst>
  <p:txStyles>
    <p:titleStyle>
      <a:lvl1pPr algn="l" defTabSz="914126" rtl="0" eaLnBrk="1" latinLnBrk="1"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1"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1"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1"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1" hangingPunct="1">
        <a:defRPr sz="1799" kern="1200">
          <a:solidFill>
            <a:schemeClr val="tx1"/>
          </a:solidFill>
          <a:latin typeface="+mn-lt"/>
          <a:ea typeface="+mn-ea"/>
          <a:cs typeface="+mn-cs"/>
        </a:defRPr>
      </a:lvl1pPr>
      <a:lvl2pPr marL="457063" algn="l" defTabSz="914126" rtl="0" eaLnBrk="1" latinLnBrk="1" hangingPunct="1">
        <a:defRPr sz="1799" kern="1200">
          <a:solidFill>
            <a:schemeClr val="tx1"/>
          </a:solidFill>
          <a:latin typeface="+mn-lt"/>
          <a:ea typeface="+mn-ea"/>
          <a:cs typeface="+mn-cs"/>
        </a:defRPr>
      </a:lvl2pPr>
      <a:lvl3pPr marL="914126" algn="l" defTabSz="914126" rtl="0" eaLnBrk="1" latinLnBrk="1" hangingPunct="1">
        <a:defRPr sz="1799" kern="1200">
          <a:solidFill>
            <a:schemeClr val="tx1"/>
          </a:solidFill>
          <a:latin typeface="+mn-lt"/>
          <a:ea typeface="+mn-ea"/>
          <a:cs typeface="+mn-cs"/>
        </a:defRPr>
      </a:lvl3pPr>
      <a:lvl4pPr marL="1371189" algn="l" defTabSz="914126" rtl="0" eaLnBrk="1" latinLnBrk="1" hangingPunct="1">
        <a:defRPr sz="1799" kern="1200">
          <a:solidFill>
            <a:schemeClr val="tx1"/>
          </a:solidFill>
          <a:latin typeface="+mn-lt"/>
          <a:ea typeface="+mn-ea"/>
          <a:cs typeface="+mn-cs"/>
        </a:defRPr>
      </a:lvl4pPr>
      <a:lvl5pPr marL="1828251" algn="l" defTabSz="914126" rtl="0" eaLnBrk="1" latinLnBrk="1" hangingPunct="1">
        <a:defRPr sz="1799" kern="1200">
          <a:solidFill>
            <a:schemeClr val="tx1"/>
          </a:solidFill>
          <a:latin typeface="+mn-lt"/>
          <a:ea typeface="+mn-ea"/>
          <a:cs typeface="+mn-cs"/>
        </a:defRPr>
      </a:lvl5pPr>
      <a:lvl6pPr marL="2285314" algn="l" defTabSz="914126" rtl="0" eaLnBrk="1" latinLnBrk="1" hangingPunct="1">
        <a:defRPr sz="1799" kern="1200">
          <a:solidFill>
            <a:schemeClr val="tx1"/>
          </a:solidFill>
          <a:latin typeface="+mn-lt"/>
          <a:ea typeface="+mn-ea"/>
          <a:cs typeface="+mn-cs"/>
        </a:defRPr>
      </a:lvl6pPr>
      <a:lvl7pPr marL="2742377" algn="l" defTabSz="914126" rtl="0" eaLnBrk="1" latinLnBrk="1" hangingPunct="1">
        <a:defRPr sz="1799" kern="1200">
          <a:solidFill>
            <a:schemeClr val="tx1"/>
          </a:solidFill>
          <a:latin typeface="+mn-lt"/>
          <a:ea typeface="+mn-ea"/>
          <a:cs typeface="+mn-cs"/>
        </a:defRPr>
      </a:lvl7pPr>
      <a:lvl8pPr marL="3199440" algn="l" defTabSz="914126" rtl="0" eaLnBrk="1" latinLnBrk="1" hangingPunct="1">
        <a:defRPr sz="1799" kern="1200">
          <a:solidFill>
            <a:schemeClr val="tx1"/>
          </a:solidFill>
          <a:latin typeface="+mn-lt"/>
          <a:ea typeface="+mn-ea"/>
          <a:cs typeface="+mn-cs"/>
        </a:defRPr>
      </a:lvl8pPr>
      <a:lvl9pPr marL="3656503" algn="l" defTabSz="914126" rtl="0" eaLnBrk="1" latinLnBrk="1"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2.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1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1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16.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17.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7.mp4"/><Relationship Id="rId3" Type="http://schemas.openxmlformats.org/officeDocument/2006/relationships/video" Target="../media/media7.mp4"/><Relationship Id="rId4" Type="http://schemas.openxmlformats.org/officeDocument/2006/relationships/image" Target="../media/image18.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8.mp4"/><Relationship Id="rId3" Type="http://schemas.openxmlformats.org/officeDocument/2006/relationships/video" Target="../media/media8.mp4"/><Relationship Id="rId4" Type="http://schemas.openxmlformats.org/officeDocument/2006/relationships/image" Target="../media/image19.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9.mp4"/><Relationship Id="rId3" Type="http://schemas.openxmlformats.org/officeDocument/2006/relationships/video" Target="../media/media9.mp4"/><Relationship Id="rId4" Type="http://schemas.openxmlformats.org/officeDocument/2006/relationships/image" Target="../media/image20.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0.mp4"/><Relationship Id="rId3" Type="http://schemas.openxmlformats.org/officeDocument/2006/relationships/video" Target="../media/media10.mp4"/><Relationship Id="rId4" Type="http://schemas.openxmlformats.org/officeDocument/2006/relationships/image" Target="../media/image21.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1.mp4"/><Relationship Id="rId3" Type="http://schemas.openxmlformats.org/officeDocument/2006/relationships/video" Target="../media/media11.mp4"/><Relationship Id="rId4" Type="http://schemas.openxmlformats.org/officeDocument/2006/relationships/image" Target="../media/image22.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2.mp4"/><Relationship Id="rId3" Type="http://schemas.openxmlformats.org/officeDocument/2006/relationships/video" Target="../media/media12.mp4"/><Relationship Id="rId4" Type="http://schemas.openxmlformats.org/officeDocument/2006/relationships/image" Target="../media/image23.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3.mp4"/><Relationship Id="rId3" Type="http://schemas.openxmlformats.org/officeDocument/2006/relationships/video" Target="../media/media13.mp4"/><Relationship Id="rId4" Type="http://schemas.openxmlformats.org/officeDocument/2006/relationships/image" Target="../media/image24.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4.mp4"/><Relationship Id="rId3" Type="http://schemas.openxmlformats.org/officeDocument/2006/relationships/video" Target="../media/media14.mp4"/><Relationship Id="rId4" Type="http://schemas.openxmlformats.org/officeDocument/2006/relationships/image" Target="../media/image25.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5.mp4"/><Relationship Id="rId3" Type="http://schemas.openxmlformats.org/officeDocument/2006/relationships/video" Target="../media/media15.mp4"/><Relationship Id="rId4" Type="http://schemas.openxmlformats.org/officeDocument/2006/relationships/image" Target="../media/image26.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6.mp4"/><Relationship Id="rId3" Type="http://schemas.openxmlformats.org/officeDocument/2006/relationships/video" Target="../media/media16.mp4"/><Relationship Id="rId4" Type="http://schemas.openxmlformats.org/officeDocument/2006/relationships/image" Target="../media/image27.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7.mp4"/><Relationship Id="rId3" Type="http://schemas.openxmlformats.org/officeDocument/2006/relationships/video" Target="../media/media17.mp4"/><Relationship Id="rId4" Type="http://schemas.openxmlformats.org/officeDocument/2006/relationships/image" Target="../media/image28.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8.mp4"/><Relationship Id="rId3" Type="http://schemas.openxmlformats.org/officeDocument/2006/relationships/video" Target="../media/media18.mp4"/><Relationship Id="rId4" Type="http://schemas.openxmlformats.org/officeDocument/2006/relationships/image" Target="../media/image29.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9.mp4"/><Relationship Id="rId3" Type="http://schemas.openxmlformats.org/officeDocument/2006/relationships/video" Target="../media/media19.mp4"/><Relationship Id="rId4" Type="http://schemas.openxmlformats.org/officeDocument/2006/relationships/image" Target="../media/image30.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20.mp4"/><Relationship Id="rId3" Type="http://schemas.openxmlformats.org/officeDocument/2006/relationships/video" Target="../media/media20.mp4"/><Relationship Id="rId4" Type="http://schemas.openxmlformats.org/officeDocument/2006/relationships/image" Target="../media/image31.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21.mp4"/><Relationship Id="rId3" Type="http://schemas.openxmlformats.org/officeDocument/2006/relationships/video" Target="../media/media21.mp4"/><Relationship Id="rId4" Type="http://schemas.openxmlformats.org/officeDocument/2006/relationships/image" Target="../media/image32.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22.mp4"/><Relationship Id="rId3" Type="http://schemas.openxmlformats.org/officeDocument/2006/relationships/video" Target="../media/media22.mp4"/><Relationship Id="rId4" Type="http://schemas.openxmlformats.org/officeDocument/2006/relationships/image" Target="../media/image33.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23.mp4"/><Relationship Id="rId3" Type="http://schemas.openxmlformats.org/officeDocument/2006/relationships/video" Target="../media/media23.mp4"/><Relationship Id="rId4" Type="http://schemas.openxmlformats.org/officeDocument/2006/relationships/image" Target="../media/image34.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24.mp4"/><Relationship Id="rId3" Type="http://schemas.openxmlformats.org/officeDocument/2006/relationships/video" Target="../media/media24.mp4"/><Relationship Id="rId4" Type="http://schemas.openxmlformats.org/officeDocument/2006/relationships/image" Target="../media/image35.pn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25.mp4"/><Relationship Id="rId3" Type="http://schemas.openxmlformats.org/officeDocument/2006/relationships/video" Target="../media/media25.mp4"/><Relationship Id="rId4" Type="http://schemas.openxmlformats.org/officeDocument/2006/relationships/image" Target="../media/image36.png"/><Relationship Id="rId5"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1Cover step 1 (Manim video)" descr="Cover: Bayan, simplify Arabic where you read, on the phone, offline. Team Cogni, Samsung Innovation Campus (step 1 of 1)">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2Problem step 1 (Manim video)" descr="11% of Arab primary-school children have developmental dyslexia; the word كتب has three readings; shorter clauses help, and Bayan's scope (step 1 of 2)">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2Problem step 2 (Manim video)" descr="11% of Arab primary-school children have developmental dyslexia; the word كتب has three readings; shorter clauses help, and Bayan's scope (step 2 of 2)">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3Data step 1 (Manim video)" descr="Corpus v1 pipeline: BAREC, strip tashkeel, route, Gemma 4 31B, code, readability and meaning gates, 14,975 rows (step 1 of 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3Data step 2 (Manim video)" descr="Corpus v1 pipeline: BAREC, strip tashkeel, route, Gemma 4 31B, code, readability and meaning gates, 14,975 rows (step 2 of 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3Data step 3 (Manim video)" descr="Corpus v1 pipeline: BAREC, strip tashkeel, route, Gemma 4 31B, code, readability and meaning gates, 14,975 rows (step 3 of 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3Data step 4 (Manim video)" descr="Corpus v1 pipeline: BAREC, strip tashkeel, route, Gemma 4 31B, code, readability and meaning gates, 14,975 rows (step 4 of 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Pipeline step 1 (Manim video)" descr="The pipeline: source corpora, leakage check, meaning gate at 0.85, fine-tune, BayanBench v2; the loop carries the v0.1, v0.2 and v0.3 findings back into the data (step 1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Pipeline step 2 (Manim video)" descr="The pipeline: source corpora, leakage check, meaning gate at 0.85, fine-tune, BayanBench v2; the loop carries the v0.1, v0.2 and v0.3 findings back into the data (step 2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Pipeline step 3 (Manim video)" descr="The pipeline: source corpora, leakage check, meaning gate at 0.85, fine-tune, BayanBench v2; the loop carries the v0.1, v0.2 and v0.3 findings back into the data (step 3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4Models step 1 (Manim video)" descr="Three model lanes: model 1 (SAMER), model 2 (more data and tags), model 3 (corpus v1); dropped branches (step 1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4Models step 2 (Manim video)" descr="Three model lanes: model 1 (SAMER), model 2 (more data and tags), model 3 (corpus v1); dropped branches (step 2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4Models step 3 (Manim video)" descr="Three model lanes: model 1 (SAMER), model 2 (more data and tags), model 3 (corpus v1); dropped branches (step 3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5Measure step 1 (Manim video)" descr="BayanBench: copy trap, three kinds of measure, the scorer checked against six raters (AUC 0.85), one reader with dyslexia (step 1 of 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5Measure step 2 (Manim video)" descr="BayanBench: copy trap, three kinds of measure, the scorer checked against six raters (AUC 0.85), one reader with dyslexia (step 2 of 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5Measure step 3 (Manim video)" descr="BayanBench: copy trap, three kinds of measure, the scorer checked against six raters (AUC 0.85), one reader with dyslexia (step 3 of 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5Measure step 4 (Manim video)" descr="BayanBench: copy trap, three kinds of measure, the scorer checked against six raters (AUC 0.85), one reader with dyslexia (step 4 of 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6Results step 1 (Manim video)" descr="Trade-off scatter; model 3 minus the shipped large model with intervals: simplifies more, keeps less meaning, copies more (step 1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6Results step 2 (Manim video)" descr="Trade-off scatter; model 3 minus the shipped large model with intervals: simplifies more, keeps less meaning, copies more (step 2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6Results step 3 (Manim video)" descr="Trade-off scatter; model 3 minus the shipped large model with intervals: simplifies more, keeps less meaning, copies more (step 3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7Phone step 1 (Manim video)" descr="Phone recording slot; what the app does; AraBART default 222 MB and AraT5v2 optional 471 MB on a Xiaomi Mi 11X (step 1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7Phone step 2 (Manim video)" descr="Phone recording slot; what the app does; AraBART default 222 MB and AraT5v2 optional 471 MB on a Xiaomi Mi 11X (step 2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7Phone step 3 (Manim video)" descr="Phone recording slot; what the app does; AraBART default 222 MB and AraT5v2 optional 471 MB on a Xiaomi Mi 11X (step 3 of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8Close step 1 (Manim video)" descr="Simplify where you read. Limits: no reader has used Bayan, scorer stricter than people, simplifying more costs meaning (step 1 of 2)">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8Close step 2 (Manim video)" descr="Simplify where you read. Limits: no reader has used Bayan, scorer stricter than people, simplifying more costs meaning (step 2 of 2)">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9902825"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timing>
    <p:tnLst>
      <p:par>
        <p:cTn id="1" dur="indefinite" restart="never" nodeType="tmRoot">
          <p:childTnLst>
            <p:video>
              <p:cMediaNode vol="80000">
                <p:cTn id="2" fill="hold" display="0">
                  <p:stCondLst>
                    <p:cond delay="0"/>
                  </p:stCondLst>
                </p:cTn>
                <p:tgtEl>
                  <p:spTgt spid="2"/>
                </p:tgtEl>
              </p:cMediaNode>
            </p:video>
          </p:childTnLst>
        </p:cTn>
      </p:par>
    </p:tnLst>
  </p:timing>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amsung">
      <a:majorFont>
        <a:latin typeface="Samsung Sharp Sans"/>
        <a:ea typeface="SamsungOneKorean 700"/>
        <a:cs typeface=""/>
      </a:majorFont>
      <a:minorFont>
        <a:latin typeface="SamsungOne 400"/>
        <a:ea typeface="SamsungOneKorean 400"/>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B971F96850C604FA9DD4A6FAA1D7E94" ma:contentTypeVersion="13" ma:contentTypeDescription="Create a new document." ma:contentTypeScope="" ma:versionID="94bb0226509be2894c83196f814f5ace">
  <xsd:schema xmlns:xsd="http://www.w3.org/2001/XMLSchema" xmlns:xs="http://www.w3.org/2001/XMLSchema" xmlns:p="http://schemas.microsoft.com/office/2006/metadata/properties" xmlns:ns2="5192ee0d-e524-4888-b581-1910cadcd210" xmlns:ns3="525df02f-3aee-47af-b2f3-c2ea8bcae9a6" targetNamespace="http://schemas.microsoft.com/office/2006/metadata/properties" ma:root="true" ma:fieldsID="eb19b1b986ba2b37eb36a9dd005ffe1c" ns2:_="" ns3:_="">
    <xsd:import namespace="5192ee0d-e524-4888-b581-1910cadcd210"/>
    <xsd:import namespace="525df02f-3aee-47af-b2f3-c2ea8bcae9a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BillingMetadata" minOccurs="0"/>
                <xsd:element ref="ns2:MediaServiceOCR"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92ee0d-e524-4888-b581-1910cadcd2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3ef62f9-2e07-484b-bd79-00aec90129fe" ma:termSetId="09814cd3-568e-fe90-9814-8d621ff8fb84" ma:anchorId="fba54fb3-c3e1-fe81-a776-ca4b69148c4d" ma:open="true" ma:isKeyword="false">
      <xsd:complexType>
        <xsd:sequence>
          <xsd:element ref="pc:Terms" minOccurs="0" maxOccurs="1"/>
        </xsd:sequence>
      </xsd:complex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OCR" ma:index="19" nillable="true" ma:displayName="Extracted Text" ma:internalName="MediaServiceOCR" ma:readOnly="true">
      <xsd:simpleType>
        <xsd:restriction base="dms:Note">
          <xsd:maxLength value="255"/>
        </xsd:restriction>
      </xsd:simpleType>
    </xsd:element>
    <xsd:element name="comment" ma:index="20" nillable="true" ma:displayName="com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25df02f-3aee-47af-b2f3-c2ea8bcae9a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f2df0d5-6bdf-4400-9605-4c2d2eede7e4}" ma:internalName="TaxCatchAll" ma:showField="CatchAllData" ma:web="525df02f-3aee-47af-b2f3-c2ea8bcae9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25df02f-3aee-47af-b2f3-c2ea8bcae9a6" xsi:nil="true"/>
    <lcf76f155ced4ddcb4097134ff3c332f xmlns="5192ee0d-e524-4888-b581-1910cadcd210">
      <Terms xmlns="http://schemas.microsoft.com/office/infopath/2007/PartnerControls"/>
    </lcf76f155ced4ddcb4097134ff3c332f>
    <comment xmlns="5192ee0d-e524-4888-b581-1910cadcd210" xsi:nil="true"/>
  </documentManagement>
</p:properties>
</file>

<file path=customXml/itemProps1.xml><?xml version="1.0" encoding="utf-8"?>
<ds:datastoreItem xmlns:ds="http://schemas.openxmlformats.org/officeDocument/2006/customXml" ds:itemID="{0A0357D8-C495-42E3-A0C0-6723B236FB34}"/>
</file>

<file path=customXml/itemProps2.xml><?xml version="1.0" encoding="utf-8"?>
<ds:datastoreItem xmlns:ds="http://schemas.openxmlformats.org/officeDocument/2006/customXml" ds:itemID="{F7A1BB24-B868-43EF-95F7-238FE3A157D5}"/>
</file>

<file path=customXml/itemProps3.xml><?xml version="1.0" encoding="utf-8"?>
<ds:datastoreItem xmlns:ds="http://schemas.openxmlformats.org/officeDocument/2006/customXml" ds:itemID="{83B4D1BC-3672-47C7-8E98-3D3B83A92BF9}"/>
</file>

<file path=docProps/app.xml><?xml version="1.0" encoding="utf-8"?>
<Properties xmlns="http://schemas.openxmlformats.org/officeDocument/2006/extended-properties" xmlns:vt="http://schemas.openxmlformats.org/officeDocument/2006/docPropsVTypes">
  <Template/>
  <TotalTime>4279</TotalTime>
  <Words>65</Words>
  <Application>Microsoft Office PowerPoint</Application>
  <PresentationFormat>사용자 지정</PresentationFormat>
  <Paragraphs>23</Paragraphs>
  <Slides>4</Slides>
  <Notes>0</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4</vt:i4>
      </vt:variant>
    </vt:vector>
  </HeadingPairs>
  <TitlesOfParts>
    <vt:vector size="14" baseType="lpstr">
      <vt:lpstr>SamsungOne 400</vt:lpstr>
      <vt:lpstr>Samsung Sharp Sans Bold</vt:lpstr>
      <vt:lpstr>Samsung Sharp Sans</vt:lpstr>
      <vt:lpstr>Calibri</vt:lpstr>
      <vt:lpstr>Arial</vt:lpstr>
      <vt:lpstr>Samsung Sharp Sans Medium</vt:lpstr>
      <vt:lpstr>맑은 고딕</vt:lpstr>
      <vt:lpstr>SamsungOne 700</vt:lpstr>
      <vt:lpstr>SamsungOne 400C</vt:lpstr>
      <vt:lpstr>Office Theme</vt:lpstr>
      <vt:lpstr>Project Name</vt:lpstr>
      <vt:lpstr>PowerPoint 프레젠테이션</vt:lpstr>
      <vt:lpstr>Slide Title</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in Python</dc:title>
  <dc:creator>Soon Yong Chang</dc:creator>
  <cp:lastModifiedBy>이 선우</cp:lastModifiedBy>
  <cp:revision>2081</cp:revision>
  <dcterms:created xsi:type="dcterms:W3CDTF">2019-07-06T14:12:49Z</dcterms:created>
  <dcterms:modified xsi:type="dcterms:W3CDTF">2025-12-26T06:30:13Z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0x010100EB971F96850C604FA9DD4A6FAA1D7E94</vt:lpwstr>
  </property>
</Properties>
</file>