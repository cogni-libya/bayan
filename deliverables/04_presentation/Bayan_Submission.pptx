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3" r:id="rId1"/>
  </p:sldMasterIdLst>
  <p:notesMasterIdLst>
    <p:notesMasterId r:id="rId6"/>
  </p:notesMasterIdLst>
  <p:sldIdLst>
    <p:sldId id="256" r:id="rId5"/>
    <p:sldId id="257" r:id="rId4"/>
    <p:sldId id="258" r:id="rId3"/>
    <p:sldId id="259" r:id="rId2"/>
    <p:sldId id="260" r:id="rId24"/>
    <p:sldId id="261"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Lst>
  <p:sldSz cx="9902825" cy="6858000"/>
  <p:notesSz cx="6858000" cy="9144000"/>
  <p:embeddedFontLst>
    <p:embeddedFont>
      <p:font typeface="Samsung Sharp Sans" pitchFamily="2" charset="0"/>
      <p:regular r:id="rId7"/>
      <p:bold r:id="rId8"/>
    </p:embeddedFont>
    <p:embeddedFont>
      <p:font typeface="Samsung Sharp Sans Bold" pitchFamily="2" charset="0"/>
      <p:bold r:id="rId9"/>
    </p:embeddedFont>
    <p:embeddedFont>
      <p:font typeface="Samsung Sharp Sans Medium" pitchFamily="2" charset="0"/>
      <p:bold r:id="rId10"/>
    </p:embeddedFont>
    <p:embeddedFont>
      <p:font typeface="SamsungOne 400" panose="020B0503030303020204" pitchFamily="34" charset="0"/>
      <p:regular r:id="rId11"/>
    </p:embeddedFont>
    <p:embeddedFont>
      <p:font typeface="SamsungOne 400C" panose="020B0506030303020204" charset="0"/>
      <p:regular r:id="rId12"/>
    </p:embeddedFont>
    <p:embeddedFont>
      <p:font typeface="SamsungOne 700" panose="020B0803030303020204" pitchFamily="34" charset="0"/>
      <p:bold r:id="rId13"/>
    </p:embeddedFont>
    <p:embeddedFont>
      <p:font typeface="맑은 고딕" panose="020B0503020000020004" pitchFamily="50" charset="-127"/>
      <p:regular r:id="rId14"/>
      <p:bold r:id="rId1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119" userDrawn="1">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3EB0"/>
    <a:srgbClr val="FFB546"/>
    <a:srgbClr val="FF4337"/>
    <a:srgbClr val="00B3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3" autoAdjust="0"/>
    <p:restoredTop sz="72205" autoAdjust="0"/>
  </p:normalViewPr>
  <p:slideViewPr>
    <p:cSldViewPr snapToGrid="0">
      <p:cViewPr varScale="1">
        <p:scale>
          <a:sx n="110" d="100"/>
          <a:sy n="110" d="100"/>
        </p:scale>
        <p:origin x="1386" y="114"/>
      </p:cViewPr>
      <p:guideLst>
        <p:guide pos="3119"/>
        <p:guide orient="horz" pos="2160"/>
      </p:guideLst>
    </p:cSldViewPr>
  </p:slideViewPr>
  <p:notesTextViewPr>
    <p:cViewPr>
      <p:scale>
        <a:sx n="125" d="100"/>
        <a:sy n="125"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font" Target="fonts/font1.fntdata"/><Relationship Id="rId8" Type="http://schemas.openxmlformats.org/officeDocument/2006/relationships/font" Target="fonts/font2.fntdata"/><Relationship Id="rId9" Type="http://schemas.openxmlformats.org/officeDocument/2006/relationships/font" Target="fonts/font3.fntdata"/><Relationship Id="rId10" Type="http://schemas.openxmlformats.org/officeDocument/2006/relationships/font" Target="fonts/font4.fntdata"/><Relationship Id="rId11" Type="http://schemas.openxmlformats.org/officeDocument/2006/relationships/font" Target="fonts/font5.fntdata"/><Relationship Id="rId12" Type="http://schemas.openxmlformats.org/officeDocument/2006/relationships/font" Target="fonts/font6.fntdata"/><Relationship Id="rId13" Type="http://schemas.openxmlformats.org/officeDocument/2006/relationships/font" Target="fonts/font7.fntdata"/><Relationship Id="rId14" Type="http://schemas.openxmlformats.org/officeDocument/2006/relationships/font" Target="fonts/font8.fntdata"/><Relationship Id="rId15" Type="http://schemas.openxmlformats.org/officeDocument/2006/relationships/font" Target="fonts/font9.fnt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customXml" Target="../customXml/item1.xml"/><Relationship Id="rId22" Type="http://schemas.openxmlformats.org/officeDocument/2006/relationships/customXml" Target="../customXml/item2.xml"/><Relationship Id="rId23" Type="http://schemas.openxmlformats.org/officeDocument/2006/relationships/customXml" Target="../customXml/item3.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이 선우" userId="0fe69268-fa1a-4efe-9dc5-d4012ab1114b" providerId="ADAL" clId="{C52B7E7F-94C4-473C-B7E9-B27EED8C6190}"/>
    <pc:docChg chg="modMainMaster">
      <pc:chgData name="이 선우" userId="0fe69268-fa1a-4efe-9dc5-d4012ab1114b" providerId="ADAL" clId="{C52B7E7F-94C4-473C-B7E9-B27EED8C6190}" dt="2025-12-26T06:30:10.164" v="2" actId="20577"/>
      <pc:docMkLst>
        <pc:docMk/>
      </pc:docMkLst>
      <pc:sldMasterChg chg="modSldLayout">
        <pc:chgData name="이 선우" userId="0fe69268-fa1a-4efe-9dc5-d4012ab1114b" providerId="ADAL" clId="{C52B7E7F-94C4-473C-B7E9-B27EED8C6190}" dt="2025-12-26T06:30:10.164" v="2" actId="20577"/>
        <pc:sldMasterMkLst>
          <pc:docMk/>
          <pc:sldMasterMk cId="3477928821" sldId="2147483683"/>
        </pc:sldMasterMkLst>
        <pc:sldLayoutChg chg="modSp mod">
          <pc:chgData name="이 선우" userId="0fe69268-fa1a-4efe-9dc5-d4012ab1114b" providerId="ADAL" clId="{C52B7E7F-94C4-473C-B7E9-B27EED8C6190}" dt="2025-12-26T06:30:10.164" v="2" actId="20577"/>
          <pc:sldLayoutMkLst>
            <pc:docMk/>
            <pc:sldMasterMk cId="3477928821" sldId="2147483683"/>
            <pc:sldLayoutMk cId="1227834196" sldId="2147483689"/>
          </pc:sldLayoutMkLst>
          <pc:spChg chg="mod">
            <ac:chgData name="이 선우" userId="0fe69268-fa1a-4efe-9dc5-d4012ab1114b" providerId="ADAL" clId="{C52B7E7F-94C4-473C-B7E9-B27EED8C6190}" dt="2025-12-26T06:30:10.164" v="2" actId="20577"/>
            <ac:spMkLst>
              <pc:docMk/>
              <pc:sldMasterMk cId="3477928821" sldId="2147483683"/>
              <pc:sldLayoutMk cId="1227834196" sldId="2147483689"/>
              <ac:spMk id="7" creationId="{782B242C-8600-47F0-98D5-6EA512C41BF2}"/>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57C17-E6FD-4AF5-A787-31E9CCE99A85}" type="datetimeFigureOut">
              <a:rPr lang="ko-KR" altLang="en-US" smtClean="0"/>
              <a:t>2025-12-26</a:t>
            </a:fld>
            <a:endParaRPr lang="ko-KR" altLang="en-US" dirty="0"/>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59C55F-00F1-4985-9065-F2D92AE05D03}" type="slidenum">
              <a:rPr lang="ko-KR" altLang="en-US" smtClean="0"/>
              <a:t>‹#›</a:t>
            </a:fld>
            <a:endParaRPr lang="ko-KR" altLang="en-US" dirty="0"/>
          </a:p>
        </p:txBody>
      </p:sp>
    </p:spTree>
    <p:extLst>
      <p:ext uri="{BB962C8B-B14F-4D97-AF65-F5344CB8AC3E}">
        <p14:creationId xmlns:p14="http://schemas.microsoft.com/office/powerpoint/2010/main" val="9912534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The logo draws itself, then the title and team appear)</a:t>
            </a:r>
          </a:p>
          <a:p>
            <a:r>
              <a:t>This is Bayan: an Android tool that simplifies hard Arabic where you read, on your phone. Building it was fine. Checking it was the hard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Not decoding,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Not decoding,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5" name="슬라이드 번호 개체 틀 15">
            <a:extLst>
              <a:ext uri="{FF2B5EF4-FFF2-40B4-BE49-F238E27FC236}">
                <a16:creationId xmlns:a16="http://schemas.microsoft.com/office/drawing/2014/main" id="{CCEC8F59-794B-4743-A6D7-1BC9720006CB}"/>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56667998"/>
      </p:ext>
    </p:extLst>
  </p:cSld>
  <p:clrMapOvr>
    <a:masterClrMapping/>
  </p:clrMapOvr>
  <p:extLst>
    <p:ext uri="{DCECCB84-F9BA-43D5-87BE-67443E8EF086}">
      <p15:sldGuideLst xmlns:p15="http://schemas.microsoft.com/office/powerpoint/2012/main">
        <p15:guide id="2" pos="285">
          <p15:clr>
            <a:srgbClr val="FBAE40"/>
          </p15:clr>
        </p15:guide>
        <p15:guide id="3" pos="595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p:bg>
      <p:bgPr>
        <a:solidFill>
          <a:schemeClr val="bg1">
            <a:lumMod val="95000"/>
          </a:schemeClr>
        </a:solidFill>
        <a:effectLst/>
      </p:bgPr>
    </p:bg>
    <p:spTree>
      <p:nvGrpSpPr>
        <p:cNvPr id="1" name=""/>
        <p:cNvGrpSpPr/>
        <p:nvPr/>
      </p:nvGrpSpPr>
      <p:grpSpPr>
        <a:xfrm>
          <a:off x="0" y="0"/>
          <a:ext cx="0" cy="0"/>
          <a:chOff x="0" y="0"/>
          <a:chExt cx="0" cy="0"/>
        </a:xfrm>
      </p:grpSpPr>
      <p:pic>
        <p:nvPicPr>
          <p:cNvPr id="9" name="그림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6"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10" name="그림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
        <p:nvSpPr>
          <p:cNvPr id="7" name="직사각형 133">
            <a:extLst>
              <a:ext uri="{FF2B5EF4-FFF2-40B4-BE49-F238E27FC236}">
                <a16:creationId xmlns:a16="http://schemas.microsoft.com/office/drawing/2014/main" id="{DE8CAD59-3F29-4FBB-AE0A-697DDFD5E69E}"/>
              </a:ext>
            </a:extLst>
          </p:cNvPr>
          <p:cNvSpPr/>
          <p:nvPr userDrawn="1"/>
        </p:nvSpPr>
        <p:spPr>
          <a:xfrm>
            <a:off x="990000" y="4320000"/>
            <a:ext cx="5832526" cy="3693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914400" latinLnBrk="1">
              <a:defRPr/>
            </a:pPr>
            <a:r>
              <a:rPr lang="en-US" altLang="ko-KR" sz="2400" baseline="0" dirty="0">
                <a:solidFill>
                  <a:srgbClr val="1428A0"/>
                </a:solidFill>
                <a:latin typeface="Samsung Sharp Sans" pitchFamily="2" charset="0"/>
                <a:ea typeface="Samsung Sharp Sans" pitchFamily="2" charset="0"/>
                <a:cs typeface="Samsung Sharp Sans" pitchFamily="2" charset="0"/>
              </a:rPr>
              <a:t>Artificial Intelligence Course</a:t>
            </a:r>
            <a:endParaRPr lang="ko-KR" altLang="en-US" sz="2400" dirty="0">
              <a:solidFill>
                <a:srgbClr val="1428A0"/>
              </a:solidFill>
              <a:latin typeface="Samsung Sharp Sans" pitchFamily="2" charset="0"/>
              <a:ea typeface="Samsung Sharp Sans" pitchFamily="2" charset="0"/>
              <a:cs typeface="Samsung Sharp Sans" pitchFamily="2" charset="0"/>
            </a:endParaRPr>
          </a:p>
        </p:txBody>
      </p:sp>
      <p:sp>
        <p:nvSpPr>
          <p:cNvPr id="8" name="직사각형 7">
            <a:extLst>
              <a:ext uri="{FF2B5EF4-FFF2-40B4-BE49-F238E27FC236}">
                <a16:creationId xmlns:a16="http://schemas.microsoft.com/office/drawing/2014/main" id="{86149771-D78D-40D7-8B97-564358008D8D}"/>
              </a:ext>
            </a:extLst>
          </p:cNvPr>
          <p:cNvSpPr/>
          <p:nvPr userDrawn="1"/>
        </p:nvSpPr>
        <p:spPr>
          <a:xfrm>
            <a:off x="724689" y="4320000"/>
            <a:ext cx="54000" cy="36000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1" name="텍스트 개체 틀 18">
            <a:extLst>
              <a:ext uri="{FF2B5EF4-FFF2-40B4-BE49-F238E27FC236}">
                <a16:creationId xmlns:a16="http://schemas.microsoft.com/office/drawing/2014/main" id="{02AC410D-7805-4DA9-915F-991D726861C7}"/>
              </a:ext>
            </a:extLst>
          </p:cNvPr>
          <p:cNvSpPr>
            <a:spLocks noGrp="1"/>
          </p:cNvSpPr>
          <p:nvPr>
            <p:ph type="body" sz="quarter" idx="11" hasCustomPrompt="1"/>
          </p:nvPr>
        </p:nvSpPr>
        <p:spPr>
          <a:xfrm>
            <a:off x="720000" y="3551768"/>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
        <p:nvSpPr>
          <p:cNvPr id="12" name="제목 2">
            <a:extLst>
              <a:ext uri="{FF2B5EF4-FFF2-40B4-BE49-F238E27FC236}">
                <a16:creationId xmlns:a16="http://schemas.microsoft.com/office/drawing/2014/main" id="{44AF0917-EEBC-44C5-8BA6-F1CA2AFA4B1E}"/>
              </a:ext>
            </a:extLst>
          </p:cNvPr>
          <p:cNvSpPr>
            <a:spLocks noGrp="1"/>
          </p:cNvSpPr>
          <p:nvPr>
            <p:ph type="title" hasCustomPrompt="1"/>
          </p:nvPr>
        </p:nvSpPr>
        <p:spPr>
          <a:xfrm>
            <a:off x="720000" y="1710000"/>
            <a:ext cx="5221019" cy="14773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8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Tree>
    <p:extLst>
      <p:ext uri="{BB962C8B-B14F-4D97-AF65-F5344CB8AC3E}">
        <p14:creationId xmlns:p14="http://schemas.microsoft.com/office/powerpoint/2010/main" val="3032291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직사각형 133">
            <a:extLst>
              <a:ext uri="{FF2B5EF4-FFF2-40B4-BE49-F238E27FC236}">
                <a16:creationId xmlns:a16="http://schemas.microsoft.com/office/drawing/2014/main" id="{7A4BCBFF-5289-45FE-BA09-DFF42AF8A347}"/>
              </a:ext>
            </a:extLst>
          </p:cNvPr>
          <p:cNvSpPr/>
          <p:nvPr userDrawn="1"/>
        </p:nvSpPr>
        <p:spPr>
          <a:xfrm>
            <a:off x="990000" y="4157757"/>
            <a:ext cx="3563339" cy="323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457200">
              <a:defRPr/>
            </a:pPr>
            <a:r>
              <a:rPr lang="en-US" altLang="ko-KR" sz="2100" dirty="0">
                <a:solidFill>
                  <a:srgbClr val="1428A0"/>
                </a:solidFill>
                <a:latin typeface="Samsung Sharp Sans" pitchFamily="2" charset="0"/>
                <a:ea typeface="Samsung Sharp Sans" pitchFamily="2" charset="0"/>
                <a:cs typeface="Samsung Sharp Sans" pitchFamily="2" charset="0"/>
              </a:rPr>
              <a:t>AI Course</a:t>
            </a:r>
            <a:endParaRPr lang="ko-KR" altLang="en-US" sz="2100" dirty="0">
              <a:solidFill>
                <a:srgbClr val="1428A0"/>
              </a:solidFill>
              <a:latin typeface="Samsung Sharp Sans" pitchFamily="2" charset="0"/>
              <a:ea typeface="Samsung Sharp Sans" pitchFamily="2" charset="0"/>
              <a:cs typeface="Samsung Sharp Sans" pitchFamily="2" charset="0"/>
            </a:endParaRPr>
          </a:p>
        </p:txBody>
      </p:sp>
      <p:sp>
        <p:nvSpPr>
          <p:cNvPr id="9" name="직사각형 8">
            <a:extLst>
              <a:ext uri="{FF2B5EF4-FFF2-40B4-BE49-F238E27FC236}">
                <a16:creationId xmlns:a16="http://schemas.microsoft.com/office/drawing/2014/main" id="{4AA6CFBD-D9B3-4245-A68B-1D7EC1CB6F07}"/>
              </a:ext>
            </a:extLst>
          </p:cNvPr>
          <p:cNvSpPr/>
          <p:nvPr userDrawn="1"/>
        </p:nvSpPr>
        <p:spPr>
          <a:xfrm>
            <a:off x="720000" y="2095275"/>
            <a:ext cx="60008" cy="1759369"/>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0" name="직사각형 9">
            <a:extLst>
              <a:ext uri="{FF2B5EF4-FFF2-40B4-BE49-F238E27FC236}">
                <a16:creationId xmlns:a16="http://schemas.microsoft.com/office/drawing/2014/main" id="{1B2EB59A-603F-4715-ABA1-D9DF69D44512}"/>
              </a:ext>
            </a:extLst>
          </p:cNvPr>
          <p:cNvSpPr/>
          <p:nvPr userDrawn="1"/>
        </p:nvSpPr>
        <p:spPr>
          <a:xfrm>
            <a:off x="720000" y="4157757"/>
            <a:ext cx="60008" cy="323165"/>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3" name="제목 2">
            <a:extLst>
              <a:ext uri="{FF2B5EF4-FFF2-40B4-BE49-F238E27FC236}">
                <a16:creationId xmlns:a16="http://schemas.microsoft.com/office/drawing/2014/main" id="{CF6BC111-C555-4B09-8375-33C4F4C2FBB5}"/>
              </a:ext>
            </a:extLst>
          </p:cNvPr>
          <p:cNvSpPr>
            <a:spLocks noGrp="1"/>
          </p:cNvSpPr>
          <p:nvPr>
            <p:ph type="title" hasCustomPrompt="1"/>
          </p:nvPr>
        </p:nvSpPr>
        <p:spPr>
          <a:xfrm>
            <a:off x="990000" y="2095275"/>
            <a:ext cx="5221019" cy="13542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4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
        <p:nvSpPr>
          <p:cNvPr id="17" name="텍스트 개체 틀 18">
            <a:extLst>
              <a:ext uri="{FF2B5EF4-FFF2-40B4-BE49-F238E27FC236}">
                <a16:creationId xmlns:a16="http://schemas.microsoft.com/office/drawing/2014/main" id="{CBEAE583-0BAA-455B-9555-B00A4FE8B1C9}"/>
              </a:ext>
            </a:extLst>
          </p:cNvPr>
          <p:cNvSpPr>
            <a:spLocks noGrp="1"/>
          </p:cNvSpPr>
          <p:nvPr>
            <p:ph type="body" sz="quarter" idx="11" hasCustomPrompt="1"/>
          </p:nvPr>
        </p:nvSpPr>
        <p:spPr>
          <a:xfrm>
            <a:off x="990000" y="3577645"/>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Tree>
    <p:extLst>
      <p:ext uri="{BB962C8B-B14F-4D97-AF65-F5344CB8AC3E}">
        <p14:creationId xmlns:p14="http://schemas.microsoft.com/office/powerpoint/2010/main" val="690312953"/>
      </p:ext>
    </p:extLst>
  </p:cSld>
  <p:clrMapOvr>
    <a:masterClrMapping/>
  </p:clrMapOvr>
  <p:extLst>
    <p:ext uri="{DCECCB84-F9BA-43D5-87BE-67443E8EF086}">
      <p15:sldGuideLst xmlns:p15="http://schemas.microsoft.com/office/powerpoint/2012/main">
        <p15:guide id="1" orient="horz" pos="2614" userDrawn="1">
          <p15:clr>
            <a:srgbClr val="FBAE40"/>
          </p15:clr>
        </p15:guide>
        <p15:guide id="2" pos="443" userDrawn="1">
          <p15:clr>
            <a:srgbClr val="FBAE40"/>
          </p15:clr>
        </p15:guide>
        <p15:guide id="3" pos="5955">
          <p15:clr>
            <a:srgbClr val="FBAE40"/>
          </p15:clr>
        </p15:guide>
        <p15:guide id="4" pos="60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3" name="제목 2">
            <a:extLst>
              <a:ext uri="{FF2B5EF4-FFF2-40B4-BE49-F238E27FC236}">
                <a16:creationId xmlns:a16="http://schemas.microsoft.com/office/drawing/2014/main" id="{4625E1FE-2B04-4D8E-A51A-6B9CEC7B3790}"/>
              </a:ext>
            </a:extLst>
          </p:cNvPr>
          <p:cNvSpPr>
            <a:spLocks noGrp="1"/>
          </p:cNvSpPr>
          <p:nvPr>
            <p:ph type="title" hasCustomPrompt="1"/>
          </p:nvPr>
        </p:nvSpPr>
        <p:spPr>
          <a:xfrm>
            <a:off x="449468" y="1440000"/>
            <a:ext cx="8541187" cy="4924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spcBef>
                <a:spcPts val="0"/>
              </a:spcBef>
              <a:defRPr lang="ko-KR" altLang="en-US" sz="3200">
                <a:solidFill>
                  <a:schemeClr val="tx1">
                    <a:lumMod val="95000"/>
                    <a:lumOff val="5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Slide Title</a:t>
            </a:r>
            <a:endParaRPr lang="ko-KR" altLang="en-US" dirty="0"/>
          </a:p>
        </p:txBody>
      </p:sp>
      <p:sp>
        <p:nvSpPr>
          <p:cNvPr id="19" name="텍스트 개체 틀 18">
            <a:extLst>
              <a:ext uri="{FF2B5EF4-FFF2-40B4-BE49-F238E27FC236}">
                <a16:creationId xmlns:a16="http://schemas.microsoft.com/office/drawing/2014/main" id="{DFEC8C6A-D95C-4B3C-9803-6F9071BF0C29}"/>
              </a:ext>
            </a:extLst>
          </p:cNvPr>
          <p:cNvSpPr>
            <a:spLocks noGrp="1"/>
          </p:cNvSpPr>
          <p:nvPr>
            <p:ph type="body" sz="quarter" idx="10" hasCustomPrompt="1"/>
          </p:nvPr>
        </p:nvSpPr>
        <p:spPr>
          <a:xfrm>
            <a:off x="449468" y="450000"/>
            <a:ext cx="323896" cy="27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No</a:t>
            </a:r>
            <a:endParaRPr lang="ko-KR" altLang="en-US" dirty="0"/>
          </a:p>
        </p:txBody>
      </p:sp>
      <p:sp>
        <p:nvSpPr>
          <p:cNvPr id="20" name="텍스트 개체 틀 18">
            <a:extLst>
              <a:ext uri="{FF2B5EF4-FFF2-40B4-BE49-F238E27FC236}">
                <a16:creationId xmlns:a16="http://schemas.microsoft.com/office/drawing/2014/main" id="{6DA22BCA-E7E2-4377-AD8E-AC1336C3DB31}"/>
              </a:ext>
            </a:extLst>
          </p:cNvPr>
          <p:cNvSpPr>
            <a:spLocks noGrp="1"/>
          </p:cNvSpPr>
          <p:nvPr>
            <p:ph type="body" sz="quarter" idx="11" hasCustomPrompt="1"/>
          </p:nvPr>
        </p:nvSpPr>
        <p:spPr>
          <a:xfrm>
            <a:off x="790000" y="450001"/>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Bold" pitchFamily="2" charset="0"/>
                <a:ea typeface="Samsung Sharp Sans Bold" pitchFamily="2" charset="0"/>
                <a:cs typeface="Samsung Sharp Sans Bold" pitchFamily="2" charset="0"/>
              </a:defRPr>
            </a:lvl1pPr>
          </a:lstStyle>
          <a:p>
            <a:pPr marL="0" lvl="0" defTabSz="457050" latinLnBrk="0"/>
            <a:r>
              <a:rPr lang="en-US" altLang="ko-KR" dirty="0"/>
              <a:t>Subtitle</a:t>
            </a:r>
            <a:endParaRPr lang="ko-KR" altLang="en-US" dirty="0"/>
          </a:p>
        </p:txBody>
      </p:sp>
      <p:sp>
        <p:nvSpPr>
          <p:cNvPr id="21" name="텍스트 개체 틀 18">
            <a:extLst>
              <a:ext uri="{FF2B5EF4-FFF2-40B4-BE49-F238E27FC236}">
                <a16:creationId xmlns:a16="http://schemas.microsoft.com/office/drawing/2014/main" id="{7647BD6A-5F13-45AE-859C-AF2BA0A739E6}"/>
              </a:ext>
            </a:extLst>
          </p:cNvPr>
          <p:cNvSpPr>
            <a:spLocks noGrp="1"/>
          </p:cNvSpPr>
          <p:nvPr>
            <p:ph type="body" sz="quarter" idx="12" hasCustomPrompt="1"/>
          </p:nvPr>
        </p:nvSpPr>
        <p:spPr>
          <a:xfrm>
            <a:off x="9112825" y="480779"/>
            <a:ext cx="340625" cy="246221"/>
          </a:xfrm>
          <a:prstGeom prst="rect">
            <a:avLst/>
          </a:prstGeom>
        </p:spPr>
        <p:txBody>
          <a:bodyPr wrap="square" lIns="0" tIns="0" rIns="0" bIns="0">
            <a:spAutoFit/>
          </a:bodyPr>
          <a:lstStyle>
            <a:lvl1pPr marL="0" indent="0" algn="r">
              <a:lnSpc>
                <a:spcPct val="100000"/>
              </a:lnSpc>
              <a:spcBef>
                <a:spcPts val="0"/>
              </a:spcBef>
              <a:buNone/>
              <a:defRPr lang="ko-KR" altLang="en-US" sz="1600" dirty="0">
                <a:solidFill>
                  <a:schemeClr val="bg1">
                    <a:lumMod val="85000"/>
                  </a:schemeClr>
                </a:solidFill>
                <a:latin typeface="Samsung Sharp Sans Bold" pitchFamily="2" charset="0"/>
                <a:ea typeface="Samsung Sharp Sans Bold" pitchFamily="2" charset="0"/>
                <a:cs typeface="Samsung Sharp Sans Bold" pitchFamily="2" charset="0"/>
              </a:defRPr>
            </a:lvl1pPr>
          </a:lstStyle>
          <a:p>
            <a:pPr marL="0" lvl="0" algn="r" defTabSz="457063" latinLnBrk="0"/>
            <a:r>
              <a:rPr lang="en-US" altLang="ko-KR" dirty="0"/>
              <a:t>00</a:t>
            </a:r>
            <a:endParaRPr lang="ko-KR" altLang="en-US" dirty="0"/>
          </a:p>
        </p:txBody>
      </p:sp>
      <p:sp>
        <p:nvSpPr>
          <p:cNvPr id="23" name="텍스트 개체 틀 18">
            <a:extLst>
              <a:ext uri="{FF2B5EF4-FFF2-40B4-BE49-F238E27FC236}">
                <a16:creationId xmlns:a16="http://schemas.microsoft.com/office/drawing/2014/main" id="{3A9667F7-80AD-4A7A-8543-285975B06BE3}"/>
              </a:ext>
            </a:extLst>
          </p:cNvPr>
          <p:cNvSpPr>
            <a:spLocks noGrp="1"/>
          </p:cNvSpPr>
          <p:nvPr>
            <p:ph type="body" sz="quarter" idx="13" hasCustomPrompt="1"/>
          </p:nvPr>
        </p:nvSpPr>
        <p:spPr>
          <a:xfrm>
            <a:off x="8740667" y="480779"/>
            <a:ext cx="467850" cy="2462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600" dirty="0">
                <a:solidFill>
                  <a:schemeClr val="bg1">
                    <a:lumMod val="85000"/>
                  </a:schemeClr>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UNIT</a:t>
            </a:r>
            <a:endParaRPr lang="ko-KR" altLang="en-US" dirty="0"/>
          </a:p>
        </p:txBody>
      </p:sp>
      <p:sp>
        <p:nvSpPr>
          <p:cNvPr id="16" name="텍스트 개체 틀 7">
            <a:extLst>
              <a:ext uri="{FF2B5EF4-FFF2-40B4-BE49-F238E27FC236}">
                <a16:creationId xmlns:a16="http://schemas.microsoft.com/office/drawing/2014/main" id="{B6D584F0-F100-4FB4-B935-0E81DB1D3B51}"/>
              </a:ext>
            </a:extLst>
          </p:cNvPr>
          <p:cNvSpPr>
            <a:spLocks noGrp="1"/>
          </p:cNvSpPr>
          <p:nvPr>
            <p:ph type="body" sz="quarter" idx="15" hasCustomPrompt="1"/>
          </p:nvPr>
        </p:nvSpPr>
        <p:spPr>
          <a:xfrm>
            <a:off x="522288" y="2221661"/>
            <a:ext cx="8055439" cy="914400"/>
          </a:xfrm>
          <a:prstGeom prst="rect">
            <a:avLst/>
          </a:prstGeom>
        </p:spPr>
        <p:txBody>
          <a:bodyPr lIns="0" tIns="0" rIns="0" bIns="0"/>
          <a:lstStyle>
            <a:lvl1pPr marL="177747" indent="-177747">
              <a:lnSpc>
                <a:spcPts val="1800"/>
              </a:lnSpc>
              <a:buSzPct val="105000"/>
              <a:buFontTx/>
              <a:buBlip>
                <a:blip r:embed="rId3"/>
              </a:buBlip>
              <a:defRPr kumimoji="1" lang="en-US" altLang="ko-KR" sz="1400" kern="120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1pPr>
            <a:lvl2pPr marL="360255" indent="-182508">
              <a:lnSpc>
                <a:spcPts val="1800"/>
              </a:lnSpc>
              <a:buSzPct val="80000"/>
              <a:buFontTx/>
              <a:buBlip>
                <a:blip r:embed="rId4"/>
              </a:buBlip>
              <a:tabLst>
                <a:tab pos="447541" algn="l"/>
              </a:tabLst>
              <a:defRPr lang="en-US" altLang="ko-KR" sz="1300" kern="1200" dirty="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2pPr>
          </a:lstStyle>
          <a:p>
            <a:pPr lvl="0"/>
            <a:r>
              <a:rPr lang="en-US" altLang="ko-KR" dirty="0"/>
              <a:t>Level1</a:t>
            </a:r>
          </a:p>
          <a:p>
            <a:pPr lvl="1"/>
            <a:r>
              <a:rPr lang="en-US" altLang="ko-KR" dirty="0"/>
              <a:t>Level2</a:t>
            </a:r>
          </a:p>
          <a:p>
            <a:pPr lvl="1"/>
            <a:endParaRPr lang="en-US" altLang="ko-KR" dirty="0"/>
          </a:p>
          <a:p>
            <a:pPr marL="628461" lvl="1" indent="-207901" algn="l" defTabSz="843830" rtl="0" eaLnBrk="1" latinLnBrk="1" hangingPunct="1">
              <a:lnSpc>
                <a:spcPct val="90000"/>
              </a:lnSpc>
              <a:spcBef>
                <a:spcPts val="462"/>
              </a:spcBef>
              <a:buSzPct val="90000"/>
              <a:buFontTx/>
              <a:buBlip>
                <a:blip r:embed="rId5"/>
              </a:buBlip>
            </a:pPr>
            <a:endParaRPr lang="en-US" altLang="ko-KR" dirty="0"/>
          </a:p>
          <a:p>
            <a:pPr lvl="1"/>
            <a:endParaRPr lang="ko-KR" altLang="en-US" dirty="0"/>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102046736"/>
      </p:ext>
    </p:extLst>
  </p:cSld>
  <p:clrMapOvr>
    <a:masterClrMapping/>
  </p:clrMapOvr>
  <p:extLst>
    <p:ext uri="{DCECCB84-F9BA-43D5-87BE-67443E8EF086}">
      <p15:sldGuideLst xmlns:p15="http://schemas.microsoft.com/office/powerpoint/2012/main">
        <p15:guide id="1" orient="horz" pos="902" userDrawn="1">
          <p15:clr>
            <a:srgbClr val="FBAE40"/>
          </p15:clr>
        </p15:guide>
        <p15:guide id="2" pos="285">
          <p15:clr>
            <a:srgbClr val="FBAE40"/>
          </p15:clr>
        </p15:guide>
        <p15:guide id="3" pos="5955">
          <p15:clr>
            <a:srgbClr val="FBAE40"/>
          </p15:clr>
        </p15:guide>
        <p15:guide id="4" pos="32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434159522"/>
      </p:ext>
    </p:extLst>
  </p:cSld>
  <p:clrMapOvr>
    <a:masterClrMapping/>
  </p:clrMapOvr>
  <p:extLst>
    <p:ext uri="{DCECCB84-F9BA-43D5-87BE-67443E8EF086}">
      <p15:sldGuideLst xmlns:p15="http://schemas.microsoft.com/office/powerpoint/2012/main">
        <p15:guide id="1" orient="horz" pos="902">
          <p15:clr>
            <a:srgbClr val="FBAE40"/>
          </p15:clr>
        </p15:guide>
        <p15:guide id="2" pos="285">
          <p15:clr>
            <a:srgbClr val="FBAE40"/>
          </p15:clr>
        </p15:guide>
        <p15:guide id="3" pos="5955">
          <p15:clr>
            <a:srgbClr val="FBAE40"/>
          </p15:clr>
        </p15:guide>
        <p15:guide id="4" pos="32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Tree>
    <p:extLst>
      <p:ext uri="{BB962C8B-B14F-4D97-AF65-F5344CB8AC3E}">
        <p14:creationId xmlns:p14="http://schemas.microsoft.com/office/powerpoint/2010/main" val="1779621428"/>
      </p:ext>
    </p:extLst>
  </p:cSld>
  <p:clrMapOvr>
    <a:masterClrMapping/>
  </p:clrMapOvr>
  <p:extLst>
    <p:ext uri="{DCECCB84-F9BA-43D5-87BE-67443E8EF086}">
      <p15:sldGuideLst xmlns:p15="http://schemas.microsoft.com/office/powerpoint/2012/main">
        <p15:guide id="1" orient="horz" pos="2614">
          <p15:clr>
            <a:srgbClr val="FBAE40"/>
          </p15:clr>
        </p15:guide>
        <p15:guide id="2" pos="443">
          <p15:clr>
            <a:srgbClr val="FBAE40"/>
          </p15:clr>
        </p15:guide>
        <p15:guide id="3" pos="5955">
          <p15:clr>
            <a:srgbClr val="FBAE40"/>
          </p15:clr>
        </p15:guide>
        <p15:guide id="4" pos="60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able of Contents">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슬라이드 번호 개체 틀 15">
            <a:extLst>
              <a:ext uri="{FF2B5EF4-FFF2-40B4-BE49-F238E27FC236}">
                <a16:creationId xmlns:a16="http://schemas.microsoft.com/office/drawing/2014/main" id="{E75758B0-2429-4331-898E-5EEED60D4280}"/>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42502544"/>
      </p:ext>
    </p:extLst>
  </p:cSld>
  <p:clrMapOvr>
    <a:masterClrMapping/>
  </p:clrMapOvr>
  <p:extLst>
    <p:ext uri="{DCECCB84-F9BA-43D5-87BE-67443E8EF086}">
      <p15:sldGuideLst xmlns:p15="http://schemas.microsoft.com/office/powerpoint/2012/main">
        <p15:guide id="1" orient="horz" pos="2160">
          <p15:clr>
            <a:srgbClr val="FBAE40"/>
          </p15:clr>
        </p15:guide>
        <p15:guide id="2" pos="5955">
          <p15:clr>
            <a:srgbClr val="FBAE40"/>
          </p15:clr>
        </p15:guide>
        <p15:guide id="3" pos="285">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ody">
    <p:spTree>
      <p:nvGrpSpPr>
        <p:cNvPr id="1" name=""/>
        <p:cNvGrpSpPr/>
        <p:nvPr/>
      </p:nvGrpSpPr>
      <p:grpSpPr>
        <a:xfrm>
          <a:off x="0" y="0"/>
          <a:ext cx="0" cy="0"/>
          <a:chOff x="0" y="0"/>
          <a:chExt cx="0" cy="0"/>
        </a:xfrm>
      </p:grpSpPr>
      <p:cxnSp>
        <p:nvCxnSpPr>
          <p:cNvPr id="10" name="직선 연결선 9">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8"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cxnSp>
        <p:nvCxnSpPr>
          <p:cNvPr id="7" name="직선 연결선 6"/>
          <p:cNvCxnSpPr/>
          <p:nvPr userDrawn="1"/>
        </p:nvCxnSpPr>
        <p:spPr>
          <a:xfrm>
            <a:off x="449468" y="900000"/>
            <a:ext cx="9000714" cy="0"/>
          </a:xfrm>
          <a:prstGeom prst="line">
            <a:avLst/>
          </a:prstGeom>
          <a:ln w="15875">
            <a:solidFill>
              <a:srgbClr val="0924A5"/>
            </a:solidFill>
          </a:ln>
        </p:spPr>
        <p:style>
          <a:lnRef idx="1">
            <a:schemeClr val="accent1"/>
          </a:lnRef>
          <a:fillRef idx="0">
            <a:schemeClr val="accent1"/>
          </a:fillRef>
          <a:effectRef idx="0">
            <a:schemeClr val="accent1"/>
          </a:effectRef>
          <a:fontRef idx="minor">
            <a:schemeClr val="tx1"/>
          </a:fontRef>
        </p:style>
      </p:cxnSp>
      <p:sp>
        <p:nvSpPr>
          <p:cNvPr id="9" name="슬라이드 번호 개체 틀 15">
            <a:extLst>
              <a:ext uri="{FF2B5EF4-FFF2-40B4-BE49-F238E27FC236}">
                <a16:creationId xmlns:a16="http://schemas.microsoft.com/office/drawing/2014/main" id="{C5960DC7-D671-485D-92B0-FEED6CE658A3}"/>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1343950608"/>
      </p:ext>
    </p:extLst>
  </p:cSld>
  <p:clrMapOvr>
    <a:masterClrMapping/>
  </p:clrMapOvr>
  <p:extLst>
    <p:ext uri="{DCECCB84-F9BA-43D5-87BE-67443E8EF086}">
      <p15:sldGuideLst xmlns:p15="http://schemas.microsoft.com/office/powerpoint/2012/main">
        <p15:guide id="1" orient="horz" pos="2160">
          <p15:clr>
            <a:srgbClr val="FBAE40"/>
          </p15:clr>
        </p15:guide>
        <p15:guide id="2" pos="285">
          <p15:clr>
            <a:srgbClr val="FBAE40"/>
          </p15:clr>
        </p15:guide>
        <p15:guide id="3" pos="595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ast">
    <p:spTree>
      <p:nvGrpSpPr>
        <p:cNvPr id="1" name=""/>
        <p:cNvGrpSpPr/>
        <p:nvPr/>
      </p:nvGrpSpPr>
      <p:grpSpPr>
        <a:xfrm>
          <a:off x="0" y="0"/>
          <a:ext cx="0" cy="0"/>
          <a:chOff x="0" y="0"/>
          <a:chExt cx="0" cy="0"/>
        </a:xfrm>
      </p:grpSpPr>
      <p:pic>
        <p:nvPicPr>
          <p:cNvPr id="6" name="그림 2">
            <a:extLst>
              <a:ext uri="{FF2B5EF4-FFF2-40B4-BE49-F238E27FC236}">
                <a16:creationId xmlns:a16="http://schemas.microsoft.com/office/drawing/2014/main" id="{C441AFAB-5BBF-465C-B7A8-FED86E6261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4395"/>
            <a:ext cx="9899651" cy="6853605"/>
          </a:xfrm>
          <a:prstGeom prst="rect">
            <a:avLst/>
          </a:prstGeom>
        </p:spPr>
      </p:pic>
      <p:sp>
        <p:nvSpPr>
          <p:cNvPr id="2" name="직사각형 1"/>
          <p:cNvSpPr/>
          <p:nvPr userDrawn="1"/>
        </p:nvSpPr>
        <p:spPr>
          <a:xfrm>
            <a:off x="2" y="0"/>
            <a:ext cx="9899651" cy="6858000"/>
          </a:xfrm>
          <a:prstGeom prst="rect">
            <a:avLst/>
          </a:prstGeom>
          <a:solidFill>
            <a:srgbClr val="1428A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959" dirty="0"/>
          </a:p>
        </p:txBody>
      </p:sp>
      <p:sp>
        <p:nvSpPr>
          <p:cNvPr id="7" name="직사각형 6">
            <a:extLst>
              <a:ext uri="{FF2B5EF4-FFF2-40B4-BE49-F238E27FC236}">
                <a16:creationId xmlns:a16="http://schemas.microsoft.com/office/drawing/2014/main" id="{782B242C-8600-47F0-98D5-6EA512C41BF2}"/>
              </a:ext>
            </a:extLst>
          </p:cNvPr>
          <p:cNvSpPr/>
          <p:nvPr userDrawn="1"/>
        </p:nvSpPr>
        <p:spPr>
          <a:xfrm>
            <a:off x="449468" y="5677032"/>
            <a:ext cx="9000714" cy="73096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r>
              <a:rPr kumimoji="0" lang="ko-KR" altLang="en-US"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 panose="020B0503030303020204" pitchFamily="34" charset="0"/>
                <a:cs typeface="+mn-cs"/>
              </a:rPr>
              <a:t>ⓒ</a:t>
            </a: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2025 SAMSUNG. All rights reserved.</a:t>
            </a:r>
          </a:p>
          <a:p>
            <a:pPr marL="0" marR="0" lvl="0" indent="0" algn="l" defTabSz="914126" rtl="0" eaLnBrk="1" fontAlgn="auto" latinLnBrk="1" hangingPunct="1">
              <a:lnSpc>
                <a:spcPct val="100000"/>
              </a:lnSpc>
              <a:spcBef>
                <a:spcPts val="6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Samsung Electronics Corporate Citizenship Office holds the copyright of book.</a:t>
            </a:r>
          </a:p>
          <a:p>
            <a:pPr marL="0" marR="0" lvl="0" indent="0" algn="l" defTabSz="914126" rtl="0" eaLnBrk="1" fontAlgn="auto" latinLnBrk="1" hangingPunct="1">
              <a:lnSpc>
                <a:spcPct val="100000"/>
              </a:lnSpc>
              <a:spcBef>
                <a:spcPts val="3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This book is a literary property protected by copyright law so reprint and reproduction without permission are prohibited. </a:t>
            </a:r>
          </a:p>
          <a:p>
            <a:pPr marL="0" marR="0" lvl="0" indent="0" algn="l" defTabSz="914126" rtl="0" eaLnBrk="1" fontAlgn="auto" latinLnBrk="1" hangingPunct="1">
              <a:lnSpc>
                <a:spcPct val="100000"/>
              </a:lnSpc>
              <a:spcBef>
                <a:spcPts val="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To use this book other than the curriculum of Samsung Innovation Campus or to use the entire or part of this book, you must receive written consent from copyright holder.</a:t>
            </a:r>
          </a:p>
        </p:txBody>
      </p:sp>
      <p:pic>
        <p:nvPicPr>
          <p:cNvPr id="10" name="그림 3">
            <a:extLst>
              <a:ext uri="{FF2B5EF4-FFF2-40B4-BE49-F238E27FC236}">
                <a16:creationId xmlns:a16="http://schemas.microsoft.com/office/drawing/2014/main" id="{A977D3D7-ABF1-4BDD-B1E5-CCA79CC8184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11822" y="3022951"/>
            <a:ext cx="2476006" cy="812098"/>
          </a:xfrm>
          <a:prstGeom prst="rect">
            <a:avLst/>
          </a:prstGeom>
        </p:spPr>
      </p:pic>
      <p:sp>
        <p:nvSpPr>
          <p:cNvPr id="9"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90568"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bg1"/>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spTree>
    <p:extLst>
      <p:ext uri="{BB962C8B-B14F-4D97-AF65-F5344CB8AC3E}">
        <p14:creationId xmlns:p14="http://schemas.microsoft.com/office/powerpoint/2010/main" val="12278341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1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ody">
    <p:bg>
      <p:bgPr>
        <a:solidFill>
          <a:schemeClr val="bg1">
            <a:lumMod val="95000"/>
          </a:schemeClr>
        </a:solidFill>
        <a:effectLst/>
      </p:bgPr>
    </p:bg>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5"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Tree>
    <p:extLst>
      <p:ext uri="{BB962C8B-B14F-4D97-AF65-F5344CB8AC3E}">
        <p14:creationId xmlns:p14="http://schemas.microsoft.com/office/powerpoint/2010/main" val="18144426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928821"/>
      </p:ext>
    </p:extLst>
  </p:cSld>
  <p:clrMap bg1="lt1" tx1="dk1" bg2="lt2" tx2="dk2" accent1="accent1" accent2="accent2" accent3="accent3" accent4="accent4" accent5="accent5" accent6="accent6" hlink="hlink" folHlink="folHlink"/>
  <p:sldLayoutIdLst>
    <p:sldLayoutId id="2147483684" r:id="rId1"/>
    <p:sldLayoutId id="2147483691" r:id="rId2"/>
    <p:sldLayoutId id="2147483685" r:id="rId3"/>
    <p:sldLayoutId id="2147483687" r:id="rId4"/>
    <p:sldLayoutId id="2147483694" r:id="rId5"/>
    <p:sldLayoutId id="2147483693" r:id="rId6"/>
    <p:sldLayoutId id="2147483686" r:id="rId7"/>
    <p:sldLayoutId id="2147483688" r:id="rId8"/>
    <p:sldLayoutId id="2147483689" r:id="rId9"/>
    <p:sldLayoutId id="2147483690" r:id="rId10"/>
  </p:sldLayoutIdLst>
  <p:txStyles>
    <p:titleStyle>
      <a:lvl1pPr algn="l" defTabSz="914126" rtl="0" eaLnBrk="1" latinLnBrk="1"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1"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1"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1"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1" hangingPunct="1">
        <a:defRPr sz="1799" kern="1200">
          <a:solidFill>
            <a:schemeClr val="tx1"/>
          </a:solidFill>
          <a:latin typeface="+mn-lt"/>
          <a:ea typeface="+mn-ea"/>
          <a:cs typeface="+mn-cs"/>
        </a:defRPr>
      </a:lvl1pPr>
      <a:lvl2pPr marL="457063" algn="l" defTabSz="914126" rtl="0" eaLnBrk="1" latinLnBrk="1" hangingPunct="1">
        <a:defRPr sz="1799" kern="1200">
          <a:solidFill>
            <a:schemeClr val="tx1"/>
          </a:solidFill>
          <a:latin typeface="+mn-lt"/>
          <a:ea typeface="+mn-ea"/>
          <a:cs typeface="+mn-cs"/>
        </a:defRPr>
      </a:lvl2pPr>
      <a:lvl3pPr marL="914126" algn="l" defTabSz="914126" rtl="0" eaLnBrk="1" latinLnBrk="1" hangingPunct="1">
        <a:defRPr sz="1799" kern="1200">
          <a:solidFill>
            <a:schemeClr val="tx1"/>
          </a:solidFill>
          <a:latin typeface="+mn-lt"/>
          <a:ea typeface="+mn-ea"/>
          <a:cs typeface="+mn-cs"/>
        </a:defRPr>
      </a:lvl3pPr>
      <a:lvl4pPr marL="1371189" algn="l" defTabSz="914126" rtl="0" eaLnBrk="1" latinLnBrk="1" hangingPunct="1">
        <a:defRPr sz="1799" kern="1200">
          <a:solidFill>
            <a:schemeClr val="tx1"/>
          </a:solidFill>
          <a:latin typeface="+mn-lt"/>
          <a:ea typeface="+mn-ea"/>
          <a:cs typeface="+mn-cs"/>
        </a:defRPr>
      </a:lvl4pPr>
      <a:lvl5pPr marL="1828251" algn="l" defTabSz="914126" rtl="0" eaLnBrk="1" latinLnBrk="1" hangingPunct="1">
        <a:defRPr sz="1799" kern="1200">
          <a:solidFill>
            <a:schemeClr val="tx1"/>
          </a:solidFill>
          <a:latin typeface="+mn-lt"/>
          <a:ea typeface="+mn-ea"/>
          <a:cs typeface="+mn-cs"/>
        </a:defRPr>
      </a:lvl5pPr>
      <a:lvl6pPr marL="2285314" algn="l" defTabSz="914126" rtl="0" eaLnBrk="1" latinLnBrk="1" hangingPunct="1">
        <a:defRPr sz="1799" kern="1200">
          <a:solidFill>
            <a:schemeClr val="tx1"/>
          </a:solidFill>
          <a:latin typeface="+mn-lt"/>
          <a:ea typeface="+mn-ea"/>
          <a:cs typeface="+mn-cs"/>
        </a:defRPr>
      </a:lvl6pPr>
      <a:lvl7pPr marL="2742377" algn="l" defTabSz="914126" rtl="0" eaLnBrk="1" latinLnBrk="1" hangingPunct="1">
        <a:defRPr sz="1799" kern="1200">
          <a:solidFill>
            <a:schemeClr val="tx1"/>
          </a:solidFill>
          <a:latin typeface="+mn-lt"/>
          <a:ea typeface="+mn-ea"/>
          <a:cs typeface="+mn-cs"/>
        </a:defRPr>
      </a:lvl7pPr>
      <a:lvl8pPr marL="3199440" algn="l" defTabSz="914126" rtl="0" eaLnBrk="1" latinLnBrk="1" hangingPunct="1">
        <a:defRPr sz="1799" kern="1200">
          <a:solidFill>
            <a:schemeClr val="tx1"/>
          </a:solidFill>
          <a:latin typeface="+mn-lt"/>
          <a:ea typeface="+mn-ea"/>
          <a:cs typeface="+mn-cs"/>
        </a:defRPr>
      </a:lvl8pPr>
      <a:lvl9pPr marL="3656503" algn="l" defTabSz="914126" rtl="0" eaLnBrk="1" latinLnBrk="1"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1 / 8</a:t>
            </a:r>
          </a:p>
        </p:txBody>
      </p:sp>
      <p:pic>
        <p:nvPicPr>
          <p:cNvPr id="6" name="Bayan logo" descr="Bayan logo"/>
          <p:cNvPicPr>
            <a:picLocks noChangeAspect="1"/>
          </p:cNvPicPr>
          <p:nvPr/>
        </p:nvPicPr>
        <p:blipFill>
          <a:blip r:embed="rId3"/>
          <a:stretch>
            <a:fillRect/>
          </a:stretch>
        </p:blipFill>
        <p:spPr>
          <a:xfrm>
            <a:off x="3534156" y="804672"/>
            <a:ext cx="2834640" cy="1592713"/>
          </a:xfrm>
          <a:prstGeom prst="rect">
            <a:avLst/>
          </a:prstGeom>
        </p:spPr>
      </p:pic>
      <p:sp>
        <p:nvSpPr>
          <p:cNvPr id="7" name="TextBox 6"/>
          <p:cNvSpPr txBox="1"/>
          <p:nvPr/>
        </p:nvSpPr>
        <p:spPr>
          <a:xfrm>
            <a:off x="0" y="3794760"/>
            <a:ext cx="9902952" cy="777240"/>
          </a:xfrm>
          <a:prstGeom prst="rect">
            <a:avLst/>
          </a:prstGeom>
          <a:noFill/>
        </p:spPr>
        <p:txBody>
          <a:bodyPr wrap="square" lIns="0" rIns="0" tIns="0" bIns="0" anchor="ctr">
            <a:spAutoFit/>
          </a:bodyPr>
          <a:lstStyle/>
          <a:p>
            <a:pPr algn="ctr"/>
            <a:r>
              <a:rPr sz="5600" b="1">
                <a:solidFill>
                  <a:srgbClr val="F2EFE2"/>
                </a:solidFill>
                <a:latin typeface="Readex Pro"/>
                <a:cs typeface="Readex Pro"/>
                <a:ea typeface="Readex Pro"/>
              </a:rPr>
              <a:t>Bayan</a:t>
            </a:r>
          </a:p>
        </p:txBody>
      </p:sp>
      <p:sp>
        <p:nvSpPr>
          <p:cNvPr id="8" name="TextBox 7"/>
          <p:cNvSpPr txBox="1"/>
          <p:nvPr/>
        </p:nvSpPr>
        <p:spPr>
          <a:xfrm>
            <a:off x="0" y="4617720"/>
            <a:ext cx="9902952" cy="384048"/>
          </a:xfrm>
          <a:prstGeom prst="rect">
            <a:avLst/>
          </a:prstGeom>
          <a:noFill/>
        </p:spPr>
        <p:txBody>
          <a:bodyPr wrap="square" lIns="0" rIns="0" tIns="0" bIns="0" anchor="ctr">
            <a:spAutoFit/>
          </a:bodyPr>
          <a:lstStyle/>
          <a:p>
            <a:pPr algn="ctr"/>
            <a:r>
              <a:rPr sz="2000" b="0">
                <a:solidFill>
                  <a:srgbClr val="F2EFE2"/>
                </a:solidFill>
                <a:latin typeface="Readex Pro"/>
                <a:cs typeface="Readex Pro"/>
                <a:ea typeface="Readex Pro"/>
              </a:rPr>
              <a:t>Simplify Arabic where you read</a:t>
            </a:r>
          </a:p>
        </p:txBody>
      </p:sp>
      <p:sp>
        <p:nvSpPr>
          <p:cNvPr id="9" name="TextBox 8"/>
          <p:cNvSpPr txBox="1"/>
          <p:nvPr/>
        </p:nvSpPr>
        <p:spPr>
          <a:xfrm>
            <a:off x="0" y="5047488"/>
            <a:ext cx="9902952" cy="292608"/>
          </a:xfrm>
          <a:prstGeom prst="rect">
            <a:avLst/>
          </a:prstGeom>
          <a:noFill/>
        </p:spPr>
        <p:txBody>
          <a:bodyPr wrap="square" lIns="0" rIns="0" tIns="0" bIns="0" anchor="ctr">
            <a:spAutoFit/>
          </a:bodyPr>
          <a:lstStyle/>
          <a:p>
            <a:pPr algn="ctr"/>
            <a:r>
              <a:rPr sz="1400" b="0">
                <a:solidFill>
                  <a:srgbClr val="C6986B"/>
                </a:solidFill>
                <a:latin typeface="Readex Pro"/>
                <a:cs typeface="Readex Pro"/>
                <a:ea typeface="Readex Pro"/>
              </a:rPr>
              <a:t>on the phone, offline</a:t>
            </a:r>
          </a:p>
        </p:txBody>
      </p:sp>
      <p:sp>
        <p:nvSpPr>
          <p:cNvPr id="10" name="TextBox 9"/>
          <p:cNvSpPr txBox="1"/>
          <p:nvPr/>
        </p:nvSpPr>
        <p:spPr>
          <a:xfrm>
            <a:off x="0" y="5486400"/>
            <a:ext cx="9902952" cy="310896"/>
          </a:xfrm>
          <a:prstGeom prst="rect">
            <a:avLst/>
          </a:prstGeom>
          <a:noFill/>
        </p:spPr>
        <p:txBody>
          <a:bodyPr wrap="square" lIns="0" rIns="0" tIns="0" bIns="0" anchor="ctr">
            <a:spAutoFit/>
          </a:bodyPr>
          <a:lstStyle/>
          <a:p>
            <a:pPr algn="ctr"/>
            <a:r>
              <a:rPr sz="1500" b="1">
                <a:solidFill>
                  <a:srgbClr val="C6986B"/>
                </a:solidFill>
                <a:latin typeface="Readex Pro"/>
                <a:cs typeface="Readex Pro"/>
                <a:ea typeface="Readex Pro"/>
              </a:rPr>
              <a:t>Team Cogni</a:t>
            </a:r>
          </a:p>
        </p:txBody>
      </p:sp>
      <p:sp>
        <p:nvSpPr>
          <p:cNvPr id="11" name="TextBox 10"/>
          <p:cNvSpPr txBox="1"/>
          <p:nvPr/>
        </p:nvSpPr>
        <p:spPr>
          <a:xfrm>
            <a:off x="566928" y="5833872"/>
            <a:ext cx="8769096" cy="256032"/>
          </a:xfrm>
          <a:prstGeom prst="rect">
            <a:avLst/>
          </a:prstGeom>
          <a:noFill/>
        </p:spPr>
        <p:txBody>
          <a:bodyPr wrap="square" lIns="0" rIns="0" tIns="0" bIns="0" anchor="ctr">
            <a:spAutoFit/>
          </a:bodyPr>
          <a:lstStyle/>
          <a:p>
            <a:pPr algn="ctr"/>
            <a:r>
              <a:rPr sz="1000" b="0">
                <a:solidFill>
                  <a:srgbClr val="A29D8C"/>
                </a:solidFill>
                <a:latin typeface="Readex Pro"/>
                <a:cs typeface="Readex Pro"/>
                <a:ea typeface="Readex Pro"/>
              </a:rPr>
              <a:t>Marwan Elamami · Abdulrahman Khengari · Ahmed Alaeb · Sanad Ali · Mohammed Thabet · Abdul Majid Mraied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TextBox 8"/>
          <p:cNvSpPr txBox="1"/>
          <p:nvPr/>
        </p:nvSpPr>
        <p:spPr>
          <a:xfrm>
            <a:off x="566928" y="1691640"/>
            <a:ext cx="3200400" cy="1051560"/>
          </a:xfrm>
          <a:prstGeom prst="rect">
            <a:avLst/>
          </a:prstGeom>
          <a:noFill/>
        </p:spPr>
        <p:txBody>
          <a:bodyPr wrap="square" lIns="0" rIns="0" tIns="0" bIns="0" anchor="ctr">
            <a:spAutoFit/>
          </a:bodyPr>
          <a:lstStyle/>
          <a:p>
            <a:pPr algn="ctr"/>
            <a:r>
              <a:rPr sz="8400" b="0">
                <a:solidFill>
                  <a:srgbClr val="C6986B"/>
                </a:solidFill>
                <a:latin typeface="Readex Pro"/>
                <a:cs typeface="Readex Pro"/>
                <a:ea typeface="Readex Pro"/>
              </a:rPr>
              <a:t>11%</a:t>
            </a:r>
          </a:p>
        </p:txBody>
      </p:sp>
      <p:sp>
        <p:nvSpPr>
          <p:cNvPr id="10" name="TextBox 9"/>
          <p:cNvSpPr txBox="1"/>
          <p:nvPr/>
        </p:nvSpPr>
        <p:spPr>
          <a:xfrm>
            <a:off x="566928" y="2788920"/>
            <a:ext cx="3200400" cy="685800"/>
          </a:xfrm>
          <a:prstGeom prst="rect">
            <a:avLst/>
          </a:prstGeom>
          <a:noFill/>
        </p:spPr>
        <p:txBody>
          <a:bodyPr wrap="square" lIns="0" rIns="0" tIns="0" bIns="0" anchor="ctr">
            <a:spAutoFit/>
          </a:bodyPr>
          <a:lstStyle/>
          <a:p>
            <a:pPr algn="ctr">
              <a:lnSpc>
                <a:spcPct val="105000"/>
              </a:lnSpc>
            </a:pPr>
            <a:r>
              <a:rPr sz="1500" b="0">
                <a:solidFill>
                  <a:srgbClr val="4A4842"/>
                </a:solidFill>
                <a:latin typeface="Readex Pro"/>
                <a:cs typeface="Readex Pro"/>
                <a:ea typeface="Readex Pro"/>
              </a:rPr>
              <a:t>of Arab primary-school children</a:t>
            </a:r>
          </a:p>
          <a:p>
            <a:pPr algn="ctr">
              <a:lnSpc>
                <a:spcPct val="105000"/>
              </a:lnSpc>
            </a:pPr>
            <a:r>
              <a:rPr sz="1500" b="0">
                <a:solidFill>
                  <a:srgbClr val="4A4842"/>
                </a:solidFill>
                <a:latin typeface="Readex Pro"/>
                <a:cs typeface="Readex Pro"/>
                <a:ea typeface="Readex Pro"/>
              </a:rPr>
              <a:t>have developmental dyslexia</a:t>
            </a:r>
          </a:p>
        </p:txBody>
      </p:sp>
      <p:sp>
        <p:nvSpPr>
          <p:cNvPr id="11" name="Rectangle 10"/>
          <p:cNvSpPr/>
          <p:nvPr/>
        </p:nvSpPr>
        <p:spPr>
          <a:xfrm>
            <a:off x="1069848" y="36393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9576" y="3611880"/>
            <a:ext cx="5943600" cy="201168"/>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Al-Dakhil 2024 · 18 studies, N = 30,243</a:t>
            </a:r>
          </a:p>
        </p:txBody>
      </p:sp>
      <p:sp>
        <p:nvSpPr>
          <p:cNvPr id="13" name="Rounded Rectangle 12"/>
          <p:cNvSpPr/>
          <p:nvPr/>
        </p:nvSpPr>
        <p:spPr>
          <a:xfrm>
            <a:off x="4069080" y="1572768"/>
            <a:ext cx="5257800" cy="3246120"/>
          </a:xfrm>
          <a:prstGeom prst="roundRect">
            <a:avLst>
              <a:gd name="adj" fmla="val 4507"/>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69080" y="1737360"/>
            <a:ext cx="5257800" cy="868680"/>
          </a:xfrm>
          <a:prstGeom prst="rect">
            <a:avLst/>
          </a:prstGeom>
          <a:noFill/>
        </p:spPr>
        <p:txBody>
          <a:bodyPr wrap="square" lIns="0" rIns="0" tIns="0" bIns="0" anchor="ctr">
            <a:spAutoFit/>
          </a:bodyPr>
          <a:lstStyle/>
          <a:p>
            <a:pPr algn="ctr" rtl="1"/>
            <a:r>
              <a:rPr sz="6800" b="0" lang="ar-SA">
                <a:solidFill>
                  <a:srgbClr val="282824"/>
                </a:solidFill>
                <a:latin typeface="Amiri"/>
                <a:cs typeface="Amiri"/>
                <a:ea typeface="Amiri"/>
              </a:rPr>
              <a:t>كتب</a:t>
            </a:r>
          </a:p>
        </p:txBody>
      </p:sp>
      <p:sp>
        <p:nvSpPr>
          <p:cNvPr id="15" name="TextBox 14"/>
          <p:cNvSpPr txBox="1"/>
          <p:nvPr/>
        </p:nvSpPr>
        <p:spPr>
          <a:xfrm>
            <a:off x="4069080" y="2651760"/>
            <a:ext cx="5257800"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one written form</a:t>
            </a:r>
          </a:p>
        </p:txBody>
      </p:sp>
      <p:cxnSp>
        <p:nvCxnSpPr>
          <p:cNvPr id="16" name="Connector 15"/>
          <p:cNvCxnSpPr/>
          <p:nvPr/>
        </p:nvCxnSpPr>
        <p:spPr>
          <a:xfrm flipH="1">
            <a:off x="514350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6626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18" name="TextBox 17"/>
          <p:cNvSpPr txBox="1"/>
          <p:nvPr/>
        </p:nvSpPr>
        <p:spPr>
          <a:xfrm>
            <a:off x="436626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kataba</a:t>
            </a:r>
          </a:p>
          <a:p>
            <a:pPr algn="ctr"/>
            <a:r>
              <a:rPr sz="1100" b="0">
                <a:solidFill>
                  <a:srgbClr val="8A5E35"/>
                </a:solidFill>
                <a:latin typeface="Readex Pro"/>
                <a:cs typeface="Readex Pro"/>
                <a:ea typeface="Readex Pro"/>
              </a:rPr>
              <a:t>he wrote</a:t>
            </a:r>
          </a:p>
        </p:txBody>
      </p:sp>
      <p:cxnSp>
        <p:nvCxnSpPr>
          <p:cNvPr id="19" name="Connector 18"/>
          <p:cNvCxnSpPr/>
          <p:nvPr/>
        </p:nvCxnSpPr>
        <p:spPr>
          <a:xfrm>
            <a:off x="6697980" y="2990088"/>
            <a:ext cx="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92074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1" name="TextBox 20"/>
          <p:cNvSpPr txBox="1"/>
          <p:nvPr/>
        </p:nvSpPr>
        <p:spPr>
          <a:xfrm>
            <a:off x="592074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kutiba</a:t>
            </a:r>
          </a:p>
          <a:p>
            <a:pPr algn="ctr"/>
            <a:r>
              <a:rPr sz="1100" b="0">
                <a:solidFill>
                  <a:srgbClr val="8A5E35"/>
                </a:solidFill>
                <a:latin typeface="Readex Pro"/>
                <a:cs typeface="Readex Pro"/>
                <a:ea typeface="Readex Pro"/>
              </a:rPr>
              <a:t>it was written</a:t>
            </a:r>
          </a:p>
        </p:txBody>
      </p:sp>
      <p:cxnSp>
        <p:nvCxnSpPr>
          <p:cNvPr id="22" name="Connector 21"/>
          <p:cNvCxnSpPr/>
          <p:nvPr/>
        </p:nvCxnSpPr>
        <p:spPr>
          <a:xfrm>
            <a:off x="669798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7522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4" name="TextBox 23"/>
          <p:cNvSpPr txBox="1"/>
          <p:nvPr/>
        </p:nvSpPr>
        <p:spPr>
          <a:xfrm>
            <a:off x="747522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kutub</a:t>
            </a:r>
          </a:p>
          <a:p>
            <a:pPr algn="ctr"/>
            <a:r>
              <a:rPr sz="1100" b="0">
                <a:solidFill>
                  <a:srgbClr val="8A5E35"/>
                </a:solidFill>
                <a:latin typeface="Readex Pro"/>
                <a:cs typeface="Readex Pro"/>
                <a:ea typeface="Readex Pro"/>
              </a:rPr>
              <a:t>books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Rounded Rectangle 8"/>
          <p:cNvSpPr/>
          <p:nvPr/>
        </p:nvSpPr>
        <p:spPr>
          <a:xfrm>
            <a:off x="566928" y="1737360"/>
            <a:ext cx="4343400" cy="3977639"/>
          </a:xfrm>
          <a:prstGeom prst="roundRect">
            <a:avLst>
              <a:gd name="adj" fmla="val 367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38528"/>
            <a:ext cx="4343400" cy="347472"/>
          </a:xfrm>
          <a:prstGeom prst="rect">
            <a:avLst/>
          </a:prstGeom>
          <a:noFill/>
        </p:spPr>
        <p:txBody>
          <a:bodyPr wrap="square" lIns="0" rIns="0" tIns="0" bIns="0" anchor="ctr">
            <a:spAutoFit/>
          </a:bodyPr>
          <a:lstStyle/>
          <a:p>
            <a:pPr algn="ctr"/>
            <a:r>
              <a:rPr sz="1800" b="1">
                <a:solidFill>
                  <a:srgbClr val="282824"/>
                </a:solidFill>
                <a:latin typeface="Readex Pro"/>
                <a:cs typeface="Readex Pro"/>
                <a:ea typeface="Readex Pro"/>
              </a:rPr>
              <a:t>What helps</a:t>
            </a:r>
          </a:p>
        </p:txBody>
      </p:sp>
      <p:sp>
        <p:nvSpPr>
          <p:cNvPr id="11" name="TextBox 10"/>
          <p:cNvSpPr txBox="1"/>
          <p:nvPr/>
        </p:nvSpPr>
        <p:spPr>
          <a:xfrm>
            <a:off x="886968" y="2606039"/>
            <a:ext cx="3703320" cy="2103120"/>
          </a:xfrm>
          <a:prstGeom prst="rect">
            <a:avLst/>
          </a:prstGeom>
          <a:noFill/>
        </p:spPr>
        <p:txBody>
          <a:bodyPr wrap="square" lIns="0" rIns="0" tIns="0" bIns="0" anchor="ctr">
            <a:spAutoFit/>
          </a:bodyPr>
          <a:lstStyle/>
          <a:p>
            <a:pPr algn="ctr">
              <a:lnSpc>
                <a:spcPct val="115000"/>
              </a:lnSpc>
            </a:pPr>
            <a:r>
              <a:rPr sz="1500" b="0">
                <a:solidFill>
                  <a:srgbClr val="4A4842"/>
                </a:solidFill>
                <a:latin typeface="Readex Pro"/>
                <a:cs typeface="Readex Pro"/>
                <a:ea typeface="Readex Pro"/>
              </a:rPr>
              <a:t>Splitting long clauses into</a:t>
            </a:r>
          </a:p>
          <a:p>
            <a:pPr algn="ctr">
              <a:lnSpc>
                <a:spcPct val="115000"/>
              </a:lnSpc>
            </a:pPr>
            <a:r>
              <a:rPr sz="1500" b="0">
                <a:solidFill>
                  <a:srgbClr val="4A4842"/>
                </a:solidFill>
                <a:latin typeface="Readex Pro"/>
                <a:cs typeface="Readex Pro"/>
                <a:ea typeface="Readex Pro"/>
              </a:rPr>
              <a:t>short sentences: read faster,</a:t>
            </a:r>
          </a:p>
          <a:p>
            <a:pPr algn="ctr">
              <a:lnSpc>
                <a:spcPct val="115000"/>
              </a:lnSpc>
            </a:pPr>
            <a:r>
              <a:rPr sz="1500" b="0">
                <a:solidFill>
                  <a:srgbClr val="4A4842"/>
                </a:solidFill>
                <a:latin typeface="Readex Pro"/>
                <a:cs typeface="Readex Pro"/>
                <a:ea typeface="Readex Pro"/>
              </a:rPr>
              <a:t>understood better, most by</a:t>
            </a:r>
          </a:p>
          <a:p>
            <a:pPr algn="ctr">
              <a:lnSpc>
                <a:spcPct val="115000"/>
              </a:lnSpc>
            </a:pPr>
            <a:r>
              <a:rPr sz="1500" b="0">
                <a:solidFill>
                  <a:srgbClr val="4A4842"/>
                </a:solidFill>
                <a:latin typeface="Readex Pro"/>
                <a:cs typeface="Readex Pro"/>
                <a:ea typeface="Readex Pro"/>
              </a:rPr>
              <a:t>the weakest readers.</a:t>
            </a:r>
          </a:p>
        </p:txBody>
      </p:sp>
      <p:sp>
        <p:nvSpPr>
          <p:cNvPr id="12" name="Rectangle 11"/>
          <p:cNvSpPr/>
          <p:nvPr/>
        </p:nvSpPr>
        <p:spPr>
          <a:xfrm>
            <a:off x="1069848" y="52395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9576" y="521208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Javourey-Bonnet 2022</a:t>
            </a:r>
          </a:p>
        </p:txBody>
      </p:sp>
      <p:sp>
        <p:nvSpPr>
          <p:cNvPr id="14" name="Rounded Rectangle 13"/>
          <p:cNvSpPr/>
          <p:nvPr/>
        </p:nvSpPr>
        <p:spPr>
          <a:xfrm>
            <a:off x="5230368" y="1737360"/>
            <a:ext cx="4343400" cy="3977639"/>
          </a:xfrm>
          <a:prstGeom prst="roundRect">
            <a:avLst>
              <a:gd name="adj" fmla="val 321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938528"/>
            <a:ext cx="4343400" cy="347472"/>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Bayan's scope</a:t>
            </a:r>
          </a:p>
        </p:txBody>
      </p:sp>
      <p:sp>
        <p:nvSpPr>
          <p:cNvPr id="16" name="Rounded Rectangle 15"/>
          <p:cNvSpPr/>
          <p:nvPr/>
        </p:nvSpPr>
        <p:spPr>
          <a:xfrm>
            <a:off x="6034658" y="2788920"/>
            <a:ext cx="2734818" cy="397764"/>
          </a:xfrm>
          <a:prstGeom prst="roundRect">
            <a:avLst>
              <a:gd name="adj" fmla="val 2068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8A5E35"/>
                </a:solidFill>
                <a:latin typeface="Readex Pro"/>
                <a:cs typeface="Readex Pro"/>
                <a:ea typeface="Readex Pro"/>
              </a:rPr>
              <a:t>we reduce reading load</a:t>
            </a:r>
          </a:p>
        </p:txBody>
      </p:sp>
      <p:sp>
        <p:nvSpPr>
          <p:cNvPr id="17" name="Rounded Rectangle 16"/>
          <p:cNvSpPr/>
          <p:nvPr/>
        </p:nvSpPr>
        <p:spPr>
          <a:xfrm>
            <a:off x="5963284" y="3429000"/>
            <a:ext cx="2877566" cy="381000"/>
          </a:xfrm>
          <a:prstGeom prst="roundRect">
            <a:avLst>
              <a:gd name="adj" fmla="val 2159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long clauses · hard words</a:t>
            </a:r>
          </a:p>
        </p:txBody>
      </p:sp>
      <p:sp>
        <p:nvSpPr>
          <p:cNvPr id="18" name="Rounded Rectangle 17"/>
          <p:cNvSpPr/>
          <p:nvPr/>
        </p:nvSpPr>
        <p:spPr>
          <a:xfrm>
            <a:off x="5662739" y="4069079"/>
            <a:ext cx="3478657"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B5533C"/>
                </a:solidFill>
                <a:latin typeface="Readex Pro"/>
                <a:cs typeface="Readex Pro"/>
                <a:ea typeface="Readex Pro"/>
              </a:rPr>
              <a:t>not decoding · no reader claim yet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Rounded Rectangle 8"/>
          <p:cNvSpPr/>
          <p:nvPr/>
        </p:nvSpPr>
        <p:spPr>
          <a:xfrm>
            <a:off x="56692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SAMER · human-written</a:t>
            </a:r>
          </a:p>
        </p:txBody>
      </p:sp>
      <p:sp>
        <p:nvSpPr>
          <p:cNvPr id="11" name="Rounded Rectangle 10"/>
          <p:cNvSpPr/>
          <p:nvPr/>
        </p:nvSpPr>
        <p:spPr>
          <a:xfrm>
            <a:off x="1501203" y="2743200"/>
            <a:ext cx="2474849"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novels, short sentences</a:t>
            </a:r>
          </a:p>
        </p:txBody>
      </p:sp>
      <p:sp>
        <p:nvSpPr>
          <p:cNvPr id="12" name="Rounded Rectangle 11"/>
          <p:cNvSpPr/>
          <p:nvPr/>
        </p:nvSpPr>
        <p:spPr>
          <a:xfrm>
            <a:off x="1388109" y="3520440"/>
            <a:ext cx="2701036"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42–49% of pairs unchanged</a:t>
            </a:r>
          </a:p>
        </p:txBody>
      </p:sp>
      <p:sp>
        <p:nvSpPr>
          <p:cNvPr id="13" name="Rounded Rectangle 12"/>
          <p:cNvSpPr/>
          <p:nvPr/>
        </p:nvSpPr>
        <p:spPr>
          <a:xfrm>
            <a:off x="827881" y="4297680"/>
            <a:ext cx="3821493" cy="339090"/>
          </a:xfrm>
          <a:prstGeom prst="roundRect">
            <a:avLst>
              <a:gd name="adj" fmla="val 2426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length ratio 1.00: swaps words, never splits</a:t>
            </a:r>
          </a:p>
        </p:txBody>
      </p:sp>
      <p:sp>
        <p:nvSpPr>
          <p:cNvPr id="14" name="Rounded Rectangle 13"/>
          <p:cNvSpPr/>
          <p:nvPr/>
        </p:nvSpPr>
        <p:spPr>
          <a:xfrm>
            <a:off x="523036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Other sources · LLM-written</a:t>
            </a:r>
          </a:p>
        </p:txBody>
      </p:sp>
      <p:sp>
        <p:nvSpPr>
          <p:cNvPr id="16" name="Rounded Rectangle 15"/>
          <p:cNvSpPr/>
          <p:nvPr/>
        </p:nvSpPr>
        <p:spPr>
          <a:xfrm>
            <a:off x="5931852" y="2743200"/>
            <a:ext cx="29404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many targets are summaries</a:t>
            </a:r>
          </a:p>
        </p:txBody>
      </p:sp>
      <p:sp>
        <p:nvSpPr>
          <p:cNvPr id="17" name="Rounded Rectangle 16"/>
          <p:cNvSpPr/>
          <p:nvPr/>
        </p:nvSpPr>
        <p:spPr>
          <a:xfrm>
            <a:off x="5823711" y="3520440"/>
            <a:ext cx="3156712"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they drop facts, delete options</a:t>
            </a:r>
          </a:p>
        </p:txBody>
      </p:sp>
      <p:sp>
        <p:nvSpPr>
          <p:cNvPr id="18" name="Rounded Rectangle 17"/>
          <p:cNvSpPr/>
          <p:nvPr/>
        </p:nvSpPr>
        <p:spPr>
          <a:xfrm>
            <a:off x="5684202" y="4297680"/>
            <a:ext cx="34357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after a meaning filter: 6,888 pairs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corpus v0, our first synthetic data</a:t>
            </a:r>
          </a:p>
        </p:txBody>
      </p:sp>
      <p:sp>
        <p:nvSpPr>
          <p:cNvPr id="10" name="Rounded Rectangle 9"/>
          <p:cNvSpPr/>
          <p:nvPr/>
        </p:nvSpPr>
        <p:spPr>
          <a:xfrm>
            <a:off x="7452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DeepSeek: 5 candidates</a:t>
            </a:r>
          </a:p>
          <a:p>
            <a:pPr algn="ctr"/>
            <a:r>
              <a:rPr sz="1200" b="0">
                <a:solidFill>
                  <a:srgbClr val="4A4842"/>
                </a:solidFill>
                <a:latin typeface="Readex Pro"/>
                <a:cs typeface="Readex Pro"/>
                <a:ea typeface="Readex Pro"/>
              </a:rPr>
              <a:t>per source</a:t>
            </a:r>
          </a:p>
        </p:txBody>
      </p:sp>
      <p:sp>
        <p:nvSpPr>
          <p:cNvPr id="11" name="Rounded Rectangle 10"/>
          <p:cNvSpPr/>
          <p:nvPr/>
        </p:nvSpPr>
        <p:spPr>
          <a:xfrm>
            <a:off x="37170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LLM equivalence</a:t>
            </a:r>
          </a:p>
          <a:p>
            <a:pPr algn="ctr"/>
            <a:r>
              <a:rPr sz="1200" b="0">
                <a:solidFill>
                  <a:srgbClr val="4A4842"/>
                </a:solidFill>
                <a:latin typeface="Readex Pro"/>
                <a:cs typeface="Readex Pro"/>
                <a:ea typeface="Readex Pro"/>
              </a:rPr>
              <a:t>validator</a:t>
            </a:r>
          </a:p>
        </p:txBody>
      </p:sp>
      <p:cxnSp>
        <p:nvCxnSpPr>
          <p:cNvPr id="12" name="Connector 11"/>
          <p:cNvCxnSpPr/>
          <p:nvPr/>
        </p:nvCxnSpPr>
        <p:spPr>
          <a:xfrm>
            <a:off x="32141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6888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CAMeL readability</a:t>
            </a:r>
          </a:p>
          <a:p>
            <a:pPr algn="ctr"/>
            <a:r>
              <a:rPr sz="1200" b="0">
                <a:solidFill>
                  <a:srgbClr val="4A4842"/>
                </a:solidFill>
                <a:latin typeface="Readex Pro"/>
                <a:cs typeface="Readex Pro"/>
                <a:ea typeface="Readex Pro"/>
              </a:rPr>
              <a:t>gate</a:t>
            </a:r>
          </a:p>
        </p:txBody>
      </p:sp>
      <p:cxnSp>
        <p:nvCxnSpPr>
          <p:cNvPr id="14" name="Connector 13"/>
          <p:cNvCxnSpPr/>
          <p:nvPr/>
        </p:nvCxnSpPr>
        <p:spPr>
          <a:xfrm>
            <a:off x="61859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6928" y="2971800"/>
            <a:ext cx="8769096" cy="347472"/>
          </a:xfrm>
          <a:prstGeom prst="rect">
            <a:avLst/>
          </a:prstGeom>
          <a:noFill/>
        </p:spPr>
        <p:txBody>
          <a:bodyPr wrap="square" lIns="0" rIns="0" tIns="0" bIns="0" anchor="ctr">
            <a:spAutoFit/>
          </a:bodyPr>
          <a:lstStyle/>
          <a:p>
            <a:pPr algn="l"/>
            <a:r>
              <a:rPr sz="1700" b="1">
                <a:solidFill>
                  <a:srgbClr val="282824"/>
                </a:solidFill>
                <a:latin typeface="Readex Pro"/>
                <a:cs typeface="Readex Pro"/>
                <a:ea typeface="Readex Pro"/>
              </a:rPr>
              <a:t>What the audit found</a:t>
            </a:r>
          </a:p>
        </p:txBody>
      </p:sp>
      <p:sp>
        <p:nvSpPr>
          <p:cNvPr id="16" name="Rounded Rectangle 15"/>
          <p:cNvSpPr/>
          <p:nvPr/>
        </p:nvSpPr>
        <p:spPr>
          <a:xfrm>
            <a:off x="566928" y="3401568"/>
            <a:ext cx="2659761"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57% of rows had tashkeel</a:t>
            </a:r>
          </a:p>
        </p:txBody>
      </p:sp>
      <p:sp>
        <p:nvSpPr>
          <p:cNvPr id="17" name="Rounded Rectangle 16"/>
          <p:cNvSpPr/>
          <p:nvPr/>
        </p:nvSpPr>
        <p:spPr>
          <a:xfrm>
            <a:off x="566928" y="3877056"/>
            <a:ext cx="4485767"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63% of cut-off sources were simply completed</a:t>
            </a:r>
          </a:p>
        </p:txBody>
      </p:sp>
      <p:sp>
        <p:nvSpPr>
          <p:cNvPr id="18" name="Rounded Rectangle 17"/>
          <p:cNvSpPr/>
          <p:nvPr/>
        </p:nvSpPr>
        <p:spPr>
          <a:xfrm>
            <a:off x="566928" y="4352544"/>
            <a:ext cx="3843528"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only 43% of pairs were 2+ levels easier</a:t>
            </a:r>
          </a:p>
        </p:txBody>
      </p:sp>
      <p:sp>
        <p:nvSpPr>
          <p:cNvPr id="19" name="Rounded Rectangle 18"/>
          <p:cNvSpPr/>
          <p:nvPr/>
        </p:nvSpPr>
        <p:spPr>
          <a:xfrm>
            <a:off x="566928" y="5029200"/>
            <a:ext cx="7021067"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the validator accepted 34% of planted added sentences · we trained nothing on v0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FROM THE SOURCE</a:t>
            </a:r>
          </a:p>
        </p:txBody>
      </p:sp>
      <p:sp>
        <p:nvSpPr>
          <p:cNvPr id="10" name="Rounded Rectangle 9"/>
          <p:cNvSpPr/>
          <p:nvPr/>
        </p:nvSpPr>
        <p:spPr>
          <a:xfrm>
            <a:off x="56692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BAREC train + dev</a:t>
            </a:r>
          </a:p>
        </p:txBody>
      </p:sp>
      <p:sp>
        <p:nvSpPr>
          <p:cNvPr id="12" name="TextBox 11"/>
          <p:cNvSpPr txBox="1"/>
          <p:nvPr/>
        </p:nvSpPr>
        <p:spPr>
          <a:xfrm>
            <a:off x="67665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test never enters</a:t>
            </a:r>
          </a:p>
        </p:txBody>
      </p:sp>
      <p:sp>
        <p:nvSpPr>
          <p:cNvPr id="13" name="Rounded Rectangle 12"/>
          <p:cNvSpPr/>
          <p:nvPr/>
        </p:nvSpPr>
        <p:spPr>
          <a:xfrm>
            <a:off x="56692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strip tashkeel and tatweel</a:t>
            </a:r>
          </a:p>
        </p:txBody>
      </p:sp>
      <p:sp>
        <p:nvSpPr>
          <p:cNvPr id="15" name="TextBox 14"/>
          <p:cNvSpPr txBox="1"/>
          <p:nvPr/>
        </p:nvSpPr>
        <p:spPr>
          <a:xfrm>
            <a:off x="67665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every text</a:t>
            </a:r>
          </a:p>
        </p:txBody>
      </p:sp>
      <p:cxnSp>
        <p:nvCxnSpPr>
          <p:cNvPr id="16" name="Connector 15"/>
          <p:cNvCxnSpPr/>
          <p:nvPr/>
        </p:nvCxnSpPr>
        <p:spPr>
          <a:xfrm>
            <a:off x="2738628"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route each source</a:t>
            </a:r>
          </a:p>
        </p:txBody>
      </p:sp>
      <p:sp>
        <p:nvSpPr>
          <p:cNvPr id="19" name="TextBox 18"/>
          <p:cNvSpPr txBox="1"/>
          <p:nvPr/>
        </p:nvSpPr>
        <p:spPr>
          <a:xfrm>
            <a:off x="67665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protected · short · hard  →  23,221 hard</a:t>
            </a:r>
          </a:p>
        </p:txBody>
      </p:sp>
      <p:cxnSp>
        <p:nvCxnSpPr>
          <p:cNvPr id="20" name="Connector 19"/>
          <p:cNvCxnSpPr/>
          <p:nvPr/>
        </p:nvCxnSpPr>
        <p:spPr>
          <a:xfrm>
            <a:off x="2738628"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23036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INTO THE CORPUS</a:t>
            </a:r>
          </a:p>
        </p:txBody>
      </p:sp>
      <p:sp>
        <p:nvSpPr>
          <p:cNvPr id="22" name="Rounded Rectangle 21"/>
          <p:cNvSpPr/>
          <p:nvPr/>
        </p:nvSpPr>
        <p:spPr>
          <a:xfrm>
            <a:off x="523036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009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Gemma 4 31B writes candidates</a:t>
            </a:r>
          </a:p>
        </p:txBody>
      </p:sp>
      <p:sp>
        <p:nvSpPr>
          <p:cNvPr id="24" name="TextBox 23"/>
          <p:cNvSpPr txBox="1"/>
          <p:nvPr/>
        </p:nvSpPr>
        <p:spPr>
          <a:xfrm>
            <a:off x="534009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hard band only  →  23,205 responses</a:t>
            </a:r>
          </a:p>
        </p:txBody>
      </p:sp>
      <p:sp>
        <p:nvSpPr>
          <p:cNvPr id="25" name="Rounded Rectangle 24"/>
          <p:cNvSpPr/>
          <p:nvPr/>
        </p:nvSpPr>
        <p:spPr>
          <a:xfrm>
            <a:off x="523036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009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code gates</a:t>
            </a:r>
          </a:p>
        </p:txBody>
      </p:sp>
      <p:sp>
        <p:nvSpPr>
          <p:cNvPr id="27" name="TextBox 26"/>
          <p:cNvSpPr txBox="1"/>
          <p:nvPr/>
        </p:nvSpPr>
        <p:spPr>
          <a:xfrm>
            <a:off x="534009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numbers · quotes · options</a:t>
            </a:r>
          </a:p>
        </p:txBody>
      </p:sp>
      <p:cxnSp>
        <p:nvCxnSpPr>
          <p:cNvPr id="28" name="Connector 27"/>
          <p:cNvCxnSpPr/>
          <p:nvPr/>
        </p:nvCxnSpPr>
        <p:spPr>
          <a:xfrm>
            <a:off x="7402067"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23036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009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readability + meaning gates</a:t>
            </a:r>
          </a:p>
        </p:txBody>
      </p:sp>
      <p:sp>
        <p:nvSpPr>
          <p:cNvPr id="31" name="TextBox 30"/>
          <p:cNvSpPr txBox="1"/>
          <p:nvPr/>
        </p:nvSpPr>
        <p:spPr>
          <a:xfrm>
            <a:off x="534009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 2 levels · meaning gate  →  10,693 accepted</a:t>
            </a:r>
          </a:p>
        </p:txBody>
      </p:sp>
      <p:cxnSp>
        <p:nvCxnSpPr>
          <p:cNvPr id="32" name="Connector 31"/>
          <p:cNvCxnSpPr/>
          <p:nvPr/>
        </p:nvCxnSpPr>
        <p:spPr>
          <a:xfrm>
            <a:off x="7402067"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554480"/>
            <a:ext cx="8769096" cy="274320"/>
          </a:xfrm>
          <a:prstGeom prst="rect">
            <a:avLst/>
          </a:prstGeom>
          <a:noFill/>
        </p:spPr>
        <p:txBody>
          <a:bodyPr wrap="square" lIns="0" rIns="0" tIns="0" bIns="0" anchor="ctr">
            <a:spAutoFit/>
          </a:bodyPr>
          <a:lstStyle/>
          <a:p>
            <a:pPr algn="ctr"/>
            <a:r>
              <a:rPr sz="1300" b="0">
                <a:solidFill>
                  <a:srgbClr val="6F6B5E"/>
                </a:solidFill>
                <a:latin typeface="Readex Pro"/>
                <a:cs typeface="Readex Pro"/>
                <a:ea typeface="Readex Pro"/>
              </a:rPr>
              <a:t>from the source  →  into the corpus</a:t>
            </a:r>
          </a:p>
        </p:txBody>
      </p:sp>
      <p:sp>
        <p:nvSpPr>
          <p:cNvPr id="10" name="Rounded Rectangle 9"/>
          <p:cNvSpPr/>
          <p:nvPr/>
        </p:nvSpPr>
        <p:spPr>
          <a:xfrm>
            <a:off x="566928" y="2148840"/>
            <a:ext cx="4663440" cy="1143000"/>
          </a:xfrm>
          <a:prstGeom prst="roundRect">
            <a:avLst>
              <a:gd name="adj" fmla="val 9600"/>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313432"/>
            <a:ext cx="4663440" cy="502920"/>
          </a:xfrm>
          <a:prstGeom prst="rect">
            <a:avLst/>
          </a:prstGeom>
          <a:noFill/>
        </p:spPr>
        <p:txBody>
          <a:bodyPr wrap="square" lIns="0" rIns="0" tIns="0" bIns="0" anchor="ctr">
            <a:spAutoFit/>
          </a:bodyPr>
          <a:lstStyle/>
          <a:p>
            <a:pPr algn="ctr"/>
            <a:r>
              <a:rPr sz="3000" b="1">
                <a:solidFill>
                  <a:srgbClr val="8A5E35"/>
                </a:solidFill>
                <a:latin typeface="Readex Pro"/>
                <a:cs typeface="Readex Pro"/>
                <a:ea typeface="Readex Pro"/>
              </a:rPr>
              <a:t>14,975 rows</a:t>
            </a:r>
          </a:p>
        </p:txBody>
      </p:sp>
      <p:sp>
        <p:nvSpPr>
          <p:cNvPr id="12" name="TextBox 11"/>
          <p:cNvSpPr txBox="1"/>
          <p:nvPr/>
        </p:nvSpPr>
        <p:spPr>
          <a:xfrm>
            <a:off x="566928" y="2862072"/>
            <a:ext cx="4663440" cy="274320"/>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0 rule violations · 0 leakage vs BAREC test</a:t>
            </a:r>
          </a:p>
        </p:txBody>
      </p:sp>
      <p:sp>
        <p:nvSpPr>
          <p:cNvPr id="13" name="Rounded Rectangle 12"/>
          <p:cNvSpPr/>
          <p:nvPr/>
        </p:nvSpPr>
        <p:spPr>
          <a:xfrm>
            <a:off x="5596128" y="2331720"/>
            <a:ext cx="2827782" cy="615696"/>
          </a:xfrm>
          <a:prstGeom prst="roundRect">
            <a:avLst>
              <a:gd name="adj" fmla="val 13366"/>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blind audit of 1,039 pairs:</a:t>
            </a:r>
          </a:p>
          <a:p>
            <a:pPr algn="ctr"/>
            <a:r>
              <a:rPr sz="1400" b="0">
                <a:solidFill>
                  <a:srgbClr val="4A4842"/>
                </a:solidFill>
                <a:latin typeface="Readex Pro"/>
                <a:cs typeface="Readex Pro"/>
                <a:ea typeface="Readex Pro"/>
              </a:rPr>
              <a:t>1.7% meaning changed</a:t>
            </a:r>
          </a:p>
        </p:txBody>
      </p:sp>
      <p:sp>
        <p:nvSpPr>
          <p:cNvPr id="14" name="Rounded Rectangle 13"/>
          <p:cNvSpPr/>
          <p:nvPr/>
        </p:nvSpPr>
        <p:spPr>
          <a:xfrm>
            <a:off x="1920493" y="3977639"/>
            <a:ext cx="6061964" cy="381000"/>
          </a:xfrm>
          <a:prstGeom prst="roundRect">
            <a:avLst>
              <a:gd name="adj" fmla="val 21599"/>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1">
                <a:solidFill>
                  <a:srgbClr val="8A5E35"/>
                </a:solidFill>
                <a:latin typeface="Readex Pro"/>
                <a:cs typeface="Readex Pro"/>
                <a:ea typeface="Readex Pro"/>
              </a:rPr>
              <a:t>every gate in corpus v1 exists because of a failure we saw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cxnSp>
        <p:nvCxnSpPr>
          <p:cNvPr id="14" name="Connector 13"/>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6" name="Rounded Rectangle 15"/>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7" name="Rounded Rectangle 16"/>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8" name="Rounded Rectangle 17"/>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
        <p:nvSpPr>
          <p:cNvPr id="14" name="TextBox 13"/>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5" name="Rounded Rectangle 14"/>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6" name="Rounded Rectangle 15"/>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7" name="Rounded Rectangle 16"/>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cxnSp>
        <p:nvCxnSpPr>
          <p:cNvPr id="19" name="Connector 18"/>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4885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corpus v1</a:t>
            </a:r>
          </a:p>
        </p:txBody>
      </p:sp>
      <p:sp>
        <p:nvSpPr>
          <p:cNvPr id="21" name="Rounded Rectangle 20"/>
          <p:cNvSpPr/>
          <p:nvPr/>
        </p:nvSpPr>
        <p:spPr>
          <a:xfrm>
            <a:off x="6848856" y="2221991"/>
            <a:ext cx="2788920" cy="475488"/>
          </a:xfrm>
          <a:prstGeom prst="roundRect">
            <a:avLst>
              <a:gd name="adj" fmla="val 1923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1A1A14"/>
                </a:solidFill>
                <a:latin typeface="Readex Pro"/>
                <a:cs typeface="Readex Pro"/>
                <a:ea typeface="Readex Pro"/>
              </a:rPr>
              <a:t>v0.3</a:t>
            </a:r>
          </a:p>
        </p:txBody>
      </p:sp>
      <p:sp>
        <p:nvSpPr>
          <p:cNvPr id="22" name="Rounded Rectangle 21"/>
          <p:cNvSpPr/>
          <p:nvPr/>
        </p:nvSpPr>
        <p:spPr>
          <a:xfrm>
            <a:off x="684885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corpus v1, 14,975 rows,</a:t>
            </a:r>
          </a:p>
          <a:p>
            <a:pPr algn="ctr"/>
            <a:r>
              <a:rPr sz="1200" b="0">
                <a:solidFill>
                  <a:srgbClr val="4A4842"/>
                </a:solidFill>
                <a:latin typeface="Readex Pro"/>
                <a:cs typeface="Readex Pro"/>
                <a:ea typeface="Readex Pro"/>
              </a:rPr>
              <a:t>no tag</a:t>
            </a:r>
          </a:p>
        </p:txBody>
      </p:sp>
      <p:sp>
        <p:nvSpPr>
          <p:cNvPr id="23" name="Rounded Rectangle 22"/>
          <p:cNvSpPr/>
          <p:nvPr/>
        </p:nvSpPr>
        <p:spPr>
          <a:xfrm>
            <a:off x="684885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5858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Our best: cuts 9.5 words from the</a:t>
            </a:r>
          </a:p>
          <a:p>
            <a:pPr algn="ctr">
              <a:lnSpc>
                <a:spcPct val="108000"/>
              </a:lnSpc>
            </a:pPr>
            <a:r>
              <a:rPr sz="1150" b="0">
                <a:solidFill>
                  <a:srgbClr val="B5533C"/>
                </a:solidFill>
                <a:latin typeface="Readex Pro"/>
                <a:cs typeface="Readex Pro"/>
                <a:ea typeface="Readex Pro"/>
              </a:rPr>
              <a:t>longest clause vs 4.5, with about</a:t>
            </a:r>
          </a:p>
          <a:p>
            <a:pPr algn="ctr">
              <a:lnSpc>
                <a:spcPct val="108000"/>
              </a:lnSpc>
            </a:pPr>
            <a:r>
              <a:rPr sz="1150" b="0">
                <a:solidFill>
                  <a:srgbClr val="B5533C"/>
                </a:solidFill>
                <a:latin typeface="Readex Pro"/>
                <a:cs typeface="Readex Pro"/>
                <a:ea typeface="Readex Pro"/>
              </a:rPr>
              <a:t>the same meaning (vs v0.2, no tag).</a:t>
            </a:r>
          </a:p>
        </p:txBody>
      </p:sp>
      <p:cxnSp>
        <p:nvCxnSpPr>
          <p:cNvPr id="25" name="Connector 24"/>
          <p:cNvCxnSpPr/>
          <p:nvPr/>
        </p:nvCxnSpPr>
        <p:spPr>
          <a:xfrm>
            <a:off x="640080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5532120"/>
            <a:ext cx="1463040" cy="256032"/>
          </a:xfrm>
          <a:prstGeom prst="rect">
            <a:avLst/>
          </a:prstGeom>
          <a:noFill/>
        </p:spPr>
        <p:txBody>
          <a:bodyPr wrap="square" lIns="0" rIns="0" tIns="0" bIns="0" anchor="ctr">
            <a:spAutoFit/>
          </a:bodyPr>
          <a:lstStyle/>
          <a:p>
            <a:pPr algn="l"/>
            <a:r>
              <a:rPr sz="1100" b="0">
                <a:solidFill>
                  <a:srgbClr val="6F6B5E"/>
                </a:solidFill>
                <a:latin typeface="Readex Pro"/>
                <a:cs typeface="Readex Pro"/>
                <a:ea typeface="Readex Pro"/>
              </a:rPr>
              <a:t>Tried and dropped:</a:t>
            </a:r>
          </a:p>
        </p:txBody>
      </p:sp>
      <p:sp>
        <p:nvSpPr>
          <p:cNvPr id="27" name="Rounded Rectangle 26"/>
          <p:cNvSpPr/>
          <p:nvPr/>
        </p:nvSpPr>
        <p:spPr>
          <a:xfrm>
            <a:off x="2075688" y="5513832"/>
            <a:ext cx="1375155"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student DPO</a:t>
            </a:r>
          </a:p>
        </p:txBody>
      </p:sp>
      <p:sp>
        <p:nvSpPr>
          <p:cNvPr id="28" name="Rounded Rectangle 27"/>
          <p:cNvSpPr/>
          <p:nvPr/>
        </p:nvSpPr>
        <p:spPr>
          <a:xfrm>
            <a:off x="3661155" y="5513832"/>
            <a:ext cx="2026158"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minimum-risk training</a:t>
            </a:r>
          </a:p>
        </p:txBody>
      </p:sp>
      <p:sp>
        <p:nvSpPr>
          <p:cNvPr id="29" name="Rounded Rectangle 28"/>
          <p:cNvSpPr/>
          <p:nvPr/>
        </p:nvSpPr>
        <p:spPr>
          <a:xfrm>
            <a:off x="5897626" y="5513832"/>
            <a:ext cx="1552574"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fluency retrain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566928" y="1481328"/>
            <a:ext cx="6035040" cy="384048"/>
          </a:xfrm>
          <a:prstGeom prst="rect">
            <a:avLst/>
          </a:prstGeom>
          <a:noFill/>
        </p:spPr>
        <p:txBody>
          <a:bodyPr wrap="square" lIns="0" rIns="0" tIns="0" bIns="0" anchor="ctr">
            <a:spAutoFit/>
          </a:bodyPr>
          <a:lstStyle/>
          <a:p>
            <a:pPr algn="l"/>
            <a:r>
              <a:rPr sz="2000" b="1">
                <a:solidFill>
                  <a:srgbClr val="282824"/>
                </a:solidFill>
                <a:latin typeface="Readex Pro"/>
                <a:cs typeface="Readex Pro"/>
                <a:ea typeface="Readex Pro"/>
              </a:rPr>
              <a:t>Copying is the baseline to beat</a:t>
            </a:r>
          </a:p>
        </p:txBody>
      </p:sp>
      <p:sp>
        <p:nvSpPr>
          <p:cNvPr id="10" name="TextBox 9"/>
          <p:cNvSpPr txBox="1"/>
          <p:nvPr/>
        </p:nvSpPr>
        <p:spPr>
          <a:xfrm>
            <a:off x="3675887" y="1938528"/>
            <a:ext cx="1188720" cy="256032"/>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meaning kept</a:t>
            </a:r>
          </a:p>
        </p:txBody>
      </p:sp>
      <p:sp>
        <p:nvSpPr>
          <p:cNvPr id="11" name="TextBox 10"/>
          <p:cNvSpPr txBox="1"/>
          <p:nvPr/>
        </p:nvSpPr>
        <p:spPr>
          <a:xfrm>
            <a:off x="5001768" y="1938528"/>
            <a:ext cx="1554480" cy="256032"/>
          </a:xfrm>
          <a:prstGeom prst="rect">
            <a:avLst/>
          </a:prstGeom>
          <a:noFill/>
        </p:spPr>
        <p:txBody>
          <a:bodyPr wrap="square" lIns="0" rIns="0" tIns="0" bIns="0" anchor="ctr">
            <a:spAutoFit/>
          </a:bodyPr>
          <a:lstStyle/>
          <a:p>
            <a:pPr algn="ctr">
              <a:lnSpc>
                <a:spcPct val="95000"/>
              </a:lnSpc>
            </a:pPr>
            <a:r>
              <a:rPr sz="1050" b="0">
                <a:solidFill>
                  <a:srgbClr val="6F6B5E"/>
                </a:solidFill>
                <a:latin typeface="Readex Pro"/>
                <a:cs typeface="Readex Pro"/>
                <a:ea typeface="Readex Pro"/>
              </a:rPr>
              <a:t>words cut from</a:t>
            </a:r>
          </a:p>
          <a:p>
            <a:pPr algn="ctr">
              <a:lnSpc>
                <a:spcPct val="95000"/>
              </a:lnSpc>
            </a:pPr>
            <a:r>
              <a:rPr sz="1050" b="0">
                <a:solidFill>
                  <a:srgbClr val="6F6B5E"/>
                </a:solidFill>
                <a:latin typeface="Readex Pro"/>
                <a:cs typeface="Readex Pro"/>
                <a:ea typeface="Readex Pro"/>
              </a:rPr>
              <a:t>the longest clause</a:t>
            </a:r>
          </a:p>
        </p:txBody>
      </p:sp>
      <p:sp>
        <p:nvSpPr>
          <p:cNvPr id="12" name="Rounded Rectangle 11"/>
          <p:cNvSpPr/>
          <p:nvPr/>
        </p:nvSpPr>
        <p:spPr>
          <a:xfrm>
            <a:off x="566928" y="2286000"/>
            <a:ext cx="6126480" cy="402336"/>
          </a:xfrm>
          <a:prstGeom prst="roundRect">
            <a:avLst>
              <a:gd name="adj" fmla="val 18181"/>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40864"/>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Copy the input</a:t>
            </a:r>
          </a:p>
        </p:txBody>
      </p:sp>
      <p:sp>
        <p:nvSpPr>
          <p:cNvPr id="14" name="TextBox 13"/>
          <p:cNvSpPr txBox="1"/>
          <p:nvPr/>
        </p:nvSpPr>
        <p:spPr>
          <a:xfrm>
            <a:off x="3675887" y="2340864"/>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100%</a:t>
            </a:r>
          </a:p>
        </p:txBody>
      </p:sp>
      <p:sp>
        <p:nvSpPr>
          <p:cNvPr id="15" name="TextBox 14"/>
          <p:cNvSpPr txBox="1"/>
          <p:nvPr/>
        </p:nvSpPr>
        <p:spPr>
          <a:xfrm>
            <a:off x="5001768" y="2340864"/>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16" name="Rounded Rectangle 15"/>
          <p:cNvSpPr/>
          <p:nvPr/>
        </p:nvSpPr>
        <p:spPr>
          <a:xfrm>
            <a:off x="566928" y="2761488"/>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16352"/>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v0.1</a:t>
            </a:r>
          </a:p>
        </p:txBody>
      </p:sp>
      <p:sp>
        <p:nvSpPr>
          <p:cNvPr id="18" name="TextBox 17"/>
          <p:cNvSpPr txBox="1"/>
          <p:nvPr/>
        </p:nvSpPr>
        <p:spPr>
          <a:xfrm>
            <a:off x="3675887" y="2816352"/>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76%</a:t>
            </a:r>
          </a:p>
        </p:txBody>
      </p:sp>
      <p:sp>
        <p:nvSpPr>
          <p:cNvPr id="19" name="TextBox 18"/>
          <p:cNvSpPr txBox="1"/>
          <p:nvPr/>
        </p:nvSpPr>
        <p:spPr>
          <a:xfrm>
            <a:off x="5001768" y="2816352"/>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20" name="Rounded Rectangle 19"/>
          <p:cNvSpPr/>
          <p:nvPr/>
        </p:nvSpPr>
        <p:spPr>
          <a:xfrm>
            <a:off x="566928" y="3236976"/>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291840"/>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 (AraT5v2)</a:t>
            </a:r>
          </a:p>
        </p:txBody>
      </p:sp>
      <p:sp>
        <p:nvSpPr>
          <p:cNvPr id="22" name="TextBox 21"/>
          <p:cNvSpPr txBox="1"/>
          <p:nvPr/>
        </p:nvSpPr>
        <p:spPr>
          <a:xfrm>
            <a:off x="3675887" y="3291840"/>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68%</a:t>
            </a:r>
          </a:p>
        </p:txBody>
      </p:sp>
      <p:sp>
        <p:nvSpPr>
          <p:cNvPr id="23" name="TextBox 22"/>
          <p:cNvSpPr txBox="1"/>
          <p:nvPr/>
        </p:nvSpPr>
        <p:spPr>
          <a:xfrm>
            <a:off x="5001768" y="3291840"/>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4.5</a:t>
            </a:r>
          </a:p>
        </p:txBody>
      </p:sp>
      <p:sp>
        <p:nvSpPr>
          <p:cNvPr id="24" name="Rounded Rectangle 23"/>
          <p:cNvSpPr/>
          <p:nvPr/>
        </p:nvSpPr>
        <p:spPr>
          <a:xfrm>
            <a:off x="566928" y="3712464"/>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767328"/>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 (AraBART)</a:t>
            </a:r>
          </a:p>
        </p:txBody>
      </p:sp>
      <p:sp>
        <p:nvSpPr>
          <p:cNvPr id="26" name="TextBox 25"/>
          <p:cNvSpPr txBox="1"/>
          <p:nvPr/>
        </p:nvSpPr>
        <p:spPr>
          <a:xfrm>
            <a:off x="3675887" y="3767328"/>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51%</a:t>
            </a:r>
          </a:p>
        </p:txBody>
      </p:sp>
      <p:sp>
        <p:nvSpPr>
          <p:cNvPr id="27" name="TextBox 26"/>
          <p:cNvSpPr txBox="1"/>
          <p:nvPr/>
        </p:nvSpPr>
        <p:spPr>
          <a:xfrm>
            <a:off x="5001768" y="3767328"/>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4.9</a:t>
            </a:r>
          </a:p>
        </p:txBody>
      </p:sp>
      <p:sp>
        <p:nvSpPr>
          <p:cNvPr id="28" name="Rounded Rectangle 27"/>
          <p:cNvSpPr/>
          <p:nvPr/>
        </p:nvSpPr>
        <p:spPr>
          <a:xfrm>
            <a:off x="566928" y="4187952"/>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242816"/>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30" name="TextBox 29"/>
          <p:cNvSpPr txBox="1"/>
          <p:nvPr/>
        </p:nvSpPr>
        <p:spPr>
          <a:xfrm>
            <a:off x="3675887" y="4242816"/>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69%</a:t>
            </a:r>
          </a:p>
        </p:txBody>
      </p:sp>
      <p:sp>
        <p:nvSpPr>
          <p:cNvPr id="31" name="TextBox 30"/>
          <p:cNvSpPr txBox="1"/>
          <p:nvPr/>
        </p:nvSpPr>
        <p:spPr>
          <a:xfrm>
            <a:off x="5001768" y="4242816"/>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9.5</a:t>
            </a:r>
          </a:p>
        </p:txBody>
      </p:sp>
      <p:sp>
        <p:nvSpPr>
          <p:cNvPr id="32" name="TextBox 31"/>
          <p:cNvSpPr txBox="1"/>
          <p:nvPr/>
        </p:nvSpPr>
        <p:spPr>
          <a:xfrm>
            <a:off x="566928" y="4892040"/>
            <a:ext cx="6126480" cy="256032"/>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test core items, as trained · words cut = longest clause, before minus after</a:t>
            </a:r>
          </a:p>
        </p:txBody>
      </p:sp>
      <p:sp>
        <p:nvSpPr>
          <p:cNvPr id="33" name="Rounded Rectangle 32"/>
          <p:cNvSpPr/>
          <p:nvPr/>
        </p:nvSpPr>
        <p:spPr>
          <a:xfrm>
            <a:off x="7013448" y="2286000"/>
            <a:ext cx="2331720" cy="2606040"/>
          </a:xfrm>
          <a:prstGeom prst="roundRect">
            <a:avLst>
              <a:gd name="adj" fmla="val 4705"/>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13448" y="2606040"/>
            <a:ext cx="2331720" cy="548640"/>
          </a:xfrm>
          <a:prstGeom prst="rect">
            <a:avLst/>
          </a:prstGeom>
          <a:noFill/>
        </p:spPr>
        <p:txBody>
          <a:bodyPr wrap="square" lIns="0" rIns="0" tIns="0" bIns="0" anchor="ctr">
            <a:spAutoFit/>
          </a:bodyPr>
          <a:lstStyle/>
          <a:p>
            <a:pPr algn="ctr"/>
            <a:r>
              <a:rPr sz="3200" b="1">
                <a:solidFill>
                  <a:srgbClr val="8A5E35"/>
                </a:solidFill>
                <a:latin typeface="Readex Pro"/>
                <a:cs typeface="Readex Pro"/>
                <a:ea typeface="Readex Pro"/>
              </a:rPr>
              <a:t>1,981</a:t>
            </a:r>
          </a:p>
        </p:txBody>
      </p:sp>
      <p:sp>
        <p:nvSpPr>
          <p:cNvPr id="35" name="TextBox 34"/>
          <p:cNvSpPr txBox="1"/>
          <p:nvPr/>
        </p:nvSpPr>
        <p:spPr>
          <a:xfrm>
            <a:off x="7013448" y="3246120"/>
            <a:ext cx="2331720" cy="256032"/>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items, split by document</a:t>
            </a:r>
          </a:p>
        </p:txBody>
      </p:sp>
      <p:sp>
        <p:nvSpPr>
          <p:cNvPr id="36" name="TextBox 35"/>
          <p:cNvSpPr txBox="1"/>
          <p:nvPr/>
        </p:nvSpPr>
        <p:spPr>
          <a:xfrm>
            <a:off x="7013448" y="3611880"/>
            <a:ext cx="233172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731 dev · 1,250 test</a:t>
            </a:r>
          </a:p>
        </p:txBody>
      </p:sp>
      <p:sp>
        <p:nvSpPr>
          <p:cNvPr id="37" name="TextBox 36"/>
          <p:cNvSpPr txBox="1"/>
          <p:nvPr/>
        </p:nvSpPr>
        <p:spPr>
          <a:xfrm>
            <a:off x="7013448" y="4434840"/>
            <a:ext cx="2331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BayanBench v2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Rounded Rectangle 8"/>
          <p:cNvSpPr/>
          <p:nvPr/>
        </p:nvSpPr>
        <p:spPr>
          <a:xfrm>
            <a:off x="909828" y="1675637"/>
            <a:ext cx="2212848"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original + rewrite</a:t>
            </a:r>
          </a:p>
        </p:txBody>
      </p:sp>
      <p:sp>
        <p:nvSpPr>
          <p:cNvPr id="10" name="Rounded Rectangle 9"/>
          <p:cNvSpPr/>
          <p:nvPr/>
        </p:nvSpPr>
        <p:spPr>
          <a:xfrm>
            <a:off x="3625596" y="1440179"/>
            <a:ext cx="2651760" cy="868680"/>
          </a:xfrm>
          <a:prstGeom prst="roundRect">
            <a:avLst>
              <a:gd name="adj" fmla="val 12631"/>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25596" y="1568195"/>
            <a:ext cx="2651760" cy="310896"/>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Gemma 4 31B</a:t>
            </a:r>
          </a:p>
        </p:txBody>
      </p:sp>
      <p:sp>
        <p:nvSpPr>
          <p:cNvPr id="12" name="TextBox 11"/>
          <p:cNvSpPr txBox="1"/>
          <p:nvPr/>
        </p:nvSpPr>
        <p:spPr>
          <a:xfrm>
            <a:off x="3625596" y="1915667"/>
            <a:ext cx="26517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open model · reruns anywhere</a:t>
            </a:r>
          </a:p>
        </p:txBody>
      </p:sp>
      <p:sp>
        <p:nvSpPr>
          <p:cNvPr id="13" name="Rounded Rectangle 12"/>
          <p:cNvSpPr/>
          <p:nvPr/>
        </p:nvSpPr>
        <p:spPr>
          <a:xfrm>
            <a:off x="6780275" y="1675637"/>
            <a:ext cx="3277743"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7 yes/no questions → P(yes)</a:t>
            </a:r>
          </a:p>
        </p:txBody>
      </p:sp>
      <p:cxnSp>
        <p:nvCxnSpPr>
          <p:cNvPr id="14" name="Connector 13"/>
          <p:cNvCxnSpPr/>
          <p:nvPr/>
        </p:nvCxnSpPr>
        <p:spPr>
          <a:xfrm>
            <a:off x="3195828" y="1874519"/>
            <a:ext cx="356616"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350508" y="1874519"/>
            <a:ext cx="356615"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834640"/>
            <a:ext cx="4434840" cy="3246120"/>
          </a:xfrm>
          <a:prstGeom prst="roundRect">
            <a:avLst>
              <a:gd name="adj" fmla="val 4507"/>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999232"/>
            <a:ext cx="4434840" cy="347472"/>
          </a:xfrm>
          <a:prstGeom prst="rect">
            <a:avLst/>
          </a:prstGeom>
          <a:noFill/>
        </p:spPr>
        <p:txBody>
          <a:bodyPr wrap="square" lIns="0" rIns="0" tIns="0" bIns="0" anchor="ctr">
            <a:spAutoFit/>
          </a:bodyPr>
          <a:lstStyle/>
          <a:p>
            <a:pPr algn="ctr"/>
            <a:r>
              <a:rPr sz="1600" b="1">
                <a:solidFill>
                  <a:srgbClr val="8A5E35"/>
                </a:solidFill>
                <a:latin typeface="Readex Pro"/>
                <a:cs typeface="Readex Pro"/>
                <a:ea typeface="Readex Pro"/>
              </a:rPr>
              <a:t>Meaning · 4 questions</a:t>
            </a:r>
          </a:p>
        </p:txBody>
      </p:sp>
      <p:sp>
        <p:nvSpPr>
          <p:cNvPr id="18" name="Rounded Rectangle 17"/>
          <p:cNvSpPr/>
          <p:nvPr/>
        </p:nvSpPr>
        <p:spPr>
          <a:xfrm>
            <a:off x="818387" y="3493008"/>
            <a:ext cx="3931920" cy="384048"/>
          </a:xfrm>
          <a:prstGeom prst="roundRect">
            <a:avLst>
              <a:gd name="adj" fmla="val 21428"/>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00" b="1">
                <a:solidFill>
                  <a:srgbClr val="1A1A14"/>
                </a:solidFill>
                <a:latin typeface="Readex Pro"/>
                <a:cs typeface="Readex Pro"/>
                <a:ea typeface="Readex Pro"/>
              </a:rPr>
              <a:t>same meaning?  kept = yes ≥ 0.5 and every number kept</a:t>
            </a:r>
          </a:p>
        </p:txBody>
      </p:sp>
      <p:sp>
        <p:nvSpPr>
          <p:cNvPr id="19" name="Rounded Rectangle 18"/>
          <p:cNvSpPr/>
          <p:nvPr/>
        </p:nvSpPr>
        <p:spPr>
          <a:xfrm>
            <a:off x="818387" y="4005072"/>
            <a:ext cx="3931920" cy="384048"/>
          </a:xfrm>
          <a:prstGeom prst="roundRect">
            <a:avLst>
              <a:gd name="adj" fmla="val 21428"/>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00" b="0">
                <a:solidFill>
                  <a:srgbClr val="4A4842"/>
                </a:solidFill>
                <a:latin typeface="Readex Pro"/>
                <a:cs typeface="Readex Pro"/>
                <a:ea typeface="Readex Pro"/>
              </a:rPr>
              <a:t>adds a fact?</a:t>
            </a:r>
          </a:p>
        </p:txBody>
      </p:sp>
      <p:sp>
        <p:nvSpPr>
          <p:cNvPr id="20" name="Rounded Rectangle 19"/>
          <p:cNvSpPr/>
          <p:nvPr/>
        </p:nvSpPr>
        <p:spPr>
          <a:xfrm>
            <a:off x="818387" y="4517136"/>
            <a:ext cx="3931920" cy="384048"/>
          </a:xfrm>
          <a:prstGeom prst="roundRect">
            <a:avLst>
              <a:gd name="adj" fmla="val 21428"/>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00" b="0">
                <a:solidFill>
                  <a:srgbClr val="4A4842"/>
                </a:solidFill>
                <a:latin typeface="Readex Pro"/>
                <a:cs typeface="Readex Pro"/>
                <a:ea typeface="Readex Pro"/>
              </a:rPr>
              <a:t>drops a fact?</a:t>
            </a:r>
          </a:p>
        </p:txBody>
      </p:sp>
      <p:sp>
        <p:nvSpPr>
          <p:cNvPr id="21" name="Rounded Rectangle 20"/>
          <p:cNvSpPr/>
          <p:nvPr/>
        </p:nvSpPr>
        <p:spPr>
          <a:xfrm>
            <a:off x="818387" y="5029200"/>
            <a:ext cx="3931920" cy="384048"/>
          </a:xfrm>
          <a:prstGeom prst="roundRect">
            <a:avLst>
              <a:gd name="adj" fmla="val 21428"/>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00" b="0">
                <a:solidFill>
                  <a:srgbClr val="4A4842"/>
                </a:solidFill>
                <a:latin typeface="Readex Pro"/>
                <a:cs typeface="Readex Pro"/>
                <a:ea typeface="Readex Pro"/>
              </a:rPr>
              <a:t>contradicts?</a:t>
            </a:r>
          </a:p>
        </p:txBody>
      </p:sp>
      <p:sp>
        <p:nvSpPr>
          <p:cNvPr id="22" name="Rounded Rectangle 21"/>
          <p:cNvSpPr/>
          <p:nvPr/>
        </p:nvSpPr>
        <p:spPr>
          <a:xfrm>
            <a:off x="5321807" y="2834640"/>
            <a:ext cx="4434840" cy="3246120"/>
          </a:xfrm>
          <a:prstGeom prst="roundRect">
            <a:avLst>
              <a:gd name="adj" fmla="val 4507"/>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21807" y="2999232"/>
            <a:ext cx="4434840" cy="347472"/>
          </a:xfrm>
          <a:prstGeom prst="rect">
            <a:avLst/>
          </a:prstGeom>
          <a:noFill/>
        </p:spPr>
        <p:txBody>
          <a:bodyPr wrap="square" lIns="0" rIns="0" tIns="0" bIns="0" anchor="ctr">
            <a:spAutoFit/>
          </a:bodyPr>
          <a:lstStyle/>
          <a:p>
            <a:pPr algn="ctr"/>
            <a:r>
              <a:rPr sz="1600" b="1">
                <a:solidFill>
                  <a:srgbClr val="8A5E35"/>
                </a:solidFill>
                <a:latin typeface="Readex Pro"/>
                <a:cs typeface="Readex Pro"/>
                <a:ea typeface="Readex Pro"/>
              </a:rPr>
              <a:t>Quality · 3 questions, diagnostic</a:t>
            </a:r>
          </a:p>
        </p:txBody>
      </p:sp>
      <p:sp>
        <p:nvSpPr>
          <p:cNvPr id="24" name="Rounded Rectangle 23"/>
          <p:cNvSpPr/>
          <p:nvPr/>
        </p:nvSpPr>
        <p:spPr>
          <a:xfrm>
            <a:off x="5573267" y="3493008"/>
            <a:ext cx="3931920" cy="384048"/>
          </a:xfrm>
          <a:prstGeom prst="roundRect">
            <a:avLst>
              <a:gd name="adj" fmla="val 21428"/>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50" b="0">
                <a:solidFill>
                  <a:srgbClr val="4A4842"/>
                </a:solidFill>
                <a:latin typeface="Readex Pro"/>
                <a:cs typeface="Readex Pro"/>
                <a:ea typeface="Readex Pro"/>
              </a:rPr>
              <a:t>Arabic correct?</a:t>
            </a:r>
          </a:p>
        </p:txBody>
      </p:sp>
      <p:sp>
        <p:nvSpPr>
          <p:cNvPr id="25" name="Rounded Rectangle 24"/>
          <p:cNvSpPr/>
          <p:nvPr/>
        </p:nvSpPr>
        <p:spPr>
          <a:xfrm>
            <a:off x="5573267" y="4005072"/>
            <a:ext cx="3931920" cy="384048"/>
          </a:xfrm>
          <a:prstGeom prst="roundRect">
            <a:avLst>
              <a:gd name="adj" fmla="val 21428"/>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50" b="0">
                <a:solidFill>
                  <a:srgbClr val="4A4842"/>
                </a:solidFill>
                <a:latin typeface="Readex Pro"/>
                <a:cs typeface="Readex Pro"/>
                <a:ea typeface="Readex Pro"/>
              </a:rPr>
              <a:t>coherent?</a:t>
            </a:r>
          </a:p>
        </p:txBody>
      </p:sp>
      <p:sp>
        <p:nvSpPr>
          <p:cNvPr id="26" name="Rounded Rectangle 25"/>
          <p:cNvSpPr/>
          <p:nvPr/>
        </p:nvSpPr>
        <p:spPr>
          <a:xfrm>
            <a:off x="5573267" y="4517136"/>
            <a:ext cx="3931920" cy="384048"/>
          </a:xfrm>
          <a:prstGeom prst="roundRect">
            <a:avLst>
              <a:gd name="adj" fmla="val 21428"/>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50" b="0">
                <a:solidFill>
                  <a:srgbClr val="4A4842"/>
                </a:solidFill>
                <a:latin typeface="Readex Pro"/>
                <a:cs typeface="Readex Pro"/>
                <a:ea typeface="Readex Pro"/>
              </a:rPr>
              <a:t>easier to read?</a:t>
            </a:r>
          </a:p>
        </p:txBody>
      </p:sp>
      <p:sp>
        <p:nvSpPr>
          <p:cNvPr id="27" name="TextBox 26"/>
          <p:cNvSpPr txBox="1"/>
          <p:nvPr/>
        </p:nvSpPr>
        <p:spPr>
          <a:xfrm>
            <a:off x="5504688" y="5696712"/>
            <a:ext cx="4069079" cy="292608"/>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people barely agree on these: never used to decide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Rounded Rectangle 8"/>
          <p:cNvSpPr/>
          <p:nvPr/>
        </p:nvSpPr>
        <p:spPr>
          <a:xfrm>
            <a:off x="35661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Meaning</a:t>
            </a:r>
          </a:p>
        </p:txBody>
      </p:sp>
      <p:sp>
        <p:nvSpPr>
          <p:cNvPr id="11" name="TextBox 10"/>
          <p:cNvSpPr txBox="1"/>
          <p:nvPr/>
        </p:nvSpPr>
        <p:spPr>
          <a:xfrm>
            <a:off x="58521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still say the same thing?</a:t>
            </a:r>
          </a:p>
          <a:p>
            <a:pPr algn="ctr">
              <a:lnSpc>
                <a:spcPct val="110000"/>
              </a:lnSpc>
            </a:pPr>
            <a:r>
              <a:rPr sz="1300" b="0">
                <a:solidFill>
                  <a:srgbClr val="4A4842"/>
                </a:solidFill>
                <a:latin typeface="Readex Pro"/>
                <a:cs typeface="Readex Pro"/>
                <a:ea typeface="Readex Pro"/>
              </a:rPr>
              <a:t>Same meaning, every number intact.</a:t>
            </a:r>
          </a:p>
        </p:txBody>
      </p:sp>
      <p:sp>
        <p:nvSpPr>
          <p:cNvPr id="12" name="Rounded Rectangle 11"/>
          <p:cNvSpPr/>
          <p:nvPr/>
        </p:nvSpPr>
        <p:spPr>
          <a:xfrm>
            <a:off x="511149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Simpler</a:t>
            </a:r>
          </a:p>
        </p:txBody>
      </p:sp>
      <p:sp>
        <p:nvSpPr>
          <p:cNvPr id="14" name="TextBox 13"/>
          <p:cNvSpPr txBox="1"/>
          <p:nvPr/>
        </p:nvSpPr>
        <p:spPr>
          <a:xfrm>
            <a:off x="534009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Are long clauses shorter?</a:t>
            </a:r>
          </a:p>
          <a:p>
            <a:pPr algn="ctr">
              <a:lnSpc>
                <a:spcPct val="110000"/>
              </a:lnSpc>
            </a:pPr>
            <a:r>
              <a:rPr sz="1300" b="0">
                <a:solidFill>
                  <a:srgbClr val="4A4842"/>
                </a:solidFill>
                <a:latin typeface="Readex Pro"/>
                <a:cs typeface="Readex Pro"/>
                <a:ea typeface="Readex Pro"/>
              </a:rPr>
              <a:t>Words cut from the longest clause.</a:t>
            </a:r>
          </a:p>
        </p:txBody>
      </p:sp>
      <p:sp>
        <p:nvSpPr>
          <p:cNvPr id="15" name="Rounded Rectangle 14"/>
          <p:cNvSpPr/>
          <p:nvPr/>
        </p:nvSpPr>
        <p:spPr>
          <a:xfrm>
            <a:off x="35661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Restraint</a:t>
            </a:r>
          </a:p>
        </p:txBody>
      </p:sp>
      <p:sp>
        <p:nvSpPr>
          <p:cNvPr id="17" name="TextBox 16"/>
          <p:cNvSpPr txBox="1"/>
          <p:nvPr/>
        </p:nvSpPr>
        <p:spPr>
          <a:xfrm>
            <a:off x="58521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leave alone what should</a:t>
            </a:r>
          </a:p>
          <a:p>
            <a:pPr algn="ctr">
              <a:lnSpc>
                <a:spcPct val="110000"/>
              </a:lnSpc>
            </a:pPr>
            <a:r>
              <a:rPr sz="1300" b="0">
                <a:solidFill>
                  <a:srgbClr val="4A4842"/>
                </a:solidFill>
                <a:latin typeface="Readex Pro"/>
                <a:cs typeface="Readex Pro"/>
                <a:ea typeface="Readex Pro"/>
              </a:rPr>
              <a:t>stay? Easy text, scripture.</a:t>
            </a:r>
          </a:p>
        </p:txBody>
      </p:sp>
      <p:sp>
        <p:nvSpPr>
          <p:cNvPr id="18" name="Rounded Rectangle 17"/>
          <p:cNvSpPr/>
          <p:nvPr/>
        </p:nvSpPr>
        <p:spPr>
          <a:xfrm>
            <a:off x="511149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1149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Copying rate</a:t>
            </a:r>
          </a:p>
        </p:txBody>
      </p:sp>
      <p:sp>
        <p:nvSpPr>
          <p:cNvPr id="20" name="TextBox 19"/>
          <p:cNvSpPr txBox="1"/>
          <p:nvPr/>
        </p:nvSpPr>
        <p:spPr>
          <a:xfrm>
            <a:off x="534009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How often is the text returned unchanged?</a:t>
            </a:r>
          </a:p>
          <a:p>
            <a:pPr algn="ctr">
              <a:lnSpc>
                <a:spcPct val="110000"/>
              </a:lnSpc>
            </a:pPr>
            <a:r>
              <a:rPr sz="1300" b="0">
                <a:solidFill>
                  <a:srgbClr val="4A4842"/>
                </a:solidFill>
                <a:latin typeface="Readex Pro"/>
                <a:cs typeface="Readex Pro"/>
                <a:ea typeface="Readex Pro"/>
              </a:rPr>
              <a:t>A copy counts as perfect meaning,</a:t>
            </a:r>
          </a:p>
          <a:p>
            <a:pPr algn="ctr">
              <a:lnSpc>
                <a:spcPct val="110000"/>
              </a:lnSpc>
            </a:pPr>
            <a:r>
              <a:rPr sz="1300" b="0">
                <a:solidFill>
                  <a:srgbClr val="4A4842"/>
                </a:solidFill>
                <a:latin typeface="Readex Pro"/>
                <a:cs typeface="Readex Pro"/>
                <a:ea typeface="Readex Pro"/>
              </a:rPr>
              <a:t>so we report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566928" y="1828800"/>
            <a:ext cx="2926080" cy="868680"/>
          </a:xfrm>
          <a:prstGeom prst="rect">
            <a:avLst/>
          </a:prstGeom>
          <a:noFill/>
        </p:spPr>
        <p:txBody>
          <a:bodyPr wrap="square" lIns="0" rIns="0" tIns="0" bIns="0" anchor="ctr">
            <a:spAutoFit/>
          </a:bodyPr>
          <a:lstStyle/>
          <a:p>
            <a:pPr algn="ctr"/>
            <a:r>
              <a:rPr sz="6000" b="0">
                <a:solidFill>
                  <a:srgbClr val="C6986B"/>
                </a:solidFill>
                <a:latin typeface="Readex Pro"/>
                <a:cs typeface="Readex Pro"/>
                <a:ea typeface="Readex Pro"/>
              </a:rPr>
              <a:t>0.85</a:t>
            </a:r>
          </a:p>
        </p:txBody>
      </p:sp>
      <p:sp>
        <p:nvSpPr>
          <p:cNvPr id="10" name="TextBox 9"/>
          <p:cNvSpPr txBox="1"/>
          <p:nvPr/>
        </p:nvSpPr>
        <p:spPr>
          <a:xfrm>
            <a:off x="566928" y="2788920"/>
            <a:ext cx="292608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scorer vs human raters (AUC)</a:t>
            </a:r>
          </a:p>
        </p:txBody>
      </p:sp>
      <p:sp>
        <p:nvSpPr>
          <p:cNvPr id="11" name="TextBox 10"/>
          <p:cNvSpPr txBox="1"/>
          <p:nvPr/>
        </p:nvSpPr>
        <p:spPr>
          <a:xfrm>
            <a:off x="566928" y="3108960"/>
            <a:ext cx="292608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6 raters · 290 tasks</a:t>
            </a:r>
          </a:p>
        </p:txBody>
      </p:sp>
      <p:sp>
        <p:nvSpPr>
          <p:cNvPr id="12" name="Rounded Rectangle 11"/>
          <p:cNvSpPr/>
          <p:nvPr/>
        </p:nvSpPr>
        <p:spPr>
          <a:xfrm>
            <a:off x="566928" y="3657600"/>
            <a:ext cx="304596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catches 42 of 51 changed outputs</a:t>
            </a:r>
          </a:p>
        </p:txBody>
      </p:sp>
      <p:sp>
        <p:nvSpPr>
          <p:cNvPr id="13" name="Rounded Rectangle 12"/>
          <p:cNvSpPr/>
          <p:nvPr/>
        </p:nvSpPr>
        <p:spPr>
          <a:xfrm>
            <a:off x="566928" y="4160520"/>
            <a:ext cx="325043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fails 53 of 194 people kept: stricter</a:t>
            </a:r>
          </a:p>
        </p:txBody>
      </p:sp>
      <p:sp>
        <p:nvSpPr>
          <p:cNvPr id="14" name="Rounded Rectangle 13"/>
          <p:cNvSpPr/>
          <p:nvPr/>
        </p:nvSpPr>
        <p:spPr>
          <a:xfrm>
            <a:off x="566928" y="4663440"/>
            <a:ext cx="2604897"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raters barely agree on ease</a:t>
            </a:r>
          </a:p>
        </p:txBody>
      </p:sp>
      <p:sp>
        <p:nvSpPr>
          <p:cNvPr id="15" name="Rounded Rectangle 14"/>
          <p:cNvSpPr/>
          <p:nvPr/>
        </p:nvSpPr>
        <p:spPr>
          <a:xfrm>
            <a:off x="4087368" y="1691640"/>
            <a:ext cx="5248656" cy="3977639"/>
          </a:xfrm>
          <a:prstGeom prst="roundRect">
            <a:avLst>
              <a:gd name="adj" fmla="val 275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70248" y="2011680"/>
            <a:ext cx="4882896" cy="777240"/>
          </a:xfrm>
          <a:prstGeom prst="rect">
            <a:avLst/>
          </a:prstGeom>
          <a:noFill/>
        </p:spPr>
        <p:txBody>
          <a:bodyPr wrap="square" lIns="0" rIns="0" tIns="0" bIns="0" anchor="ctr">
            <a:spAutoFit/>
          </a:bodyPr>
          <a:lstStyle/>
          <a:p>
            <a:pPr algn="ctr">
              <a:lnSpc>
                <a:spcPct val="105000"/>
              </a:lnSpc>
            </a:pPr>
            <a:r>
              <a:rPr sz="2000" b="1">
                <a:solidFill>
                  <a:srgbClr val="8A5E35"/>
                </a:solidFill>
                <a:latin typeface="Readex Pro"/>
                <a:cs typeface="Readex Pro"/>
                <a:ea typeface="Readex Pro"/>
              </a:rPr>
              <a:t>A reader with dyslexia</a:t>
            </a:r>
          </a:p>
          <a:p>
            <a:pPr algn="ctr">
              <a:lnSpc>
                <a:spcPct val="105000"/>
              </a:lnSpc>
            </a:pPr>
            <a:r>
              <a:rPr sz="2000" b="1">
                <a:solidFill>
                  <a:srgbClr val="8A5E35"/>
                </a:solidFill>
                <a:latin typeface="Readex Pro"/>
                <a:cs typeface="Readex Pro"/>
                <a:ea typeface="Readex Pro"/>
              </a:rPr>
              <a:t>rated 30 outputs</a:t>
            </a:r>
          </a:p>
        </p:txBody>
      </p:sp>
      <p:sp>
        <p:nvSpPr>
          <p:cNvPr id="17" name="Rectangle 16"/>
          <p:cNvSpPr/>
          <p:nvPr/>
        </p:nvSpPr>
        <p:spPr>
          <a:xfrm>
            <a:off x="4544568" y="3291840"/>
            <a:ext cx="2456078" cy="5029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3931920"/>
            <a:ext cx="2456078"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17 easier</a:t>
            </a:r>
          </a:p>
        </p:txBody>
      </p:sp>
      <p:sp>
        <p:nvSpPr>
          <p:cNvPr id="19" name="Rectangle 18"/>
          <p:cNvSpPr/>
          <p:nvPr/>
        </p:nvSpPr>
        <p:spPr>
          <a:xfrm>
            <a:off x="7000646" y="3291840"/>
            <a:ext cx="1300276" cy="502920"/>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0646" y="3931920"/>
            <a:ext cx="1300276"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9 same</a:t>
            </a:r>
          </a:p>
        </p:txBody>
      </p:sp>
      <p:sp>
        <p:nvSpPr>
          <p:cNvPr id="21" name="Rectangle 20"/>
          <p:cNvSpPr/>
          <p:nvPr/>
        </p:nvSpPr>
        <p:spPr>
          <a:xfrm>
            <a:off x="8300923" y="3291840"/>
            <a:ext cx="577900" cy="502920"/>
          </a:xfrm>
          <a:prstGeom prst="rect">
            <a:avLst/>
          </a:prstGeom>
          <a:solidFill>
            <a:srgbClr val="B55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00923" y="3931920"/>
            <a:ext cx="57790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4 harder</a:t>
            </a:r>
          </a:p>
        </p:txBody>
      </p:sp>
      <p:sp>
        <p:nvSpPr>
          <p:cNvPr id="23" name="TextBox 22"/>
          <p:cNvSpPr txBox="1"/>
          <p:nvPr/>
        </p:nvSpPr>
        <p:spPr>
          <a:xfrm>
            <a:off x="4087368" y="5166359"/>
            <a:ext cx="5248656"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a sample of one, not a study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cxnSp>
        <p:nvCxnSpPr>
          <p:cNvPr id="9" name="Connector 8"/>
          <p:cNvCxnSpPr/>
          <p:nvPr/>
        </p:nvCxnSpPr>
        <p:spPr>
          <a:xfrm>
            <a:off x="2148840" y="5120640"/>
            <a:ext cx="4617720" cy="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148840" y="1874519"/>
            <a:ext cx="0" cy="3246121"/>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48840" y="5230368"/>
            <a:ext cx="4617720" cy="256032"/>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meaning kept (%)  →</a:t>
            </a:r>
          </a:p>
        </p:txBody>
      </p:sp>
      <p:sp>
        <p:nvSpPr>
          <p:cNvPr id="12" name="TextBox 11"/>
          <p:cNvSpPr txBox="1"/>
          <p:nvPr/>
        </p:nvSpPr>
        <p:spPr>
          <a:xfrm rot="16200000">
            <a:off x="1673352" y="3369563"/>
            <a:ext cx="3291840" cy="256032"/>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simplification: words cut from the longest clause  →</a:t>
            </a:r>
          </a:p>
        </p:txBody>
      </p:sp>
      <p:sp>
        <p:nvSpPr>
          <p:cNvPr id="13" name="Oval 12"/>
          <p:cNvSpPr/>
          <p:nvPr/>
        </p:nvSpPr>
        <p:spPr>
          <a:xfrm>
            <a:off x="6353555" y="4777963"/>
            <a:ext cx="210312" cy="210312"/>
          </a:xfrm>
          <a:prstGeom prst="ellipse">
            <a:avLst/>
          </a:prstGeom>
          <a:solidFill>
            <a:srgbClr val="A29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36920" y="4467067"/>
            <a:ext cx="1243584"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Copy the input</a:t>
            </a:r>
          </a:p>
        </p:txBody>
      </p:sp>
      <p:sp>
        <p:nvSpPr>
          <p:cNvPr id="15" name="Oval 14"/>
          <p:cNvSpPr/>
          <p:nvPr/>
        </p:nvSpPr>
        <p:spPr>
          <a:xfrm>
            <a:off x="4875885" y="477796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88255" y="4467067"/>
            <a:ext cx="385572"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v0.1</a:t>
            </a:r>
          </a:p>
        </p:txBody>
      </p:sp>
      <p:sp>
        <p:nvSpPr>
          <p:cNvPr id="17" name="Oval 16"/>
          <p:cNvSpPr/>
          <p:nvPr/>
        </p:nvSpPr>
        <p:spPr>
          <a:xfrm>
            <a:off x="5035966" y="402581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00" y="3714917"/>
            <a:ext cx="1266443"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v0.2 in the app</a:t>
            </a:r>
          </a:p>
        </p:txBody>
      </p:sp>
      <p:sp>
        <p:nvSpPr>
          <p:cNvPr id="19" name="Oval 18"/>
          <p:cNvSpPr/>
          <p:nvPr/>
        </p:nvSpPr>
        <p:spPr>
          <a:xfrm>
            <a:off x="4401799" y="299655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57783" y="2982839"/>
            <a:ext cx="1052576"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(no tag)</a:t>
            </a:r>
          </a:p>
        </p:txBody>
      </p:sp>
      <p:sp>
        <p:nvSpPr>
          <p:cNvPr id="21" name="Oval 20"/>
          <p:cNvSpPr/>
          <p:nvPr/>
        </p:nvSpPr>
        <p:spPr>
          <a:xfrm>
            <a:off x="3859987" y="2283992"/>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54107" y="2567456"/>
            <a:ext cx="822070"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 tag</a:t>
            </a:r>
          </a:p>
        </p:txBody>
      </p:sp>
      <p:sp>
        <p:nvSpPr>
          <p:cNvPr id="23" name="Oval 22"/>
          <p:cNvSpPr/>
          <p:nvPr/>
        </p:nvSpPr>
        <p:spPr>
          <a:xfrm>
            <a:off x="3361273" y="2838208"/>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38973" y="3121672"/>
            <a:ext cx="1454912"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(no tag)</a:t>
            </a:r>
          </a:p>
        </p:txBody>
      </p:sp>
      <p:sp>
        <p:nvSpPr>
          <p:cNvPr id="25" name="Oval 24"/>
          <p:cNvSpPr/>
          <p:nvPr/>
        </p:nvSpPr>
        <p:spPr>
          <a:xfrm>
            <a:off x="2665536" y="212564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85576" y="2111929"/>
            <a:ext cx="1224407"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 tag</a:t>
            </a:r>
          </a:p>
        </p:txBody>
      </p:sp>
      <p:sp>
        <p:nvSpPr>
          <p:cNvPr id="27" name="Oval 26"/>
          <p:cNvSpPr/>
          <p:nvPr/>
        </p:nvSpPr>
        <p:spPr>
          <a:xfrm>
            <a:off x="5094427" y="2568571"/>
            <a:ext cx="512064" cy="512064"/>
          </a:xfrm>
          <a:prstGeom prst="ellipse">
            <a:avLst/>
          </a:prstGeom>
          <a:noFill/>
          <a:ln w="2222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04155" y="2678299"/>
            <a:ext cx="292608" cy="292608"/>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06491" y="2705731"/>
            <a:ext cx="1364361" cy="237744"/>
          </a:xfrm>
          <a:prstGeom prst="rect">
            <a:avLst/>
          </a:prstGeom>
          <a:noFill/>
        </p:spPr>
        <p:txBody>
          <a:bodyPr wrap="square" lIns="0" rIns="0" tIns="0" bIns="0" anchor="ctr">
            <a:spAutoFit/>
          </a:bodyPr>
          <a:lstStyle/>
          <a:p>
            <a:pPr algn="l"/>
            <a:r>
              <a:rPr sz="1300" b="1">
                <a:solidFill>
                  <a:srgbClr val="B5533C"/>
                </a:solidFill>
                <a:latin typeface="Readex Pro"/>
                <a:cs typeface="Readex Pro"/>
                <a:ea typeface="Readex Pro"/>
              </a:rPr>
              <a:t>v0.3 in the app</a:t>
            </a:r>
          </a:p>
        </p:txBody>
      </p:sp>
      <p:sp>
        <p:nvSpPr>
          <p:cNvPr id="30" name="Rectangle 29"/>
          <p:cNvSpPr/>
          <p:nvPr/>
        </p:nvSpPr>
        <p:spPr>
          <a:xfrm>
            <a:off x="2240280" y="560527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557784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BayanBench v2, test core items</a:t>
            </a:r>
          </a:p>
        </p:txBody>
      </p:sp>
      <p:sp>
        <p:nvSpPr>
          <p:cNvPr id="32" name="Rounded Rectangle 31"/>
          <p:cNvSpPr/>
          <p:nvPr/>
        </p:nvSpPr>
        <p:spPr>
          <a:xfrm>
            <a:off x="7178040" y="1874519"/>
            <a:ext cx="2157984" cy="635508"/>
          </a:xfrm>
          <a:prstGeom prst="roundRect">
            <a:avLst>
              <a:gd name="adj" fmla="val 14388"/>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8A5E35"/>
                </a:solidFill>
                <a:latin typeface="Readex Pro"/>
                <a:cs typeface="Readex Pro"/>
                <a:ea typeface="Readex Pro"/>
              </a:rPr>
              <a:t>the more it simplifies,</a:t>
            </a:r>
          </a:p>
          <a:p>
            <a:pPr algn="ctr"/>
            <a:r>
              <a:rPr sz="1350" b="1">
                <a:solidFill>
                  <a:srgbClr val="8A5E35"/>
                </a:solidFill>
                <a:latin typeface="Readex Pro"/>
                <a:cs typeface="Readex Pro"/>
                <a:ea typeface="Readex Pro"/>
              </a:rPr>
              <a:t>the less meaning it keeps, obviously</a:t>
            </a:r>
          </a:p>
        </p:txBody>
      </p:sp>
      <p:sp>
        <p:nvSpPr>
          <p:cNvPr id="33" name="Rounded Rectangle 32"/>
          <p:cNvSpPr/>
          <p:nvPr/>
        </p:nvSpPr>
        <p:spPr>
          <a:xfrm>
            <a:off x="7178040" y="2711196"/>
            <a:ext cx="2157984" cy="861822"/>
          </a:xfrm>
          <a:prstGeom prst="roundRect">
            <a:avLst>
              <a:gd name="adj" fmla="val 1061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1A1A14"/>
                </a:solidFill>
                <a:latin typeface="Readex Pro"/>
                <a:cs typeface="Readex Pro"/>
                <a:ea typeface="Readex Pro"/>
              </a:rPr>
              <a:t>v0.3 keeps the most meaning (82%)</a:t>
            </a:r>
          </a:p>
          <a:p>
            <a:pPr algn="ctr"/>
            <a:r>
              <a:rPr sz="1350" b="1">
                <a:solidFill>
                  <a:srgbClr val="1A1A14"/>
                </a:solidFill>
                <a:latin typeface="Readex Pro"/>
                <a:cs typeface="Readex Pro"/>
                <a:ea typeface="Readex Pro"/>
              </a:rPr>
              <a:t>and still cuts 5.2 words off</a:t>
            </a:r>
          </a:p>
          <a:p>
            <a:pPr algn="ctr"/>
            <a:r>
              <a:rPr sz="1350" b="1">
                <a:solidFill>
                  <a:srgbClr val="1A1A14"/>
                </a:solidFill>
                <a:latin typeface="Readex Pro"/>
                <a:cs typeface="Readex Pro"/>
                <a:ea typeface="Readex Pro"/>
              </a:rPr>
              <a:t>the longest clause</a:t>
            </a:r>
          </a:p>
        </p:txBody>
      </p:sp>
      <p:sp>
        <p:nvSpPr>
          <p:cNvPr id="34" name="Rounded Rectangle 33"/>
          <p:cNvSpPr/>
          <p:nvPr/>
        </p:nvSpPr>
        <p:spPr>
          <a:xfrm>
            <a:off x="7178040" y="3774185"/>
            <a:ext cx="2157984" cy="601980"/>
          </a:xfrm>
          <a:prstGeom prst="roundRect">
            <a:avLst>
              <a:gd name="adj" fmla="val 151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50" b="0">
                <a:solidFill>
                  <a:srgbClr val="4A4842"/>
                </a:solidFill>
                <a:latin typeface="Readex Pro"/>
                <a:cs typeface="Readex Pro"/>
                <a:ea typeface="Readex Pro"/>
              </a:rPr>
              <a:t>v0.3 is the app's large model,</a:t>
            </a:r>
          </a:p>
          <a:p>
            <a:pPr algn="ctr"/>
            <a:r>
              <a:rPr sz="1250" b="0">
                <a:solidFill>
                  <a:srgbClr val="4A4842"/>
                </a:solidFill>
                <a:latin typeface="Readex Pro"/>
                <a:cs typeface="Readex Pro"/>
                <a:ea typeface="Readex Pro"/>
              </a:rPr>
              <a:t>decoded with four beams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In the app: v0.3 minus v0.2, same text step · 95% intervals</a:t>
            </a:r>
          </a:p>
        </p:txBody>
      </p:sp>
      <p:sp>
        <p:nvSpPr>
          <p:cNvPr id="10" name="TextBox 9"/>
          <p:cNvSpPr txBox="1"/>
          <p:nvPr/>
        </p:nvSpPr>
        <p:spPr>
          <a:xfrm>
            <a:off x="566928" y="2057400"/>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words cut from the longest clause</a:t>
            </a:r>
          </a:p>
        </p:txBody>
      </p:sp>
      <p:cxnSp>
        <p:nvCxnSpPr>
          <p:cNvPr id="11" name="Connector 10"/>
          <p:cNvCxnSpPr/>
          <p:nvPr/>
        </p:nvCxnSpPr>
        <p:spPr>
          <a:xfrm>
            <a:off x="3520440" y="2203704"/>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212080" y="2084831"/>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88736" y="2203704"/>
            <a:ext cx="563880"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097524" y="2130552"/>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13448" y="2075688"/>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+3.4</a:t>
            </a:r>
          </a:p>
        </p:txBody>
      </p:sp>
      <p:sp>
        <p:nvSpPr>
          <p:cNvPr id="16" name="TextBox 15"/>
          <p:cNvSpPr txBox="1"/>
          <p:nvPr/>
        </p:nvSpPr>
        <p:spPr>
          <a:xfrm>
            <a:off x="566928" y="2715768"/>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hard words removed</a:t>
            </a:r>
          </a:p>
        </p:txBody>
      </p:sp>
      <p:cxnSp>
        <p:nvCxnSpPr>
          <p:cNvPr id="17" name="Connector 16"/>
          <p:cNvCxnSpPr/>
          <p:nvPr/>
        </p:nvCxnSpPr>
        <p:spPr>
          <a:xfrm>
            <a:off x="3520440" y="2862072"/>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212080" y="2743199"/>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04154" y="2862072"/>
            <a:ext cx="888111"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53912" y="2788920"/>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13448" y="2734056"/>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+0.24</a:t>
            </a:r>
          </a:p>
        </p:txBody>
      </p:sp>
      <p:sp>
        <p:nvSpPr>
          <p:cNvPr id="22" name="TextBox 21"/>
          <p:cNvSpPr txBox="1"/>
          <p:nvPr/>
        </p:nvSpPr>
        <p:spPr>
          <a:xfrm>
            <a:off x="566928" y="3374136"/>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reading levels lowered</a:t>
            </a:r>
          </a:p>
        </p:txBody>
      </p:sp>
      <p:cxnSp>
        <p:nvCxnSpPr>
          <p:cNvPr id="23" name="Connector 22"/>
          <p:cNvCxnSpPr/>
          <p:nvPr/>
        </p:nvCxnSpPr>
        <p:spPr>
          <a:xfrm>
            <a:off x="3520440" y="3520440"/>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12080" y="3401568"/>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212080" y="3520440"/>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5590032" y="3447288"/>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13448" y="3392424"/>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+0.08</a:t>
            </a:r>
          </a:p>
        </p:txBody>
      </p:sp>
      <p:sp>
        <p:nvSpPr>
          <p:cNvPr id="28" name="TextBox 27"/>
          <p:cNvSpPr txBox="1"/>
          <p:nvPr/>
        </p:nvSpPr>
        <p:spPr>
          <a:xfrm>
            <a:off x="566928" y="4032504"/>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meaning kept (points): not significant</a:t>
            </a:r>
          </a:p>
        </p:txBody>
      </p:sp>
      <p:cxnSp>
        <p:nvCxnSpPr>
          <p:cNvPr id="29" name="Connector 28"/>
          <p:cNvCxnSpPr/>
          <p:nvPr/>
        </p:nvCxnSpPr>
        <p:spPr>
          <a:xfrm>
            <a:off x="3520440" y="4178808"/>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12080" y="4059936"/>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22648" y="4178808"/>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800600" y="4105656"/>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13448" y="4050791"/>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a:t>
            </a:r>
          </a:p>
        </p:txBody>
      </p:sp>
      <p:sp>
        <p:nvSpPr>
          <p:cNvPr id="34" name="Rounded Rectangle 33"/>
          <p:cNvSpPr/>
          <p:nvPr/>
        </p:nvSpPr>
        <p:spPr>
          <a:xfrm>
            <a:off x="1871535" y="5029200"/>
            <a:ext cx="6159881"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+18 points more easy text unchanged · every number kept (100%)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481328"/>
            <a:ext cx="8769096" cy="329184"/>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Blind rating by the team: 18 sentences</a:t>
            </a:r>
          </a:p>
        </p:txBody>
      </p:sp>
      <p:sp>
        <p:nvSpPr>
          <p:cNvPr id="10" name="TextBox 9"/>
          <p:cNvSpPr txBox="1"/>
          <p:nvPr/>
        </p:nvSpPr>
        <p:spPr>
          <a:xfrm>
            <a:off x="566928" y="1874519"/>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outputs the system changed, rated easier to read</a:t>
            </a:r>
          </a:p>
        </p:txBody>
      </p:sp>
      <p:sp>
        <p:nvSpPr>
          <p:cNvPr id="11" name="TextBox 10"/>
          <p:cNvSpPr txBox="1"/>
          <p:nvPr/>
        </p:nvSpPr>
        <p:spPr>
          <a:xfrm>
            <a:off x="566928" y="2423160"/>
            <a:ext cx="109728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12" name="Rectangle 11"/>
          <p:cNvSpPr/>
          <p:nvPr/>
        </p:nvSpPr>
        <p:spPr>
          <a:xfrm>
            <a:off x="1801368" y="2441448"/>
            <a:ext cx="4403750" cy="347472"/>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4846" y="2423160"/>
            <a:ext cx="731520" cy="292608"/>
          </a:xfrm>
          <a:prstGeom prst="rect">
            <a:avLst/>
          </a:prstGeom>
          <a:noFill/>
        </p:spPr>
        <p:txBody>
          <a:bodyPr wrap="square" lIns="0" rIns="0" tIns="0" bIns="0" anchor="ctr">
            <a:spAutoFit/>
          </a:bodyPr>
          <a:lstStyle/>
          <a:p>
            <a:pPr algn="l"/>
            <a:r>
              <a:rPr sz="1300" b="1">
                <a:solidFill>
                  <a:srgbClr val="8A5E35"/>
                </a:solidFill>
                <a:latin typeface="Readex Pro"/>
                <a:cs typeface="Readex Pro"/>
                <a:ea typeface="Readex Pro"/>
              </a:rPr>
              <a:t>86%</a:t>
            </a:r>
          </a:p>
        </p:txBody>
      </p:sp>
      <p:sp>
        <p:nvSpPr>
          <p:cNvPr id="14" name="TextBox 13"/>
          <p:cNvSpPr txBox="1"/>
          <p:nvPr/>
        </p:nvSpPr>
        <p:spPr>
          <a:xfrm>
            <a:off x="566928" y="2990088"/>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a:t>
            </a:r>
          </a:p>
        </p:txBody>
      </p:sp>
      <p:sp>
        <p:nvSpPr>
          <p:cNvPr id="15" name="Rectangle 14"/>
          <p:cNvSpPr/>
          <p:nvPr/>
        </p:nvSpPr>
        <p:spPr>
          <a:xfrm>
            <a:off x="1801368" y="3008376"/>
            <a:ext cx="3072384"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83480" y="2990088"/>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60%</a:t>
            </a:r>
          </a:p>
        </p:txBody>
      </p:sp>
      <p:sp>
        <p:nvSpPr>
          <p:cNvPr id="17" name="TextBox 16"/>
          <p:cNvSpPr txBox="1"/>
          <p:nvPr/>
        </p:nvSpPr>
        <p:spPr>
          <a:xfrm>
            <a:off x="566928" y="3557015"/>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a:t>
            </a:r>
          </a:p>
        </p:txBody>
      </p:sp>
      <p:sp>
        <p:nvSpPr>
          <p:cNvPr id="18" name="Rectangle 17"/>
          <p:cNvSpPr/>
          <p:nvPr/>
        </p:nvSpPr>
        <p:spPr>
          <a:xfrm>
            <a:off x="1801368" y="3575303"/>
            <a:ext cx="2304287"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15384" y="3557015"/>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45%</a:t>
            </a:r>
          </a:p>
        </p:txBody>
      </p:sp>
      <p:sp>
        <p:nvSpPr>
          <p:cNvPr id="20" name="Rounded Rectangle 19"/>
          <p:cNvSpPr/>
          <p:nvPr/>
        </p:nvSpPr>
        <p:spPr>
          <a:xfrm>
            <a:off x="1576578" y="4343400"/>
            <a:ext cx="6749795"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meaning kept in 96% of ratings (v0.2: 96%, v0.2-Fast: 92%) · none rated harder</a:t>
            </a:r>
          </a:p>
        </p:txBody>
      </p:sp>
      <p:sp>
        <p:nvSpPr>
          <p:cNvPr id="21" name="Rounded Rectangle 20"/>
          <p:cNvSpPr/>
          <p:nvPr/>
        </p:nvSpPr>
        <p:spPr>
          <a:xfrm>
            <a:off x="3008248" y="4892040"/>
            <a:ext cx="3886454"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8 of 8 team votes chose v0.3 over v0.2</a:t>
            </a:r>
          </a:p>
        </p:txBody>
      </p:sp>
      <p:sp>
        <p:nvSpPr>
          <p:cNvPr id="22" name="Rounded Rectangle 21"/>
          <p:cNvSpPr/>
          <p:nvPr/>
        </p:nvSpPr>
        <p:spPr>
          <a:xfrm>
            <a:off x="990917" y="5440680"/>
            <a:ext cx="7921116"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the reader with dyslexia chose v0.3 in 4 of 4 comparisons · 18 sentences: a direction, not a size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ON A PHONE</a:t>
            </a:r>
          </a:p>
        </p:txBody>
      </p:sp>
      <p:pic>
        <p:nvPicPr>
          <p:cNvPr id="5"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6" name="TextBox 5"/>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7" name="TextBox 6"/>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8</a:t>
            </a:r>
          </a:p>
        </p:txBody>
      </p:sp>
      <p:sp>
        <p:nvSpPr>
          <p:cNvPr id="8" name="TextBox 7"/>
          <p:cNvSpPr txBox="1"/>
          <p:nvPr/>
        </p:nvSpPr>
        <p:spPr>
          <a:xfrm>
            <a:off x="566928" y="1600200"/>
            <a:ext cx="8769096" cy="411480"/>
          </a:xfrm>
          <a:prstGeom prst="rect">
            <a:avLst/>
          </a:prstGeom>
          <a:noFill/>
        </p:spPr>
        <p:txBody>
          <a:bodyPr wrap="square" lIns="0" rIns="0" tIns="0" bIns="0" anchor="ctr">
            <a:spAutoFit/>
          </a:bodyPr>
          <a:lstStyle/>
          <a:p>
            <a:pPr algn="ctr"/>
            <a:r>
              <a:rPr sz="2200" b="1">
                <a:solidFill>
                  <a:srgbClr val="282824"/>
                </a:solidFill>
                <a:latin typeface="Readex Pro"/>
                <a:cs typeface="Readex Pro"/>
                <a:ea typeface="Readex Pro"/>
              </a:rPr>
              <a:t>What the app does</a:t>
            </a:r>
          </a:p>
        </p:txBody>
      </p:sp>
      <p:sp>
        <p:nvSpPr>
          <p:cNvPr id="9" name="Rounded Rectangle 8"/>
          <p:cNvSpPr/>
          <p:nvPr/>
        </p:nvSpPr>
        <p:spPr>
          <a:xfrm>
            <a:off x="3648456" y="2148840"/>
            <a:ext cx="2606040" cy="3794760"/>
          </a:xfrm>
          <a:prstGeom prst="roundRect">
            <a:avLst>
              <a:gd name="adj" fmla="val 9122"/>
            </a:avLst>
          </a:prstGeom>
          <a:solidFill>
            <a:srgbClr val="1A1A14"/>
          </a:solidFill>
          <a:ln w="25400">
            <a:solidFill>
              <a:srgbClr val="A29D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758184" y="2258568"/>
            <a:ext cx="2386584" cy="3575304"/>
          </a:xfrm>
          <a:prstGeom prst="roundRect">
            <a:avLst>
              <a:gd name="adj" fmla="val 6130"/>
            </a:avLst>
          </a:prstGeom>
          <a:solidFill>
            <a:srgbClr val="EFE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48456" y="3543300"/>
            <a:ext cx="2606040" cy="777240"/>
          </a:xfrm>
          <a:prstGeom prst="rect">
            <a:avLst/>
          </a:prstGeom>
          <a:noFill/>
        </p:spPr>
        <p:txBody>
          <a:bodyPr wrap="square" lIns="0" rIns="0" tIns="0" bIns="0" anchor="ctr">
            <a:spAutoFit/>
          </a:bodyPr>
          <a:lstStyle/>
          <a:p>
            <a:pPr algn="ctr"/>
            <a:r>
              <a:rPr sz="3600" b="0">
                <a:solidFill>
                  <a:srgbClr val="6F6B5E"/>
                </a:solidFill>
                <a:latin typeface="Readex Pro"/>
                <a:cs typeface="Readex Pro"/>
                <a:ea typeface="Readex Pro"/>
              </a:rPr>
              <a:t>▶</a:t>
            </a:r>
          </a:p>
        </p:txBody>
      </p:sp>
      <p:sp>
        <p:nvSpPr>
          <p:cNvPr id="12" name="TextBox 11"/>
          <p:cNvSpPr txBox="1"/>
          <p:nvPr/>
        </p:nvSpPr>
        <p:spPr>
          <a:xfrm>
            <a:off x="3648456" y="4457700"/>
            <a:ext cx="2606040" cy="274320"/>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recording goes 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8 / 8</a:t>
            </a:r>
          </a:p>
        </p:txBody>
      </p:sp>
      <p:pic>
        <p:nvPicPr>
          <p:cNvPr id="6" name="Bayan logo" descr="Bayan logo"/>
          <p:cNvPicPr>
            <a:picLocks noChangeAspect="1"/>
          </p:cNvPicPr>
          <p:nvPr/>
        </p:nvPicPr>
        <p:blipFill>
          <a:blip r:embed="rId3"/>
          <a:stretch>
            <a:fillRect/>
          </a:stretch>
        </p:blipFill>
        <p:spPr>
          <a:xfrm>
            <a:off x="3808476" y="1600200"/>
            <a:ext cx="2286000" cy="1284446"/>
          </a:xfrm>
          <a:prstGeom prst="rect">
            <a:avLst/>
          </a:prstGeom>
        </p:spPr>
      </p:pic>
      <p:sp>
        <p:nvSpPr>
          <p:cNvPr id="7" name="TextBox 6"/>
          <p:cNvSpPr txBox="1"/>
          <p:nvPr/>
        </p:nvSpPr>
        <p:spPr>
          <a:xfrm>
            <a:off x="0" y="3977639"/>
            <a:ext cx="9902952" cy="594360"/>
          </a:xfrm>
          <a:prstGeom prst="rect">
            <a:avLst/>
          </a:prstGeom>
          <a:noFill/>
        </p:spPr>
        <p:txBody>
          <a:bodyPr wrap="square" lIns="0" rIns="0" tIns="0" bIns="0" anchor="ctr">
            <a:spAutoFit/>
          </a:bodyPr>
          <a:lstStyle/>
          <a:p>
            <a:pPr algn="ctr"/>
            <a:r>
              <a:rPr sz="3000" b="1">
                <a:solidFill>
                  <a:srgbClr val="F2EFE2"/>
                </a:solidFill>
                <a:latin typeface="Readex Pro"/>
                <a:cs typeface="Readex Pro"/>
                <a:ea typeface="Readex Pro"/>
              </a:rPr>
              <a:t>Simplify where you read.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8 / 8</a:t>
            </a:r>
          </a:p>
        </p:txBody>
      </p:sp>
      <p:sp>
        <p:nvSpPr>
          <p:cNvPr id="6" name="TextBox 5"/>
          <p:cNvSpPr txBox="1"/>
          <p:nvPr/>
        </p:nvSpPr>
        <p:spPr>
          <a:xfrm>
            <a:off x="0" y="1691640"/>
            <a:ext cx="9902952" cy="502920"/>
          </a:xfrm>
          <a:prstGeom prst="rect">
            <a:avLst/>
          </a:prstGeom>
          <a:noFill/>
        </p:spPr>
        <p:txBody>
          <a:bodyPr wrap="square" lIns="0" rIns="0" tIns="0" bIns="0" anchor="ctr">
            <a:spAutoFit/>
          </a:bodyPr>
          <a:lstStyle/>
          <a:p>
            <a:pPr algn="ctr"/>
            <a:r>
              <a:rPr sz="2800" b="1">
                <a:solidFill>
                  <a:srgbClr val="F2EFE2"/>
                </a:solidFill>
                <a:latin typeface="Readex Pro"/>
                <a:cs typeface="Readex Pro"/>
                <a:ea typeface="Readex Pro"/>
              </a:rPr>
              <a:t>Simplify where you read.</a:t>
            </a:r>
          </a:p>
        </p:txBody>
      </p:sp>
      <p:sp>
        <p:nvSpPr>
          <p:cNvPr id="7" name="Rounded Rectangle 6"/>
          <p:cNvSpPr/>
          <p:nvPr/>
        </p:nvSpPr>
        <p:spPr>
          <a:xfrm>
            <a:off x="2318956" y="2606040"/>
            <a:ext cx="5265039"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no reader has used Bayan; one reader rated 30 outputs</a:t>
            </a:r>
          </a:p>
        </p:txBody>
      </p:sp>
      <p:sp>
        <p:nvSpPr>
          <p:cNvPr id="8" name="Rounded Rectangle 7"/>
          <p:cNvSpPr/>
          <p:nvPr/>
        </p:nvSpPr>
        <p:spPr>
          <a:xfrm>
            <a:off x="3236912" y="3172968"/>
            <a:ext cx="342912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our scorer is stricter than people</a:t>
            </a:r>
          </a:p>
        </p:txBody>
      </p:sp>
      <p:sp>
        <p:nvSpPr>
          <p:cNvPr id="9" name="Rounded Rectangle 8"/>
          <p:cNvSpPr/>
          <p:nvPr/>
        </p:nvSpPr>
        <p:spPr>
          <a:xfrm>
            <a:off x="2642552" y="3739896"/>
            <a:ext cx="461784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the comparison with people covers 18 sentences</a:t>
            </a:r>
          </a:p>
        </p:txBody>
      </p:sp>
      <p:sp>
        <p:nvSpPr>
          <p:cNvPr id="10" name="TextBox 9"/>
          <p:cNvSpPr txBox="1"/>
          <p:nvPr/>
        </p:nvSpPr>
        <p:spPr>
          <a:xfrm>
            <a:off x="0" y="4617720"/>
            <a:ext cx="9902952" cy="329184"/>
          </a:xfrm>
          <a:prstGeom prst="rect">
            <a:avLst/>
          </a:prstGeom>
          <a:noFill/>
        </p:spPr>
        <p:txBody>
          <a:bodyPr wrap="square" lIns="0" rIns="0" tIns="0" bIns="0" anchor="ctr">
            <a:spAutoFit/>
          </a:bodyPr>
          <a:lstStyle/>
          <a:p>
            <a:pPr algn="ctr"/>
            <a:r>
              <a:rPr sz="1500" b="0">
                <a:solidFill>
                  <a:srgbClr val="C6986B"/>
                </a:solidFill>
                <a:latin typeface="Readex Pro"/>
                <a:cs typeface="Readex Pro"/>
                <a:ea typeface="Readex Pro"/>
              </a:rPr>
              <a:t>Next: a reading study with more readers.</a:t>
            </a:r>
          </a:p>
        </p:txBody>
      </p:sp>
      <p:sp>
        <p:nvSpPr>
          <p:cNvPr id="11" name="TextBox 10"/>
          <p:cNvSpPr txBox="1"/>
          <p:nvPr/>
        </p:nvSpPr>
        <p:spPr>
          <a:xfrm>
            <a:off x="0" y="5074920"/>
            <a:ext cx="9902952" cy="274320"/>
          </a:xfrm>
          <a:prstGeom prst="rect">
            <a:avLst/>
          </a:prstGeom>
          <a:noFill/>
        </p:spPr>
        <p:txBody>
          <a:bodyPr wrap="square" lIns="0" rIns="0" tIns="0" bIns="0" anchor="ctr">
            <a:spAutoFit/>
          </a:bodyPr>
          <a:lstStyle/>
          <a:p>
            <a:pPr algn="ctr"/>
            <a:r>
              <a:rPr sz="1200" b="0">
                <a:solidFill>
                  <a:srgbClr val="A29D8C"/>
                </a:solidFill>
                <a:latin typeface="Readex Pro"/>
                <a:cs typeface="Readex Pro"/>
                <a:ea typeface="Readex Pro"/>
              </a:rPr>
              <a:t>Thank you  ·  Team Cogni  ·  Samsung Innovation Campus</a:t>
            </a:r>
          </a:p>
        </p:txBody>
      </p:sp>
    </p:spTree>
  </p:cSld>
  <p:clrMapOvr>
    <a:masterClrMapping/>
  </p:clrMapOvr>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amsung">
      <a:majorFont>
        <a:latin typeface="Samsung Sharp Sans"/>
        <a:ea typeface="SamsungOneKorean 700"/>
        <a:cs typeface=""/>
      </a:majorFont>
      <a:minorFont>
        <a:latin typeface="SamsungOne 400"/>
        <a:ea typeface="SamsungOneKorean 400"/>
        <a:cs typeface=""/>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971F96850C604FA9DD4A6FAA1D7E94" ma:contentTypeVersion="13" ma:contentTypeDescription="Create a new document." ma:contentTypeScope="" ma:versionID="94bb0226509be2894c83196f814f5ace">
  <xsd:schema xmlns:xsd="http://www.w3.org/2001/XMLSchema" xmlns:xs="http://www.w3.org/2001/XMLSchema" xmlns:p="http://schemas.microsoft.com/office/2006/metadata/properties" xmlns:ns2="5192ee0d-e524-4888-b581-1910cadcd210" xmlns:ns3="525df02f-3aee-47af-b2f3-c2ea8bcae9a6" targetNamespace="http://schemas.microsoft.com/office/2006/metadata/properties" ma:root="true" ma:fieldsID="eb19b1b986ba2b37eb36a9dd005ffe1c" ns2:_="" ns3:_="">
    <xsd:import namespace="5192ee0d-e524-4888-b581-1910cadcd210"/>
    <xsd:import namespace="525df02f-3aee-47af-b2f3-c2ea8bcae9a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BillingMetadata" minOccurs="0"/>
                <xsd:element ref="ns2:MediaServiceOCR"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92ee0d-e524-4888-b581-1910cadcd21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3ef62f9-2e07-484b-bd79-00aec90129fe" ma:termSetId="09814cd3-568e-fe90-9814-8d621ff8fb84" ma:anchorId="fba54fb3-c3e1-fe81-a776-ca4b69148c4d" ma:open="true" ma:isKeyword="false">
      <xsd:complexType>
        <xsd:sequence>
          <xsd:element ref="pc:Terms" minOccurs="0" maxOccurs="1"/>
        </xsd:sequence>
      </xsd:complex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element name="comment" ma:index="20"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25df02f-3aee-47af-b2f3-c2ea8bcae9a6"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f2df0d5-6bdf-4400-9605-4c2d2eede7e4}" ma:internalName="TaxCatchAll" ma:showField="CatchAllData" ma:web="525df02f-3aee-47af-b2f3-c2ea8bcae9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5df02f-3aee-47af-b2f3-c2ea8bcae9a6" xsi:nil="true"/>
    <lcf76f155ced4ddcb4097134ff3c332f xmlns="5192ee0d-e524-4888-b581-1910cadcd210">
      <Terms xmlns="http://schemas.microsoft.com/office/infopath/2007/PartnerControls"/>
    </lcf76f155ced4ddcb4097134ff3c332f>
    <comment xmlns="5192ee0d-e524-4888-b581-1910cadcd210" xsi:nil="true"/>
  </documentManagement>
</p:properties>
</file>

<file path=customXml/itemProps1.xml><?xml version="1.0" encoding="utf-8"?>
<ds:datastoreItem xmlns:ds="http://schemas.openxmlformats.org/officeDocument/2006/customXml" ds:itemID="{0A0357D8-C495-42E3-A0C0-6723B236FB34}"/>
</file>

<file path=customXml/itemProps2.xml><?xml version="1.0" encoding="utf-8"?>
<ds:datastoreItem xmlns:ds="http://schemas.openxmlformats.org/officeDocument/2006/customXml" ds:itemID="{F7A1BB24-B868-43EF-95F7-238FE3A157D5}"/>
</file>

<file path=customXml/itemProps3.xml><?xml version="1.0" encoding="utf-8"?>
<ds:datastoreItem xmlns:ds="http://schemas.openxmlformats.org/officeDocument/2006/customXml" ds:itemID="{83B4D1BC-3672-47C7-8E98-3D3B83A92BF9}"/>
</file>

<file path=docProps/app.xml><?xml version="1.0" encoding="utf-8"?>
<Properties xmlns="http://schemas.openxmlformats.org/officeDocument/2006/extended-properties" xmlns:vt="http://schemas.openxmlformats.org/officeDocument/2006/docPropsVTypes">
  <Template/>
  <TotalTime>4279</TotalTime>
  <Words>65</Words>
  <Application>Microsoft Office PowerPoint</Application>
  <PresentationFormat>사용자 지정</PresentationFormat>
  <Paragraphs>23</Paragraphs>
  <Slides>4</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vt:i4>
      </vt:variant>
    </vt:vector>
  </HeadingPairs>
  <TitlesOfParts>
    <vt:vector size="14" baseType="lpstr">
      <vt:lpstr>SamsungOne 400</vt:lpstr>
      <vt:lpstr>Samsung Sharp Sans Bold</vt:lpstr>
      <vt:lpstr>Samsung Sharp Sans</vt:lpstr>
      <vt:lpstr>Calibri</vt:lpstr>
      <vt:lpstr>Arial</vt:lpstr>
      <vt:lpstr>Samsung Sharp Sans Medium</vt:lpstr>
      <vt:lpstr>맑은 고딕</vt:lpstr>
      <vt:lpstr>SamsungOne 700</vt:lpstr>
      <vt:lpstr>SamsungOne 400C</vt:lpstr>
      <vt:lpstr>Office Theme</vt:lpstr>
      <vt:lpstr>Project Name</vt:lpstr>
      <vt:lpstr>PowerPoint 프레젠테이션</vt:lpstr>
      <vt:lpstr>Slide Title</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Programming in Python</dc:title>
  <dc:creator>Soon Yong Chang</dc:creator>
  <cp:lastModifiedBy>이 선우</cp:lastModifiedBy>
  <cp:revision>2081</cp:revision>
  <dcterms:created xsi:type="dcterms:W3CDTF">2019-07-06T14:12:49Z</dcterms:created>
  <dcterms:modified xsi:type="dcterms:W3CDTF">2025-12-26T06:30:13Z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0x010100EB971F96850C604FA9DD4A6FAA1D7E94</vt:lpwstr>
  </property>
</Properties>
</file>