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3" r:id="rId1"/>
  </p:sldMasterIdLst>
  <p:notesMasterIdLst>
    <p:notesMasterId r:id="rId6"/>
  </p:notesMasterIdLst>
  <p:sldIdLst>
    <p:sldId id="256" r:id="rId5"/>
    <p:sldId id="257" r:id="rId4"/>
    <p:sldId id="258" r:id="rId3"/>
    <p:sldId id="259" r:id="rId2"/>
    <p:sldId id="260" r:id="rId24"/>
    <p:sldId id="261" r:id="rId25"/>
    <p:sldId id="262" r:id="rId26"/>
    <p:sldId id="263" r:id="rId27"/>
    <p:sldId id="264" r:id="rId28"/>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Lst>
  <p:sldSz cx="9902825" cy="6858000"/>
  <p:notesSz cx="6858000" cy="9144000"/>
  <p:embeddedFontLst>
    <p:embeddedFont>
      <p:font typeface="Samsung Sharp Sans" pitchFamily="2" charset="0"/>
      <p:regular r:id="rId7"/>
      <p:bold r:id="rId8"/>
    </p:embeddedFont>
    <p:embeddedFont>
      <p:font typeface="Samsung Sharp Sans Bold" pitchFamily="2" charset="0"/>
      <p:bold r:id="rId9"/>
    </p:embeddedFont>
    <p:embeddedFont>
      <p:font typeface="Samsung Sharp Sans Medium" pitchFamily="2" charset="0"/>
      <p:bold r:id="rId10"/>
    </p:embeddedFont>
    <p:embeddedFont>
      <p:font typeface="SamsungOne 400" panose="020B0503030303020204" pitchFamily="34" charset="0"/>
      <p:regular r:id="rId11"/>
    </p:embeddedFont>
    <p:embeddedFont>
      <p:font typeface="SamsungOne 400C" panose="020B0506030303020204" charset="0"/>
      <p:regular r:id="rId12"/>
    </p:embeddedFont>
    <p:embeddedFont>
      <p:font typeface="SamsungOne 700" panose="020B0803030303020204" pitchFamily="34" charset="0"/>
      <p:bold r:id="rId13"/>
    </p:embeddedFont>
    <p:embeddedFont>
      <p:font typeface="맑은 고딕" panose="020B0503020000020004" pitchFamily="50" charset="-127"/>
      <p:regular r:id="rId14"/>
      <p:bold r:id="rId1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119" userDrawn="1">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93EB0"/>
    <a:srgbClr val="FFB546"/>
    <a:srgbClr val="FF4337"/>
    <a:srgbClr val="00B3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3" autoAdjust="0"/>
    <p:restoredTop sz="72205" autoAdjust="0"/>
  </p:normalViewPr>
  <p:slideViewPr>
    <p:cSldViewPr snapToGrid="0">
      <p:cViewPr varScale="1">
        <p:scale>
          <a:sx n="110" d="100"/>
          <a:sy n="110" d="100"/>
        </p:scale>
        <p:origin x="1386" y="114"/>
      </p:cViewPr>
      <p:guideLst>
        <p:guide pos="3119"/>
        <p:guide orient="horz" pos="2160"/>
      </p:guideLst>
    </p:cSldViewPr>
  </p:slideViewPr>
  <p:notesTextViewPr>
    <p:cViewPr>
      <p:scale>
        <a:sx n="125" d="100"/>
        <a:sy n="125"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font" Target="fonts/font1.fntdata"/><Relationship Id="rId8" Type="http://schemas.openxmlformats.org/officeDocument/2006/relationships/font" Target="fonts/font2.fntdata"/><Relationship Id="rId9" Type="http://schemas.openxmlformats.org/officeDocument/2006/relationships/font" Target="fonts/font3.fntdata"/><Relationship Id="rId10" Type="http://schemas.openxmlformats.org/officeDocument/2006/relationships/font" Target="fonts/font4.fntdata"/><Relationship Id="rId11" Type="http://schemas.openxmlformats.org/officeDocument/2006/relationships/font" Target="fonts/font5.fntdata"/><Relationship Id="rId12" Type="http://schemas.openxmlformats.org/officeDocument/2006/relationships/font" Target="fonts/font6.fntdata"/><Relationship Id="rId13" Type="http://schemas.openxmlformats.org/officeDocument/2006/relationships/font" Target="fonts/font7.fntdata"/><Relationship Id="rId14" Type="http://schemas.openxmlformats.org/officeDocument/2006/relationships/font" Target="fonts/font8.fntdata"/><Relationship Id="rId15" Type="http://schemas.openxmlformats.org/officeDocument/2006/relationships/font" Target="fonts/font9.fntdata"/><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customXml" Target="../customXml/item1.xml"/><Relationship Id="rId22" Type="http://schemas.openxmlformats.org/officeDocument/2006/relationships/customXml" Target="../customXml/item2.xml"/><Relationship Id="rId23" Type="http://schemas.openxmlformats.org/officeDocument/2006/relationships/customXml" Target="../customXml/item3.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이 선우" userId="0fe69268-fa1a-4efe-9dc5-d4012ab1114b" providerId="ADAL" clId="{C52B7E7F-94C4-473C-B7E9-B27EED8C6190}"/>
    <pc:docChg chg="modMainMaster">
      <pc:chgData name="이 선우" userId="0fe69268-fa1a-4efe-9dc5-d4012ab1114b" providerId="ADAL" clId="{C52B7E7F-94C4-473C-B7E9-B27EED8C6190}" dt="2025-12-26T06:30:10.164" v="2" actId="20577"/>
      <pc:docMkLst>
        <pc:docMk/>
      </pc:docMkLst>
      <pc:sldMasterChg chg="modSldLayout">
        <pc:chgData name="이 선우" userId="0fe69268-fa1a-4efe-9dc5-d4012ab1114b" providerId="ADAL" clId="{C52B7E7F-94C4-473C-B7E9-B27EED8C6190}" dt="2025-12-26T06:30:10.164" v="2" actId="20577"/>
        <pc:sldMasterMkLst>
          <pc:docMk/>
          <pc:sldMasterMk cId="3477928821" sldId="2147483683"/>
        </pc:sldMasterMkLst>
        <pc:sldLayoutChg chg="modSp mod">
          <pc:chgData name="이 선우" userId="0fe69268-fa1a-4efe-9dc5-d4012ab1114b" providerId="ADAL" clId="{C52B7E7F-94C4-473C-B7E9-B27EED8C6190}" dt="2025-12-26T06:30:10.164" v="2" actId="20577"/>
          <pc:sldLayoutMkLst>
            <pc:docMk/>
            <pc:sldMasterMk cId="3477928821" sldId="2147483683"/>
            <pc:sldLayoutMk cId="1227834196" sldId="2147483689"/>
          </pc:sldLayoutMkLst>
          <pc:spChg chg="mod">
            <ac:chgData name="이 선우" userId="0fe69268-fa1a-4efe-9dc5-d4012ab1114b" providerId="ADAL" clId="{C52B7E7F-94C4-473C-B7E9-B27EED8C6190}" dt="2025-12-26T06:30:10.164" v="2" actId="20577"/>
            <ac:spMkLst>
              <pc:docMk/>
              <pc:sldMasterMk cId="3477928821" sldId="2147483683"/>
              <pc:sldLayoutMk cId="1227834196" sldId="2147483689"/>
              <ac:spMk id="7" creationId="{782B242C-8600-47F0-98D5-6EA512C41BF2}"/>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B57C17-E6FD-4AF5-A787-31E9CCE99A85}" type="datetimeFigureOut">
              <a:rPr lang="ko-KR" altLang="en-US" smtClean="0"/>
              <a:t>2025-12-26</a:t>
            </a:fld>
            <a:endParaRPr lang="ko-KR" altLang="en-US" dirty="0"/>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59C55F-00F1-4985-9065-F2D92AE05D03}" type="slidenum">
              <a:rPr lang="ko-KR" altLang="en-US" smtClean="0"/>
              <a:t>‹#›</a:t>
            </a:fld>
            <a:endParaRPr lang="ko-KR" altLang="en-US" dirty="0"/>
          </a:p>
        </p:txBody>
      </p:sp>
    </p:spTree>
    <p:extLst>
      <p:ext uri="{BB962C8B-B14F-4D97-AF65-F5344CB8AC3E}">
        <p14:creationId xmlns:p14="http://schemas.microsoft.com/office/powerpoint/2010/main" val="9912534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The logo draws itself, then the title and team appear)</a:t>
            </a:r>
          </a:p>
          <a:p>
            <a:r>
              <a:t>This is Bayan: an Android tool that simplifies hard Arabic where you read, on your phone. Building it was fine. Checking it was the hard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Tashkeel is a setting in the app,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Tashkeel is a setting in the app,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Five connected stages: sources, leakage check, meaning gate, fine-tune, measure)</a:t>
            </a:r>
          </a:p>
          <a:p>
            <a:r>
              <a:t>One pipeline carried every version. The sources pass a leakage check, then a meaning gate set at point eight five, then fine-tuning, then measuring on BayanBench.</a:t>
            </a:r>
          </a:p>
          <a:p/>
          <a:p>
            <a:r>
              <a:t>▶ Step 2 (step 2 (auto); A feedback loop closes back on the sources, carrying the three version findings)</a:t>
            </a:r>
          </a:p>
          <a:p>
            <a:r>
              <a:t>And the loop is the point: every measurement came back as the next version's data. v0.1 taught us that copying wins and the model only swaps words. v0.2 taught us that meaning breaks first. v0.3 rebuilt the data around those two findings, and it keeps meaning in eighty-two percent of outputs.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Five connected stages: sources, leakage check, meaning gate, fine-tune, measure)</a:t>
            </a:r>
          </a:p>
          <a:p>
            <a:r>
              <a:t>One pipeline carried every version. The sources pass a leakage check, then a meaning gate set at point eight five, then fine-tuning, then measuring on BayanBench.</a:t>
            </a:r>
          </a:p>
          <a:p/>
          <a:p>
            <a:r>
              <a:t>▶ Step 2 (step 2 (auto); A feedback loop closes back on the sources, carrying the three version findings)</a:t>
            </a:r>
          </a:p>
          <a:p>
            <a:r>
              <a:t>And the loop is the point: every measurement came back as the next version's data. v0.1 taught us that copying wins and the model only swaps words. v0.2 taught us that meaning breaks first. v0.3 rebuilt the data around those two findings, and it keeps meaning in eighty-two percent of outputs.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Heading 'What the app does' and the video recording under it)</a:t>
            </a:r>
          </a:p>
          <a:p>
            <a:r>
              <a:t>On a phone: select, tap tabseet, and it reads aloud. Scripture never reaches the model, and code checks that numbers survive.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5" name="슬라이드 번호 개체 틀 15">
            <a:extLst>
              <a:ext uri="{FF2B5EF4-FFF2-40B4-BE49-F238E27FC236}">
                <a16:creationId xmlns:a16="http://schemas.microsoft.com/office/drawing/2014/main" id="{CCEC8F59-794B-4743-A6D7-1BC9720006CB}"/>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56667998"/>
      </p:ext>
    </p:extLst>
  </p:cSld>
  <p:clrMapOvr>
    <a:masterClrMapping/>
  </p:clrMapOvr>
  <p:extLst>
    <p:ext uri="{DCECCB84-F9BA-43D5-87BE-67443E8EF086}">
      <p15:sldGuideLst xmlns:p15="http://schemas.microsoft.com/office/powerpoint/2012/main">
        <p15:guide id="2" pos="285">
          <p15:clr>
            <a:srgbClr val="FBAE40"/>
          </p15:clr>
        </p15:guide>
        <p15:guide id="3" pos="5955">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p:bg>
      <p:bgPr>
        <a:solidFill>
          <a:schemeClr val="bg1">
            <a:lumMod val="95000"/>
          </a:schemeClr>
        </a:solidFill>
        <a:effectLst/>
      </p:bgPr>
    </p:bg>
    <p:spTree>
      <p:nvGrpSpPr>
        <p:cNvPr id="1" name=""/>
        <p:cNvGrpSpPr/>
        <p:nvPr/>
      </p:nvGrpSpPr>
      <p:grpSpPr>
        <a:xfrm>
          <a:off x="0" y="0"/>
          <a:ext cx="0" cy="0"/>
          <a:chOff x="0" y="0"/>
          <a:chExt cx="0" cy="0"/>
        </a:xfrm>
      </p:grpSpPr>
      <p:pic>
        <p:nvPicPr>
          <p:cNvPr id="9" name="그림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6"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10" name="그림 9"/>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
        <p:nvSpPr>
          <p:cNvPr id="7" name="직사각형 133">
            <a:extLst>
              <a:ext uri="{FF2B5EF4-FFF2-40B4-BE49-F238E27FC236}">
                <a16:creationId xmlns:a16="http://schemas.microsoft.com/office/drawing/2014/main" id="{DE8CAD59-3F29-4FBB-AE0A-697DDFD5E69E}"/>
              </a:ext>
            </a:extLst>
          </p:cNvPr>
          <p:cNvSpPr/>
          <p:nvPr userDrawn="1"/>
        </p:nvSpPr>
        <p:spPr>
          <a:xfrm>
            <a:off x="990000" y="4320000"/>
            <a:ext cx="5832526" cy="3693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914400" latinLnBrk="1">
              <a:defRPr/>
            </a:pPr>
            <a:r>
              <a:rPr lang="en-US" altLang="ko-KR" sz="2400" baseline="0" dirty="0">
                <a:solidFill>
                  <a:srgbClr val="1428A0"/>
                </a:solidFill>
                <a:latin typeface="Samsung Sharp Sans" pitchFamily="2" charset="0"/>
                <a:ea typeface="Samsung Sharp Sans" pitchFamily="2" charset="0"/>
                <a:cs typeface="Samsung Sharp Sans" pitchFamily="2" charset="0"/>
              </a:rPr>
              <a:t>Artificial Intelligence Course</a:t>
            </a:r>
            <a:endParaRPr lang="ko-KR" altLang="en-US" sz="2400" dirty="0">
              <a:solidFill>
                <a:srgbClr val="1428A0"/>
              </a:solidFill>
              <a:latin typeface="Samsung Sharp Sans" pitchFamily="2" charset="0"/>
              <a:ea typeface="Samsung Sharp Sans" pitchFamily="2" charset="0"/>
              <a:cs typeface="Samsung Sharp Sans" pitchFamily="2" charset="0"/>
            </a:endParaRPr>
          </a:p>
        </p:txBody>
      </p:sp>
      <p:sp>
        <p:nvSpPr>
          <p:cNvPr id="8" name="직사각형 7">
            <a:extLst>
              <a:ext uri="{FF2B5EF4-FFF2-40B4-BE49-F238E27FC236}">
                <a16:creationId xmlns:a16="http://schemas.microsoft.com/office/drawing/2014/main" id="{86149771-D78D-40D7-8B97-564358008D8D}"/>
              </a:ext>
            </a:extLst>
          </p:cNvPr>
          <p:cNvSpPr/>
          <p:nvPr userDrawn="1"/>
        </p:nvSpPr>
        <p:spPr>
          <a:xfrm>
            <a:off x="724689" y="4320000"/>
            <a:ext cx="54000" cy="360000"/>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1" name="텍스트 개체 틀 18">
            <a:extLst>
              <a:ext uri="{FF2B5EF4-FFF2-40B4-BE49-F238E27FC236}">
                <a16:creationId xmlns:a16="http://schemas.microsoft.com/office/drawing/2014/main" id="{02AC410D-7805-4DA9-915F-991D726861C7}"/>
              </a:ext>
            </a:extLst>
          </p:cNvPr>
          <p:cNvSpPr>
            <a:spLocks noGrp="1"/>
          </p:cNvSpPr>
          <p:nvPr>
            <p:ph type="body" sz="quarter" idx="11" hasCustomPrompt="1"/>
          </p:nvPr>
        </p:nvSpPr>
        <p:spPr>
          <a:xfrm>
            <a:off x="720000" y="3551768"/>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
        <p:nvSpPr>
          <p:cNvPr id="12" name="제목 2">
            <a:extLst>
              <a:ext uri="{FF2B5EF4-FFF2-40B4-BE49-F238E27FC236}">
                <a16:creationId xmlns:a16="http://schemas.microsoft.com/office/drawing/2014/main" id="{44AF0917-EEBC-44C5-8BA6-F1CA2AFA4B1E}"/>
              </a:ext>
            </a:extLst>
          </p:cNvPr>
          <p:cNvSpPr>
            <a:spLocks noGrp="1"/>
          </p:cNvSpPr>
          <p:nvPr>
            <p:ph type="title" hasCustomPrompt="1"/>
          </p:nvPr>
        </p:nvSpPr>
        <p:spPr>
          <a:xfrm>
            <a:off x="720000" y="1710000"/>
            <a:ext cx="5221019" cy="14773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8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Tree>
    <p:extLst>
      <p:ext uri="{BB962C8B-B14F-4D97-AF65-F5344CB8AC3E}">
        <p14:creationId xmlns:p14="http://schemas.microsoft.com/office/powerpoint/2010/main" val="3032291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직사각형 133">
            <a:extLst>
              <a:ext uri="{FF2B5EF4-FFF2-40B4-BE49-F238E27FC236}">
                <a16:creationId xmlns:a16="http://schemas.microsoft.com/office/drawing/2014/main" id="{7A4BCBFF-5289-45FE-BA09-DFF42AF8A347}"/>
              </a:ext>
            </a:extLst>
          </p:cNvPr>
          <p:cNvSpPr/>
          <p:nvPr userDrawn="1"/>
        </p:nvSpPr>
        <p:spPr>
          <a:xfrm>
            <a:off x="990000" y="4157757"/>
            <a:ext cx="3563339" cy="3231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457200">
              <a:defRPr/>
            </a:pPr>
            <a:r>
              <a:rPr lang="en-US" altLang="ko-KR" sz="2100" dirty="0">
                <a:solidFill>
                  <a:srgbClr val="1428A0"/>
                </a:solidFill>
                <a:latin typeface="Samsung Sharp Sans" pitchFamily="2" charset="0"/>
                <a:ea typeface="Samsung Sharp Sans" pitchFamily="2" charset="0"/>
                <a:cs typeface="Samsung Sharp Sans" pitchFamily="2" charset="0"/>
              </a:rPr>
              <a:t>AI Course</a:t>
            </a:r>
            <a:endParaRPr lang="ko-KR" altLang="en-US" sz="2100" dirty="0">
              <a:solidFill>
                <a:srgbClr val="1428A0"/>
              </a:solidFill>
              <a:latin typeface="Samsung Sharp Sans" pitchFamily="2" charset="0"/>
              <a:ea typeface="Samsung Sharp Sans" pitchFamily="2" charset="0"/>
              <a:cs typeface="Samsung Sharp Sans" pitchFamily="2" charset="0"/>
            </a:endParaRPr>
          </a:p>
        </p:txBody>
      </p:sp>
      <p:sp>
        <p:nvSpPr>
          <p:cNvPr id="9" name="직사각형 8">
            <a:extLst>
              <a:ext uri="{FF2B5EF4-FFF2-40B4-BE49-F238E27FC236}">
                <a16:creationId xmlns:a16="http://schemas.microsoft.com/office/drawing/2014/main" id="{4AA6CFBD-D9B3-4245-A68B-1D7EC1CB6F07}"/>
              </a:ext>
            </a:extLst>
          </p:cNvPr>
          <p:cNvSpPr/>
          <p:nvPr userDrawn="1"/>
        </p:nvSpPr>
        <p:spPr>
          <a:xfrm>
            <a:off x="720000" y="2095275"/>
            <a:ext cx="60008" cy="1759369"/>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0" name="직사각형 9">
            <a:extLst>
              <a:ext uri="{FF2B5EF4-FFF2-40B4-BE49-F238E27FC236}">
                <a16:creationId xmlns:a16="http://schemas.microsoft.com/office/drawing/2014/main" id="{1B2EB59A-603F-4715-ABA1-D9DF69D44512}"/>
              </a:ext>
            </a:extLst>
          </p:cNvPr>
          <p:cNvSpPr/>
          <p:nvPr userDrawn="1"/>
        </p:nvSpPr>
        <p:spPr>
          <a:xfrm>
            <a:off x="720000" y="4157757"/>
            <a:ext cx="60008" cy="323165"/>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3" name="제목 2">
            <a:extLst>
              <a:ext uri="{FF2B5EF4-FFF2-40B4-BE49-F238E27FC236}">
                <a16:creationId xmlns:a16="http://schemas.microsoft.com/office/drawing/2014/main" id="{CF6BC111-C555-4B09-8375-33C4F4C2FBB5}"/>
              </a:ext>
            </a:extLst>
          </p:cNvPr>
          <p:cNvSpPr>
            <a:spLocks noGrp="1"/>
          </p:cNvSpPr>
          <p:nvPr>
            <p:ph type="title" hasCustomPrompt="1"/>
          </p:nvPr>
        </p:nvSpPr>
        <p:spPr>
          <a:xfrm>
            <a:off x="990000" y="2095275"/>
            <a:ext cx="5221019" cy="135421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4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
        <p:nvSpPr>
          <p:cNvPr id="17" name="텍스트 개체 틀 18">
            <a:extLst>
              <a:ext uri="{FF2B5EF4-FFF2-40B4-BE49-F238E27FC236}">
                <a16:creationId xmlns:a16="http://schemas.microsoft.com/office/drawing/2014/main" id="{CBEAE583-0BAA-455B-9555-B00A4FE8B1C9}"/>
              </a:ext>
            </a:extLst>
          </p:cNvPr>
          <p:cNvSpPr>
            <a:spLocks noGrp="1"/>
          </p:cNvSpPr>
          <p:nvPr>
            <p:ph type="body" sz="quarter" idx="11" hasCustomPrompt="1"/>
          </p:nvPr>
        </p:nvSpPr>
        <p:spPr>
          <a:xfrm>
            <a:off x="990000" y="3577645"/>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Tree>
    <p:extLst>
      <p:ext uri="{BB962C8B-B14F-4D97-AF65-F5344CB8AC3E}">
        <p14:creationId xmlns:p14="http://schemas.microsoft.com/office/powerpoint/2010/main" val="690312953"/>
      </p:ext>
    </p:extLst>
  </p:cSld>
  <p:clrMapOvr>
    <a:masterClrMapping/>
  </p:clrMapOvr>
  <p:extLst>
    <p:ext uri="{DCECCB84-F9BA-43D5-87BE-67443E8EF086}">
      <p15:sldGuideLst xmlns:p15="http://schemas.microsoft.com/office/powerpoint/2012/main">
        <p15:guide id="1" orient="horz" pos="2614" userDrawn="1">
          <p15:clr>
            <a:srgbClr val="FBAE40"/>
          </p15:clr>
        </p15:guide>
        <p15:guide id="2" pos="443" userDrawn="1">
          <p15:clr>
            <a:srgbClr val="FBAE40"/>
          </p15:clr>
        </p15:guide>
        <p15:guide id="3" pos="5955">
          <p15:clr>
            <a:srgbClr val="FBAE40"/>
          </p15:clr>
        </p15:guide>
        <p15:guide id="4" pos="609"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3" name="제목 2">
            <a:extLst>
              <a:ext uri="{FF2B5EF4-FFF2-40B4-BE49-F238E27FC236}">
                <a16:creationId xmlns:a16="http://schemas.microsoft.com/office/drawing/2014/main" id="{4625E1FE-2B04-4D8E-A51A-6B9CEC7B3790}"/>
              </a:ext>
            </a:extLst>
          </p:cNvPr>
          <p:cNvSpPr>
            <a:spLocks noGrp="1"/>
          </p:cNvSpPr>
          <p:nvPr>
            <p:ph type="title" hasCustomPrompt="1"/>
          </p:nvPr>
        </p:nvSpPr>
        <p:spPr>
          <a:xfrm>
            <a:off x="449468" y="1440000"/>
            <a:ext cx="8541187" cy="49244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spcBef>
                <a:spcPts val="0"/>
              </a:spcBef>
              <a:defRPr lang="ko-KR" altLang="en-US" sz="3200">
                <a:solidFill>
                  <a:schemeClr val="tx1">
                    <a:lumMod val="95000"/>
                    <a:lumOff val="5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Slide Title</a:t>
            </a:r>
            <a:endParaRPr lang="ko-KR" altLang="en-US" dirty="0"/>
          </a:p>
        </p:txBody>
      </p:sp>
      <p:sp>
        <p:nvSpPr>
          <p:cNvPr id="19" name="텍스트 개체 틀 18">
            <a:extLst>
              <a:ext uri="{FF2B5EF4-FFF2-40B4-BE49-F238E27FC236}">
                <a16:creationId xmlns:a16="http://schemas.microsoft.com/office/drawing/2014/main" id="{DFEC8C6A-D95C-4B3C-9803-6F9071BF0C29}"/>
              </a:ext>
            </a:extLst>
          </p:cNvPr>
          <p:cNvSpPr>
            <a:spLocks noGrp="1"/>
          </p:cNvSpPr>
          <p:nvPr>
            <p:ph type="body" sz="quarter" idx="10" hasCustomPrompt="1"/>
          </p:nvPr>
        </p:nvSpPr>
        <p:spPr>
          <a:xfrm>
            <a:off x="449468" y="450000"/>
            <a:ext cx="323896" cy="27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No</a:t>
            </a:r>
            <a:endParaRPr lang="ko-KR" altLang="en-US" dirty="0"/>
          </a:p>
        </p:txBody>
      </p:sp>
      <p:sp>
        <p:nvSpPr>
          <p:cNvPr id="20" name="텍스트 개체 틀 18">
            <a:extLst>
              <a:ext uri="{FF2B5EF4-FFF2-40B4-BE49-F238E27FC236}">
                <a16:creationId xmlns:a16="http://schemas.microsoft.com/office/drawing/2014/main" id="{6DA22BCA-E7E2-4377-AD8E-AC1336C3DB31}"/>
              </a:ext>
            </a:extLst>
          </p:cNvPr>
          <p:cNvSpPr>
            <a:spLocks noGrp="1"/>
          </p:cNvSpPr>
          <p:nvPr>
            <p:ph type="body" sz="quarter" idx="11" hasCustomPrompt="1"/>
          </p:nvPr>
        </p:nvSpPr>
        <p:spPr>
          <a:xfrm>
            <a:off x="790000" y="450001"/>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Bold" pitchFamily="2" charset="0"/>
                <a:ea typeface="Samsung Sharp Sans Bold" pitchFamily="2" charset="0"/>
                <a:cs typeface="Samsung Sharp Sans Bold" pitchFamily="2" charset="0"/>
              </a:defRPr>
            </a:lvl1pPr>
          </a:lstStyle>
          <a:p>
            <a:pPr marL="0" lvl="0" defTabSz="457050" latinLnBrk="0"/>
            <a:r>
              <a:rPr lang="en-US" altLang="ko-KR" dirty="0"/>
              <a:t>Subtitle</a:t>
            </a:r>
            <a:endParaRPr lang="ko-KR" altLang="en-US" dirty="0"/>
          </a:p>
        </p:txBody>
      </p:sp>
      <p:sp>
        <p:nvSpPr>
          <p:cNvPr id="21" name="텍스트 개체 틀 18">
            <a:extLst>
              <a:ext uri="{FF2B5EF4-FFF2-40B4-BE49-F238E27FC236}">
                <a16:creationId xmlns:a16="http://schemas.microsoft.com/office/drawing/2014/main" id="{7647BD6A-5F13-45AE-859C-AF2BA0A739E6}"/>
              </a:ext>
            </a:extLst>
          </p:cNvPr>
          <p:cNvSpPr>
            <a:spLocks noGrp="1"/>
          </p:cNvSpPr>
          <p:nvPr>
            <p:ph type="body" sz="quarter" idx="12" hasCustomPrompt="1"/>
          </p:nvPr>
        </p:nvSpPr>
        <p:spPr>
          <a:xfrm>
            <a:off x="9112825" y="480779"/>
            <a:ext cx="340625" cy="246221"/>
          </a:xfrm>
          <a:prstGeom prst="rect">
            <a:avLst/>
          </a:prstGeom>
        </p:spPr>
        <p:txBody>
          <a:bodyPr wrap="square" lIns="0" tIns="0" rIns="0" bIns="0">
            <a:spAutoFit/>
          </a:bodyPr>
          <a:lstStyle>
            <a:lvl1pPr marL="0" indent="0" algn="r">
              <a:lnSpc>
                <a:spcPct val="100000"/>
              </a:lnSpc>
              <a:spcBef>
                <a:spcPts val="0"/>
              </a:spcBef>
              <a:buNone/>
              <a:defRPr lang="ko-KR" altLang="en-US" sz="1600" dirty="0">
                <a:solidFill>
                  <a:schemeClr val="bg1">
                    <a:lumMod val="85000"/>
                  </a:schemeClr>
                </a:solidFill>
                <a:latin typeface="Samsung Sharp Sans Bold" pitchFamily="2" charset="0"/>
                <a:ea typeface="Samsung Sharp Sans Bold" pitchFamily="2" charset="0"/>
                <a:cs typeface="Samsung Sharp Sans Bold" pitchFamily="2" charset="0"/>
              </a:defRPr>
            </a:lvl1pPr>
          </a:lstStyle>
          <a:p>
            <a:pPr marL="0" lvl="0" algn="r" defTabSz="457063" latinLnBrk="0"/>
            <a:r>
              <a:rPr lang="en-US" altLang="ko-KR" dirty="0"/>
              <a:t>00</a:t>
            </a:r>
            <a:endParaRPr lang="ko-KR" altLang="en-US" dirty="0"/>
          </a:p>
        </p:txBody>
      </p:sp>
      <p:sp>
        <p:nvSpPr>
          <p:cNvPr id="23" name="텍스트 개체 틀 18">
            <a:extLst>
              <a:ext uri="{FF2B5EF4-FFF2-40B4-BE49-F238E27FC236}">
                <a16:creationId xmlns:a16="http://schemas.microsoft.com/office/drawing/2014/main" id="{3A9667F7-80AD-4A7A-8543-285975B06BE3}"/>
              </a:ext>
            </a:extLst>
          </p:cNvPr>
          <p:cNvSpPr>
            <a:spLocks noGrp="1"/>
          </p:cNvSpPr>
          <p:nvPr>
            <p:ph type="body" sz="quarter" idx="13" hasCustomPrompt="1"/>
          </p:nvPr>
        </p:nvSpPr>
        <p:spPr>
          <a:xfrm>
            <a:off x="8740667" y="480779"/>
            <a:ext cx="467850" cy="2462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600" dirty="0">
                <a:solidFill>
                  <a:schemeClr val="bg1">
                    <a:lumMod val="85000"/>
                  </a:schemeClr>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UNIT</a:t>
            </a:r>
            <a:endParaRPr lang="ko-KR" altLang="en-US" dirty="0"/>
          </a:p>
        </p:txBody>
      </p:sp>
      <p:sp>
        <p:nvSpPr>
          <p:cNvPr id="16" name="텍스트 개체 틀 7">
            <a:extLst>
              <a:ext uri="{FF2B5EF4-FFF2-40B4-BE49-F238E27FC236}">
                <a16:creationId xmlns:a16="http://schemas.microsoft.com/office/drawing/2014/main" id="{B6D584F0-F100-4FB4-B935-0E81DB1D3B51}"/>
              </a:ext>
            </a:extLst>
          </p:cNvPr>
          <p:cNvSpPr>
            <a:spLocks noGrp="1"/>
          </p:cNvSpPr>
          <p:nvPr>
            <p:ph type="body" sz="quarter" idx="15" hasCustomPrompt="1"/>
          </p:nvPr>
        </p:nvSpPr>
        <p:spPr>
          <a:xfrm>
            <a:off x="522288" y="2221661"/>
            <a:ext cx="8055439" cy="914400"/>
          </a:xfrm>
          <a:prstGeom prst="rect">
            <a:avLst/>
          </a:prstGeom>
        </p:spPr>
        <p:txBody>
          <a:bodyPr lIns="0" tIns="0" rIns="0" bIns="0"/>
          <a:lstStyle>
            <a:lvl1pPr marL="177747" indent="-177747">
              <a:lnSpc>
                <a:spcPts val="1800"/>
              </a:lnSpc>
              <a:buSzPct val="105000"/>
              <a:buFontTx/>
              <a:buBlip>
                <a:blip r:embed="rId3"/>
              </a:buBlip>
              <a:defRPr kumimoji="1" lang="en-US" altLang="ko-KR" sz="1400" kern="120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1pPr>
            <a:lvl2pPr marL="360255" indent="-182508">
              <a:lnSpc>
                <a:spcPts val="1800"/>
              </a:lnSpc>
              <a:buSzPct val="80000"/>
              <a:buFontTx/>
              <a:buBlip>
                <a:blip r:embed="rId4"/>
              </a:buBlip>
              <a:tabLst>
                <a:tab pos="447541" algn="l"/>
              </a:tabLst>
              <a:defRPr lang="en-US" altLang="ko-KR" sz="1300" kern="1200" dirty="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2pPr>
          </a:lstStyle>
          <a:p>
            <a:pPr lvl="0"/>
            <a:r>
              <a:rPr lang="en-US" altLang="ko-KR" dirty="0"/>
              <a:t>Level1</a:t>
            </a:r>
          </a:p>
          <a:p>
            <a:pPr lvl="1"/>
            <a:r>
              <a:rPr lang="en-US" altLang="ko-KR" dirty="0"/>
              <a:t>Level2</a:t>
            </a:r>
          </a:p>
          <a:p>
            <a:pPr lvl="1"/>
            <a:endParaRPr lang="en-US" altLang="ko-KR" dirty="0"/>
          </a:p>
          <a:p>
            <a:pPr marL="628461" lvl="1" indent="-207901" algn="l" defTabSz="843830" rtl="0" eaLnBrk="1" latinLnBrk="1" hangingPunct="1">
              <a:lnSpc>
                <a:spcPct val="90000"/>
              </a:lnSpc>
              <a:spcBef>
                <a:spcPts val="462"/>
              </a:spcBef>
              <a:buSzPct val="90000"/>
              <a:buFontTx/>
              <a:buBlip>
                <a:blip r:embed="rId5"/>
              </a:buBlip>
            </a:pPr>
            <a:endParaRPr lang="en-US" altLang="ko-KR" dirty="0"/>
          </a:p>
          <a:p>
            <a:pPr lvl="1"/>
            <a:endParaRPr lang="ko-KR" altLang="en-US" dirty="0"/>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102046736"/>
      </p:ext>
    </p:extLst>
  </p:cSld>
  <p:clrMapOvr>
    <a:masterClrMapping/>
  </p:clrMapOvr>
  <p:extLst>
    <p:ext uri="{DCECCB84-F9BA-43D5-87BE-67443E8EF086}">
      <p15:sldGuideLst xmlns:p15="http://schemas.microsoft.com/office/powerpoint/2012/main">
        <p15:guide id="1" orient="horz" pos="902" userDrawn="1">
          <p15:clr>
            <a:srgbClr val="FBAE40"/>
          </p15:clr>
        </p15:guide>
        <p15:guide id="2" pos="285">
          <p15:clr>
            <a:srgbClr val="FBAE40"/>
          </p15:clr>
        </p15:guide>
        <p15:guide id="3" pos="5955">
          <p15:clr>
            <a:srgbClr val="FBAE40"/>
          </p15:clr>
        </p15:guide>
        <p15:guide id="4" pos="32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434159522"/>
      </p:ext>
    </p:extLst>
  </p:cSld>
  <p:clrMapOvr>
    <a:masterClrMapping/>
  </p:clrMapOvr>
  <p:extLst>
    <p:ext uri="{DCECCB84-F9BA-43D5-87BE-67443E8EF086}">
      <p15:sldGuideLst xmlns:p15="http://schemas.microsoft.com/office/powerpoint/2012/main">
        <p15:guide id="1" orient="horz" pos="902">
          <p15:clr>
            <a:srgbClr val="FBAE40"/>
          </p15:clr>
        </p15:guide>
        <p15:guide id="2" pos="285">
          <p15:clr>
            <a:srgbClr val="FBAE40"/>
          </p15:clr>
        </p15:guide>
        <p15:guide id="3" pos="5955">
          <p15:clr>
            <a:srgbClr val="FBAE40"/>
          </p15:clr>
        </p15:guide>
        <p15:guide id="4" pos="32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Tree>
    <p:extLst>
      <p:ext uri="{BB962C8B-B14F-4D97-AF65-F5344CB8AC3E}">
        <p14:creationId xmlns:p14="http://schemas.microsoft.com/office/powerpoint/2010/main" val="1779621428"/>
      </p:ext>
    </p:extLst>
  </p:cSld>
  <p:clrMapOvr>
    <a:masterClrMapping/>
  </p:clrMapOvr>
  <p:extLst>
    <p:ext uri="{DCECCB84-F9BA-43D5-87BE-67443E8EF086}">
      <p15:sldGuideLst xmlns:p15="http://schemas.microsoft.com/office/powerpoint/2012/main">
        <p15:guide id="1" orient="horz" pos="2614">
          <p15:clr>
            <a:srgbClr val="FBAE40"/>
          </p15:clr>
        </p15:guide>
        <p15:guide id="2" pos="443">
          <p15:clr>
            <a:srgbClr val="FBAE40"/>
          </p15:clr>
        </p15:guide>
        <p15:guide id="3" pos="5955">
          <p15:clr>
            <a:srgbClr val="FBAE40"/>
          </p15:clr>
        </p15:guide>
        <p15:guide id="4" pos="609">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able of Contents">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슬라이드 번호 개체 틀 15">
            <a:extLst>
              <a:ext uri="{FF2B5EF4-FFF2-40B4-BE49-F238E27FC236}">
                <a16:creationId xmlns:a16="http://schemas.microsoft.com/office/drawing/2014/main" id="{E75758B0-2429-4331-898E-5EEED60D4280}"/>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42502544"/>
      </p:ext>
    </p:extLst>
  </p:cSld>
  <p:clrMapOvr>
    <a:masterClrMapping/>
  </p:clrMapOvr>
  <p:extLst>
    <p:ext uri="{DCECCB84-F9BA-43D5-87BE-67443E8EF086}">
      <p15:sldGuideLst xmlns:p15="http://schemas.microsoft.com/office/powerpoint/2012/main">
        <p15:guide id="1" orient="horz" pos="2160">
          <p15:clr>
            <a:srgbClr val="FBAE40"/>
          </p15:clr>
        </p15:guide>
        <p15:guide id="2" pos="5955">
          <p15:clr>
            <a:srgbClr val="FBAE40"/>
          </p15:clr>
        </p15:guide>
        <p15:guide id="3" pos="285">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ody">
    <p:spTree>
      <p:nvGrpSpPr>
        <p:cNvPr id="1" name=""/>
        <p:cNvGrpSpPr/>
        <p:nvPr/>
      </p:nvGrpSpPr>
      <p:grpSpPr>
        <a:xfrm>
          <a:off x="0" y="0"/>
          <a:ext cx="0" cy="0"/>
          <a:chOff x="0" y="0"/>
          <a:chExt cx="0" cy="0"/>
        </a:xfrm>
      </p:grpSpPr>
      <p:cxnSp>
        <p:nvCxnSpPr>
          <p:cNvPr id="10" name="직선 연결선 9">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8"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cxnSp>
        <p:nvCxnSpPr>
          <p:cNvPr id="7" name="직선 연결선 6"/>
          <p:cNvCxnSpPr/>
          <p:nvPr userDrawn="1"/>
        </p:nvCxnSpPr>
        <p:spPr>
          <a:xfrm>
            <a:off x="449468" y="900000"/>
            <a:ext cx="9000714" cy="0"/>
          </a:xfrm>
          <a:prstGeom prst="line">
            <a:avLst/>
          </a:prstGeom>
          <a:ln w="15875">
            <a:solidFill>
              <a:srgbClr val="0924A5"/>
            </a:solidFill>
          </a:ln>
        </p:spPr>
        <p:style>
          <a:lnRef idx="1">
            <a:schemeClr val="accent1"/>
          </a:lnRef>
          <a:fillRef idx="0">
            <a:schemeClr val="accent1"/>
          </a:fillRef>
          <a:effectRef idx="0">
            <a:schemeClr val="accent1"/>
          </a:effectRef>
          <a:fontRef idx="minor">
            <a:schemeClr val="tx1"/>
          </a:fontRef>
        </p:style>
      </p:cxnSp>
      <p:sp>
        <p:nvSpPr>
          <p:cNvPr id="9" name="슬라이드 번호 개체 틀 15">
            <a:extLst>
              <a:ext uri="{FF2B5EF4-FFF2-40B4-BE49-F238E27FC236}">
                <a16:creationId xmlns:a16="http://schemas.microsoft.com/office/drawing/2014/main" id="{C5960DC7-D671-485D-92B0-FEED6CE658A3}"/>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1343950608"/>
      </p:ext>
    </p:extLst>
  </p:cSld>
  <p:clrMapOvr>
    <a:masterClrMapping/>
  </p:clrMapOvr>
  <p:extLst>
    <p:ext uri="{DCECCB84-F9BA-43D5-87BE-67443E8EF086}">
      <p15:sldGuideLst xmlns:p15="http://schemas.microsoft.com/office/powerpoint/2012/main">
        <p15:guide id="1" orient="horz" pos="2160">
          <p15:clr>
            <a:srgbClr val="FBAE40"/>
          </p15:clr>
        </p15:guide>
        <p15:guide id="2" pos="285">
          <p15:clr>
            <a:srgbClr val="FBAE40"/>
          </p15:clr>
        </p15:guide>
        <p15:guide id="3" pos="595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ast">
    <p:spTree>
      <p:nvGrpSpPr>
        <p:cNvPr id="1" name=""/>
        <p:cNvGrpSpPr/>
        <p:nvPr/>
      </p:nvGrpSpPr>
      <p:grpSpPr>
        <a:xfrm>
          <a:off x="0" y="0"/>
          <a:ext cx="0" cy="0"/>
          <a:chOff x="0" y="0"/>
          <a:chExt cx="0" cy="0"/>
        </a:xfrm>
      </p:grpSpPr>
      <p:pic>
        <p:nvPicPr>
          <p:cNvPr id="6" name="그림 2">
            <a:extLst>
              <a:ext uri="{FF2B5EF4-FFF2-40B4-BE49-F238E27FC236}">
                <a16:creationId xmlns:a16="http://schemas.microsoft.com/office/drawing/2014/main" id="{C441AFAB-5BBF-465C-B7A8-FED86E62617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4395"/>
            <a:ext cx="9899651" cy="6853605"/>
          </a:xfrm>
          <a:prstGeom prst="rect">
            <a:avLst/>
          </a:prstGeom>
        </p:spPr>
      </p:pic>
      <p:sp>
        <p:nvSpPr>
          <p:cNvPr id="2" name="직사각형 1"/>
          <p:cNvSpPr/>
          <p:nvPr userDrawn="1"/>
        </p:nvSpPr>
        <p:spPr>
          <a:xfrm>
            <a:off x="2" y="0"/>
            <a:ext cx="9899651" cy="6858000"/>
          </a:xfrm>
          <a:prstGeom prst="rect">
            <a:avLst/>
          </a:prstGeom>
          <a:solidFill>
            <a:srgbClr val="1428A0">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959" dirty="0"/>
          </a:p>
        </p:txBody>
      </p:sp>
      <p:sp>
        <p:nvSpPr>
          <p:cNvPr id="7" name="직사각형 6">
            <a:extLst>
              <a:ext uri="{FF2B5EF4-FFF2-40B4-BE49-F238E27FC236}">
                <a16:creationId xmlns:a16="http://schemas.microsoft.com/office/drawing/2014/main" id="{782B242C-8600-47F0-98D5-6EA512C41BF2}"/>
              </a:ext>
            </a:extLst>
          </p:cNvPr>
          <p:cNvSpPr/>
          <p:nvPr userDrawn="1"/>
        </p:nvSpPr>
        <p:spPr>
          <a:xfrm>
            <a:off x="449468" y="5677032"/>
            <a:ext cx="9000714" cy="73096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r>
              <a:rPr kumimoji="0" lang="ko-KR" altLang="en-US"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 panose="020B0503030303020204" pitchFamily="34" charset="0"/>
                <a:cs typeface="+mn-cs"/>
              </a:rPr>
              <a:t>ⓒ</a:t>
            </a: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2025 SAMSUNG. All rights reserved.</a:t>
            </a:r>
          </a:p>
          <a:p>
            <a:pPr marL="0" marR="0" lvl="0" indent="0" algn="l" defTabSz="914126" rtl="0" eaLnBrk="1" fontAlgn="auto" latinLnBrk="1" hangingPunct="1">
              <a:lnSpc>
                <a:spcPct val="100000"/>
              </a:lnSpc>
              <a:spcBef>
                <a:spcPts val="6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Samsung Electronics Corporate Citizenship Office holds the copyright of book.</a:t>
            </a:r>
          </a:p>
          <a:p>
            <a:pPr marL="0" marR="0" lvl="0" indent="0" algn="l" defTabSz="914126" rtl="0" eaLnBrk="1" fontAlgn="auto" latinLnBrk="1" hangingPunct="1">
              <a:lnSpc>
                <a:spcPct val="100000"/>
              </a:lnSpc>
              <a:spcBef>
                <a:spcPts val="3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This book is a literary property protected by copyright law so reprint and reproduction without permission are prohibited. </a:t>
            </a:r>
          </a:p>
          <a:p>
            <a:pPr marL="0" marR="0" lvl="0" indent="0" algn="l" defTabSz="914126" rtl="0" eaLnBrk="1" fontAlgn="auto" latinLnBrk="1" hangingPunct="1">
              <a:lnSpc>
                <a:spcPct val="100000"/>
              </a:lnSpc>
              <a:spcBef>
                <a:spcPts val="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To use this book other than the curriculum of Samsung Innovation Campus or to use the entire or part of this book, you must receive written consent from copyright holder.</a:t>
            </a:r>
          </a:p>
        </p:txBody>
      </p:sp>
      <p:pic>
        <p:nvPicPr>
          <p:cNvPr id="10" name="그림 3">
            <a:extLst>
              <a:ext uri="{FF2B5EF4-FFF2-40B4-BE49-F238E27FC236}">
                <a16:creationId xmlns:a16="http://schemas.microsoft.com/office/drawing/2014/main" id="{A977D3D7-ABF1-4BDD-B1E5-CCA79CC8184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11822" y="3022951"/>
            <a:ext cx="2476006" cy="812098"/>
          </a:xfrm>
          <a:prstGeom prst="rect">
            <a:avLst/>
          </a:prstGeom>
        </p:spPr>
      </p:pic>
      <p:sp>
        <p:nvSpPr>
          <p:cNvPr id="9"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90568"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chemeClr val="bg1"/>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spTree>
    <p:extLst>
      <p:ext uri="{BB962C8B-B14F-4D97-AF65-F5344CB8AC3E}">
        <p14:creationId xmlns:p14="http://schemas.microsoft.com/office/powerpoint/2010/main" val="122783419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19"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1_Body">
    <p:bg>
      <p:bgPr>
        <a:solidFill>
          <a:schemeClr val="bg1">
            <a:lumMod val="95000"/>
          </a:schemeClr>
        </a:solidFill>
        <a:effectLst/>
      </p:bgPr>
    </p:bg>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5"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8" name="그림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Tree>
    <p:extLst>
      <p:ext uri="{BB962C8B-B14F-4D97-AF65-F5344CB8AC3E}">
        <p14:creationId xmlns:p14="http://schemas.microsoft.com/office/powerpoint/2010/main" val="18144426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7928821"/>
      </p:ext>
    </p:extLst>
  </p:cSld>
  <p:clrMap bg1="lt1" tx1="dk1" bg2="lt2" tx2="dk2" accent1="accent1" accent2="accent2" accent3="accent3" accent4="accent4" accent5="accent5" accent6="accent6" hlink="hlink" folHlink="folHlink"/>
  <p:sldLayoutIdLst>
    <p:sldLayoutId id="2147483684" r:id="rId1"/>
    <p:sldLayoutId id="2147483691" r:id="rId2"/>
    <p:sldLayoutId id="2147483685" r:id="rId3"/>
    <p:sldLayoutId id="2147483687" r:id="rId4"/>
    <p:sldLayoutId id="2147483694" r:id="rId5"/>
    <p:sldLayoutId id="2147483693" r:id="rId6"/>
    <p:sldLayoutId id="2147483686" r:id="rId7"/>
    <p:sldLayoutId id="2147483688" r:id="rId8"/>
    <p:sldLayoutId id="2147483689" r:id="rId9"/>
    <p:sldLayoutId id="2147483690" r:id="rId10"/>
  </p:sldLayoutIdLst>
  <p:txStyles>
    <p:titleStyle>
      <a:lvl1pPr algn="l" defTabSz="914126" rtl="0" eaLnBrk="1" latinLnBrk="1"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1"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1"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1"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1" hangingPunct="1">
        <a:defRPr sz="1799" kern="1200">
          <a:solidFill>
            <a:schemeClr val="tx1"/>
          </a:solidFill>
          <a:latin typeface="+mn-lt"/>
          <a:ea typeface="+mn-ea"/>
          <a:cs typeface="+mn-cs"/>
        </a:defRPr>
      </a:lvl1pPr>
      <a:lvl2pPr marL="457063" algn="l" defTabSz="914126" rtl="0" eaLnBrk="1" latinLnBrk="1" hangingPunct="1">
        <a:defRPr sz="1799" kern="1200">
          <a:solidFill>
            <a:schemeClr val="tx1"/>
          </a:solidFill>
          <a:latin typeface="+mn-lt"/>
          <a:ea typeface="+mn-ea"/>
          <a:cs typeface="+mn-cs"/>
        </a:defRPr>
      </a:lvl2pPr>
      <a:lvl3pPr marL="914126" algn="l" defTabSz="914126" rtl="0" eaLnBrk="1" latinLnBrk="1" hangingPunct="1">
        <a:defRPr sz="1799" kern="1200">
          <a:solidFill>
            <a:schemeClr val="tx1"/>
          </a:solidFill>
          <a:latin typeface="+mn-lt"/>
          <a:ea typeface="+mn-ea"/>
          <a:cs typeface="+mn-cs"/>
        </a:defRPr>
      </a:lvl3pPr>
      <a:lvl4pPr marL="1371189" algn="l" defTabSz="914126" rtl="0" eaLnBrk="1" latinLnBrk="1" hangingPunct="1">
        <a:defRPr sz="1799" kern="1200">
          <a:solidFill>
            <a:schemeClr val="tx1"/>
          </a:solidFill>
          <a:latin typeface="+mn-lt"/>
          <a:ea typeface="+mn-ea"/>
          <a:cs typeface="+mn-cs"/>
        </a:defRPr>
      </a:lvl4pPr>
      <a:lvl5pPr marL="1828251" algn="l" defTabSz="914126" rtl="0" eaLnBrk="1" latinLnBrk="1" hangingPunct="1">
        <a:defRPr sz="1799" kern="1200">
          <a:solidFill>
            <a:schemeClr val="tx1"/>
          </a:solidFill>
          <a:latin typeface="+mn-lt"/>
          <a:ea typeface="+mn-ea"/>
          <a:cs typeface="+mn-cs"/>
        </a:defRPr>
      </a:lvl5pPr>
      <a:lvl6pPr marL="2285314" algn="l" defTabSz="914126" rtl="0" eaLnBrk="1" latinLnBrk="1" hangingPunct="1">
        <a:defRPr sz="1799" kern="1200">
          <a:solidFill>
            <a:schemeClr val="tx1"/>
          </a:solidFill>
          <a:latin typeface="+mn-lt"/>
          <a:ea typeface="+mn-ea"/>
          <a:cs typeface="+mn-cs"/>
        </a:defRPr>
      </a:lvl6pPr>
      <a:lvl7pPr marL="2742377" algn="l" defTabSz="914126" rtl="0" eaLnBrk="1" latinLnBrk="1" hangingPunct="1">
        <a:defRPr sz="1799" kern="1200">
          <a:solidFill>
            <a:schemeClr val="tx1"/>
          </a:solidFill>
          <a:latin typeface="+mn-lt"/>
          <a:ea typeface="+mn-ea"/>
          <a:cs typeface="+mn-cs"/>
        </a:defRPr>
      </a:lvl7pPr>
      <a:lvl8pPr marL="3199440" algn="l" defTabSz="914126" rtl="0" eaLnBrk="1" latinLnBrk="1" hangingPunct="1">
        <a:defRPr sz="1799" kern="1200">
          <a:solidFill>
            <a:schemeClr val="tx1"/>
          </a:solidFill>
          <a:latin typeface="+mn-lt"/>
          <a:ea typeface="+mn-ea"/>
          <a:cs typeface="+mn-cs"/>
        </a:defRPr>
      </a:lvl8pPr>
      <a:lvl9pPr marL="3656503" algn="l" defTabSz="914126" rtl="0" eaLnBrk="1" latinLnBrk="1"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5.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1 / 8</a:t>
            </a:r>
          </a:p>
        </p:txBody>
      </p:sp>
      <p:pic>
        <p:nvPicPr>
          <p:cNvPr id="6" name="Bayan logo" descr="Bayan logo"/>
          <p:cNvPicPr>
            <a:picLocks noChangeAspect="1"/>
          </p:cNvPicPr>
          <p:nvPr/>
        </p:nvPicPr>
        <p:blipFill>
          <a:blip r:embed="rId3"/>
          <a:stretch>
            <a:fillRect/>
          </a:stretch>
        </p:blipFill>
        <p:spPr>
          <a:xfrm>
            <a:off x="3534156" y="804672"/>
            <a:ext cx="2834640" cy="1592713"/>
          </a:xfrm>
          <a:prstGeom prst="rect">
            <a:avLst/>
          </a:prstGeom>
        </p:spPr>
      </p:pic>
      <p:sp>
        <p:nvSpPr>
          <p:cNvPr id="7" name="TextBox 6"/>
          <p:cNvSpPr txBox="1"/>
          <p:nvPr/>
        </p:nvSpPr>
        <p:spPr>
          <a:xfrm>
            <a:off x="0" y="3794760"/>
            <a:ext cx="9902952" cy="777240"/>
          </a:xfrm>
          <a:prstGeom prst="rect">
            <a:avLst/>
          </a:prstGeom>
          <a:noFill/>
        </p:spPr>
        <p:txBody>
          <a:bodyPr wrap="square" lIns="0" rIns="0" tIns="0" bIns="0" anchor="ctr">
            <a:spAutoFit/>
          </a:bodyPr>
          <a:lstStyle/>
          <a:p>
            <a:pPr algn="ctr"/>
            <a:r>
              <a:rPr sz="5600" b="1">
                <a:solidFill>
                  <a:srgbClr val="F2EFE2"/>
                </a:solidFill>
                <a:latin typeface="Readex Pro"/>
                <a:cs typeface="Readex Pro"/>
                <a:ea typeface="Readex Pro"/>
              </a:rPr>
              <a:t>Bayan</a:t>
            </a:r>
          </a:p>
        </p:txBody>
      </p:sp>
      <p:sp>
        <p:nvSpPr>
          <p:cNvPr id="8" name="TextBox 7"/>
          <p:cNvSpPr txBox="1"/>
          <p:nvPr/>
        </p:nvSpPr>
        <p:spPr>
          <a:xfrm>
            <a:off x="0" y="4617720"/>
            <a:ext cx="9902952" cy="384048"/>
          </a:xfrm>
          <a:prstGeom prst="rect">
            <a:avLst/>
          </a:prstGeom>
          <a:noFill/>
        </p:spPr>
        <p:txBody>
          <a:bodyPr wrap="square" lIns="0" rIns="0" tIns="0" bIns="0" anchor="ctr">
            <a:spAutoFit/>
          </a:bodyPr>
          <a:lstStyle/>
          <a:p>
            <a:pPr algn="ctr"/>
            <a:r>
              <a:rPr sz="2000" b="0">
                <a:solidFill>
                  <a:srgbClr val="F2EFE2"/>
                </a:solidFill>
                <a:latin typeface="Readex Pro"/>
                <a:cs typeface="Readex Pro"/>
                <a:ea typeface="Readex Pro"/>
              </a:rPr>
              <a:t>Simplify Arabic where you read</a:t>
            </a:r>
          </a:p>
        </p:txBody>
      </p:sp>
      <p:sp>
        <p:nvSpPr>
          <p:cNvPr id="9" name="TextBox 8"/>
          <p:cNvSpPr txBox="1"/>
          <p:nvPr/>
        </p:nvSpPr>
        <p:spPr>
          <a:xfrm>
            <a:off x="0" y="5047488"/>
            <a:ext cx="9902952" cy="292608"/>
          </a:xfrm>
          <a:prstGeom prst="rect">
            <a:avLst/>
          </a:prstGeom>
          <a:noFill/>
        </p:spPr>
        <p:txBody>
          <a:bodyPr wrap="square" lIns="0" rIns="0" tIns="0" bIns="0" anchor="ctr">
            <a:spAutoFit/>
          </a:bodyPr>
          <a:lstStyle/>
          <a:p>
            <a:pPr algn="ctr"/>
            <a:r>
              <a:rPr sz="1400" b="0">
                <a:solidFill>
                  <a:srgbClr val="C6986B"/>
                </a:solidFill>
                <a:latin typeface="Readex Pro"/>
                <a:cs typeface="Readex Pro"/>
                <a:ea typeface="Readex Pro"/>
              </a:rPr>
              <a:t>on the phone, offline</a:t>
            </a:r>
          </a:p>
        </p:txBody>
      </p:sp>
      <p:sp>
        <p:nvSpPr>
          <p:cNvPr id="10" name="TextBox 9"/>
          <p:cNvSpPr txBox="1"/>
          <p:nvPr/>
        </p:nvSpPr>
        <p:spPr>
          <a:xfrm>
            <a:off x="0" y="5486400"/>
            <a:ext cx="9902952" cy="310896"/>
          </a:xfrm>
          <a:prstGeom prst="rect">
            <a:avLst/>
          </a:prstGeom>
          <a:noFill/>
        </p:spPr>
        <p:txBody>
          <a:bodyPr wrap="square" lIns="0" rIns="0" tIns="0" bIns="0" anchor="ctr">
            <a:spAutoFit/>
          </a:bodyPr>
          <a:lstStyle/>
          <a:p>
            <a:pPr algn="ctr"/>
            <a:r>
              <a:rPr sz="1500" b="1">
                <a:solidFill>
                  <a:srgbClr val="C6986B"/>
                </a:solidFill>
                <a:latin typeface="Readex Pro"/>
                <a:cs typeface="Readex Pro"/>
                <a:ea typeface="Readex Pro"/>
              </a:rPr>
              <a:t>Team Cogni</a:t>
            </a:r>
          </a:p>
        </p:txBody>
      </p:sp>
      <p:sp>
        <p:nvSpPr>
          <p:cNvPr id="11" name="TextBox 10"/>
          <p:cNvSpPr txBox="1"/>
          <p:nvPr/>
        </p:nvSpPr>
        <p:spPr>
          <a:xfrm>
            <a:off x="566928" y="5833872"/>
            <a:ext cx="8769096" cy="256032"/>
          </a:xfrm>
          <a:prstGeom prst="rect">
            <a:avLst/>
          </a:prstGeom>
          <a:noFill/>
        </p:spPr>
        <p:txBody>
          <a:bodyPr wrap="square" lIns="0" rIns="0" tIns="0" bIns="0" anchor="ctr">
            <a:spAutoFit/>
          </a:bodyPr>
          <a:lstStyle/>
          <a:p>
            <a:pPr algn="ctr"/>
            <a:r>
              <a:rPr sz="1000" b="0">
                <a:solidFill>
                  <a:srgbClr val="A29D8C"/>
                </a:solidFill>
                <a:latin typeface="Readex Pro"/>
                <a:cs typeface="Readex Pro"/>
                <a:ea typeface="Readex Pro"/>
              </a:rPr>
              <a:t>Marwan Elamami · Abdulrahman Khengari · Ahmed Alaeb · Sanad Ali · Mohammed Thabet · Abdul Majid Mraied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8</a:t>
            </a:r>
          </a:p>
        </p:txBody>
      </p:sp>
      <p:sp>
        <p:nvSpPr>
          <p:cNvPr id="9" name="TextBox 8"/>
          <p:cNvSpPr txBox="1"/>
          <p:nvPr/>
        </p:nvSpPr>
        <p:spPr>
          <a:xfrm>
            <a:off x="566928" y="1691640"/>
            <a:ext cx="3200400" cy="1051560"/>
          </a:xfrm>
          <a:prstGeom prst="rect">
            <a:avLst/>
          </a:prstGeom>
          <a:noFill/>
        </p:spPr>
        <p:txBody>
          <a:bodyPr wrap="square" lIns="0" rIns="0" tIns="0" bIns="0" anchor="ctr">
            <a:spAutoFit/>
          </a:bodyPr>
          <a:lstStyle/>
          <a:p>
            <a:pPr algn="ctr"/>
            <a:r>
              <a:rPr sz="8400" b="0">
                <a:solidFill>
                  <a:srgbClr val="C6986B"/>
                </a:solidFill>
                <a:latin typeface="Readex Pro"/>
                <a:cs typeface="Readex Pro"/>
                <a:ea typeface="Readex Pro"/>
              </a:rPr>
              <a:t>11%</a:t>
            </a:r>
          </a:p>
        </p:txBody>
      </p:sp>
      <p:sp>
        <p:nvSpPr>
          <p:cNvPr id="10" name="TextBox 9"/>
          <p:cNvSpPr txBox="1"/>
          <p:nvPr/>
        </p:nvSpPr>
        <p:spPr>
          <a:xfrm>
            <a:off x="566928" y="2788920"/>
            <a:ext cx="3200400" cy="685800"/>
          </a:xfrm>
          <a:prstGeom prst="rect">
            <a:avLst/>
          </a:prstGeom>
          <a:noFill/>
        </p:spPr>
        <p:txBody>
          <a:bodyPr wrap="square" lIns="0" rIns="0" tIns="0" bIns="0" anchor="ctr">
            <a:spAutoFit/>
          </a:bodyPr>
          <a:lstStyle/>
          <a:p>
            <a:pPr algn="ctr">
              <a:lnSpc>
                <a:spcPct val="105000"/>
              </a:lnSpc>
            </a:pPr>
            <a:r>
              <a:rPr sz="1500" b="0">
                <a:solidFill>
                  <a:srgbClr val="4A4842"/>
                </a:solidFill>
                <a:latin typeface="Readex Pro"/>
                <a:cs typeface="Readex Pro"/>
                <a:ea typeface="Readex Pro"/>
              </a:rPr>
              <a:t>of Arab primary-school children</a:t>
            </a:r>
          </a:p>
          <a:p>
            <a:pPr algn="ctr">
              <a:lnSpc>
                <a:spcPct val="105000"/>
              </a:lnSpc>
            </a:pPr>
            <a:r>
              <a:rPr sz="1500" b="0">
                <a:solidFill>
                  <a:srgbClr val="4A4842"/>
                </a:solidFill>
                <a:latin typeface="Readex Pro"/>
                <a:cs typeface="Readex Pro"/>
                <a:ea typeface="Readex Pro"/>
              </a:rPr>
              <a:t>have developmental dyslexia</a:t>
            </a:r>
          </a:p>
        </p:txBody>
      </p:sp>
      <p:sp>
        <p:nvSpPr>
          <p:cNvPr id="11" name="Rectangle 10"/>
          <p:cNvSpPr/>
          <p:nvPr/>
        </p:nvSpPr>
        <p:spPr>
          <a:xfrm>
            <a:off x="1069848" y="36393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79576" y="3611880"/>
            <a:ext cx="5943600" cy="201168"/>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Al-Dakhil 2024 · 18 studies, N = 30,243</a:t>
            </a:r>
          </a:p>
        </p:txBody>
      </p:sp>
      <p:sp>
        <p:nvSpPr>
          <p:cNvPr id="13" name="Rounded Rectangle 12"/>
          <p:cNvSpPr/>
          <p:nvPr/>
        </p:nvSpPr>
        <p:spPr>
          <a:xfrm>
            <a:off x="4069080" y="1572768"/>
            <a:ext cx="5257800" cy="3246120"/>
          </a:xfrm>
          <a:prstGeom prst="roundRect">
            <a:avLst>
              <a:gd name="adj" fmla="val 4507"/>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69080" y="1737360"/>
            <a:ext cx="5257800" cy="868680"/>
          </a:xfrm>
          <a:prstGeom prst="rect">
            <a:avLst/>
          </a:prstGeom>
          <a:noFill/>
        </p:spPr>
        <p:txBody>
          <a:bodyPr wrap="square" lIns="0" rIns="0" tIns="0" bIns="0" anchor="ctr">
            <a:spAutoFit/>
          </a:bodyPr>
          <a:lstStyle/>
          <a:p>
            <a:pPr algn="ctr" rtl="1"/>
            <a:r>
              <a:rPr sz="6800" b="0" lang="ar-SA">
                <a:solidFill>
                  <a:srgbClr val="282824"/>
                </a:solidFill>
                <a:latin typeface="Amiri"/>
                <a:cs typeface="Amiri"/>
                <a:ea typeface="Amiri"/>
              </a:rPr>
              <a:t>كتب</a:t>
            </a:r>
          </a:p>
        </p:txBody>
      </p:sp>
      <p:sp>
        <p:nvSpPr>
          <p:cNvPr id="15" name="TextBox 14"/>
          <p:cNvSpPr txBox="1"/>
          <p:nvPr/>
        </p:nvSpPr>
        <p:spPr>
          <a:xfrm>
            <a:off x="4069080" y="2651760"/>
            <a:ext cx="5257800"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one written form</a:t>
            </a:r>
          </a:p>
        </p:txBody>
      </p:sp>
      <p:cxnSp>
        <p:nvCxnSpPr>
          <p:cNvPr id="16" name="Connector 15"/>
          <p:cNvCxnSpPr/>
          <p:nvPr/>
        </p:nvCxnSpPr>
        <p:spPr>
          <a:xfrm flipH="1">
            <a:off x="514350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6626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18" name="TextBox 17"/>
          <p:cNvSpPr txBox="1"/>
          <p:nvPr/>
        </p:nvSpPr>
        <p:spPr>
          <a:xfrm>
            <a:off x="436626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kataba</a:t>
            </a:r>
          </a:p>
          <a:p>
            <a:pPr algn="ctr"/>
            <a:r>
              <a:rPr sz="1100" b="0">
                <a:solidFill>
                  <a:srgbClr val="8A5E35"/>
                </a:solidFill>
                <a:latin typeface="Readex Pro"/>
                <a:cs typeface="Readex Pro"/>
                <a:ea typeface="Readex Pro"/>
              </a:rPr>
              <a:t>he wrote</a:t>
            </a:r>
          </a:p>
        </p:txBody>
      </p:sp>
      <p:cxnSp>
        <p:nvCxnSpPr>
          <p:cNvPr id="19" name="Connector 18"/>
          <p:cNvCxnSpPr/>
          <p:nvPr/>
        </p:nvCxnSpPr>
        <p:spPr>
          <a:xfrm>
            <a:off x="6697980" y="2990088"/>
            <a:ext cx="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92074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1" name="TextBox 20"/>
          <p:cNvSpPr txBox="1"/>
          <p:nvPr/>
        </p:nvSpPr>
        <p:spPr>
          <a:xfrm>
            <a:off x="592074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kutiba</a:t>
            </a:r>
          </a:p>
          <a:p>
            <a:pPr algn="ctr"/>
            <a:r>
              <a:rPr sz="1100" b="0">
                <a:solidFill>
                  <a:srgbClr val="8A5E35"/>
                </a:solidFill>
                <a:latin typeface="Readex Pro"/>
                <a:cs typeface="Readex Pro"/>
                <a:ea typeface="Readex Pro"/>
              </a:rPr>
              <a:t>it was written</a:t>
            </a:r>
          </a:p>
        </p:txBody>
      </p:sp>
      <p:cxnSp>
        <p:nvCxnSpPr>
          <p:cNvPr id="22" name="Connector 21"/>
          <p:cNvCxnSpPr/>
          <p:nvPr/>
        </p:nvCxnSpPr>
        <p:spPr>
          <a:xfrm>
            <a:off x="669798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7522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4" name="TextBox 23"/>
          <p:cNvSpPr txBox="1"/>
          <p:nvPr/>
        </p:nvSpPr>
        <p:spPr>
          <a:xfrm>
            <a:off x="747522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kutub</a:t>
            </a:r>
          </a:p>
          <a:p>
            <a:pPr algn="ctr"/>
            <a:r>
              <a:rPr sz="1100" b="0">
                <a:solidFill>
                  <a:srgbClr val="8A5E35"/>
                </a:solidFill>
                <a:latin typeface="Readex Pro"/>
                <a:cs typeface="Readex Pro"/>
                <a:ea typeface="Readex Pro"/>
              </a:rPr>
              <a:t>books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8</a:t>
            </a:r>
          </a:p>
        </p:txBody>
      </p:sp>
      <p:sp>
        <p:nvSpPr>
          <p:cNvPr id="9" name="Rounded Rectangle 8"/>
          <p:cNvSpPr/>
          <p:nvPr/>
        </p:nvSpPr>
        <p:spPr>
          <a:xfrm>
            <a:off x="566928" y="1737360"/>
            <a:ext cx="4343400" cy="3977639"/>
          </a:xfrm>
          <a:prstGeom prst="roundRect">
            <a:avLst>
              <a:gd name="adj" fmla="val 367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38528"/>
            <a:ext cx="4343400" cy="347472"/>
          </a:xfrm>
          <a:prstGeom prst="rect">
            <a:avLst/>
          </a:prstGeom>
          <a:noFill/>
        </p:spPr>
        <p:txBody>
          <a:bodyPr wrap="square" lIns="0" rIns="0" tIns="0" bIns="0" anchor="ctr">
            <a:spAutoFit/>
          </a:bodyPr>
          <a:lstStyle/>
          <a:p>
            <a:pPr algn="ctr"/>
            <a:r>
              <a:rPr sz="1800" b="1">
                <a:solidFill>
                  <a:srgbClr val="282824"/>
                </a:solidFill>
                <a:latin typeface="Readex Pro"/>
                <a:cs typeface="Readex Pro"/>
                <a:ea typeface="Readex Pro"/>
              </a:rPr>
              <a:t>What helps</a:t>
            </a:r>
          </a:p>
        </p:txBody>
      </p:sp>
      <p:sp>
        <p:nvSpPr>
          <p:cNvPr id="11" name="TextBox 10"/>
          <p:cNvSpPr txBox="1"/>
          <p:nvPr/>
        </p:nvSpPr>
        <p:spPr>
          <a:xfrm>
            <a:off x="886968" y="2606039"/>
            <a:ext cx="3703320" cy="2103120"/>
          </a:xfrm>
          <a:prstGeom prst="rect">
            <a:avLst/>
          </a:prstGeom>
          <a:noFill/>
        </p:spPr>
        <p:txBody>
          <a:bodyPr wrap="square" lIns="0" rIns="0" tIns="0" bIns="0" anchor="ctr">
            <a:spAutoFit/>
          </a:bodyPr>
          <a:lstStyle/>
          <a:p>
            <a:pPr algn="ctr">
              <a:lnSpc>
                <a:spcPct val="115000"/>
              </a:lnSpc>
            </a:pPr>
            <a:r>
              <a:rPr sz="1500" b="0">
                <a:solidFill>
                  <a:srgbClr val="4A4842"/>
                </a:solidFill>
                <a:latin typeface="Readex Pro"/>
                <a:cs typeface="Readex Pro"/>
                <a:ea typeface="Readex Pro"/>
              </a:rPr>
              <a:t>Splitting long clauses into</a:t>
            </a:r>
          </a:p>
          <a:p>
            <a:pPr algn="ctr">
              <a:lnSpc>
                <a:spcPct val="115000"/>
              </a:lnSpc>
            </a:pPr>
            <a:r>
              <a:rPr sz="1500" b="0">
                <a:solidFill>
                  <a:srgbClr val="4A4842"/>
                </a:solidFill>
                <a:latin typeface="Readex Pro"/>
                <a:cs typeface="Readex Pro"/>
                <a:ea typeface="Readex Pro"/>
              </a:rPr>
              <a:t>short sentences: read faster,</a:t>
            </a:r>
          </a:p>
          <a:p>
            <a:pPr algn="ctr">
              <a:lnSpc>
                <a:spcPct val="115000"/>
              </a:lnSpc>
            </a:pPr>
            <a:r>
              <a:rPr sz="1500" b="0">
                <a:solidFill>
                  <a:srgbClr val="4A4842"/>
                </a:solidFill>
                <a:latin typeface="Readex Pro"/>
                <a:cs typeface="Readex Pro"/>
                <a:ea typeface="Readex Pro"/>
              </a:rPr>
              <a:t>understood better, most by</a:t>
            </a:r>
          </a:p>
          <a:p>
            <a:pPr algn="ctr">
              <a:lnSpc>
                <a:spcPct val="115000"/>
              </a:lnSpc>
            </a:pPr>
            <a:r>
              <a:rPr sz="1500" b="0">
                <a:solidFill>
                  <a:srgbClr val="4A4842"/>
                </a:solidFill>
                <a:latin typeface="Readex Pro"/>
                <a:cs typeface="Readex Pro"/>
                <a:ea typeface="Readex Pro"/>
              </a:rPr>
              <a:t>the weakest readers.</a:t>
            </a:r>
          </a:p>
        </p:txBody>
      </p:sp>
      <p:sp>
        <p:nvSpPr>
          <p:cNvPr id="12" name="Rectangle 11"/>
          <p:cNvSpPr/>
          <p:nvPr/>
        </p:nvSpPr>
        <p:spPr>
          <a:xfrm>
            <a:off x="1069848" y="52395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9576" y="521208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Javourey-Bonnet 2022</a:t>
            </a:r>
          </a:p>
        </p:txBody>
      </p:sp>
      <p:sp>
        <p:nvSpPr>
          <p:cNvPr id="14" name="Rounded Rectangle 13"/>
          <p:cNvSpPr/>
          <p:nvPr/>
        </p:nvSpPr>
        <p:spPr>
          <a:xfrm>
            <a:off x="5230368" y="1737360"/>
            <a:ext cx="4343400" cy="3977639"/>
          </a:xfrm>
          <a:prstGeom prst="roundRect">
            <a:avLst>
              <a:gd name="adj" fmla="val 321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938528"/>
            <a:ext cx="4343400" cy="347472"/>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Bayan's scope</a:t>
            </a:r>
          </a:p>
        </p:txBody>
      </p:sp>
      <p:sp>
        <p:nvSpPr>
          <p:cNvPr id="16" name="Rounded Rectangle 15"/>
          <p:cNvSpPr/>
          <p:nvPr/>
        </p:nvSpPr>
        <p:spPr>
          <a:xfrm>
            <a:off x="6034658" y="2788920"/>
            <a:ext cx="2734818" cy="397764"/>
          </a:xfrm>
          <a:prstGeom prst="roundRect">
            <a:avLst>
              <a:gd name="adj" fmla="val 2068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8A5E35"/>
                </a:solidFill>
                <a:latin typeface="Readex Pro"/>
                <a:cs typeface="Readex Pro"/>
                <a:ea typeface="Readex Pro"/>
              </a:rPr>
              <a:t>we reduce reading load</a:t>
            </a:r>
          </a:p>
        </p:txBody>
      </p:sp>
      <p:sp>
        <p:nvSpPr>
          <p:cNvPr id="17" name="Rounded Rectangle 16"/>
          <p:cNvSpPr/>
          <p:nvPr/>
        </p:nvSpPr>
        <p:spPr>
          <a:xfrm>
            <a:off x="5963284" y="3429000"/>
            <a:ext cx="2877566" cy="381000"/>
          </a:xfrm>
          <a:prstGeom prst="roundRect">
            <a:avLst>
              <a:gd name="adj" fmla="val 2159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long clauses · hard words</a:t>
            </a:r>
          </a:p>
        </p:txBody>
      </p:sp>
      <p:sp>
        <p:nvSpPr>
          <p:cNvPr id="18" name="Rounded Rectangle 17"/>
          <p:cNvSpPr/>
          <p:nvPr/>
        </p:nvSpPr>
        <p:spPr>
          <a:xfrm>
            <a:off x="5513958" y="4069079"/>
            <a:ext cx="3776218" cy="339090"/>
          </a:xfrm>
          <a:prstGeom prst="roundRect">
            <a:avLst>
              <a:gd name="adj" fmla="val 2426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B5533C"/>
                </a:solidFill>
                <a:latin typeface="Readex Pro"/>
                <a:cs typeface="Readex Pro"/>
                <a:ea typeface="Readex Pro"/>
              </a:rPr>
              <a:t>tashkeel is a setting · no reader claim yet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Rounded Rectangle 8"/>
          <p:cNvSpPr/>
          <p:nvPr/>
        </p:nvSpPr>
        <p:spPr>
          <a:xfrm>
            <a:off x="56692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SAMER · human-written</a:t>
            </a:r>
          </a:p>
        </p:txBody>
      </p:sp>
      <p:sp>
        <p:nvSpPr>
          <p:cNvPr id="11" name="Rounded Rectangle 10"/>
          <p:cNvSpPr/>
          <p:nvPr/>
        </p:nvSpPr>
        <p:spPr>
          <a:xfrm>
            <a:off x="1501203" y="2743200"/>
            <a:ext cx="2474849"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novels, short sentences</a:t>
            </a:r>
          </a:p>
        </p:txBody>
      </p:sp>
      <p:sp>
        <p:nvSpPr>
          <p:cNvPr id="12" name="Rounded Rectangle 11"/>
          <p:cNvSpPr/>
          <p:nvPr/>
        </p:nvSpPr>
        <p:spPr>
          <a:xfrm>
            <a:off x="1388109" y="3520440"/>
            <a:ext cx="2701036"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42–49% of pairs unchanged</a:t>
            </a:r>
          </a:p>
        </p:txBody>
      </p:sp>
      <p:sp>
        <p:nvSpPr>
          <p:cNvPr id="13" name="Rounded Rectangle 12"/>
          <p:cNvSpPr/>
          <p:nvPr/>
        </p:nvSpPr>
        <p:spPr>
          <a:xfrm>
            <a:off x="827881" y="4297680"/>
            <a:ext cx="3821493" cy="339090"/>
          </a:xfrm>
          <a:prstGeom prst="roundRect">
            <a:avLst>
              <a:gd name="adj" fmla="val 2426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length ratio 1.00: swaps words, never splits</a:t>
            </a:r>
          </a:p>
        </p:txBody>
      </p:sp>
      <p:sp>
        <p:nvSpPr>
          <p:cNvPr id="14" name="Rounded Rectangle 13"/>
          <p:cNvSpPr/>
          <p:nvPr/>
        </p:nvSpPr>
        <p:spPr>
          <a:xfrm>
            <a:off x="523036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Other sources · LLM-written</a:t>
            </a:r>
          </a:p>
        </p:txBody>
      </p:sp>
      <p:sp>
        <p:nvSpPr>
          <p:cNvPr id="16" name="Rounded Rectangle 15"/>
          <p:cNvSpPr/>
          <p:nvPr/>
        </p:nvSpPr>
        <p:spPr>
          <a:xfrm>
            <a:off x="5931852" y="2743200"/>
            <a:ext cx="2940431"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many targets are summaries</a:t>
            </a:r>
          </a:p>
        </p:txBody>
      </p:sp>
      <p:sp>
        <p:nvSpPr>
          <p:cNvPr id="17" name="Rounded Rectangle 16"/>
          <p:cNvSpPr/>
          <p:nvPr/>
        </p:nvSpPr>
        <p:spPr>
          <a:xfrm>
            <a:off x="5823711" y="3520440"/>
            <a:ext cx="3156712"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they drop facts, delete options</a:t>
            </a:r>
          </a:p>
        </p:txBody>
      </p:sp>
      <p:sp>
        <p:nvSpPr>
          <p:cNvPr id="18" name="Rounded Rectangle 17"/>
          <p:cNvSpPr/>
          <p:nvPr/>
        </p:nvSpPr>
        <p:spPr>
          <a:xfrm>
            <a:off x="5684202" y="4297680"/>
            <a:ext cx="3435731"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after a meaning filter: 6,888 pairs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corpus v0, our first synthetic data</a:t>
            </a:r>
          </a:p>
        </p:txBody>
      </p:sp>
      <p:sp>
        <p:nvSpPr>
          <p:cNvPr id="10" name="Rounded Rectangle 9"/>
          <p:cNvSpPr/>
          <p:nvPr/>
        </p:nvSpPr>
        <p:spPr>
          <a:xfrm>
            <a:off x="7452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DeepSeek: 5 candidates</a:t>
            </a:r>
          </a:p>
          <a:p>
            <a:pPr algn="ctr"/>
            <a:r>
              <a:rPr sz="1200" b="0">
                <a:solidFill>
                  <a:srgbClr val="4A4842"/>
                </a:solidFill>
                <a:latin typeface="Readex Pro"/>
                <a:cs typeface="Readex Pro"/>
                <a:ea typeface="Readex Pro"/>
              </a:rPr>
              <a:t>per source</a:t>
            </a:r>
          </a:p>
        </p:txBody>
      </p:sp>
      <p:sp>
        <p:nvSpPr>
          <p:cNvPr id="11" name="Rounded Rectangle 10"/>
          <p:cNvSpPr/>
          <p:nvPr/>
        </p:nvSpPr>
        <p:spPr>
          <a:xfrm>
            <a:off x="37170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LLM equivalence</a:t>
            </a:r>
          </a:p>
          <a:p>
            <a:pPr algn="ctr"/>
            <a:r>
              <a:rPr sz="1200" b="0">
                <a:solidFill>
                  <a:srgbClr val="4A4842"/>
                </a:solidFill>
                <a:latin typeface="Readex Pro"/>
                <a:cs typeface="Readex Pro"/>
                <a:ea typeface="Readex Pro"/>
              </a:rPr>
              <a:t>validator</a:t>
            </a:r>
          </a:p>
        </p:txBody>
      </p:sp>
      <p:cxnSp>
        <p:nvCxnSpPr>
          <p:cNvPr id="12" name="Connector 11"/>
          <p:cNvCxnSpPr/>
          <p:nvPr/>
        </p:nvCxnSpPr>
        <p:spPr>
          <a:xfrm>
            <a:off x="32141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6888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CAMeL readability</a:t>
            </a:r>
          </a:p>
          <a:p>
            <a:pPr algn="ctr"/>
            <a:r>
              <a:rPr sz="1200" b="0">
                <a:solidFill>
                  <a:srgbClr val="4A4842"/>
                </a:solidFill>
                <a:latin typeface="Readex Pro"/>
                <a:cs typeface="Readex Pro"/>
                <a:ea typeface="Readex Pro"/>
              </a:rPr>
              <a:t>gate</a:t>
            </a:r>
          </a:p>
        </p:txBody>
      </p:sp>
      <p:cxnSp>
        <p:nvCxnSpPr>
          <p:cNvPr id="14" name="Connector 13"/>
          <p:cNvCxnSpPr/>
          <p:nvPr/>
        </p:nvCxnSpPr>
        <p:spPr>
          <a:xfrm>
            <a:off x="61859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66928" y="2971800"/>
            <a:ext cx="8769096" cy="347472"/>
          </a:xfrm>
          <a:prstGeom prst="rect">
            <a:avLst/>
          </a:prstGeom>
          <a:noFill/>
        </p:spPr>
        <p:txBody>
          <a:bodyPr wrap="square" lIns="0" rIns="0" tIns="0" bIns="0" anchor="ctr">
            <a:spAutoFit/>
          </a:bodyPr>
          <a:lstStyle/>
          <a:p>
            <a:pPr algn="l"/>
            <a:r>
              <a:rPr sz="1700" b="1">
                <a:solidFill>
                  <a:srgbClr val="282824"/>
                </a:solidFill>
                <a:latin typeface="Readex Pro"/>
                <a:cs typeface="Readex Pro"/>
                <a:ea typeface="Readex Pro"/>
              </a:rPr>
              <a:t>What the audit found</a:t>
            </a:r>
          </a:p>
        </p:txBody>
      </p:sp>
      <p:sp>
        <p:nvSpPr>
          <p:cNvPr id="16" name="Rounded Rectangle 15"/>
          <p:cNvSpPr/>
          <p:nvPr/>
        </p:nvSpPr>
        <p:spPr>
          <a:xfrm>
            <a:off x="566928" y="3401568"/>
            <a:ext cx="2659761"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57% of rows had tashkeel</a:t>
            </a:r>
          </a:p>
        </p:txBody>
      </p:sp>
      <p:sp>
        <p:nvSpPr>
          <p:cNvPr id="17" name="Rounded Rectangle 16"/>
          <p:cNvSpPr/>
          <p:nvPr/>
        </p:nvSpPr>
        <p:spPr>
          <a:xfrm>
            <a:off x="566928" y="3877056"/>
            <a:ext cx="4485767"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63% of cut-off sources were simply completed</a:t>
            </a:r>
          </a:p>
        </p:txBody>
      </p:sp>
      <p:sp>
        <p:nvSpPr>
          <p:cNvPr id="18" name="Rounded Rectangle 17"/>
          <p:cNvSpPr/>
          <p:nvPr/>
        </p:nvSpPr>
        <p:spPr>
          <a:xfrm>
            <a:off x="566928" y="4352544"/>
            <a:ext cx="3843528"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only 43% of pairs were 2+ levels easier</a:t>
            </a:r>
          </a:p>
        </p:txBody>
      </p:sp>
      <p:sp>
        <p:nvSpPr>
          <p:cNvPr id="19" name="Rounded Rectangle 18"/>
          <p:cNvSpPr/>
          <p:nvPr/>
        </p:nvSpPr>
        <p:spPr>
          <a:xfrm>
            <a:off x="566928" y="5029200"/>
            <a:ext cx="7021067" cy="347472"/>
          </a:xfrm>
          <a:prstGeom prst="roundRect">
            <a:avLst>
              <a:gd name="adj" fmla="val 236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the validator accepted 34% of planted added sentences · we trained nothing on v0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FROM THE SOURCE</a:t>
            </a:r>
          </a:p>
        </p:txBody>
      </p:sp>
      <p:sp>
        <p:nvSpPr>
          <p:cNvPr id="10" name="Rounded Rectangle 9"/>
          <p:cNvSpPr/>
          <p:nvPr/>
        </p:nvSpPr>
        <p:spPr>
          <a:xfrm>
            <a:off x="56692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BAREC train + dev</a:t>
            </a:r>
          </a:p>
        </p:txBody>
      </p:sp>
      <p:sp>
        <p:nvSpPr>
          <p:cNvPr id="12" name="TextBox 11"/>
          <p:cNvSpPr txBox="1"/>
          <p:nvPr/>
        </p:nvSpPr>
        <p:spPr>
          <a:xfrm>
            <a:off x="67665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test never enters</a:t>
            </a:r>
          </a:p>
        </p:txBody>
      </p:sp>
      <p:sp>
        <p:nvSpPr>
          <p:cNvPr id="13" name="Rounded Rectangle 12"/>
          <p:cNvSpPr/>
          <p:nvPr/>
        </p:nvSpPr>
        <p:spPr>
          <a:xfrm>
            <a:off x="56692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strip tashkeel and tatweel</a:t>
            </a:r>
          </a:p>
        </p:txBody>
      </p:sp>
      <p:sp>
        <p:nvSpPr>
          <p:cNvPr id="15" name="TextBox 14"/>
          <p:cNvSpPr txBox="1"/>
          <p:nvPr/>
        </p:nvSpPr>
        <p:spPr>
          <a:xfrm>
            <a:off x="67665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every text</a:t>
            </a:r>
          </a:p>
        </p:txBody>
      </p:sp>
      <p:cxnSp>
        <p:nvCxnSpPr>
          <p:cNvPr id="16" name="Connector 15"/>
          <p:cNvCxnSpPr/>
          <p:nvPr/>
        </p:nvCxnSpPr>
        <p:spPr>
          <a:xfrm>
            <a:off x="2738628"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route each source</a:t>
            </a:r>
          </a:p>
        </p:txBody>
      </p:sp>
      <p:sp>
        <p:nvSpPr>
          <p:cNvPr id="19" name="TextBox 18"/>
          <p:cNvSpPr txBox="1"/>
          <p:nvPr/>
        </p:nvSpPr>
        <p:spPr>
          <a:xfrm>
            <a:off x="67665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protected · short · hard  →  23,221 hard</a:t>
            </a:r>
          </a:p>
        </p:txBody>
      </p:sp>
      <p:cxnSp>
        <p:nvCxnSpPr>
          <p:cNvPr id="20" name="Connector 19"/>
          <p:cNvCxnSpPr/>
          <p:nvPr/>
        </p:nvCxnSpPr>
        <p:spPr>
          <a:xfrm>
            <a:off x="2738628"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23036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INTO THE CORPUS</a:t>
            </a:r>
          </a:p>
        </p:txBody>
      </p:sp>
      <p:sp>
        <p:nvSpPr>
          <p:cNvPr id="22" name="Rounded Rectangle 21"/>
          <p:cNvSpPr/>
          <p:nvPr/>
        </p:nvSpPr>
        <p:spPr>
          <a:xfrm>
            <a:off x="523036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009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Gemma 4 31B writes candidates</a:t>
            </a:r>
          </a:p>
        </p:txBody>
      </p:sp>
      <p:sp>
        <p:nvSpPr>
          <p:cNvPr id="24" name="TextBox 23"/>
          <p:cNvSpPr txBox="1"/>
          <p:nvPr/>
        </p:nvSpPr>
        <p:spPr>
          <a:xfrm>
            <a:off x="534009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hard band only  →  23,205 responses</a:t>
            </a:r>
          </a:p>
        </p:txBody>
      </p:sp>
      <p:sp>
        <p:nvSpPr>
          <p:cNvPr id="25" name="Rounded Rectangle 24"/>
          <p:cNvSpPr/>
          <p:nvPr/>
        </p:nvSpPr>
        <p:spPr>
          <a:xfrm>
            <a:off x="523036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009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code gates</a:t>
            </a:r>
          </a:p>
        </p:txBody>
      </p:sp>
      <p:sp>
        <p:nvSpPr>
          <p:cNvPr id="27" name="TextBox 26"/>
          <p:cNvSpPr txBox="1"/>
          <p:nvPr/>
        </p:nvSpPr>
        <p:spPr>
          <a:xfrm>
            <a:off x="534009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numbers · quotes · options</a:t>
            </a:r>
          </a:p>
        </p:txBody>
      </p:sp>
      <p:cxnSp>
        <p:nvCxnSpPr>
          <p:cNvPr id="28" name="Connector 27"/>
          <p:cNvCxnSpPr/>
          <p:nvPr/>
        </p:nvCxnSpPr>
        <p:spPr>
          <a:xfrm>
            <a:off x="7402067"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23036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4009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readability + meaning gates</a:t>
            </a:r>
          </a:p>
        </p:txBody>
      </p:sp>
      <p:sp>
        <p:nvSpPr>
          <p:cNvPr id="31" name="TextBox 30"/>
          <p:cNvSpPr txBox="1"/>
          <p:nvPr/>
        </p:nvSpPr>
        <p:spPr>
          <a:xfrm>
            <a:off x="534009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 2 levels · meaning gate  →  10,693 accepted</a:t>
            </a:r>
          </a:p>
        </p:txBody>
      </p:sp>
      <p:cxnSp>
        <p:nvCxnSpPr>
          <p:cNvPr id="32" name="Connector 31"/>
          <p:cNvCxnSpPr/>
          <p:nvPr/>
        </p:nvCxnSpPr>
        <p:spPr>
          <a:xfrm>
            <a:off x="7402067"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554480"/>
            <a:ext cx="8769096" cy="274320"/>
          </a:xfrm>
          <a:prstGeom prst="rect">
            <a:avLst/>
          </a:prstGeom>
          <a:noFill/>
        </p:spPr>
        <p:txBody>
          <a:bodyPr wrap="square" lIns="0" rIns="0" tIns="0" bIns="0" anchor="ctr">
            <a:spAutoFit/>
          </a:bodyPr>
          <a:lstStyle/>
          <a:p>
            <a:pPr algn="ctr"/>
            <a:r>
              <a:rPr sz="1300" b="0">
                <a:solidFill>
                  <a:srgbClr val="6F6B5E"/>
                </a:solidFill>
                <a:latin typeface="Readex Pro"/>
                <a:cs typeface="Readex Pro"/>
                <a:ea typeface="Readex Pro"/>
              </a:rPr>
              <a:t>from the source  →  into the corpus</a:t>
            </a:r>
          </a:p>
        </p:txBody>
      </p:sp>
      <p:sp>
        <p:nvSpPr>
          <p:cNvPr id="10" name="Rounded Rectangle 9"/>
          <p:cNvSpPr/>
          <p:nvPr/>
        </p:nvSpPr>
        <p:spPr>
          <a:xfrm>
            <a:off x="566928" y="2148840"/>
            <a:ext cx="4663440" cy="1143000"/>
          </a:xfrm>
          <a:prstGeom prst="roundRect">
            <a:avLst>
              <a:gd name="adj" fmla="val 9600"/>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313432"/>
            <a:ext cx="4663440" cy="502920"/>
          </a:xfrm>
          <a:prstGeom prst="rect">
            <a:avLst/>
          </a:prstGeom>
          <a:noFill/>
        </p:spPr>
        <p:txBody>
          <a:bodyPr wrap="square" lIns="0" rIns="0" tIns="0" bIns="0" anchor="ctr">
            <a:spAutoFit/>
          </a:bodyPr>
          <a:lstStyle/>
          <a:p>
            <a:pPr algn="ctr"/>
            <a:r>
              <a:rPr sz="3000" b="1">
                <a:solidFill>
                  <a:srgbClr val="8A5E35"/>
                </a:solidFill>
                <a:latin typeface="Readex Pro"/>
                <a:cs typeface="Readex Pro"/>
                <a:ea typeface="Readex Pro"/>
              </a:rPr>
              <a:t>14,975 rows</a:t>
            </a:r>
          </a:p>
        </p:txBody>
      </p:sp>
      <p:sp>
        <p:nvSpPr>
          <p:cNvPr id="12" name="TextBox 11"/>
          <p:cNvSpPr txBox="1"/>
          <p:nvPr/>
        </p:nvSpPr>
        <p:spPr>
          <a:xfrm>
            <a:off x="566928" y="2862072"/>
            <a:ext cx="4663440" cy="274320"/>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0 rule violations · 0 leakage vs BAREC test</a:t>
            </a:r>
          </a:p>
        </p:txBody>
      </p:sp>
      <p:sp>
        <p:nvSpPr>
          <p:cNvPr id="13" name="Rounded Rectangle 12"/>
          <p:cNvSpPr/>
          <p:nvPr/>
        </p:nvSpPr>
        <p:spPr>
          <a:xfrm>
            <a:off x="5596128" y="2331720"/>
            <a:ext cx="2827782" cy="615696"/>
          </a:xfrm>
          <a:prstGeom prst="roundRect">
            <a:avLst>
              <a:gd name="adj" fmla="val 13366"/>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blind audit of 1,039 pairs:</a:t>
            </a:r>
          </a:p>
          <a:p>
            <a:pPr algn="ctr"/>
            <a:r>
              <a:rPr sz="1400" b="0">
                <a:solidFill>
                  <a:srgbClr val="4A4842"/>
                </a:solidFill>
                <a:latin typeface="Readex Pro"/>
                <a:cs typeface="Readex Pro"/>
                <a:ea typeface="Readex Pro"/>
              </a:rPr>
              <a:t>1.7% meaning changed</a:t>
            </a:r>
          </a:p>
        </p:txBody>
      </p:sp>
      <p:sp>
        <p:nvSpPr>
          <p:cNvPr id="14" name="Rounded Rectangle 13"/>
          <p:cNvSpPr/>
          <p:nvPr/>
        </p:nvSpPr>
        <p:spPr>
          <a:xfrm>
            <a:off x="1920493" y="3977639"/>
            <a:ext cx="6061964" cy="381000"/>
          </a:xfrm>
          <a:prstGeom prst="roundRect">
            <a:avLst>
              <a:gd name="adj" fmla="val 21599"/>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1">
                <a:solidFill>
                  <a:srgbClr val="8A5E35"/>
                </a:solidFill>
                <a:latin typeface="Readex Pro"/>
                <a:cs typeface="Readex Pro"/>
                <a:ea typeface="Readex Pro"/>
              </a:rPr>
              <a:t>every gate in corpus v1 exists because of a failure we saw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THE PIPELINE</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Build, measure, learn</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Rounded Rectangle 8"/>
          <p:cNvSpPr/>
          <p:nvPr/>
        </p:nvSpPr>
        <p:spPr>
          <a:xfrm>
            <a:off x="425196" y="2148840"/>
            <a:ext cx="1481328" cy="1143000"/>
          </a:xfrm>
          <a:prstGeom prst="roundRect">
            <a:avLst>
              <a:gd name="adj" fmla="val 800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9204" y="2258568"/>
            <a:ext cx="1353312" cy="274320"/>
          </a:xfrm>
          <a:prstGeom prst="rect">
            <a:avLst/>
          </a:prstGeom>
          <a:noFill/>
        </p:spPr>
        <p:txBody>
          <a:bodyPr wrap="square" lIns="0" rIns="0" tIns="0" bIns="0" anchor="ctr">
            <a:spAutoFit/>
          </a:bodyPr>
          <a:lstStyle/>
          <a:p>
            <a:pPr algn="ctr"/>
            <a:r>
              <a:rPr sz="1200" b="1">
                <a:solidFill>
                  <a:srgbClr val="282824"/>
                </a:solidFill>
                <a:latin typeface="Readex Pro"/>
                <a:cs typeface="Readex Pro"/>
                <a:ea typeface="Readex Pro"/>
              </a:rPr>
              <a:t>Source corpora</a:t>
            </a:r>
          </a:p>
        </p:txBody>
      </p:sp>
      <p:sp>
        <p:nvSpPr>
          <p:cNvPr id="11" name="TextBox 10"/>
          <p:cNvSpPr txBox="1"/>
          <p:nvPr/>
        </p:nvSpPr>
        <p:spPr>
          <a:xfrm>
            <a:off x="489204"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SAMER · DAASI ·</a:t>
            </a:r>
          </a:p>
          <a:p>
            <a:pPr algn="ctr">
              <a:lnSpc>
                <a:spcPct val="112000"/>
              </a:lnSpc>
            </a:pPr>
            <a:r>
              <a:rPr sz="1050" b="0">
                <a:solidFill>
                  <a:srgbClr val="4A4842"/>
                </a:solidFill>
                <a:latin typeface="Readex Pro"/>
                <a:cs typeface="Readex Pro"/>
                <a:ea typeface="Readex Pro"/>
              </a:rPr>
              <a:t>other datasets · BAREC</a:t>
            </a:r>
          </a:p>
        </p:txBody>
      </p:sp>
      <p:sp>
        <p:nvSpPr>
          <p:cNvPr id="12" name="Rounded Rectangle 11"/>
          <p:cNvSpPr/>
          <p:nvPr/>
        </p:nvSpPr>
        <p:spPr>
          <a:xfrm>
            <a:off x="2318004" y="2148840"/>
            <a:ext cx="1481328" cy="1143000"/>
          </a:xfrm>
          <a:prstGeom prst="roundRect">
            <a:avLst>
              <a:gd name="adj" fmla="val 8000"/>
            </a:avLst>
          </a:prstGeom>
          <a:solidFill>
            <a:srgbClr val="F3E2DA"/>
          </a:solidFill>
          <a:ln w="15875">
            <a:solidFill>
              <a:srgbClr val="B553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82012" y="2258568"/>
            <a:ext cx="1353312" cy="274320"/>
          </a:xfrm>
          <a:prstGeom prst="rect">
            <a:avLst/>
          </a:prstGeom>
          <a:noFill/>
        </p:spPr>
        <p:txBody>
          <a:bodyPr wrap="square" lIns="0" rIns="0" tIns="0" bIns="0" anchor="ctr">
            <a:spAutoFit/>
          </a:bodyPr>
          <a:lstStyle/>
          <a:p>
            <a:pPr algn="ctr"/>
            <a:r>
              <a:rPr sz="1200" b="1">
                <a:solidFill>
                  <a:srgbClr val="B5533C"/>
                </a:solidFill>
                <a:latin typeface="Readex Pro"/>
                <a:cs typeface="Readex Pro"/>
                <a:ea typeface="Readex Pro"/>
              </a:rPr>
              <a:t>Leakage check</a:t>
            </a:r>
          </a:p>
        </p:txBody>
      </p:sp>
      <p:sp>
        <p:nvSpPr>
          <p:cNvPr id="14" name="TextBox 13"/>
          <p:cNvSpPr txBox="1"/>
          <p:nvPr/>
        </p:nvSpPr>
        <p:spPr>
          <a:xfrm>
            <a:off x="2382012"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exact + 5-gram ·</a:t>
            </a:r>
          </a:p>
          <a:p>
            <a:pPr algn="ctr">
              <a:lnSpc>
                <a:spcPct val="112000"/>
              </a:lnSpc>
            </a:pPr>
            <a:r>
              <a:rPr sz="1050" b="0">
                <a:solidFill>
                  <a:srgbClr val="4A4842"/>
                </a:solidFill>
                <a:latin typeface="Readex Pro"/>
                <a:cs typeface="Readex Pro"/>
                <a:ea typeface="Readex Pro"/>
              </a:rPr>
              <a:t>grouped split</a:t>
            </a:r>
          </a:p>
        </p:txBody>
      </p:sp>
      <p:cxnSp>
        <p:nvCxnSpPr>
          <p:cNvPr id="15" name="Connector 14"/>
          <p:cNvCxnSpPr/>
          <p:nvPr/>
        </p:nvCxnSpPr>
        <p:spPr>
          <a:xfrm>
            <a:off x="1952243" y="2715768"/>
            <a:ext cx="320041"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210812" y="2148840"/>
            <a:ext cx="1481328" cy="1143000"/>
          </a:xfrm>
          <a:prstGeom prst="roundRect">
            <a:avLst>
              <a:gd name="adj" fmla="val 8000"/>
            </a:avLst>
          </a:prstGeom>
          <a:solidFill>
            <a:srgbClr val="F3E2DA"/>
          </a:solidFill>
          <a:ln w="15875">
            <a:solidFill>
              <a:srgbClr val="B553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74820" y="2258568"/>
            <a:ext cx="1353312" cy="274320"/>
          </a:xfrm>
          <a:prstGeom prst="rect">
            <a:avLst/>
          </a:prstGeom>
          <a:noFill/>
        </p:spPr>
        <p:txBody>
          <a:bodyPr wrap="square" lIns="0" rIns="0" tIns="0" bIns="0" anchor="ctr">
            <a:spAutoFit/>
          </a:bodyPr>
          <a:lstStyle/>
          <a:p>
            <a:pPr algn="ctr"/>
            <a:r>
              <a:rPr sz="1200" b="1">
                <a:solidFill>
                  <a:srgbClr val="B5533C"/>
                </a:solidFill>
                <a:latin typeface="Readex Pro"/>
                <a:cs typeface="Readex Pro"/>
                <a:ea typeface="Readex Pro"/>
              </a:rPr>
              <a:t>Meaning gate</a:t>
            </a:r>
          </a:p>
        </p:txBody>
      </p:sp>
      <p:sp>
        <p:nvSpPr>
          <p:cNvPr id="18" name="TextBox 17"/>
          <p:cNvSpPr txBox="1"/>
          <p:nvPr/>
        </p:nvSpPr>
        <p:spPr>
          <a:xfrm>
            <a:off x="4274820"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Qwen judge ≥ 0.85</a:t>
            </a:r>
          </a:p>
          <a:p>
            <a:pPr algn="ctr">
              <a:lnSpc>
                <a:spcPct val="112000"/>
              </a:lnSpc>
            </a:pPr>
            <a:r>
              <a:rPr sz="1050" b="0">
                <a:solidFill>
                  <a:srgbClr val="4A4842"/>
                </a:solidFill>
                <a:latin typeface="Readex Pro"/>
                <a:cs typeface="Readex Pro"/>
                <a:ea typeface="Readex Pro"/>
              </a:rPr>
              <a:t>strength tags [S0]–[SA]</a:t>
            </a:r>
          </a:p>
        </p:txBody>
      </p:sp>
      <p:cxnSp>
        <p:nvCxnSpPr>
          <p:cNvPr id="19" name="Connector 18"/>
          <p:cNvCxnSpPr/>
          <p:nvPr/>
        </p:nvCxnSpPr>
        <p:spPr>
          <a:xfrm>
            <a:off x="3845052" y="2715768"/>
            <a:ext cx="32004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03620" y="2148840"/>
            <a:ext cx="1481328" cy="1143000"/>
          </a:xfrm>
          <a:prstGeom prst="roundRect">
            <a:avLst>
              <a:gd name="adj" fmla="val 800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67628" y="2258568"/>
            <a:ext cx="1353312" cy="274320"/>
          </a:xfrm>
          <a:prstGeom prst="rect">
            <a:avLst/>
          </a:prstGeom>
          <a:noFill/>
        </p:spPr>
        <p:txBody>
          <a:bodyPr wrap="square" lIns="0" rIns="0" tIns="0" bIns="0" anchor="ctr">
            <a:spAutoFit/>
          </a:bodyPr>
          <a:lstStyle/>
          <a:p>
            <a:pPr algn="ctr"/>
            <a:r>
              <a:rPr sz="1200" b="1">
                <a:solidFill>
                  <a:srgbClr val="282824"/>
                </a:solidFill>
                <a:latin typeface="Readex Pro"/>
                <a:cs typeface="Readex Pro"/>
                <a:ea typeface="Readex Pro"/>
              </a:rPr>
              <a:t>Fine-tune</a:t>
            </a:r>
          </a:p>
        </p:txBody>
      </p:sp>
      <p:sp>
        <p:nvSpPr>
          <p:cNvPr id="22" name="TextBox 21"/>
          <p:cNvSpPr txBox="1"/>
          <p:nvPr/>
        </p:nvSpPr>
        <p:spPr>
          <a:xfrm>
            <a:off x="6167628"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AraT5v2 · AraBART ·</a:t>
            </a:r>
          </a:p>
          <a:p>
            <a:pPr algn="ctr">
              <a:lnSpc>
                <a:spcPct val="112000"/>
              </a:lnSpc>
            </a:pPr>
            <a:r>
              <a:rPr sz="1050" b="0">
                <a:solidFill>
                  <a:srgbClr val="4A4842"/>
                </a:solidFill>
                <a:latin typeface="Readex Pro"/>
                <a:cs typeface="Readex Pro"/>
                <a:ea typeface="Readex Pro"/>
              </a:rPr>
              <a:t>int8 bundle → the phone</a:t>
            </a:r>
          </a:p>
        </p:txBody>
      </p:sp>
      <p:cxnSp>
        <p:nvCxnSpPr>
          <p:cNvPr id="23" name="Connector 22"/>
          <p:cNvCxnSpPr/>
          <p:nvPr/>
        </p:nvCxnSpPr>
        <p:spPr>
          <a:xfrm>
            <a:off x="5737860" y="2715768"/>
            <a:ext cx="32004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996428" y="2148840"/>
            <a:ext cx="1481328" cy="1143000"/>
          </a:xfrm>
          <a:prstGeom prst="roundRect">
            <a:avLst>
              <a:gd name="adj" fmla="val 800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60436" y="2258568"/>
            <a:ext cx="1353312" cy="274320"/>
          </a:xfrm>
          <a:prstGeom prst="rect">
            <a:avLst/>
          </a:prstGeom>
          <a:noFill/>
        </p:spPr>
        <p:txBody>
          <a:bodyPr wrap="square" lIns="0" rIns="0" tIns="0" bIns="0" anchor="ctr">
            <a:spAutoFit/>
          </a:bodyPr>
          <a:lstStyle/>
          <a:p>
            <a:pPr algn="ctr"/>
            <a:r>
              <a:rPr sz="1200" b="1">
                <a:solidFill>
                  <a:srgbClr val="282824"/>
                </a:solidFill>
                <a:latin typeface="Readex Pro"/>
                <a:cs typeface="Readex Pro"/>
                <a:ea typeface="Readex Pro"/>
              </a:rPr>
              <a:t>Measure</a:t>
            </a:r>
          </a:p>
        </p:txBody>
      </p:sp>
      <p:sp>
        <p:nvSpPr>
          <p:cNvPr id="26" name="TextBox 25"/>
          <p:cNvSpPr txBox="1"/>
          <p:nvPr/>
        </p:nvSpPr>
        <p:spPr>
          <a:xfrm>
            <a:off x="8060436"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BayanBench v2 ·</a:t>
            </a:r>
          </a:p>
          <a:p>
            <a:pPr algn="ctr">
              <a:lnSpc>
                <a:spcPct val="112000"/>
              </a:lnSpc>
            </a:pPr>
            <a:r>
              <a:rPr sz="1050" b="0">
                <a:solidFill>
                  <a:srgbClr val="4A4842"/>
                </a:solidFill>
                <a:latin typeface="Readex Pro"/>
                <a:cs typeface="Readex Pro"/>
                <a:ea typeface="Readex Pro"/>
              </a:rPr>
              <a:t>1,981 items, one scorer</a:t>
            </a:r>
          </a:p>
        </p:txBody>
      </p:sp>
      <p:cxnSp>
        <p:nvCxnSpPr>
          <p:cNvPr id="27" name="Connector 26"/>
          <p:cNvCxnSpPr/>
          <p:nvPr/>
        </p:nvCxnSpPr>
        <p:spPr>
          <a:xfrm>
            <a:off x="7630668" y="2715768"/>
            <a:ext cx="32004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THE PIPELINE</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Build, measure, learn</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Rounded Rectangle 8"/>
          <p:cNvSpPr/>
          <p:nvPr/>
        </p:nvSpPr>
        <p:spPr>
          <a:xfrm>
            <a:off x="425196" y="2148840"/>
            <a:ext cx="1481328" cy="1143000"/>
          </a:xfrm>
          <a:prstGeom prst="roundRect">
            <a:avLst>
              <a:gd name="adj" fmla="val 800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9204" y="2258568"/>
            <a:ext cx="1353312" cy="274320"/>
          </a:xfrm>
          <a:prstGeom prst="rect">
            <a:avLst/>
          </a:prstGeom>
          <a:noFill/>
        </p:spPr>
        <p:txBody>
          <a:bodyPr wrap="square" lIns="0" rIns="0" tIns="0" bIns="0" anchor="ctr">
            <a:spAutoFit/>
          </a:bodyPr>
          <a:lstStyle/>
          <a:p>
            <a:pPr algn="ctr"/>
            <a:r>
              <a:rPr sz="1200" b="1">
                <a:solidFill>
                  <a:srgbClr val="282824"/>
                </a:solidFill>
                <a:latin typeface="Readex Pro"/>
                <a:cs typeface="Readex Pro"/>
                <a:ea typeface="Readex Pro"/>
              </a:rPr>
              <a:t>Source corpora</a:t>
            </a:r>
          </a:p>
        </p:txBody>
      </p:sp>
      <p:sp>
        <p:nvSpPr>
          <p:cNvPr id="11" name="TextBox 10"/>
          <p:cNvSpPr txBox="1"/>
          <p:nvPr/>
        </p:nvSpPr>
        <p:spPr>
          <a:xfrm>
            <a:off x="489204"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SAMER · DAASI ·</a:t>
            </a:r>
          </a:p>
          <a:p>
            <a:pPr algn="ctr">
              <a:lnSpc>
                <a:spcPct val="112000"/>
              </a:lnSpc>
            </a:pPr>
            <a:r>
              <a:rPr sz="1050" b="0">
                <a:solidFill>
                  <a:srgbClr val="4A4842"/>
                </a:solidFill>
                <a:latin typeface="Readex Pro"/>
                <a:cs typeface="Readex Pro"/>
                <a:ea typeface="Readex Pro"/>
              </a:rPr>
              <a:t>other datasets · BAREC</a:t>
            </a:r>
          </a:p>
        </p:txBody>
      </p:sp>
      <p:sp>
        <p:nvSpPr>
          <p:cNvPr id="12" name="Rounded Rectangle 11"/>
          <p:cNvSpPr/>
          <p:nvPr/>
        </p:nvSpPr>
        <p:spPr>
          <a:xfrm>
            <a:off x="2318004" y="2148840"/>
            <a:ext cx="1481328" cy="1143000"/>
          </a:xfrm>
          <a:prstGeom prst="roundRect">
            <a:avLst>
              <a:gd name="adj" fmla="val 8000"/>
            </a:avLst>
          </a:prstGeom>
          <a:solidFill>
            <a:srgbClr val="F3E2DA"/>
          </a:solidFill>
          <a:ln w="15875">
            <a:solidFill>
              <a:srgbClr val="B553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82012" y="2258568"/>
            <a:ext cx="1353312" cy="274320"/>
          </a:xfrm>
          <a:prstGeom prst="rect">
            <a:avLst/>
          </a:prstGeom>
          <a:noFill/>
        </p:spPr>
        <p:txBody>
          <a:bodyPr wrap="square" lIns="0" rIns="0" tIns="0" bIns="0" anchor="ctr">
            <a:spAutoFit/>
          </a:bodyPr>
          <a:lstStyle/>
          <a:p>
            <a:pPr algn="ctr"/>
            <a:r>
              <a:rPr sz="1200" b="1">
                <a:solidFill>
                  <a:srgbClr val="B5533C"/>
                </a:solidFill>
                <a:latin typeface="Readex Pro"/>
                <a:cs typeface="Readex Pro"/>
                <a:ea typeface="Readex Pro"/>
              </a:rPr>
              <a:t>Leakage check</a:t>
            </a:r>
          </a:p>
        </p:txBody>
      </p:sp>
      <p:sp>
        <p:nvSpPr>
          <p:cNvPr id="14" name="TextBox 13"/>
          <p:cNvSpPr txBox="1"/>
          <p:nvPr/>
        </p:nvSpPr>
        <p:spPr>
          <a:xfrm>
            <a:off x="2382012"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exact + 5-gram ·</a:t>
            </a:r>
          </a:p>
          <a:p>
            <a:pPr algn="ctr">
              <a:lnSpc>
                <a:spcPct val="112000"/>
              </a:lnSpc>
            </a:pPr>
            <a:r>
              <a:rPr sz="1050" b="0">
                <a:solidFill>
                  <a:srgbClr val="4A4842"/>
                </a:solidFill>
                <a:latin typeface="Readex Pro"/>
                <a:cs typeface="Readex Pro"/>
                <a:ea typeface="Readex Pro"/>
              </a:rPr>
              <a:t>grouped split</a:t>
            </a:r>
          </a:p>
        </p:txBody>
      </p:sp>
      <p:cxnSp>
        <p:nvCxnSpPr>
          <p:cNvPr id="15" name="Connector 14"/>
          <p:cNvCxnSpPr/>
          <p:nvPr/>
        </p:nvCxnSpPr>
        <p:spPr>
          <a:xfrm>
            <a:off x="1952243" y="2715768"/>
            <a:ext cx="320041"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210812" y="2148840"/>
            <a:ext cx="1481328" cy="1143000"/>
          </a:xfrm>
          <a:prstGeom prst="roundRect">
            <a:avLst>
              <a:gd name="adj" fmla="val 8000"/>
            </a:avLst>
          </a:prstGeom>
          <a:solidFill>
            <a:srgbClr val="F3E2DA"/>
          </a:solidFill>
          <a:ln w="15875">
            <a:solidFill>
              <a:srgbClr val="B553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74820" y="2258568"/>
            <a:ext cx="1353312" cy="274320"/>
          </a:xfrm>
          <a:prstGeom prst="rect">
            <a:avLst/>
          </a:prstGeom>
          <a:noFill/>
        </p:spPr>
        <p:txBody>
          <a:bodyPr wrap="square" lIns="0" rIns="0" tIns="0" bIns="0" anchor="ctr">
            <a:spAutoFit/>
          </a:bodyPr>
          <a:lstStyle/>
          <a:p>
            <a:pPr algn="ctr"/>
            <a:r>
              <a:rPr sz="1200" b="1">
                <a:solidFill>
                  <a:srgbClr val="B5533C"/>
                </a:solidFill>
                <a:latin typeface="Readex Pro"/>
                <a:cs typeface="Readex Pro"/>
                <a:ea typeface="Readex Pro"/>
              </a:rPr>
              <a:t>Meaning gate</a:t>
            </a:r>
          </a:p>
        </p:txBody>
      </p:sp>
      <p:sp>
        <p:nvSpPr>
          <p:cNvPr id="18" name="TextBox 17"/>
          <p:cNvSpPr txBox="1"/>
          <p:nvPr/>
        </p:nvSpPr>
        <p:spPr>
          <a:xfrm>
            <a:off x="4274820"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Qwen judge ≥ 0.85</a:t>
            </a:r>
          </a:p>
          <a:p>
            <a:pPr algn="ctr">
              <a:lnSpc>
                <a:spcPct val="112000"/>
              </a:lnSpc>
            </a:pPr>
            <a:r>
              <a:rPr sz="1050" b="0">
                <a:solidFill>
                  <a:srgbClr val="4A4842"/>
                </a:solidFill>
                <a:latin typeface="Readex Pro"/>
                <a:cs typeface="Readex Pro"/>
                <a:ea typeface="Readex Pro"/>
              </a:rPr>
              <a:t>strength tags [S0]–[SA]</a:t>
            </a:r>
          </a:p>
        </p:txBody>
      </p:sp>
      <p:cxnSp>
        <p:nvCxnSpPr>
          <p:cNvPr id="19" name="Connector 18"/>
          <p:cNvCxnSpPr/>
          <p:nvPr/>
        </p:nvCxnSpPr>
        <p:spPr>
          <a:xfrm>
            <a:off x="3845052" y="2715768"/>
            <a:ext cx="32004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03620" y="2148840"/>
            <a:ext cx="1481328" cy="1143000"/>
          </a:xfrm>
          <a:prstGeom prst="roundRect">
            <a:avLst>
              <a:gd name="adj" fmla="val 800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67628" y="2258568"/>
            <a:ext cx="1353312" cy="274320"/>
          </a:xfrm>
          <a:prstGeom prst="rect">
            <a:avLst/>
          </a:prstGeom>
          <a:noFill/>
        </p:spPr>
        <p:txBody>
          <a:bodyPr wrap="square" lIns="0" rIns="0" tIns="0" bIns="0" anchor="ctr">
            <a:spAutoFit/>
          </a:bodyPr>
          <a:lstStyle/>
          <a:p>
            <a:pPr algn="ctr"/>
            <a:r>
              <a:rPr sz="1200" b="1">
                <a:solidFill>
                  <a:srgbClr val="282824"/>
                </a:solidFill>
                <a:latin typeface="Readex Pro"/>
                <a:cs typeface="Readex Pro"/>
                <a:ea typeface="Readex Pro"/>
              </a:rPr>
              <a:t>Fine-tune</a:t>
            </a:r>
          </a:p>
        </p:txBody>
      </p:sp>
      <p:sp>
        <p:nvSpPr>
          <p:cNvPr id="22" name="TextBox 21"/>
          <p:cNvSpPr txBox="1"/>
          <p:nvPr/>
        </p:nvSpPr>
        <p:spPr>
          <a:xfrm>
            <a:off x="6167628"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AraT5v2 · AraBART ·</a:t>
            </a:r>
          </a:p>
          <a:p>
            <a:pPr algn="ctr">
              <a:lnSpc>
                <a:spcPct val="112000"/>
              </a:lnSpc>
            </a:pPr>
            <a:r>
              <a:rPr sz="1050" b="0">
                <a:solidFill>
                  <a:srgbClr val="4A4842"/>
                </a:solidFill>
                <a:latin typeface="Readex Pro"/>
                <a:cs typeface="Readex Pro"/>
                <a:ea typeface="Readex Pro"/>
              </a:rPr>
              <a:t>int8 bundle → the phone</a:t>
            </a:r>
          </a:p>
        </p:txBody>
      </p:sp>
      <p:cxnSp>
        <p:nvCxnSpPr>
          <p:cNvPr id="23" name="Connector 22"/>
          <p:cNvCxnSpPr/>
          <p:nvPr/>
        </p:nvCxnSpPr>
        <p:spPr>
          <a:xfrm>
            <a:off x="5737860" y="2715768"/>
            <a:ext cx="32004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996428" y="2148840"/>
            <a:ext cx="1481328" cy="1143000"/>
          </a:xfrm>
          <a:prstGeom prst="roundRect">
            <a:avLst>
              <a:gd name="adj" fmla="val 800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60436" y="2258568"/>
            <a:ext cx="1353312" cy="274320"/>
          </a:xfrm>
          <a:prstGeom prst="rect">
            <a:avLst/>
          </a:prstGeom>
          <a:noFill/>
        </p:spPr>
        <p:txBody>
          <a:bodyPr wrap="square" lIns="0" rIns="0" tIns="0" bIns="0" anchor="ctr">
            <a:spAutoFit/>
          </a:bodyPr>
          <a:lstStyle/>
          <a:p>
            <a:pPr algn="ctr"/>
            <a:r>
              <a:rPr sz="1200" b="1">
                <a:solidFill>
                  <a:srgbClr val="282824"/>
                </a:solidFill>
                <a:latin typeface="Readex Pro"/>
                <a:cs typeface="Readex Pro"/>
                <a:ea typeface="Readex Pro"/>
              </a:rPr>
              <a:t>Measure</a:t>
            </a:r>
          </a:p>
        </p:txBody>
      </p:sp>
      <p:sp>
        <p:nvSpPr>
          <p:cNvPr id="26" name="TextBox 25"/>
          <p:cNvSpPr txBox="1"/>
          <p:nvPr/>
        </p:nvSpPr>
        <p:spPr>
          <a:xfrm>
            <a:off x="8060436"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BayanBench v2 ·</a:t>
            </a:r>
          </a:p>
          <a:p>
            <a:pPr algn="ctr">
              <a:lnSpc>
                <a:spcPct val="112000"/>
              </a:lnSpc>
            </a:pPr>
            <a:r>
              <a:rPr sz="1050" b="0">
                <a:solidFill>
                  <a:srgbClr val="4A4842"/>
                </a:solidFill>
                <a:latin typeface="Readex Pro"/>
                <a:cs typeface="Readex Pro"/>
                <a:ea typeface="Readex Pro"/>
              </a:rPr>
              <a:t>1,981 items, one scorer</a:t>
            </a:r>
          </a:p>
        </p:txBody>
      </p:sp>
      <p:cxnSp>
        <p:nvCxnSpPr>
          <p:cNvPr id="27" name="Connector 26"/>
          <p:cNvCxnSpPr/>
          <p:nvPr/>
        </p:nvCxnSpPr>
        <p:spPr>
          <a:xfrm>
            <a:off x="7630668" y="2715768"/>
            <a:ext cx="32004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737092" y="3291840"/>
            <a:ext cx="0" cy="1463040"/>
          </a:xfrm>
          <a:prstGeom prst="line">
            <a:avLst/>
          </a:prstGeom>
          <a:ln w="31750">
            <a:solidFill>
              <a:srgbClr val="8A5E3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165860" y="4754880"/>
            <a:ext cx="7571232" cy="0"/>
          </a:xfrm>
          <a:prstGeom prst="line">
            <a:avLst/>
          </a:prstGeom>
          <a:ln w="31750">
            <a:solidFill>
              <a:srgbClr val="8A5E35"/>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1165860" y="3291840"/>
            <a:ext cx="0" cy="1463040"/>
          </a:xfrm>
          <a:prstGeom prst="line">
            <a:avLst/>
          </a:prstGeom>
          <a:ln w="31750">
            <a:solidFill>
              <a:srgbClr val="8A5E35"/>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906" y="4617720"/>
            <a:ext cx="3206496" cy="347472"/>
          </a:xfrm>
          <a:prstGeom prst="roundRect">
            <a:avLst>
              <a:gd name="adj" fmla="val 2368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1">
                <a:solidFill>
                  <a:srgbClr val="8A5E35"/>
                </a:solidFill>
                <a:latin typeface="Readex Pro"/>
                <a:cs typeface="Readex Pro"/>
                <a:ea typeface="Readex Pro"/>
              </a:rPr>
              <a:t>v0.1 · copying wins: 65% unchanged</a:t>
            </a:r>
          </a:p>
        </p:txBody>
      </p:sp>
      <p:sp>
        <p:nvSpPr>
          <p:cNvPr id="32" name="Rounded Rectangle 31"/>
          <p:cNvSpPr/>
          <p:nvPr/>
        </p:nvSpPr>
        <p:spPr>
          <a:xfrm>
            <a:off x="3726942" y="4617720"/>
            <a:ext cx="2869692" cy="347472"/>
          </a:xfrm>
          <a:prstGeom prst="roundRect">
            <a:avLst>
              <a:gd name="adj" fmla="val 2368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1">
                <a:solidFill>
                  <a:srgbClr val="8A5E35"/>
                </a:solidFill>
                <a:latin typeface="Readex Pro"/>
                <a:cs typeface="Readex Pro"/>
                <a:ea typeface="Readex Pro"/>
              </a:rPr>
              <a:t>v0.2 · meaning kept 60% / 40%</a:t>
            </a:r>
          </a:p>
        </p:txBody>
      </p:sp>
      <p:sp>
        <p:nvSpPr>
          <p:cNvPr id="33" name="Rounded Rectangle 32"/>
          <p:cNvSpPr/>
          <p:nvPr/>
        </p:nvSpPr>
        <p:spPr>
          <a:xfrm>
            <a:off x="7126986" y="4617720"/>
            <a:ext cx="2575560" cy="347472"/>
          </a:xfrm>
          <a:prstGeom prst="roundRect">
            <a:avLst>
              <a:gd name="adj" fmla="val 2368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1">
                <a:solidFill>
                  <a:srgbClr val="8A5E35"/>
                </a:solidFill>
                <a:latin typeface="Readex Pro"/>
                <a:cs typeface="Readex Pro"/>
                <a:ea typeface="Readex Pro"/>
              </a:rPr>
              <a:t>v0.3 · kept 82% (was 79%)</a:t>
            </a:r>
          </a:p>
        </p:txBody>
      </p:sp>
      <p:sp>
        <p:nvSpPr>
          <p:cNvPr id="34" name="TextBox 33"/>
          <p:cNvSpPr txBox="1"/>
          <p:nvPr/>
        </p:nvSpPr>
        <p:spPr>
          <a:xfrm>
            <a:off x="566928" y="5349240"/>
            <a:ext cx="8769096" cy="2743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learn · each finding became the next version's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cxnSp>
        <p:nvCxnSpPr>
          <p:cNvPr id="14" name="Connector 13"/>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6" name="Rounded Rectangle 15"/>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7" name="Rounded Rectangle 16"/>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8" name="Rounded Rectangle 17"/>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
        <p:nvSpPr>
          <p:cNvPr id="14" name="TextBox 13"/>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5" name="Rounded Rectangle 14"/>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6" name="Rounded Rectangle 15"/>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7" name="Rounded Rectangle 16"/>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cxnSp>
        <p:nvCxnSpPr>
          <p:cNvPr id="19" name="Connector 18"/>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4885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corpus v1</a:t>
            </a:r>
          </a:p>
        </p:txBody>
      </p:sp>
      <p:sp>
        <p:nvSpPr>
          <p:cNvPr id="21" name="Rounded Rectangle 20"/>
          <p:cNvSpPr/>
          <p:nvPr/>
        </p:nvSpPr>
        <p:spPr>
          <a:xfrm>
            <a:off x="6848856" y="2221991"/>
            <a:ext cx="2788920" cy="475488"/>
          </a:xfrm>
          <a:prstGeom prst="roundRect">
            <a:avLst>
              <a:gd name="adj" fmla="val 1923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1A1A14"/>
                </a:solidFill>
                <a:latin typeface="Readex Pro"/>
                <a:cs typeface="Readex Pro"/>
                <a:ea typeface="Readex Pro"/>
              </a:rPr>
              <a:t>v0.3</a:t>
            </a:r>
          </a:p>
        </p:txBody>
      </p:sp>
      <p:sp>
        <p:nvSpPr>
          <p:cNvPr id="22" name="Rounded Rectangle 21"/>
          <p:cNvSpPr/>
          <p:nvPr/>
        </p:nvSpPr>
        <p:spPr>
          <a:xfrm>
            <a:off x="684885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corpus v1, 14,975 rows,</a:t>
            </a:r>
          </a:p>
          <a:p>
            <a:pPr algn="ctr"/>
            <a:r>
              <a:rPr sz="1200" b="0">
                <a:solidFill>
                  <a:srgbClr val="4A4842"/>
                </a:solidFill>
                <a:latin typeface="Readex Pro"/>
                <a:cs typeface="Readex Pro"/>
                <a:ea typeface="Readex Pro"/>
              </a:rPr>
              <a:t>no tag</a:t>
            </a:r>
          </a:p>
        </p:txBody>
      </p:sp>
      <p:sp>
        <p:nvSpPr>
          <p:cNvPr id="23" name="Rounded Rectangle 22"/>
          <p:cNvSpPr/>
          <p:nvPr/>
        </p:nvSpPr>
        <p:spPr>
          <a:xfrm>
            <a:off x="684885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5858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Our best: cuts 9.5 words from the</a:t>
            </a:r>
          </a:p>
          <a:p>
            <a:pPr algn="ctr">
              <a:lnSpc>
                <a:spcPct val="108000"/>
              </a:lnSpc>
            </a:pPr>
            <a:r>
              <a:rPr sz="1150" b="0">
                <a:solidFill>
                  <a:srgbClr val="B5533C"/>
                </a:solidFill>
                <a:latin typeface="Readex Pro"/>
                <a:cs typeface="Readex Pro"/>
                <a:ea typeface="Readex Pro"/>
              </a:rPr>
              <a:t>longest clause vs 4.5, with about</a:t>
            </a:r>
          </a:p>
          <a:p>
            <a:pPr algn="ctr">
              <a:lnSpc>
                <a:spcPct val="108000"/>
              </a:lnSpc>
            </a:pPr>
            <a:r>
              <a:rPr sz="1150" b="0">
                <a:solidFill>
                  <a:srgbClr val="B5533C"/>
                </a:solidFill>
                <a:latin typeface="Readex Pro"/>
                <a:cs typeface="Readex Pro"/>
                <a:ea typeface="Readex Pro"/>
              </a:rPr>
              <a:t>the same meaning (vs v0.2, no tag).</a:t>
            </a:r>
          </a:p>
        </p:txBody>
      </p:sp>
      <p:cxnSp>
        <p:nvCxnSpPr>
          <p:cNvPr id="25" name="Connector 24"/>
          <p:cNvCxnSpPr/>
          <p:nvPr/>
        </p:nvCxnSpPr>
        <p:spPr>
          <a:xfrm>
            <a:off x="640080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5532120"/>
            <a:ext cx="1463040" cy="256032"/>
          </a:xfrm>
          <a:prstGeom prst="rect">
            <a:avLst/>
          </a:prstGeom>
          <a:noFill/>
        </p:spPr>
        <p:txBody>
          <a:bodyPr wrap="square" lIns="0" rIns="0" tIns="0" bIns="0" anchor="ctr">
            <a:spAutoFit/>
          </a:bodyPr>
          <a:lstStyle/>
          <a:p>
            <a:pPr algn="l"/>
            <a:r>
              <a:rPr sz="1100" b="0">
                <a:solidFill>
                  <a:srgbClr val="6F6B5E"/>
                </a:solidFill>
                <a:latin typeface="Readex Pro"/>
                <a:cs typeface="Readex Pro"/>
                <a:ea typeface="Readex Pro"/>
              </a:rPr>
              <a:t>Tried and dropped:</a:t>
            </a:r>
          </a:p>
        </p:txBody>
      </p:sp>
      <p:sp>
        <p:nvSpPr>
          <p:cNvPr id="27" name="Rounded Rectangle 26"/>
          <p:cNvSpPr/>
          <p:nvPr/>
        </p:nvSpPr>
        <p:spPr>
          <a:xfrm>
            <a:off x="2075688" y="5513832"/>
            <a:ext cx="1375155"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student DPO</a:t>
            </a:r>
          </a:p>
        </p:txBody>
      </p:sp>
      <p:sp>
        <p:nvSpPr>
          <p:cNvPr id="28" name="Rounded Rectangle 27"/>
          <p:cNvSpPr/>
          <p:nvPr/>
        </p:nvSpPr>
        <p:spPr>
          <a:xfrm>
            <a:off x="3661155" y="5513832"/>
            <a:ext cx="2026158"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minimum-risk training</a:t>
            </a:r>
          </a:p>
        </p:txBody>
      </p:sp>
      <p:sp>
        <p:nvSpPr>
          <p:cNvPr id="29" name="Rounded Rectangle 28"/>
          <p:cNvSpPr/>
          <p:nvPr/>
        </p:nvSpPr>
        <p:spPr>
          <a:xfrm>
            <a:off x="5897626" y="5513832"/>
            <a:ext cx="1552574"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fluency retrain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sp>
        <p:nvSpPr>
          <p:cNvPr id="9" name="TextBox 8"/>
          <p:cNvSpPr txBox="1"/>
          <p:nvPr/>
        </p:nvSpPr>
        <p:spPr>
          <a:xfrm>
            <a:off x="566928" y="1481328"/>
            <a:ext cx="6035040" cy="384048"/>
          </a:xfrm>
          <a:prstGeom prst="rect">
            <a:avLst/>
          </a:prstGeom>
          <a:noFill/>
        </p:spPr>
        <p:txBody>
          <a:bodyPr wrap="square" lIns="0" rIns="0" tIns="0" bIns="0" anchor="ctr">
            <a:spAutoFit/>
          </a:bodyPr>
          <a:lstStyle/>
          <a:p>
            <a:pPr algn="l"/>
            <a:r>
              <a:rPr sz="2000" b="1">
                <a:solidFill>
                  <a:srgbClr val="282824"/>
                </a:solidFill>
                <a:latin typeface="Readex Pro"/>
                <a:cs typeface="Readex Pro"/>
                <a:ea typeface="Readex Pro"/>
              </a:rPr>
              <a:t>Copying is the baseline to beat</a:t>
            </a:r>
          </a:p>
        </p:txBody>
      </p:sp>
      <p:sp>
        <p:nvSpPr>
          <p:cNvPr id="10" name="TextBox 9"/>
          <p:cNvSpPr txBox="1"/>
          <p:nvPr/>
        </p:nvSpPr>
        <p:spPr>
          <a:xfrm>
            <a:off x="3675887" y="1938528"/>
            <a:ext cx="1188720" cy="256032"/>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meaning kept</a:t>
            </a:r>
          </a:p>
        </p:txBody>
      </p:sp>
      <p:sp>
        <p:nvSpPr>
          <p:cNvPr id="11" name="TextBox 10"/>
          <p:cNvSpPr txBox="1"/>
          <p:nvPr/>
        </p:nvSpPr>
        <p:spPr>
          <a:xfrm>
            <a:off x="5001768" y="1938528"/>
            <a:ext cx="1554480" cy="256032"/>
          </a:xfrm>
          <a:prstGeom prst="rect">
            <a:avLst/>
          </a:prstGeom>
          <a:noFill/>
        </p:spPr>
        <p:txBody>
          <a:bodyPr wrap="square" lIns="0" rIns="0" tIns="0" bIns="0" anchor="ctr">
            <a:spAutoFit/>
          </a:bodyPr>
          <a:lstStyle/>
          <a:p>
            <a:pPr algn="ctr">
              <a:lnSpc>
                <a:spcPct val="95000"/>
              </a:lnSpc>
            </a:pPr>
            <a:r>
              <a:rPr sz="1050" b="0">
                <a:solidFill>
                  <a:srgbClr val="6F6B5E"/>
                </a:solidFill>
                <a:latin typeface="Readex Pro"/>
                <a:cs typeface="Readex Pro"/>
                <a:ea typeface="Readex Pro"/>
              </a:rPr>
              <a:t>words cut from</a:t>
            </a:r>
          </a:p>
          <a:p>
            <a:pPr algn="ctr">
              <a:lnSpc>
                <a:spcPct val="95000"/>
              </a:lnSpc>
            </a:pPr>
            <a:r>
              <a:rPr sz="1050" b="0">
                <a:solidFill>
                  <a:srgbClr val="6F6B5E"/>
                </a:solidFill>
                <a:latin typeface="Readex Pro"/>
                <a:cs typeface="Readex Pro"/>
                <a:ea typeface="Readex Pro"/>
              </a:rPr>
              <a:t>the longest clause</a:t>
            </a:r>
          </a:p>
        </p:txBody>
      </p:sp>
      <p:sp>
        <p:nvSpPr>
          <p:cNvPr id="12" name="Rounded Rectangle 11"/>
          <p:cNvSpPr/>
          <p:nvPr/>
        </p:nvSpPr>
        <p:spPr>
          <a:xfrm>
            <a:off x="566928" y="2286000"/>
            <a:ext cx="6126480" cy="402336"/>
          </a:xfrm>
          <a:prstGeom prst="roundRect">
            <a:avLst>
              <a:gd name="adj" fmla="val 18181"/>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340864"/>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Copy the input</a:t>
            </a:r>
          </a:p>
        </p:txBody>
      </p:sp>
      <p:sp>
        <p:nvSpPr>
          <p:cNvPr id="14" name="TextBox 13"/>
          <p:cNvSpPr txBox="1"/>
          <p:nvPr/>
        </p:nvSpPr>
        <p:spPr>
          <a:xfrm>
            <a:off x="3675887" y="2340864"/>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100%</a:t>
            </a:r>
          </a:p>
        </p:txBody>
      </p:sp>
      <p:sp>
        <p:nvSpPr>
          <p:cNvPr id="15" name="TextBox 14"/>
          <p:cNvSpPr txBox="1"/>
          <p:nvPr/>
        </p:nvSpPr>
        <p:spPr>
          <a:xfrm>
            <a:off x="5001768" y="2340864"/>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16" name="Rounded Rectangle 15"/>
          <p:cNvSpPr/>
          <p:nvPr/>
        </p:nvSpPr>
        <p:spPr>
          <a:xfrm>
            <a:off x="566928" y="2761488"/>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16352"/>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v0.1</a:t>
            </a:r>
          </a:p>
        </p:txBody>
      </p:sp>
      <p:sp>
        <p:nvSpPr>
          <p:cNvPr id="18" name="TextBox 17"/>
          <p:cNvSpPr txBox="1"/>
          <p:nvPr/>
        </p:nvSpPr>
        <p:spPr>
          <a:xfrm>
            <a:off x="3675887" y="2816352"/>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76%</a:t>
            </a:r>
          </a:p>
        </p:txBody>
      </p:sp>
      <p:sp>
        <p:nvSpPr>
          <p:cNvPr id="19" name="TextBox 18"/>
          <p:cNvSpPr txBox="1"/>
          <p:nvPr/>
        </p:nvSpPr>
        <p:spPr>
          <a:xfrm>
            <a:off x="5001768" y="2816352"/>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20" name="Rounded Rectangle 19"/>
          <p:cNvSpPr/>
          <p:nvPr/>
        </p:nvSpPr>
        <p:spPr>
          <a:xfrm>
            <a:off x="566928" y="3236976"/>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291840"/>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 (AraT5v2)</a:t>
            </a:r>
          </a:p>
        </p:txBody>
      </p:sp>
      <p:sp>
        <p:nvSpPr>
          <p:cNvPr id="22" name="TextBox 21"/>
          <p:cNvSpPr txBox="1"/>
          <p:nvPr/>
        </p:nvSpPr>
        <p:spPr>
          <a:xfrm>
            <a:off x="3675887" y="3291840"/>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68%</a:t>
            </a:r>
          </a:p>
        </p:txBody>
      </p:sp>
      <p:sp>
        <p:nvSpPr>
          <p:cNvPr id="23" name="TextBox 22"/>
          <p:cNvSpPr txBox="1"/>
          <p:nvPr/>
        </p:nvSpPr>
        <p:spPr>
          <a:xfrm>
            <a:off x="5001768" y="3291840"/>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4.5</a:t>
            </a:r>
          </a:p>
        </p:txBody>
      </p:sp>
      <p:sp>
        <p:nvSpPr>
          <p:cNvPr id="24" name="Rounded Rectangle 23"/>
          <p:cNvSpPr/>
          <p:nvPr/>
        </p:nvSpPr>
        <p:spPr>
          <a:xfrm>
            <a:off x="566928" y="3712464"/>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767328"/>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 (AraBART)</a:t>
            </a:r>
          </a:p>
        </p:txBody>
      </p:sp>
      <p:sp>
        <p:nvSpPr>
          <p:cNvPr id="26" name="TextBox 25"/>
          <p:cNvSpPr txBox="1"/>
          <p:nvPr/>
        </p:nvSpPr>
        <p:spPr>
          <a:xfrm>
            <a:off x="3675887" y="3767328"/>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51%</a:t>
            </a:r>
          </a:p>
        </p:txBody>
      </p:sp>
      <p:sp>
        <p:nvSpPr>
          <p:cNvPr id="27" name="TextBox 26"/>
          <p:cNvSpPr txBox="1"/>
          <p:nvPr/>
        </p:nvSpPr>
        <p:spPr>
          <a:xfrm>
            <a:off x="5001768" y="3767328"/>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4.9</a:t>
            </a:r>
          </a:p>
        </p:txBody>
      </p:sp>
      <p:sp>
        <p:nvSpPr>
          <p:cNvPr id="28" name="Rounded Rectangle 27"/>
          <p:cNvSpPr/>
          <p:nvPr/>
        </p:nvSpPr>
        <p:spPr>
          <a:xfrm>
            <a:off x="566928" y="4187952"/>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242816"/>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30" name="TextBox 29"/>
          <p:cNvSpPr txBox="1"/>
          <p:nvPr/>
        </p:nvSpPr>
        <p:spPr>
          <a:xfrm>
            <a:off x="3675887" y="4242816"/>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69%</a:t>
            </a:r>
          </a:p>
        </p:txBody>
      </p:sp>
      <p:sp>
        <p:nvSpPr>
          <p:cNvPr id="31" name="TextBox 30"/>
          <p:cNvSpPr txBox="1"/>
          <p:nvPr/>
        </p:nvSpPr>
        <p:spPr>
          <a:xfrm>
            <a:off x="5001768" y="4242816"/>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9.5</a:t>
            </a:r>
          </a:p>
        </p:txBody>
      </p:sp>
      <p:sp>
        <p:nvSpPr>
          <p:cNvPr id="32" name="TextBox 31"/>
          <p:cNvSpPr txBox="1"/>
          <p:nvPr/>
        </p:nvSpPr>
        <p:spPr>
          <a:xfrm>
            <a:off x="566928" y="4892040"/>
            <a:ext cx="6126480" cy="384048"/>
          </a:xfrm>
          <a:prstGeom prst="rect">
            <a:avLst/>
          </a:prstGeom>
          <a:noFill/>
        </p:spPr>
        <p:txBody>
          <a:bodyPr wrap="square" lIns="0" rIns="0" tIns="0" bIns="0" anchor="ctr">
            <a:spAutoFit/>
          </a:bodyPr>
          <a:lstStyle/>
          <a:p>
            <a:pPr algn="ctr"/>
            <a:r>
              <a:rPr sz="1000" b="0">
                <a:solidFill>
                  <a:srgbClr val="6F6B5E"/>
                </a:solidFill>
                <a:latin typeface="Readex Pro"/>
                <a:cs typeface="Readex Pro"/>
                <a:ea typeface="Readex Pro"/>
              </a:rPr>
              <a:t>test core items, as trained (float, greedy) · the shipped app model with four beams is on the results slide</a:t>
            </a:r>
          </a:p>
        </p:txBody>
      </p:sp>
      <p:sp>
        <p:nvSpPr>
          <p:cNvPr id="33" name="Rounded Rectangle 32"/>
          <p:cNvSpPr/>
          <p:nvPr/>
        </p:nvSpPr>
        <p:spPr>
          <a:xfrm>
            <a:off x="7013448" y="2286000"/>
            <a:ext cx="2331720" cy="2606040"/>
          </a:xfrm>
          <a:prstGeom prst="roundRect">
            <a:avLst>
              <a:gd name="adj" fmla="val 4705"/>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13448" y="2606040"/>
            <a:ext cx="2331720" cy="548640"/>
          </a:xfrm>
          <a:prstGeom prst="rect">
            <a:avLst/>
          </a:prstGeom>
          <a:noFill/>
        </p:spPr>
        <p:txBody>
          <a:bodyPr wrap="square" lIns="0" rIns="0" tIns="0" bIns="0" anchor="ctr">
            <a:spAutoFit/>
          </a:bodyPr>
          <a:lstStyle/>
          <a:p>
            <a:pPr algn="ctr"/>
            <a:r>
              <a:rPr sz="3200" b="1">
                <a:solidFill>
                  <a:srgbClr val="8A5E35"/>
                </a:solidFill>
                <a:latin typeface="Readex Pro"/>
                <a:cs typeface="Readex Pro"/>
                <a:ea typeface="Readex Pro"/>
              </a:rPr>
              <a:t>1,981</a:t>
            </a:r>
          </a:p>
        </p:txBody>
      </p:sp>
      <p:sp>
        <p:nvSpPr>
          <p:cNvPr id="35" name="TextBox 34"/>
          <p:cNvSpPr txBox="1"/>
          <p:nvPr/>
        </p:nvSpPr>
        <p:spPr>
          <a:xfrm>
            <a:off x="7013448" y="3246120"/>
            <a:ext cx="2331720" cy="256032"/>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items, split by document</a:t>
            </a:r>
          </a:p>
        </p:txBody>
      </p:sp>
      <p:sp>
        <p:nvSpPr>
          <p:cNvPr id="36" name="TextBox 35"/>
          <p:cNvSpPr txBox="1"/>
          <p:nvPr/>
        </p:nvSpPr>
        <p:spPr>
          <a:xfrm>
            <a:off x="7013448" y="3611880"/>
            <a:ext cx="233172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731 dev · 1,250 test</a:t>
            </a:r>
          </a:p>
        </p:txBody>
      </p:sp>
      <p:sp>
        <p:nvSpPr>
          <p:cNvPr id="37" name="TextBox 36"/>
          <p:cNvSpPr txBox="1"/>
          <p:nvPr/>
        </p:nvSpPr>
        <p:spPr>
          <a:xfrm>
            <a:off x="7013448" y="4434840"/>
            <a:ext cx="2331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BayanBench v2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sp>
        <p:nvSpPr>
          <p:cNvPr id="9" name="Rounded Rectangle 8"/>
          <p:cNvSpPr/>
          <p:nvPr/>
        </p:nvSpPr>
        <p:spPr>
          <a:xfrm>
            <a:off x="301752" y="1659636"/>
            <a:ext cx="2212848" cy="397764"/>
          </a:xfrm>
          <a:prstGeom prst="roundRect">
            <a:avLst>
              <a:gd name="adj" fmla="val 206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original + rewrite</a:t>
            </a:r>
          </a:p>
        </p:txBody>
      </p:sp>
      <p:sp>
        <p:nvSpPr>
          <p:cNvPr id="10" name="Rounded Rectangle 9"/>
          <p:cNvSpPr/>
          <p:nvPr/>
        </p:nvSpPr>
        <p:spPr>
          <a:xfrm>
            <a:off x="3265322" y="1440180"/>
            <a:ext cx="2651760" cy="868680"/>
          </a:xfrm>
          <a:prstGeom prst="roundRect">
            <a:avLst>
              <a:gd name="adj" fmla="val 12631"/>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65322" y="1568195"/>
            <a:ext cx="2651760" cy="310896"/>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Gemma 4 31B</a:t>
            </a:r>
          </a:p>
        </p:txBody>
      </p:sp>
      <p:sp>
        <p:nvSpPr>
          <p:cNvPr id="12" name="TextBox 11"/>
          <p:cNvSpPr txBox="1"/>
          <p:nvPr/>
        </p:nvSpPr>
        <p:spPr>
          <a:xfrm>
            <a:off x="3265322" y="1915667"/>
            <a:ext cx="265176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open model · reruns anywhere</a:t>
            </a:r>
          </a:p>
        </p:txBody>
      </p:sp>
      <p:sp>
        <p:nvSpPr>
          <p:cNvPr id="13" name="Rounded Rectangle 12"/>
          <p:cNvSpPr/>
          <p:nvPr/>
        </p:nvSpPr>
        <p:spPr>
          <a:xfrm>
            <a:off x="6492240" y="1676095"/>
            <a:ext cx="3277209" cy="397764"/>
          </a:xfrm>
          <a:prstGeom prst="roundRect">
            <a:avLst>
              <a:gd name="adj" fmla="val 206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7 yes/no questions → P(yes)</a:t>
            </a:r>
          </a:p>
        </p:txBody>
      </p:sp>
      <p:cxnSp>
        <p:nvCxnSpPr>
          <p:cNvPr id="14" name="Connector 13"/>
          <p:cNvCxnSpPr/>
          <p:nvPr/>
        </p:nvCxnSpPr>
        <p:spPr>
          <a:xfrm>
            <a:off x="2587752" y="1874519"/>
            <a:ext cx="604418"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990234" y="1874519"/>
            <a:ext cx="428854"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651760"/>
            <a:ext cx="4434840" cy="3611880"/>
          </a:xfrm>
          <a:prstGeom prst="roundRect">
            <a:avLst>
              <a:gd name="adj" fmla="val 405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798064"/>
            <a:ext cx="4434840" cy="329184"/>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Meaning · 4 questions</a:t>
            </a:r>
          </a:p>
        </p:txBody>
      </p:sp>
      <p:sp>
        <p:nvSpPr>
          <p:cNvPr id="18" name="Rounded Rectangle 17"/>
          <p:cNvSpPr/>
          <p:nvPr/>
        </p:nvSpPr>
        <p:spPr>
          <a:xfrm>
            <a:off x="694944" y="3218688"/>
            <a:ext cx="4178807" cy="530352"/>
          </a:xfrm>
          <a:prstGeom prst="roundRect">
            <a:avLst>
              <a:gd name="adj" fmla="val 15517"/>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1">
                <a:solidFill>
                  <a:srgbClr val="1A1A14"/>
                </a:solidFill>
                <a:latin typeface="Readex Pro"/>
                <a:cs typeface="Readex Pro"/>
                <a:ea typeface="Readex Pro"/>
              </a:rPr>
              <a:t>same meaning?  kept = yes ≥ 0.5 and every number kept</a:t>
            </a:r>
          </a:p>
        </p:txBody>
      </p:sp>
      <p:sp>
        <p:nvSpPr>
          <p:cNvPr id="19" name="Rounded Rectangle 18"/>
          <p:cNvSpPr/>
          <p:nvPr/>
        </p:nvSpPr>
        <p:spPr>
          <a:xfrm>
            <a:off x="694944" y="385876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adds a fact?</a:t>
            </a:r>
          </a:p>
        </p:txBody>
      </p:sp>
      <p:sp>
        <p:nvSpPr>
          <p:cNvPr id="20" name="Rounded Rectangle 19"/>
          <p:cNvSpPr/>
          <p:nvPr/>
        </p:nvSpPr>
        <p:spPr>
          <a:xfrm>
            <a:off x="694944" y="449884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drops a fact?</a:t>
            </a:r>
          </a:p>
        </p:txBody>
      </p:sp>
      <p:sp>
        <p:nvSpPr>
          <p:cNvPr id="21" name="Rounded Rectangle 20"/>
          <p:cNvSpPr/>
          <p:nvPr/>
        </p:nvSpPr>
        <p:spPr>
          <a:xfrm>
            <a:off x="694944" y="513892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contradicts?</a:t>
            </a:r>
          </a:p>
        </p:txBody>
      </p:sp>
      <p:sp>
        <p:nvSpPr>
          <p:cNvPr id="22" name="Rounded Rectangle 21"/>
          <p:cNvSpPr/>
          <p:nvPr/>
        </p:nvSpPr>
        <p:spPr>
          <a:xfrm>
            <a:off x="5321807" y="2651760"/>
            <a:ext cx="4434840" cy="3611880"/>
          </a:xfrm>
          <a:prstGeom prst="roundRect">
            <a:avLst>
              <a:gd name="adj" fmla="val 405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21807" y="2798064"/>
            <a:ext cx="4434840" cy="329184"/>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Quality · 3 questions, diagnostic</a:t>
            </a:r>
          </a:p>
        </p:txBody>
      </p:sp>
      <p:sp>
        <p:nvSpPr>
          <p:cNvPr id="24" name="Rounded Rectangle 23"/>
          <p:cNvSpPr/>
          <p:nvPr/>
        </p:nvSpPr>
        <p:spPr>
          <a:xfrm>
            <a:off x="5449823" y="321868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Arabic correct?</a:t>
            </a:r>
          </a:p>
        </p:txBody>
      </p:sp>
      <p:sp>
        <p:nvSpPr>
          <p:cNvPr id="25" name="Rounded Rectangle 24"/>
          <p:cNvSpPr/>
          <p:nvPr/>
        </p:nvSpPr>
        <p:spPr>
          <a:xfrm>
            <a:off x="5449823" y="385876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coherent?</a:t>
            </a:r>
          </a:p>
        </p:txBody>
      </p:sp>
      <p:sp>
        <p:nvSpPr>
          <p:cNvPr id="26" name="Rounded Rectangle 25"/>
          <p:cNvSpPr/>
          <p:nvPr/>
        </p:nvSpPr>
        <p:spPr>
          <a:xfrm>
            <a:off x="5449823" y="449884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easier to read?</a:t>
            </a:r>
          </a:p>
        </p:txBody>
      </p:sp>
      <p:sp>
        <p:nvSpPr>
          <p:cNvPr id="27" name="TextBox 26"/>
          <p:cNvSpPr txBox="1"/>
          <p:nvPr/>
        </p:nvSpPr>
        <p:spPr>
          <a:xfrm>
            <a:off x="5504688" y="5934455"/>
            <a:ext cx="4069079" cy="256032"/>
          </a:xfrm>
          <a:prstGeom prst="rect">
            <a:avLst/>
          </a:prstGeom>
          <a:noFill/>
        </p:spPr>
        <p:txBody>
          <a:bodyPr wrap="square" lIns="0" rIns="0" tIns="0" bIns="0" anchor="ctr">
            <a:spAutoFit/>
          </a:bodyPr>
          <a:lstStyle/>
          <a:p>
            <a:pPr algn="ctr"/>
            <a:r>
              <a:rPr sz="950" b="0">
                <a:solidFill>
                  <a:srgbClr val="6F6B5E"/>
                </a:solidFill>
                <a:latin typeface="Readex Pro"/>
                <a:cs typeface="Readex Pro"/>
                <a:ea typeface="Readex Pro"/>
              </a:rPr>
              <a:t>people barely agree on these: never used to decide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sp>
        <p:nvSpPr>
          <p:cNvPr id="9" name="Rounded Rectangle 8"/>
          <p:cNvSpPr/>
          <p:nvPr/>
        </p:nvSpPr>
        <p:spPr>
          <a:xfrm>
            <a:off x="35661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Meaning</a:t>
            </a:r>
          </a:p>
        </p:txBody>
      </p:sp>
      <p:sp>
        <p:nvSpPr>
          <p:cNvPr id="11" name="TextBox 10"/>
          <p:cNvSpPr txBox="1"/>
          <p:nvPr/>
        </p:nvSpPr>
        <p:spPr>
          <a:xfrm>
            <a:off x="58521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still say the same thing?</a:t>
            </a:r>
          </a:p>
          <a:p>
            <a:pPr algn="ctr">
              <a:lnSpc>
                <a:spcPct val="110000"/>
              </a:lnSpc>
            </a:pPr>
            <a:r>
              <a:rPr sz="1300" b="0">
                <a:solidFill>
                  <a:srgbClr val="4A4842"/>
                </a:solidFill>
                <a:latin typeface="Readex Pro"/>
                <a:cs typeface="Readex Pro"/>
                <a:ea typeface="Readex Pro"/>
              </a:rPr>
              <a:t>Same meaning, every number intact.</a:t>
            </a:r>
          </a:p>
        </p:txBody>
      </p:sp>
      <p:sp>
        <p:nvSpPr>
          <p:cNvPr id="12" name="Rounded Rectangle 11"/>
          <p:cNvSpPr/>
          <p:nvPr/>
        </p:nvSpPr>
        <p:spPr>
          <a:xfrm>
            <a:off x="511149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1149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Simpler</a:t>
            </a:r>
          </a:p>
        </p:txBody>
      </p:sp>
      <p:sp>
        <p:nvSpPr>
          <p:cNvPr id="14" name="TextBox 13"/>
          <p:cNvSpPr txBox="1"/>
          <p:nvPr/>
        </p:nvSpPr>
        <p:spPr>
          <a:xfrm>
            <a:off x="534009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Are long clauses shorter?</a:t>
            </a:r>
          </a:p>
          <a:p>
            <a:pPr algn="ctr">
              <a:lnSpc>
                <a:spcPct val="110000"/>
              </a:lnSpc>
            </a:pPr>
            <a:r>
              <a:rPr sz="1300" b="0">
                <a:solidFill>
                  <a:srgbClr val="4A4842"/>
                </a:solidFill>
                <a:latin typeface="Readex Pro"/>
                <a:cs typeface="Readex Pro"/>
                <a:ea typeface="Readex Pro"/>
              </a:rPr>
              <a:t>Words cut from the longest clause.</a:t>
            </a:r>
          </a:p>
        </p:txBody>
      </p:sp>
      <p:sp>
        <p:nvSpPr>
          <p:cNvPr id="15" name="Rounded Rectangle 14"/>
          <p:cNvSpPr/>
          <p:nvPr/>
        </p:nvSpPr>
        <p:spPr>
          <a:xfrm>
            <a:off x="35661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Restraint</a:t>
            </a:r>
          </a:p>
        </p:txBody>
      </p:sp>
      <p:sp>
        <p:nvSpPr>
          <p:cNvPr id="17" name="TextBox 16"/>
          <p:cNvSpPr txBox="1"/>
          <p:nvPr/>
        </p:nvSpPr>
        <p:spPr>
          <a:xfrm>
            <a:off x="58521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leave alone what should</a:t>
            </a:r>
          </a:p>
          <a:p>
            <a:pPr algn="ctr">
              <a:lnSpc>
                <a:spcPct val="110000"/>
              </a:lnSpc>
            </a:pPr>
            <a:r>
              <a:rPr sz="1300" b="0">
                <a:solidFill>
                  <a:srgbClr val="4A4842"/>
                </a:solidFill>
                <a:latin typeface="Readex Pro"/>
                <a:cs typeface="Readex Pro"/>
                <a:ea typeface="Readex Pro"/>
              </a:rPr>
              <a:t>stay? Easy text, scripture.</a:t>
            </a:r>
          </a:p>
        </p:txBody>
      </p:sp>
      <p:sp>
        <p:nvSpPr>
          <p:cNvPr id="18" name="Rounded Rectangle 17"/>
          <p:cNvSpPr/>
          <p:nvPr/>
        </p:nvSpPr>
        <p:spPr>
          <a:xfrm>
            <a:off x="511149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1149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Copying rate</a:t>
            </a:r>
          </a:p>
        </p:txBody>
      </p:sp>
      <p:sp>
        <p:nvSpPr>
          <p:cNvPr id="20" name="TextBox 19"/>
          <p:cNvSpPr txBox="1"/>
          <p:nvPr/>
        </p:nvSpPr>
        <p:spPr>
          <a:xfrm>
            <a:off x="534009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How often is the text returned unchanged?</a:t>
            </a:r>
          </a:p>
          <a:p>
            <a:pPr algn="ctr">
              <a:lnSpc>
                <a:spcPct val="110000"/>
              </a:lnSpc>
            </a:pPr>
            <a:r>
              <a:rPr sz="1300" b="0">
                <a:solidFill>
                  <a:srgbClr val="4A4842"/>
                </a:solidFill>
                <a:latin typeface="Readex Pro"/>
                <a:cs typeface="Readex Pro"/>
                <a:ea typeface="Readex Pro"/>
              </a:rPr>
              <a:t>A copy counts as perfect meaning,</a:t>
            </a:r>
          </a:p>
          <a:p>
            <a:pPr algn="ctr">
              <a:lnSpc>
                <a:spcPct val="110000"/>
              </a:lnSpc>
            </a:pPr>
            <a:r>
              <a:rPr sz="1300" b="0">
                <a:solidFill>
                  <a:srgbClr val="4A4842"/>
                </a:solidFill>
                <a:latin typeface="Readex Pro"/>
                <a:cs typeface="Readex Pro"/>
                <a:ea typeface="Readex Pro"/>
              </a:rPr>
              <a:t>so we report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sp>
        <p:nvSpPr>
          <p:cNvPr id="9" name="TextBox 8"/>
          <p:cNvSpPr txBox="1"/>
          <p:nvPr/>
        </p:nvSpPr>
        <p:spPr>
          <a:xfrm>
            <a:off x="566928" y="1828800"/>
            <a:ext cx="2926080" cy="868680"/>
          </a:xfrm>
          <a:prstGeom prst="rect">
            <a:avLst/>
          </a:prstGeom>
          <a:noFill/>
        </p:spPr>
        <p:txBody>
          <a:bodyPr wrap="square" lIns="0" rIns="0" tIns="0" bIns="0" anchor="ctr">
            <a:spAutoFit/>
          </a:bodyPr>
          <a:lstStyle/>
          <a:p>
            <a:pPr algn="ctr"/>
            <a:r>
              <a:rPr sz="6000" b="0">
                <a:solidFill>
                  <a:srgbClr val="C6986B"/>
                </a:solidFill>
                <a:latin typeface="Readex Pro"/>
                <a:cs typeface="Readex Pro"/>
                <a:ea typeface="Readex Pro"/>
              </a:rPr>
              <a:t>0.85</a:t>
            </a:r>
          </a:p>
        </p:txBody>
      </p:sp>
      <p:sp>
        <p:nvSpPr>
          <p:cNvPr id="10" name="TextBox 9"/>
          <p:cNvSpPr txBox="1"/>
          <p:nvPr/>
        </p:nvSpPr>
        <p:spPr>
          <a:xfrm>
            <a:off x="566928" y="2788920"/>
            <a:ext cx="292608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scorer vs human raters (AUC)</a:t>
            </a:r>
          </a:p>
        </p:txBody>
      </p:sp>
      <p:sp>
        <p:nvSpPr>
          <p:cNvPr id="11" name="TextBox 10"/>
          <p:cNvSpPr txBox="1"/>
          <p:nvPr/>
        </p:nvSpPr>
        <p:spPr>
          <a:xfrm>
            <a:off x="566928" y="3108960"/>
            <a:ext cx="292608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6 raters · 290 tasks</a:t>
            </a:r>
          </a:p>
        </p:txBody>
      </p:sp>
      <p:sp>
        <p:nvSpPr>
          <p:cNvPr id="12" name="Rounded Rectangle 11"/>
          <p:cNvSpPr/>
          <p:nvPr/>
        </p:nvSpPr>
        <p:spPr>
          <a:xfrm>
            <a:off x="566928" y="3657600"/>
            <a:ext cx="3045968"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catches 42 of 51 changed outputs</a:t>
            </a:r>
          </a:p>
        </p:txBody>
      </p:sp>
      <p:sp>
        <p:nvSpPr>
          <p:cNvPr id="13" name="Rounded Rectangle 12"/>
          <p:cNvSpPr/>
          <p:nvPr/>
        </p:nvSpPr>
        <p:spPr>
          <a:xfrm>
            <a:off x="566928" y="4160520"/>
            <a:ext cx="3250438"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fails 53 of 194 people kept: stricter</a:t>
            </a:r>
          </a:p>
        </p:txBody>
      </p:sp>
      <p:sp>
        <p:nvSpPr>
          <p:cNvPr id="14" name="Rounded Rectangle 13"/>
          <p:cNvSpPr/>
          <p:nvPr/>
        </p:nvSpPr>
        <p:spPr>
          <a:xfrm>
            <a:off x="566928" y="4663440"/>
            <a:ext cx="2604897" cy="339090"/>
          </a:xfrm>
          <a:prstGeom prst="roundRect">
            <a:avLst>
              <a:gd name="adj" fmla="val 2426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B5533C"/>
                </a:solidFill>
                <a:latin typeface="Readex Pro"/>
                <a:cs typeface="Readex Pro"/>
                <a:ea typeface="Readex Pro"/>
              </a:rPr>
              <a:t>raters barely agree on ease</a:t>
            </a:r>
          </a:p>
        </p:txBody>
      </p:sp>
      <p:sp>
        <p:nvSpPr>
          <p:cNvPr id="15" name="Rounded Rectangle 14"/>
          <p:cNvSpPr/>
          <p:nvPr/>
        </p:nvSpPr>
        <p:spPr>
          <a:xfrm>
            <a:off x="4087368" y="1691640"/>
            <a:ext cx="5248656" cy="3977639"/>
          </a:xfrm>
          <a:prstGeom prst="roundRect">
            <a:avLst>
              <a:gd name="adj" fmla="val 275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70248" y="2011680"/>
            <a:ext cx="4882896" cy="777240"/>
          </a:xfrm>
          <a:prstGeom prst="rect">
            <a:avLst/>
          </a:prstGeom>
          <a:noFill/>
        </p:spPr>
        <p:txBody>
          <a:bodyPr wrap="square" lIns="0" rIns="0" tIns="0" bIns="0" anchor="ctr">
            <a:spAutoFit/>
          </a:bodyPr>
          <a:lstStyle/>
          <a:p>
            <a:pPr algn="ctr">
              <a:lnSpc>
                <a:spcPct val="105000"/>
              </a:lnSpc>
            </a:pPr>
            <a:r>
              <a:rPr sz="2000" b="1">
                <a:solidFill>
                  <a:srgbClr val="8A5E35"/>
                </a:solidFill>
                <a:latin typeface="Readex Pro"/>
                <a:cs typeface="Readex Pro"/>
                <a:ea typeface="Readex Pro"/>
              </a:rPr>
              <a:t>A reader with dyslexia</a:t>
            </a:r>
          </a:p>
          <a:p>
            <a:pPr algn="ctr">
              <a:lnSpc>
                <a:spcPct val="105000"/>
              </a:lnSpc>
            </a:pPr>
            <a:r>
              <a:rPr sz="2000" b="1">
                <a:solidFill>
                  <a:srgbClr val="8A5E35"/>
                </a:solidFill>
                <a:latin typeface="Readex Pro"/>
                <a:cs typeface="Readex Pro"/>
                <a:ea typeface="Readex Pro"/>
              </a:rPr>
              <a:t>rated 30 outputs</a:t>
            </a:r>
          </a:p>
        </p:txBody>
      </p:sp>
      <p:sp>
        <p:nvSpPr>
          <p:cNvPr id="17" name="Rectangle 16"/>
          <p:cNvSpPr/>
          <p:nvPr/>
        </p:nvSpPr>
        <p:spPr>
          <a:xfrm>
            <a:off x="4544568" y="3291840"/>
            <a:ext cx="2456078" cy="5029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3931920"/>
            <a:ext cx="2456078"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17 easier</a:t>
            </a:r>
          </a:p>
        </p:txBody>
      </p:sp>
      <p:sp>
        <p:nvSpPr>
          <p:cNvPr id="19" name="Rectangle 18"/>
          <p:cNvSpPr/>
          <p:nvPr/>
        </p:nvSpPr>
        <p:spPr>
          <a:xfrm>
            <a:off x="7000646" y="3291840"/>
            <a:ext cx="1300276" cy="502920"/>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0646" y="3931920"/>
            <a:ext cx="1300276"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9 same</a:t>
            </a:r>
          </a:p>
        </p:txBody>
      </p:sp>
      <p:sp>
        <p:nvSpPr>
          <p:cNvPr id="21" name="Rectangle 20"/>
          <p:cNvSpPr/>
          <p:nvPr/>
        </p:nvSpPr>
        <p:spPr>
          <a:xfrm>
            <a:off x="8300923" y="3291840"/>
            <a:ext cx="577900" cy="502920"/>
          </a:xfrm>
          <a:prstGeom prst="rect">
            <a:avLst/>
          </a:prstGeom>
          <a:solidFill>
            <a:srgbClr val="B55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00923" y="3931920"/>
            <a:ext cx="57790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4 harder</a:t>
            </a:r>
          </a:p>
        </p:txBody>
      </p:sp>
      <p:sp>
        <p:nvSpPr>
          <p:cNvPr id="23" name="TextBox 22"/>
          <p:cNvSpPr txBox="1"/>
          <p:nvPr/>
        </p:nvSpPr>
        <p:spPr>
          <a:xfrm>
            <a:off x="4087368" y="5166359"/>
            <a:ext cx="5248656"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a sample of one, not a study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06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7 / 8</a:t>
            </a:r>
          </a:p>
        </p:txBody>
      </p:sp>
      <p:cxnSp>
        <p:nvCxnSpPr>
          <p:cNvPr id="9" name="Connector 8"/>
          <p:cNvCxnSpPr/>
          <p:nvPr/>
        </p:nvCxnSpPr>
        <p:spPr>
          <a:xfrm>
            <a:off x="2331720" y="5029200"/>
            <a:ext cx="4434839" cy="0"/>
          </a:xfrm>
          <a:prstGeom prst="line">
            <a:avLst/>
          </a:prstGeom>
          <a:ln w="22225">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31720" y="1783080"/>
            <a:ext cx="0" cy="3246120"/>
          </a:xfrm>
          <a:prstGeom prst="line">
            <a:avLst/>
          </a:prstGeom>
          <a:ln w="22225">
            <a:solidFill>
              <a:srgbClr val="A29D8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331720" y="5138928"/>
            <a:ext cx="4434840" cy="256032"/>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meaning kept (%)  →</a:t>
            </a:r>
          </a:p>
        </p:txBody>
      </p:sp>
      <p:sp>
        <p:nvSpPr>
          <p:cNvPr id="12" name="TextBox 11"/>
          <p:cNvSpPr txBox="1"/>
          <p:nvPr/>
        </p:nvSpPr>
        <p:spPr>
          <a:xfrm rot="16200000">
            <a:off x="393191" y="3278123"/>
            <a:ext cx="310896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simplification: words cut from the longest clause  →</a:t>
            </a:r>
          </a:p>
        </p:txBody>
      </p:sp>
      <p:sp>
        <p:nvSpPr>
          <p:cNvPr id="13" name="Oval 12"/>
          <p:cNvSpPr/>
          <p:nvPr/>
        </p:nvSpPr>
        <p:spPr>
          <a:xfrm>
            <a:off x="6365747" y="4686523"/>
            <a:ext cx="210312" cy="210312"/>
          </a:xfrm>
          <a:prstGeom prst="ellipse">
            <a:avLst/>
          </a:prstGeom>
          <a:solidFill>
            <a:srgbClr val="A29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9112" y="4375627"/>
            <a:ext cx="1243584"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Copy the input</a:t>
            </a:r>
          </a:p>
        </p:txBody>
      </p:sp>
      <p:sp>
        <p:nvSpPr>
          <p:cNvPr id="15" name="Oval 14"/>
          <p:cNvSpPr/>
          <p:nvPr/>
        </p:nvSpPr>
        <p:spPr>
          <a:xfrm>
            <a:off x="4946599" y="4686523"/>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58969" y="4969987"/>
            <a:ext cx="385572"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v0.1</a:t>
            </a:r>
          </a:p>
        </p:txBody>
      </p:sp>
      <p:sp>
        <p:nvSpPr>
          <p:cNvPr id="17" name="Oval 16"/>
          <p:cNvSpPr/>
          <p:nvPr/>
        </p:nvSpPr>
        <p:spPr>
          <a:xfrm>
            <a:off x="5100340" y="3934373"/>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274" y="4217837"/>
            <a:ext cx="1266443"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v0.2 in the app</a:t>
            </a:r>
          </a:p>
        </p:txBody>
      </p:sp>
      <p:sp>
        <p:nvSpPr>
          <p:cNvPr id="19" name="Oval 18"/>
          <p:cNvSpPr/>
          <p:nvPr/>
        </p:nvSpPr>
        <p:spPr>
          <a:xfrm>
            <a:off x="4491288" y="2905115"/>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47272" y="2891399"/>
            <a:ext cx="1052576"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 (no tag)</a:t>
            </a:r>
          </a:p>
        </p:txBody>
      </p:sp>
      <p:sp>
        <p:nvSpPr>
          <p:cNvPr id="21" name="Oval 20"/>
          <p:cNvSpPr/>
          <p:nvPr/>
        </p:nvSpPr>
        <p:spPr>
          <a:xfrm>
            <a:off x="3970934" y="2192552"/>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90974" y="2178836"/>
            <a:ext cx="822070"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 + tag</a:t>
            </a:r>
          </a:p>
        </p:txBody>
      </p:sp>
      <p:sp>
        <p:nvSpPr>
          <p:cNvPr id="23" name="Oval 22"/>
          <p:cNvSpPr/>
          <p:nvPr/>
        </p:nvSpPr>
        <p:spPr>
          <a:xfrm>
            <a:off x="3491971" y="2746768"/>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69671" y="2435872"/>
            <a:ext cx="1454912"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v0.2-Fast (no tag)</a:t>
            </a:r>
          </a:p>
        </p:txBody>
      </p:sp>
      <p:sp>
        <p:nvSpPr>
          <p:cNvPr id="25" name="Oval 24"/>
          <p:cNvSpPr/>
          <p:nvPr/>
        </p:nvSpPr>
        <p:spPr>
          <a:xfrm>
            <a:off x="2823789" y="2034205"/>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316741" y="1723309"/>
            <a:ext cx="1224407"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v0.2-Fast + tag</a:t>
            </a:r>
          </a:p>
        </p:txBody>
      </p:sp>
      <p:sp>
        <p:nvSpPr>
          <p:cNvPr id="27" name="Oval 26"/>
          <p:cNvSpPr/>
          <p:nvPr/>
        </p:nvSpPr>
        <p:spPr>
          <a:xfrm>
            <a:off x="5150510" y="2477131"/>
            <a:ext cx="512064" cy="512064"/>
          </a:xfrm>
          <a:prstGeom prst="ellipse">
            <a:avLst/>
          </a:prstGeom>
          <a:noFill/>
          <a:ln w="2222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60238" y="2586859"/>
            <a:ext cx="292608" cy="292608"/>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2574" y="2614291"/>
            <a:ext cx="1364361" cy="237744"/>
          </a:xfrm>
          <a:prstGeom prst="rect">
            <a:avLst/>
          </a:prstGeom>
          <a:noFill/>
        </p:spPr>
        <p:txBody>
          <a:bodyPr wrap="square" lIns="0" rIns="0" tIns="0" bIns="0" anchor="ctr">
            <a:spAutoFit/>
          </a:bodyPr>
          <a:lstStyle/>
          <a:p>
            <a:pPr algn="l"/>
            <a:r>
              <a:rPr sz="1300" b="1">
                <a:solidFill>
                  <a:srgbClr val="B5533C"/>
                </a:solidFill>
                <a:latin typeface="Readex Pro"/>
                <a:cs typeface="Readex Pro"/>
                <a:ea typeface="Readex Pro"/>
              </a:rPr>
              <a:t>v0.3 in the app</a:t>
            </a:r>
          </a:p>
        </p:txBody>
      </p:sp>
      <p:sp>
        <p:nvSpPr>
          <p:cNvPr id="30" name="Rectangle 29"/>
          <p:cNvSpPr/>
          <p:nvPr/>
        </p:nvSpPr>
        <p:spPr>
          <a:xfrm>
            <a:off x="2423160" y="551383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32888" y="548640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BayanBench v2, test core items</a:t>
            </a:r>
          </a:p>
        </p:txBody>
      </p:sp>
      <p:sp>
        <p:nvSpPr>
          <p:cNvPr id="32" name="Rounded Rectangle 31"/>
          <p:cNvSpPr/>
          <p:nvPr/>
        </p:nvSpPr>
        <p:spPr>
          <a:xfrm>
            <a:off x="7178040" y="1874519"/>
            <a:ext cx="2157984" cy="635508"/>
          </a:xfrm>
          <a:prstGeom prst="roundRect">
            <a:avLst>
              <a:gd name="adj" fmla="val 14388"/>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50" b="1">
                <a:solidFill>
                  <a:srgbClr val="8A5E35"/>
                </a:solidFill>
                <a:latin typeface="Readex Pro"/>
                <a:cs typeface="Readex Pro"/>
                <a:ea typeface="Readex Pro"/>
              </a:rPr>
              <a:t>the more it simplifies,</a:t>
            </a:r>
          </a:p>
          <a:p>
            <a:pPr algn="ctr"/>
            <a:r>
              <a:rPr sz="1350" b="1">
                <a:solidFill>
                  <a:srgbClr val="8A5E35"/>
                </a:solidFill>
                <a:latin typeface="Readex Pro"/>
                <a:cs typeface="Readex Pro"/>
                <a:ea typeface="Readex Pro"/>
              </a:rPr>
              <a:t>the less meaning it keeps, obviously</a:t>
            </a:r>
          </a:p>
        </p:txBody>
      </p:sp>
      <p:sp>
        <p:nvSpPr>
          <p:cNvPr id="33" name="Rounded Rectangle 32"/>
          <p:cNvSpPr/>
          <p:nvPr/>
        </p:nvSpPr>
        <p:spPr>
          <a:xfrm>
            <a:off x="7178040" y="2711196"/>
            <a:ext cx="2157984" cy="861822"/>
          </a:xfrm>
          <a:prstGeom prst="roundRect">
            <a:avLst>
              <a:gd name="adj" fmla="val 1061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50" b="1">
                <a:solidFill>
                  <a:srgbClr val="1A1A14"/>
                </a:solidFill>
                <a:latin typeface="Readex Pro"/>
                <a:cs typeface="Readex Pro"/>
                <a:ea typeface="Readex Pro"/>
              </a:rPr>
              <a:t>v0.3 keeps the most meaning (82%)</a:t>
            </a:r>
          </a:p>
          <a:p>
            <a:pPr algn="ctr"/>
            <a:r>
              <a:rPr sz="1350" b="1">
                <a:solidFill>
                  <a:srgbClr val="1A1A14"/>
                </a:solidFill>
                <a:latin typeface="Readex Pro"/>
                <a:cs typeface="Readex Pro"/>
                <a:ea typeface="Readex Pro"/>
              </a:rPr>
              <a:t>and still cuts 5.2 words off</a:t>
            </a:r>
          </a:p>
          <a:p>
            <a:pPr algn="ctr"/>
            <a:r>
              <a:rPr sz="1350" b="1">
                <a:solidFill>
                  <a:srgbClr val="1A1A14"/>
                </a:solidFill>
                <a:latin typeface="Readex Pro"/>
                <a:cs typeface="Readex Pro"/>
                <a:ea typeface="Readex Pro"/>
              </a:rPr>
              <a:t>the longest clause</a:t>
            </a:r>
          </a:p>
        </p:txBody>
      </p:sp>
      <p:sp>
        <p:nvSpPr>
          <p:cNvPr id="34" name="Rounded Rectangle 33"/>
          <p:cNvSpPr/>
          <p:nvPr/>
        </p:nvSpPr>
        <p:spPr>
          <a:xfrm>
            <a:off x="7178040" y="3774185"/>
            <a:ext cx="2157984" cy="601980"/>
          </a:xfrm>
          <a:prstGeom prst="roundRect">
            <a:avLst>
              <a:gd name="adj" fmla="val 151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50" b="0">
                <a:solidFill>
                  <a:srgbClr val="4A4842"/>
                </a:solidFill>
                <a:latin typeface="Readex Pro"/>
                <a:cs typeface="Readex Pro"/>
                <a:ea typeface="Readex Pro"/>
              </a:rPr>
              <a:t>v0.3 is the app's large model,</a:t>
            </a:r>
          </a:p>
          <a:p>
            <a:pPr algn="ctr"/>
            <a:r>
              <a:rPr sz="1250" b="0">
                <a:solidFill>
                  <a:srgbClr val="4A4842"/>
                </a:solidFill>
                <a:latin typeface="Readex Pro"/>
                <a:cs typeface="Readex Pro"/>
                <a:ea typeface="Readex Pro"/>
              </a:rPr>
              <a:t>decoded with four beams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06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7 / 8</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In the app: v0.3 minus v0.2, same text step · 95% intervals</a:t>
            </a:r>
          </a:p>
        </p:txBody>
      </p:sp>
      <p:sp>
        <p:nvSpPr>
          <p:cNvPr id="10" name="TextBox 9"/>
          <p:cNvSpPr txBox="1"/>
          <p:nvPr/>
        </p:nvSpPr>
        <p:spPr>
          <a:xfrm>
            <a:off x="566928" y="2057400"/>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words cut from the longest clause</a:t>
            </a:r>
          </a:p>
        </p:txBody>
      </p:sp>
      <p:cxnSp>
        <p:nvCxnSpPr>
          <p:cNvPr id="11" name="Connector 10"/>
          <p:cNvCxnSpPr/>
          <p:nvPr/>
        </p:nvCxnSpPr>
        <p:spPr>
          <a:xfrm>
            <a:off x="3520440" y="2203704"/>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212080" y="2084831"/>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888736" y="2203704"/>
            <a:ext cx="563880"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097524" y="2130552"/>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13448" y="2075688"/>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+3.4</a:t>
            </a:r>
          </a:p>
        </p:txBody>
      </p:sp>
      <p:sp>
        <p:nvSpPr>
          <p:cNvPr id="16" name="TextBox 15"/>
          <p:cNvSpPr txBox="1"/>
          <p:nvPr/>
        </p:nvSpPr>
        <p:spPr>
          <a:xfrm>
            <a:off x="566928" y="2715768"/>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hard words removed</a:t>
            </a:r>
          </a:p>
        </p:txBody>
      </p:sp>
      <p:cxnSp>
        <p:nvCxnSpPr>
          <p:cNvPr id="17" name="Connector 16"/>
          <p:cNvCxnSpPr/>
          <p:nvPr/>
        </p:nvCxnSpPr>
        <p:spPr>
          <a:xfrm>
            <a:off x="3520440" y="2862072"/>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212080" y="2743199"/>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804154" y="2862072"/>
            <a:ext cx="888111"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153912" y="2788920"/>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13448" y="2734056"/>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+0.24</a:t>
            </a:r>
          </a:p>
        </p:txBody>
      </p:sp>
      <p:sp>
        <p:nvSpPr>
          <p:cNvPr id="22" name="TextBox 21"/>
          <p:cNvSpPr txBox="1"/>
          <p:nvPr/>
        </p:nvSpPr>
        <p:spPr>
          <a:xfrm>
            <a:off x="566928" y="3374136"/>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reading levels lowered</a:t>
            </a:r>
          </a:p>
        </p:txBody>
      </p:sp>
      <p:cxnSp>
        <p:nvCxnSpPr>
          <p:cNvPr id="23" name="Connector 22"/>
          <p:cNvCxnSpPr/>
          <p:nvPr/>
        </p:nvCxnSpPr>
        <p:spPr>
          <a:xfrm>
            <a:off x="3520440" y="3520440"/>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12080" y="3401568"/>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212080" y="3520440"/>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5590032" y="3447288"/>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13448" y="3392424"/>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+0.08</a:t>
            </a:r>
          </a:p>
        </p:txBody>
      </p:sp>
      <p:sp>
        <p:nvSpPr>
          <p:cNvPr id="28" name="TextBox 27"/>
          <p:cNvSpPr txBox="1"/>
          <p:nvPr/>
        </p:nvSpPr>
        <p:spPr>
          <a:xfrm>
            <a:off x="566928" y="4032504"/>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meaning kept (points): not significant</a:t>
            </a:r>
          </a:p>
        </p:txBody>
      </p:sp>
      <p:cxnSp>
        <p:nvCxnSpPr>
          <p:cNvPr id="29" name="Connector 28"/>
          <p:cNvCxnSpPr/>
          <p:nvPr/>
        </p:nvCxnSpPr>
        <p:spPr>
          <a:xfrm>
            <a:off x="3520440" y="4178808"/>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12080" y="4059936"/>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22648" y="4178808"/>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4800600" y="4105656"/>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13448" y="4050791"/>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a:t>
            </a:r>
          </a:p>
        </p:txBody>
      </p:sp>
      <p:sp>
        <p:nvSpPr>
          <p:cNvPr id="34" name="Rounded Rectangle 33"/>
          <p:cNvSpPr/>
          <p:nvPr/>
        </p:nvSpPr>
        <p:spPr>
          <a:xfrm>
            <a:off x="1871535" y="5029200"/>
            <a:ext cx="6159881" cy="364236"/>
          </a:xfrm>
          <a:prstGeom prst="roundRect">
            <a:avLst>
              <a:gd name="adj" fmla="val 2259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+18 points more easy text unchanged · every number kept (100%)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06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7 / 8</a:t>
            </a:r>
          </a:p>
        </p:txBody>
      </p:sp>
      <p:sp>
        <p:nvSpPr>
          <p:cNvPr id="9" name="TextBox 8"/>
          <p:cNvSpPr txBox="1"/>
          <p:nvPr/>
        </p:nvSpPr>
        <p:spPr>
          <a:xfrm>
            <a:off x="566928" y="1481328"/>
            <a:ext cx="8769096" cy="329184"/>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Blind rating by the team: 18 sentences</a:t>
            </a:r>
          </a:p>
        </p:txBody>
      </p:sp>
      <p:sp>
        <p:nvSpPr>
          <p:cNvPr id="10" name="TextBox 9"/>
          <p:cNvSpPr txBox="1"/>
          <p:nvPr/>
        </p:nvSpPr>
        <p:spPr>
          <a:xfrm>
            <a:off x="566928" y="1874519"/>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outputs the system changed, rated easier to read</a:t>
            </a:r>
          </a:p>
        </p:txBody>
      </p:sp>
      <p:sp>
        <p:nvSpPr>
          <p:cNvPr id="11" name="TextBox 10"/>
          <p:cNvSpPr txBox="1"/>
          <p:nvPr/>
        </p:nvSpPr>
        <p:spPr>
          <a:xfrm>
            <a:off x="566928" y="2423160"/>
            <a:ext cx="109728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12" name="Rectangle 11"/>
          <p:cNvSpPr/>
          <p:nvPr/>
        </p:nvSpPr>
        <p:spPr>
          <a:xfrm>
            <a:off x="1801368" y="2441448"/>
            <a:ext cx="4403750" cy="347472"/>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4846" y="2423160"/>
            <a:ext cx="731520" cy="292608"/>
          </a:xfrm>
          <a:prstGeom prst="rect">
            <a:avLst/>
          </a:prstGeom>
          <a:noFill/>
        </p:spPr>
        <p:txBody>
          <a:bodyPr wrap="square" lIns="0" rIns="0" tIns="0" bIns="0" anchor="ctr">
            <a:spAutoFit/>
          </a:bodyPr>
          <a:lstStyle/>
          <a:p>
            <a:pPr algn="l"/>
            <a:r>
              <a:rPr sz="1300" b="1">
                <a:solidFill>
                  <a:srgbClr val="8A5E35"/>
                </a:solidFill>
                <a:latin typeface="Readex Pro"/>
                <a:cs typeface="Readex Pro"/>
                <a:ea typeface="Readex Pro"/>
              </a:rPr>
              <a:t>86%</a:t>
            </a:r>
          </a:p>
        </p:txBody>
      </p:sp>
      <p:sp>
        <p:nvSpPr>
          <p:cNvPr id="14" name="TextBox 13"/>
          <p:cNvSpPr txBox="1"/>
          <p:nvPr/>
        </p:nvSpPr>
        <p:spPr>
          <a:xfrm>
            <a:off x="566928" y="2990088"/>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a:t>
            </a:r>
          </a:p>
        </p:txBody>
      </p:sp>
      <p:sp>
        <p:nvSpPr>
          <p:cNvPr id="15" name="Rectangle 14"/>
          <p:cNvSpPr/>
          <p:nvPr/>
        </p:nvSpPr>
        <p:spPr>
          <a:xfrm>
            <a:off x="1801368" y="3008376"/>
            <a:ext cx="3072384"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83480" y="2990088"/>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60%</a:t>
            </a:r>
          </a:p>
        </p:txBody>
      </p:sp>
      <p:sp>
        <p:nvSpPr>
          <p:cNvPr id="17" name="TextBox 16"/>
          <p:cNvSpPr txBox="1"/>
          <p:nvPr/>
        </p:nvSpPr>
        <p:spPr>
          <a:xfrm>
            <a:off x="566928" y="3557015"/>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a:t>
            </a:r>
          </a:p>
        </p:txBody>
      </p:sp>
      <p:sp>
        <p:nvSpPr>
          <p:cNvPr id="18" name="Rectangle 17"/>
          <p:cNvSpPr/>
          <p:nvPr/>
        </p:nvSpPr>
        <p:spPr>
          <a:xfrm>
            <a:off x="1801368" y="3575303"/>
            <a:ext cx="2304287"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15384" y="3557015"/>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45%</a:t>
            </a:r>
          </a:p>
        </p:txBody>
      </p:sp>
      <p:sp>
        <p:nvSpPr>
          <p:cNvPr id="20" name="Rounded Rectangle 19"/>
          <p:cNvSpPr/>
          <p:nvPr/>
        </p:nvSpPr>
        <p:spPr>
          <a:xfrm>
            <a:off x="1576578" y="4343400"/>
            <a:ext cx="6749795" cy="347472"/>
          </a:xfrm>
          <a:prstGeom prst="roundRect">
            <a:avLst>
              <a:gd name="adj" fmla="val 236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meaning kept in 96% of ratings (v0.2: 96%, v0.2-Fast: 92%) · none rated harder</a:t>
            </a:r>
          </a:p>
        </p:txBody>
      </p:sp>
      <p:sp>
        <p:nvSpPr>
          <p:cNvPr id="21" name="Rounded Rectangle 20"/>
          <p:cNvSpPr/>
          <p:nvPr/>
        </p:nvSpPr>
        <p:spPr>
          <a:xfrm>
            <a:off x="3008248" y="4892040"/>
            <a:ext cx="3886454" cy="364236"/>
          </a:xfrm>
          <a:prstGeom prst="roundRect">
            <a:avLst>
              <a:gd name="adj" fmla="val 2259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8 of 8 team votes chose v0.3 over v0.2</a:t>
            </a:r>
          </a:p>
        </p:txBody>
      </p:sp>
      <p:sp>
        <p:nvSpPr>
          <p:cNvPr id="22" name="Rounded Rectangle 21"/>
          <p:cNvSpPr/>
          <p:nvPr/>
        </p:nvSpPr>
        <p:spPr>
          <a:xfrm>
            <a:off x="990917" y="5440680"/>
            <a:ext cx="7921116"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the reader with dyslexia chose v0.3 in 4 of 4 comparisons · 18 sentences: a direction, not a size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07 · ON A PHONE</a:t>
            </a:r>
          </a:p>
        </p:txBody>
      </p:sp>
      <p:pic>
        <p:nvPicPr>
          <p:cNvPr id="5"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6" name="TextBox 5"/>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7" name="TextBox 6"/>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8 / 8</a:t>
            </a:r>
          </a:p>
        </p:txBody>
      </p:sp>
      <p:sp>
        <p:nvSpPr>
          <p:cNvPr id="8" name="Rounded Rectangle 7"/>
          <p:cNvSpPr/>
          <p:nvPr/>
        </p:nvSpPr>
        <p:spPr>
          <a:xfrm>
            <a:off x="6958963" y="1481328"/>
            <a:ext cx="2377060" cy="4846320"/>
          </a:xfrm>
          <a:prstGeom prst="roundRect">
            <a:avLst>
              <a:gd name="adj" fmla="val 10001"/>
            </a:avLst>
          </a:prstGeom>
          <a:solidFill>
            <a:srgbClr val="1A1A14"/>
          </a:solidFill>
          <a:ln w="25400">
            <a:solidFill>
              <a:srgbClr val="A29D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Demo video" descr="Bayan demo: select Arabic text, tap Simplify, read aloud">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7068691" y="1591056"/>
            <a:ext cx="2157604" cy="4626864"/>
          </a:xfrm>
          <a:prstGeom prst="rect">
            <a:avLst/>
          </a:prstGeom>
        </p:spPr>
      </p:pic>
      <p:sp>
        <p:nvSpPr>
          <p:cNvPr id="10" name="TextBox 9"/>
          <p:cNvSpPr txBox="1"/>
          <p:nvPr/>
        </p:nvSpPr>
        <p:spPr>
          <a:xfrm>
            <a:off x="566928" y="2468880"/>
            <a:ext cx="5934835" cy="502920"/>
          </a:xfrm>
          <a:prstGeom prst="rect">
            <a:avLst/>
          </a:prstGeom>
          <a:noFill/>
        </p:spPr>
        <p:txBody>
          <a:bodyPr wrap="square" lIns="0" rIns="0" tIns="0" bIns="0" anchor="ctr">
            <a:spAutoFit/>
          </a:bodyPr>
          <a:lstStyle/>
          <a:p>
            <a:pPr algn="l"/>
            <a:r>
              <a:rPr sz="3000" b="1">
                <a:solidFill>
                  <a:srgbClr val="282824"/>
                </a:solidFill>
                <a:latin typeface="Readex Pro"/>
                <a:cs typeface="Readex Pro"/>
                <a:ea typeface="Readex Pro"/>
              </a:rPr>
              <a:t>What the app does</a:t>
            </a:r>
          </a:p>
        </p:txBody>
      </p:sp>
      <p:sp>
        <p:nvSpPr>
          <p:cNvPr id="11" name="TextBox 10"/>
          <p:cNvSpPr txBox="1"/>
          <p:nvPr/>
        </p:nvSpPr>
        <p:spPr>
          <a:xfrm>
            <a:off x="566928" y="3154680"/>
            <a:ext cx="5934835" cy="1463040"/>
          </a:xfrm>
          <a:prstGeom prst="rect">
            <a:avLst/>
          </a:prstGeom>
          <a:noFill/>
        </p:spPr>
        <p:txBody>
          <a:bodyPr wrap="square" lIns="0" rIns="0" tIns="0" bIns="0" anchor="ctr">
            <a:spAutoFit/>
          </a:bodyPr>
          <a:lstStyle/>
          <a:p>
            <a:pPr algn="l">
              <a:lnSpc>
                <a:spcPct val="125000"/>
              </a:lnSpc>
            </a:pPr>
            <a:r>
              <a:rPr sz="1800" b="0">
                <a:solidFill>
                  <a:srgbClr val="4A4842"/>
                </a:solidFill>
                <a:latin typeface="Readex Pro"/>
                <a:cs typeface="Readex Pro"/>
                <a:ea typeface="Readex Pro"/>
              </a:rPr>
              <a:t>Select Arabic text in any app.</a:t>
            </a:r>
          </a:p>
          <a:p>
            <a:pPr algn="l">
              <a:lnSpc>
                <a:spcPct val="125000"/>
              </a:lnSpc>
            </a:pPr>
            <a:r>
              <a:rPr sz="1800" b="0">
                <a:solidFill>
                  <a:srgbClr val="4A4842"/>
                </a:solidFill>
                <a:latin typeface="Readex Pro"/>
                <a:cs typeface="Readex Pro"/>
                <a:ea typeface="Readex Pro"/>
              </a:rPr>
              <a:t>Tap تبسيط. Bayan simplifies it</a:t>
            </a:r>
          </a:p>
          <a:p>
            <a:pPr algn="l">
              <a:lnSpc>
                <a:spcPct val="125000"/>
              </a:lnSpc>
            </a:pPr>
            <a:r>
              <a:rPr sz="1800" b="0">
                <a:solidFill>
                  <a:srgbClr val="4A4842"/>
                </a:solidFill>
                <a:latin typeface="Readex Pro"/>
                <a:cs typeface="Readex Pro"/>
                <a:ea typeface="Readex Pro"/>
              </a:rPr>
              <a:t>and reads it aloud.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timing>
    <p:tnLst>
      <p:par>
        <p:cTn id="1" dur="indefinite" restart="never" nodeType="tmRoot">
          <p:childTnLst>
            <p:video>
              <p:cMediaNode vol="80000">
                <p:cTn id="2" fill="hold" display="0">
                  <p:stCondLst>
                    <p:cond delay="0"/>
                  </p:stCondLst>
                </p:cTn>
                <p:tgtEl>
                  <p:spTgt spid="9"/>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9 / 8</a:t>
            </a:r>
          </a:p>
        </p:txBody>
      </p:sp>
      <p:pic>
        <p:nvPicPr>
          <p:cNvPr id="6" name="Bayan logo" descr="Bayan logo"/>
          <p:cNvPicPr>
            <a:picLocks noChangeAspect="1"/>
          </p:cNvPicPr>
          <p:nvPr/>
        </p:nvPicPr>
        <p:blipFill>
          <a:blip r:embed="rId3"/>
          <a:stretch>
            <a:fillRect/>
          </a:stretch>
        </p:blipFill>
        <p:spPr>
          <a:xfrm>
            <a:off x="3808476" y="1600200"/>
            <a:ext cx="2286000" cy="1284446"/>
          </a:xfrm>
          <a:prstGeom prst="rect">
            <a:avLst/>
          </a:prstGeom>
        </p:spPr>
      </p:pic>
      <p:sp>
        <p:nvSpPr>
          <p:cNvPr id="7" name="TextBox 6"/>
          <p:cNvSpPr txBox="1"/>
          <p:nvPr/>
        </p:nvSpPr>
        <p:spPr>
          <a:xfrm>
            <a:off x="0" y="3977639"/>
            <a:ext cx="9902952" cy="594360"/>
          </a:xfrm>
          <a:prstGeom prst="rect">
            <a:avLst/>
          </a:prstGeom>
          <a:noFill/>
        </p:spPr>
        <p:txBody>
          <a:bodyPr wrap="square" lIns="0" rIns="0" tIns="0" bIns="0" anchor="ctr">
            <a:spAutoFit/>
          </a:bodyPr>
          <a:lstStyle/>
          <a:p>
            <a:pPr algn="ctr"/>
            <a:r>
              <a:rPr sz="3000" b="1">
                <a:solidFill>
                  <a:srgbClr val="F2EFE2"/>
                </a:solidFill>
                <a:latin typeface="Readex Pro"/>
                <a:cs typeface="Readex Pro"/>
                <a:ea typeface="Readex Pro"/>
              </a:rPr>
              <a:t>Simplify where you read.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9 / 8</a:t>
            </a:r>
          </a:p>
        </p:txBody>
      </p:sp>
      <p:sp>
        <p:nvSpPr>
          <p:cNvPr id="6" name="TextBox 5"/>
          <p:cNvSpPr txBox="1"/>
          <p:nvPr/>
        </p:nvSpPr>
        <p:spPr>
          <a:xfrm>
            <a:off x="0" y="1691640"/>
            <a:ext cx="9902952" cy="502920"/>
          </a:xfrm>
          <a:prstGeom prst="rect">
            <a:avLst/>
          </a:prstGeom>
          <a:noFill/>
        </p:spPr>
        <p:txBody>
          <a:bodyPr wrap="square" lIns="0" rIns="0" tIns="0" bIns="0" anchor="ctr">
            <a:spAutoFit/>
          </a:bodyPr>
          <a:lstStyle/>
          <a:p>
            <a:pPr algn="ctr"/>
            <a:r>
              <a:rPr sz="2800" b="1">
                <a:solidFill>
                  <a:srgbClr val="F2EFE2"/>
                </a:solidFill>
                <a:latin typeface="Readex Pro"/>
                <a:cs typeface="Readex Pro"/>
                <a:ea typeface="Readex Pro"/>
              </a:rPr>
              <a:t>Simplify where you read.</a:t>
            </a:r>
          </a:p>
        </p:txBody>
      </p:sp>
      <p:sp>
        <p:nvSpPr>
          <p:cNvPr id="7" name="Rounded Rectangle 6"/>
          <p:cNvSpPr/>
          <p:nvPr/>
        </p:nvSpPr>
        <p:spPr>
          <a:xfrm>
            <a:off x="2318956" y="2606040"/>
            <a:ext cx="5265039"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no reader has used Bayan; one reader rated 30 outputs</a:t>
            </a:r>
          </a:p>
        </p:txBody>
      </p:sp>
      <p:sp>
        <p:nvSpPr>
          <p:cNvPr id="8" name="Rounded Rectangle 7"/>
          <p:cNvSpPr/>
          <p:nvPr/>
        </p:nvSpPr>
        <p:spPr>
          <a:xfrm>
            <a:off x="3236912" y="3172968"/>
            <a:ext cx="3429127"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our scorer is stricter than people</a:t>
            </a:r>
          </a:p>
        </p:txBody>
      </p:sp>
      <p:sp>
        <p:nvSpPr>
          <p:cNvPr id="9" name="Rounded Rectangle 8"/>
          <p:cNvSpPr/>
          <p:nvPr/>
        </p:nvSpPr>
        <p:spPr>
          <a:xfrm>
            <a:off x="2642552" y="3739896"/>
            <a:ext cx="4617847"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the comparison with people covers 18 sentences</a:t>
            </a:r>
          </a:p>
        </p:txBody>
      </p:sp>
      <p:sp>
        <p:nvSpPr>
          <p:cNvPr id="10" name="TextBox 9"/>
          <p:cNvSpPr txBox="1"/>
          <p:nvPr/>
        </p:nvSpPr>
        <p:spPr>
          <a:xfrm>
            <a:off x="0" y="4617720"/>
            <a:ext cx="9902952" cy="329184"/>
          </a:xfrm>
          <a:prstGeom prst="rect">
            <a:avLst/>
          </a:prstGeom>
          <a:noFill/>
        </p:spPr>
        <p:txBody>
          <a:bodyPr wrap="square" lIns="0" rIns="0" tIns="0" bIns="0" anchor="ctr">
            <a:spAutoFit/>
          </a:bodyPr>
          <a:lstStyle/>
          <a:p>
            <a:pPr algn="ctr"/>
            <a:r>
              <a:rPr sz="1500" b="0">
                <a:solidFill>
                  <a:srgbClr val="C6986B"/>
                </a:solidFill>
                <a:latin typeface="Readex Pro"/>
                <a:cs typeface="Readex Pro"/>
                <a:ea typeface="Readex Pro"/>
              </a:rPr>
              <a:t>Next: a reading study with more readers.</a:t>
            </a:r>
          </a:p>
        </p:txBody>
      </p:sp>
      <p:sp>
        <p:nvSpPr>
          <p:cNvPr id="11" name="TextBox 10"/>
          <p:cNvSpPr txBox="1"/>
          <p:nvPr/>
        </p:nvSpPr>
        <p:spPr>
          <a:xfrm>
            <a:off x="0" y="5074920"/>
            <a:ext cx="9902952" cy="274320"/>
          </a:xfrm>
          <a:prstGeom prst="rect">
            <a:avLst/>
          </a:prstGeom>
          <a:noFill/>
        </p:spPr>
        <p:txBody>
          <a:bodyPr wrap="square" lIns="0" rIns="0" tIns="0" bIns="0" anchor="ctr">
            <a:spAutoFit/>
          </a:bodyPr>
          <a:lstStyle/>
          <a:p>
            <a:pPr algn="ctr"/>
            <a:r>
              <a:rPr sz="1200" b="0">
                <a:solidFill>
                  <a:srgbClr val="A29D8C"/>
                </a:solidFill>
                <a:latin typeface="Readex Pro"/>
                <a:cs typeface="Readex Pro"/>
                <a:ea typeface="Readex Pro"/>
              </a:rPr>
              <a:t>Thank you  ·  Team Cogni  ·  Samsung Innovation Campus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Office Theme">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amsung">
      <a:majorFont>
        <a:latin typeface="Samsung Sharp Sans"/>
        <a:ea typeface="SamsungOneKorean 700"/>
        <a:cs typeface=""/>
      </a:majorFont>
      <a:minorFont>
        <a:latin typeface="SamsungOne 400"/>
        <a:ea typeface="SamsungOneKorean 400"/>
        <a:cs typeface=""/>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B971F96850C604FA9DD4A6FAA1D7E94" ma:contentTypeVersion="13" ma:contentTypeDescription="Create a new document." ma:contentTypeScope="" ma:versionID="94bb0226509be2894c83196f814f5ace">
  <xsd:schema xmlns:xsd="http://www.w3.org/2001/XMLSchema" xmlns:xs="http://www.w3.org/2001/XMLSchema" xmlns:p="http://schemas.microsoft.com/office/2006/metadata/properties" xmlns:ns2="5192ee0d-e524-4888-b581-1910cadcd210" xmlns:ns3="525df02f-3aee-47af-b2f3-c2ea8bcae9a6" targetNamespace="http://schemas.microsoft.com/office/2006/metadata/properties" ma:root="true" ma:fieldsID="eb19b1b986ba2b37eb36a9dd005ffe1c" ns2:_="" ns3:_="">
    <xsd:import namespace="5192ee0d-e524-4888-b581-1910cadcd210"/>
    <xsd:import namespace="525df02f-3aee-47af-b2f3-c2ea8bcae9a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BillingMetadata" minOccurs="0"/>
                <xsd:element ref="ns2:MediaServiceOCR"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92ee0d-e524-4888-b581-1910cadcd21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3ef62f9-2e07-484b-bd79-00aec90129fe" ma:termSetId="09814cd3-568e-fe90-9814-8d621ff8fb84" ma:anchorId="fba54fb3-c3e1-fe81-a776-ca4b69148c4d" ma:open="true" ma:isKeyword="false">
      <xsd:complexType>
        <xsd:sequence>
          <xsd:element ref="pc:Terms" minOccurs="0" maxOccurs="1"/>
        </xsd:sequence>
      </xsd:complex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OCR" ma:index="19" nillable="true" ma:displayName="Extracted Text" ma:internalName="MediaServiceOCR" ma:readOnly="true">
      <xsd:simpleType>
        <xsd:restriction base="dms:Note">
          <xsd:maxLength value="255"/>
        </xsd:restriction>
      </xsd:simpleType>
    </xsd:element>
    <xsd:element name="comment" ma:index="20"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25df02f-3aee-47af-b2f3-c2ea8bcae9a6"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ff2df0d5-6bdf-4400-9605-4c2d2eede7e4}" ma:internalName="TaxCatchAll" ma:showField="CatchAllData" ma:web="525df02f-3aee-47af-b2f3-c2ea8bcae9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25df02f-3aee-47af-b2f3-c2ea8bcae9a6" xsi:nil="true"/>
    <lcf76f155ced4ddcb4097134ff3c332f xmlns="5192ee0d-e524-4888-b581-1910cadcd210">
      <Terms xmlns="http://schemas.microsoft.com/office/infopath/2007/PartnerControls"/>
    </lcf76f155ced4ddcb4097134ff3c332f>
    <comment xmlns="5192ee0d-e524-4888-b581-1910cadcd210" xsi:nil="true"/>
  </documentManagement>
</p:properties>
</file>

<file path=customXml/itemProps1.xml><?xml version="1.0" encoding="utf-8"?>
<ds:datastoreItem xmlns:ds="http://schemas.openxmlformats.org/officeDocument/2006/customXml" ds:itemID="{0A0357D8-C495-42E3-A0C0-6723B236FB34}"/>
</file>

<file path=customXml/itemProps2.xml><?xml version="1.0" encoding="utf-8"?>
<ds:datastoreItem xmlns:ds="http://schemas.openxmlformats.org/officeDocument/2006/customXml" ds:itemID="{F7A1BB24-B868-43EF-95F7-238FE3A157D5}"/>
</file>

<file path=customXml/itemProps3.xml><?xml version="1.0" encoding="utf-8"?>
<ds:datastoreItem xmlns:ds="http://schemas.openxmlformats.org/officeDocument/2006/customXml" ds:itemID="{83B4D1BC-3672-47C7-8E98-3D3B83A92BF9}"/>
</file>

<file path=docProps/app.xml><?xml version="1.0" encoding="utf-8"?>
<Properties xmlns="http://schemas.openxmlformats.org/officeDocument/2006/extended-properties" xmlns:vt="http://schemas.openxmlformats.org/officeDocument/2006/docPropsVTypes">
  <Template/>
  <TotalTime>4279</TotalTime>
  <Words>65</Words>
  <Application>Microsoft Office PowerPoint</Application>
  <PresentationFormat>사용자 지정</PresentationFormat>
  <Paragraphs>23</Paragraphs>
  <Slides>4</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4</vt:i4>
      </vt:variant>
    </vt:vector>
  </HeadingPairs>
  <TitlesOfParts>
    <vt:vector size="14" baseType="lpstr">
      <vt:lpstr>SamsungOne 400</vt:lpstr>
      <vt:lpstr>Samsung Sharp Sans Bold</vt:lpstr>
      <vt:lpstr>Samsung Sharp Sans</vt:lpstr>
      <vt:lpstr>Calibri</vt:lpstr>
      <vt:lpstr>Arial</vt:lpstr>
      <vt:lpstr>Samsung Sharp Sans Medium</vt:lpstr>
      <vt:lpstr>맑은 고딕</vt:lpstr>
      <vt:lpstr>SamsungOne 700</vt:lpstr>
      <vt:lpstr>SamsungOne 400C</vt:lpstr>
      <vt:lpstr>Office Theme</vt:lpstr>
      <vt:lpstr>Project Name</vt:lpstr>
      <vt:lpstr>PowerPoint 프레젠테이션</vt:lpstr>
      <vt:lpstr>Slide Title</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Programming in Python</dc:title>
  <dc:creator>Soon Yong Chang</dc:creator>
  <cp:lastModifiedBy>이 선우</cp:lastModifiedBy>
  <cp:revision>2081</cp:revision>
  <dcterms:created xsi:type="dcterms:W3CDTF">2019-07-06T14:12:49Z</dcterms:created>
  <dcterms:modified xsi:type="dcterms:W3CDTF">2025-12-26T06:30:13Z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0x010100EB971F96850C604FA9DD4A6FAA1D7E94</vt:lpwstr>
  </property>
</Properties>
</file>